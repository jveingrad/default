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7FFFFED3_CED891FF.xml" ContentType="application/vnd.ms-powerpoint.comments+xml"/>
  <Override PartName="/ppt/notesSlides/notesSlide6.xml" ContentType="application/vnd.openxmlformats-officedocument.presentationml.notesSlide+xml"/>
  <Override PartName="/ppt/tags/tag23.xml" ContentType="application/vnd.openxmlformats-officedocument.presentationml.tags+xml"/>
  <Override PartName="/ppt/comments/modernComment_7FFFFEB9_7839C105.xml" ContentType="application/vnd.ms-powerpoint.comment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7.xml" ContentType="application/vnd.openxmlformats-officedocument.presentationml.notesSlide+xml"/>
  <Override PartName="/ppt/tags/tag41.xml" ContentType="application/vnd.openxmlformats-officedocument.presentationml.tags+xml"/>
  <Override PartName="/ppt/notesSlides/notesSlide8.xml" ContentType="application/vnd.openxmlformats-officedocument.presentationml.notesSlide+xml"/>
  <Override PartName="/ppt/tags/tag42.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2" r:id="rId4"/>
  </p:sldMasterIdLst>
  <p:notesMasterIdLst>
    <p:notesMasterId r:id="rId57"/>
  </p:notesMasterIdLst>
  <p:sldIdLst>
    <p:sldId id="563" r:id="rId5"/>
    <p:sldId id="564" r:id="rId6"/>
    <p:sldId id="2147483349" r:id="rId7"/>
    <p:sldId id="2147483319" r:id="rId8"/>
    <p:sldId id="2147483296" r:id="rId9"/>
    <p:sldId id="2147483294" r:id="rId10"/>
    <p:sldId id="2147483281" r:id="rId11"/>
    <p:sldId id="2147483333" r:id="rId12"/>
    <p:sldId id="2147483334" r:id="rId13"/>
    <p:sldId id="2147483293" r:id="rId14"/>
    <p:sldId id="2147483324" r:id="rId15"/>
    <p:sldId id="2147483350" r:id="rId16"/>
    <p:sldId id="2147483325" r:id="rId17"/>
    <p:sldId id="2147483326" r:id="rId18"/>
    <p:sldId id="2147483299" r:id="rId19"/>
    <p:sldId id="2147483300" r:id="rId20"/>
    <p:sldId id="2147483312" r:id="rId21"/>
    <p:sldId id="2147483313" r:id="rId22"/>
    <p:sldId id="2147483306" r:id="rId23"/>
    <p:sldId id="2147483307" r:id="rId24"/>
    <p:sldId id="2147483323" r:id="rId25"/>
    <p:sldId id="2147483351" r:id="rId26"/>
    <p:sldId id="2147483345" r:id="rId27"/>
    <p:sldId id="2147483346" r:id="rId28"/>
    <p:sldId id="2147483347" r:id="rId29"/>
    <p:sldId id="2147483348" r:id="rId30"/>
    <p:sldId id="2147483321" r:id="rId31"/>
    <p:sldId id="2147483322" r:id="rId32"/>
    <p:sldId id="2147483344" r:id="rId33"/>
    <p:sldId id="2147483314" r:id="rId34"/>
    <p:sldId id="2147483315" r:id="rId35"/>
    <p:sldId id="2147483335" r:id="rId36"/>
    <p:sldId id="2147483336" r:id="rId37"/>
    <p:sldId id="2147483337" r:id="rId38"/>
    <p:sldId id="2147483343" r:id="rId39"/>
    <p:sldId id="2147483316" r:id="rId40"/>
    <p:sldId id="2147483301" r:id="rId41"/>
    <p:sldId id="2147483338" r:id="rId42"/>
    <p:sldId id="2147483339" r:id="rId43"/>
    <p:sldId id="2147483340" r:id="rId44"/>
    <p:sldId id="2147483342" r:id="rId45"/>
    <p:sldId id="2147483308" r:id="rId46"/>
    <p:sldId id="2147483309" r:id="rId47"/>
    <p:sldId id="2147483341" r:id="rId48"/>
    <p:sldId id="2147483302" r:id="rId49"/>
    <p:sldId id="2147483303" r:id="rId50"/>
    <p:sldId id="2147483297" r:id="rId51"/>
    <p:sldId id="2147483304" r:id="rId52"/>
    <p:sldId id="2147483305" r:id="rId53"/>
    <p:sldId id="566" r:id="rId54"/>
    <p:sldId id="568" r:id="rId55"/>
    <p:sldId id="569"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Kickoff" id="{D088FEE6-4EE3-4D51-8732-05D8C757D652}">
          <p14:sldIdLst>
            <p14:sldId id="563"/>
            <p14:sldId id="564"/>
            <p14:sldId id="2147483349"/>
          </p14:sldIdLst>
        </p14:section>
        <p14:section name="Introductions" id="{4D0F3FA0-C635-4E89-9D91-A3B823918E88}">
          <p14:sldIdLst>
            <p14:sldId id="2147483319"/>
            <p14:sldId id="2147483296"/>
            <p14:sldId id="2147483294"/>
            <p14:sldId id="2147483281"/>
          </p14:sldIdLst>
        </p14:section>
        <p14:section name="Workstream A" id="{55D2631E-E1F7-419D-9544-4612E82D9467}">
          <p14:sldIdLst>
            <p14:sldId id="2147483333"/>
            <p14:sldId id="2147483334"/>
            <p14:sldId id="2147483293"/>
            <p14:sldId id="2147483324"/>
            <p14:sldId id="2147483350"/>
            <p14:sldId id="2147483325"/>
            <p14:sldId id="2147483326"/>
            <p14:sldId id="2147483299"/>
            <p14:sldId id="2147483300"/>
          </p14:sldIdLst>
        </p14:section>
        <p14:section name="Workstream B" id="{EEF2AB2A-8A29-4FC2-AA30-F2F7A594C3CB}">
          <p14:sldIdLst>
            <p14:sldId id="2147483312"/>
            <p14:sldId id="2147483313"/>
            <p14:sldId id="2147483306"/>
            <p14:sldId id="2147483307"/>
            <p14:sldId id="2147483323"/>
            <p14:sldId id="2147483351"/>
            <p14:sldId id="2147483345"/>
            <p14:sldId id="2147483346"/>
            <p14:sldId id="2147483347"/>
            <p14:sldId id="2147483348"/>
            <p14:sldId id="2147483321"/>
            <p14:sldId id="2147483322"/>
          </p14:sldIdLst>
        </p14:section>
        <p14:section name="Workstream C" id="{9B6185C9-A7C0-42D9-94FF-DB2589ECE86E}">
          <p14:sldIdLst>
            <p14:sldId id="2147483344"/>
            <p14:sldId id="2147483314"/>
            <p14:sldId id="2147483315"/>
            <p14:sldId id="2147483335"/>
            <p14:sldId id="2147483336"/>
            <p14:sldId id="2147483337"/>
          </p14:sldIdLst>
        </p14:section>
        <p14:section name="Workstream D" id="{2A9BAE51-5ADE-40AC-A66E-9C335239625F}">
          <p14:sldIdLst>
            <p14:sldId id="2147483343"/>
            <p14:sldId id="2147483316"/>
            <p14:sldId id="2147483301"/>
            <p14:sldId id="2147483338"/>
            <p14:sldId id="2147483339"/>
            <p14:sldId id="2147483340"/>
          </p14:sldIdLst>
        </p14:section>
        <p14:section name="Workstream 0" id="{2F60057B-FD07-4342-BF83-7AA80DC91D70}">
          <p14:sldIdLst>
            <p14:sldId id="2147483342"/>
            <p14:sldId id="2147483308"/>
            <p14:sldId id="2147483309"/>
          </p14:sldIdLst>
        </p14:section>
        <p14:section name="Workstream E" id="{CEC18DD6-7F46-4111-A86B-751D0E0F7956}">
          <p14:sldIdLst>
            <p14:sldId id="2147483341"/>
            <p14:sldId id="2147483302"/>
            <p14:sldId id="2147483303"/>
          </p14:sldIdLst>
        </p14:section>
        <p14:section name="Workstream F" id="{E1C5A64F-7F32-4DD2-888B-BC25673B5630}">
          <p14:sldIdLst>
            <p14:sldId id="2147483297"/>
            <p14:sldId id="2147483304"/>
            <p14:sldId id="2147483305"/>
          </p14:sldIdLst>
        </p14:section>
        <p14:section name="Cuts" id="{C26991B6-2445-4FB7-B21C-B3E31AB37B27}">
          <p14:sldIdLst>
            <p14:sldId id="566"/>
            <p14:sldId id="568"/>
            <p14:sldId id="56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3541F01-489B-D8D9-05CB-DA7F02DD66DB}" name="Haslam, Thomas" initials="TH" userId="S::thomashaslam@kpmg.com::4839b5df-de47-414e-ac79-6dcade93eed1" providerId="AD"/>
  <p188:author id="{1A01CC23-5D9C-EB6B-9D27-C01F3D4B2AB9}" name="Crooks, Kyle T" initials="KC" userId="S::kcrooks@kpmg.com::46ac3cc3-d29e-4bb9-a44a-306e0801140d" providerId="AD"/>
  <p188:author id="{4A7E032E-F2AD-D7B7-BB46-6F7059D29A6A}" name="Muir, David" initials="DM" userId="S::drmuir@kpmg.com::a735b008-45f0-467d-838e-e56f16b1dc7b" providerId="AD"/>
  <p188:author id="{52904052-1643-7FCE-7A5F-6551545F3671}" name="Antone, Keith D" initials="" userId="S::kantone@kpmg.com::87c2b828-a04f-4d2d-859d-5445033f93e2" providerId="AD"/>
  <p188:author id="{D96A176C-B00A-E3C9-7CEB-2AE0E636E5E6}" name="Veingrad, Joseph" initials="JV" userId="S::jveingrad@kpmg.com::d8b68cd1-7862-48a0-9c72-8fbfd5f2a4a5" providerId="AD"/>
  <p188:author id="{F24CE182-DE66-5D04-E21D-F69500392F05}" name="Markatia, Danish" initials="DM" userId="S::dmarkatia@kpmg.com::050c7bd4-a7d7-4078-a432-131b434f7446" providerId="AD"/>
  <p188:author id="{91F693BB-7058-ECB4-8F1D-A1321A4D8D6F}" name="Hanson, Niels W" initials="" userId="S::nhanson@kpmg.com::d42b3242-5e35-4e84-b4d1-61c018cd566e" providerId="AD"/>
  <p188:author id="{A78FDBF2-AF5E-30B6-7AEE-083A6426561D}" name="Kalidindi, Naga Mahendra V" initials="NK" userId="S::nkalidindi@kpmg.com::498c76e8-dbe5-45f5-932b-5ad14c9040e2" providerId="AD"/>
  <p188:author id="{B01027F8-5D7A-225C-93B1-3204DC36D099}" name="Walsh, William" initials="WW" userId="S::williamwalsh1@kpmg.com::21366335-7b20-481e-9e5e-f413db4dabe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A315E"/>
    <a:srgbClr val="3D8EC3"/>
    <a:srgbClr val="868686"/>
    <a:srgbClr val="3975AC"/>
    <a:srgbClr val="B8B8B8"/>
    <a:srgbClr val="1FA3E0"/>
    <a:srgbClr val="59B947"/>
    <a:srgbClr val="0A4B8C"/>
    <a:srgbClr val="00A78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D61D0D-5A0E-D440-B4CE-B57C01068F39}" v="2975" dt="2026-10-07T17:32:46.660"/>
    <p1510:client id="{E2C0B677-9D93-47AC-87C4-3C8BDF597E57}" v="419" dt="2026-10-06T19:40:44.1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8/10/relationships/authors" Target="author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katia, Danish" userId="050c7bd4-a7d7-4078-a432-131b434f7446" providerId="ADAL" clId="{C704670E-EB26-59A5-B939-4679B0AC3774}"/>
    <pc:docChg chg="undo redo custSel addSld delSld modSld modSection">
      <pc:chgData name="Markatia, Danish" userId="050c7bd4-a7d7-4078-a432-131b434f7446" providerId="ADAL" clId="{C704670E-EB26-59A5-B939-4679B0AC3774}" dt="2026-10-07T17:32:46.660" v="2955" actId="20577"/>
      <pc:docMkLst>
        <pc:docMk/>
      </pc:docMkLst>
      <pc:sldChg chg="addSp delSp modSp mod">
        <pc:chgData name="Markatia, Danish" userId="050c7bd4-a7d7-4078-a432-131b434f7446" providerId="ADAL" clId="{C704670E-EB26-59A5-B939-4679B0AC3774}" dt="2026-10-06T15:05:29.275" v="1323"/>
        <pc:sldMkLst>
          <pc:docMk/>
          <pc:sldMk cId="2017050885" sldId="2147483321"/>
        </pc:sldMkLst>
        <pc:spChg chg="add del mod">
          <ac:chgData name="Markatia, Danish" userId="050c7bd4-a7d7-4078-a432-131b434f7446" providerId="ADAL" clId="{C704670E-EB26-59A5-B939-4679B0AC3774}" dt="2026-10-06T15:05:29.275" v="1323"/>
          <ac:spMkLst>
            <pc:docMk/>
            <pc:sldMk cId="2017050885" sldId="2147483321"/>
            <ac:spMk id="2" creationId="{013ACC0E-6D74-3A7D-CC83-6A36DEE6E6EC}"/>
          </ac:spMkLst>
        </pc:spChg>
        <pc:spChg chg="add mod">
          <ac:chgData name="Markatia, Danish" userId="050c7bd4-a7d7-4078-a432-131b434f7446" providerId="ADAL" clId="{C704670E-EB26-59A5-B939-4679B0AC3774}" dt="2026-10-01T18:12:42.257" v="200" actId="20577"/>
          <ac:spMkLst>
            <pc:docMk/>
            <pc:sldMk cId="2017050885" sldId="2147483321"/>
            <ac:spMk id="5" creationId="{53F23082-AE72-9B45-9CC3-C74289A69716}"/>
          </ac:spMkLst>
        </pc:spChg>
        <pc:spChg chg="mod">
          <ac:chgData name="Markatia, Danish" userId="050c7bd4-a7d7-4078-a432-131b434f7446" providerId="ADAL" clId="{C704670E-EB26-59A5-B939-4679B0AC3774}" dt="2026-10-01T18:11:55.346" v="193" actId="1076"/>
          <ac:spMkLst>
            <pc:docMk/>
            <pc:sldMk cId="2017050885" sldId="2147483321"/>
            <ac:spMk id="6" creationId="{8A4F06CF-65F6-D5EE-97FE-BEC66DD048A2}"/>
          </ac:spMkLst>
        </pc:spChg>
        <pc:graphicFrameChg chg="add mod modGraphic">
          <ac:chgData name="Markatia, Danish" userId="050c7bd4-a7d7-4078-a432-131b434f7446" providerId="ADAL" clId="{C704670E-EB26-59A5-B939-4679B0AC3774}" dt="2026-10-06T13:16:03.717" v="397" actId="13926"/>
          <ac:graphicFrameMkLst>
            <pc:docMk/>
            <pc:sldMk cId="2017050885" sldId="2147483321"/>
            <ac:graphicFrameMk id="7" creationId="{2EE76BE3-14A0-C8F7-650D-6897DCB26B22}"/>
          </ac:graphicFrameMkLst>
        </pc:graphicFrameChg>
      </pc:sldChg>
      <pc:sldChg chg="addSp delSp modSp mod">
        <pc:chgData name="Markatia, Danish" userId="050c7bd4-a7d7-4078-a432-131b434f7446" providerId="ADAL" clId="{C704670E-EB26-59A5-B939-4679B0AC3774}" dt="2026-10-01T18:56:13.233" v="393" actId="478"/>
        <pc:sldMkLst>
          <pc:docMk/>
          <pc:sldMk cId="2445919042" sldId="2147483322"/>
        </pc:sldMkLst>
        <pc:spChg chg="add mod">
          <ac:chgData name="Markatia, Danish" userId="050c7bd4-a7d7-4078-a432-131b434f7446" providerId="ADAL" clId="{C704670E-EB26-59A5-B939-4679B0AC3774}" dt="2026-10-01T18:27:48.521" v="321" actId="27636"/>
          <ac:spMkLst>
            <pc:docMk/>
            <pc:sldMk cId="2445919042" sldId="2147483322"/>
            <ac:spMk id="5" creationId="{3876990E-B69C-1457-1B79-941714625F0B}"/>
          </ac:spMkLst>
        </pc:spChg>
        <pc:spChg chg="mod">
          <ac:chgData name="Markatia, Danish" userId="050c7bd4-a7d7-4078-a432-131b434f7446" providerId="ADAL" clId="{C704670E-EB26-59A5-B939-4679B0AC3774}" dt="2026-10-01T18:27:06.242" v="309" actId="1076"/>
          <ac:spMkLst>
            <pc:docMk/>
            <pc:sldMk cId="2445919042" sldId="2147483322"/>
            <ac:spMk id="6" creationId="{D06ED13A-ABE4-488D-AF75-9C5821587793}"/>
          </ac:spMkLst>
        </pc:spChg>
        <pc:graphicFrameChg chg="add mod modGraphic">
          <ac:chgData name="Markatia, Danish" userId="050c7bd4-a7d7-4078-a432-131b434f7446" providerId="ADAL" clId="{C704670E-EB26-59A5-B939-4679B0AC3774}" dt="2026-10-01T18:56:09.348" v="392" actId="20577"/>
          <ac:graphicFrameMkLst>
            <pc:docMk/>
            <pc:sldMk cId="2445919042" sldId="2147483322"/>
            <ac:graphicFrameMk id="7" creationId="{777CBEAC-812C-2BA0-B6DE-002AF1739FB2}"/>
          </ac:graphicFrameMkLst>
        </pc:graphicFrameChg>
      </pc:sldChg>
      <pc:sldChg chg="addSp delSp modSp mod">
        <pc:chgData name="Markatia, Danish" userId="050c7bd4-a7d7-4078-a432-131b434f7446" providerId="ADAL" clId="{C704670E-EB26-59A5-B939-4679B0AC3774}" dt="2026-10-01T18:11:41.978" v="192" actId="1076"/>
        <pc:sldMkLst>
          <pc:docMk/>
          <pc:sldMk cId="537933474" sldId="2147483323"/>
        </pc:sldMkLst>
        <pc:spChg chg="add mod">
          <ac:chgData name="Markatia, Danish" userId="050c7bd4-a7d7-4078-a432-131b434f7446" providerId="ADAL" clId="{C704670E-EB26-59A5-B939-4679B0AC3774}" dt="2026-10-01T18:03:12.484" v="43" actId="27636"/>
          <ac:spMkLst>
            <pc:docMk/>
            <pc:sldMk cId="537933474" sldId="2147483323"/>
            <ac:spMk id="5" creationId="{F211FB9B-E0A1-A9A8-5E8A-9FCF5B644E64}"/>
          </ac:spMkLst>
        </pc:spChg>
        <pc:spChg chg="mod">
          <ac:chgData name="Markatia, Danish" userId="050c7bd4-a7d7-4078-a432-131b434f7446" providerId="ADAL" clId="{C704670E-EB26-59A5-B939-4679B0AC3774}" dt="2026-10-01T18:11:41.978" v="192" actId="1076"/>
          <ac:spMkLst>
            <pc:docMk/>
            <pc:sldMk cId="537933474" sldId="2147483323"/>
            <ac:spMk id="6" creationId="{1061E0E9-6909-C14A-98B4-3B395ED48CFA}"/>
          </ac:spMkLst>
        </pc:spChg>
        <pc:spChg chg="add mod">
          <ac:chgData name="Markatia, Danish" userId="050c7bd4-a7d7-4078-a432-131b434f7446" providerId="ADAL" clId="{C704670E-EB26-59A5-B939-4679B0AC3774}" dt="2026-10-01T18:04:43.935" v="97" actId="20577"/>
          <ac:spMkLst>
            <pc:docMk/>
            <pc:sldMk cId="537933474" sldId="2147483323"/>
            <ac:spMk id="7" creationId="{64AC410C-E92C-A6F2-8C46-2A753A19BFF4}"/>
          </ac:spMkLst>
        </pc:spChg>
        <pc:spChg chg="add mod">
          <ac:chgData name="Markatia, Danish" userId="050c7bd4-a7d7-4078-a432-131b434f7446" providerId="ADAL" clId="{C704670E-EB26-59A5-B939-4679B0AC3774}" dt="2026-10-01T18:08:53.029" v="170" actId="2711"/>
          <ac:spMkLst>
            <pc:docMk/>
            <pc:sldMk cId="537933474" sldId="2147483323"/>
            <ac:spMk id="8" creationId="{E41BA813-34C9-4710-DF58-0AD2A075EE29}"/>
          </ac:spMkLst>
        </pc:spChg>
        <pc:spChg chg="add mod">
          <ac:chgData name="Markatia, Danish" userId="050c7bd4-a7d7-4078-a432-131b434f7446" providerId="ADAL" clId="{C704670E-EB26-59A5-B939-4679B0AC3774}" dt="2026-10-01T18:10:17.205" v="191" actId="20577"/>
          <ac:spMkLst>
            <pc:docMk/>
            <pc:sldMk cId="537933474" sldId="2147483323"/>
            <ac:spMk id="9" creationId="{C596D3D0-9DC5-FC1C-E639-E6DACF93D709}"/>
          </ac:spMkLst>
        </pc:spChg>
        <pc:spChg chg="add mod">
          <ac:chgData name="Markatia, Danish" userId="050c7bd4-a7d7-4078-a432-131b434f7446" providerId="ADAL" clId="{C704670E-EB26-59A5-B939-4679B0AC3774}" dt="2026-10-01T18:02:49.047" v="33"/>
          <ac:spMkLst>
            <pc:docMk/>
            <pc:sldMk cId="537933474" sldId="2147483323"/>
            <ac:spMk id="11" creationId="{24318627-18E0-D02B-C5BB-8E26D4FB401C}"/>
          </ac:spMkLst>
        </pc:spChg>
        <pc:spChg chg="add mod">
          <ac:chgData name="Markatia, Danish" userId="050c7bd4-a7d7-4078-a432-131b434f7446" providerId="ADAL" clId="{C704670E-EB26-59A5-B939-4679B0AC3774}" dt="2026-10-01T18:02:49.047" v="33"/>
          <ac:spMkLst>
            <pc:docMk/>
            <pc:sldMk cId="537933474" sldId="2147483323"/>
            <ac:spMk id="13" creationId="{1F233445-F9D0-6018-546E-13A491D2B78B}"/>
          </ac:spMkLst>
        </pc:spChg>
        <pc:cxnChg chg="add mod">
          <ac:chgData name="Markatia, Danish" userId="050c7bd4-a7d7-4078-a432-131b434f7446" providerId="ADAL" clId="{C704670E-EB26-59A5-B939-4679B0AC3774}" dt="2026-10-01T18:02:49.047" v="33"/>
          <ac:cxnSpMkLst>
            <pc:docMk/>
            <pc:sldMk cId="537933474" sldId="2147483323"/>
            <ac:cxnSpMk id="10" creationId="{674F9B8C-68C8-37FE-B301-548CCA8409DF}"/>
          </ac:cxnSpMkLst>
        </pc:cxnChg>
        <pc:cxnChg chg="add mod">
          <ac:chgData name="Markatia, Danish" userId="050c7bd4-a7d7-4078-a432-131b434f7446" providerId="ADAL" clId="{C704670E-EB26-59A5-B939-4679B0AC3774}" dt="2026-10-01T18:02:49.047" v="33"/>
          <ac:cxnSpMkLst>
            <pc:docMk/>
            <pc:sldMk cId="537933474" sldId="2147483323"/>
            <ac:cxnSpMk id="12" creationId="{8DF87FEE-7855-4D52-60F7-EA75956C4954}"/>
          </ac:cxnSpMkLst>
        </pc:cxnChg>
      </pc:sldChg>
      <pc:sldChg chg="addSp delSp modSp mod">
        <pc:chgData name="Markatia, Danish" userId="050c7bd4-a7d7-4078-a432-131b434f7446" providerId="ADAL" clId="{C704670E-EB26-59A5-B939-4679B0AC3774}" dt="2026-10-06T15:47:49.383" v="2740" actId="20577"/>
        <pc:sldMkLst>
          <pc:docMk/>
          <pc:sldMk cId="3905187311" sldId="2147483345"/>
        </pc:sldMkLst>
        <pc:spChg chg="add mod topLvl">
          <ac:chgData name="Markatia, Danish" userId="050c7bd4-a7d7-4078-a432-131b434f7446" providerId="ADAL" clId="{C704670E-EB26-59A5-B939-4679B0AC3774}" dt="2026-10-06T14:54:39.654" v="1037" actId="403"/>
          <ac:spMkLst>
            <pc:docMk/>
            <pc:sldMk cId="3905187311" sldId="2147483345"/>
            <ac:spMk id="2" creationId="{652E5DF5-82AC-6720-58D7-4AD0327F9C3E}"/>
          </ac:spMkLst>
        </pc:spChg>
        <pc:spChg chg="mod">
          <ac:chgData name="Markatia, Danish" userId="050c7bd4-a7d7-4078-a432-131b434f7446" providerId="ADAL" clId="{C704670E-EB26-59A5-B939-4679B0AC3774}" dt="2026-10-06T15:34:07.265" v="2057"/>
          <ac:spMkLst>
            <pc:docMk/>
            <pc:sldMk cId="3905187311" sldId="2147483345"/>
            <ac:spMk id="3" creationId="{A09EDF06-6F70-0DD1-CF44-90FA2C228A77}"/>
          </ac:spMkLst>
        </pc:spChg>
        <pc:spChg chg="add mod topLvl">
          <ac:chgData name="Markatia, Danish" userId="050c7bd4-a7d7-4078-a432-131b434f7446" providerId="ADAL" clId="{C704670E-EB26-59A5-B939-4679B0AC3774}" dt="2026-10-06T14:54:37.116" v="1032" actId="403"/>
          <ac:spMkLst>
            <pc:docMk/>
            <pc:sldMk cId="3905187311" sldId="2147483345"/>
            <ac:spMk id="4" creationId="{D18D23FB-4C17-8FC5-A1C9-F025D3021861}"/>
          </ac:spMkLst>
        </pc:spChg>
        <pc:spChg chg="add mod topLvl">
          <ac:chgData name="Markatia, Danish" userId="050c7bd4-a7d7-4078-a432-131b434f7446" providerId="ADAL" clId="{C704670E-EB26-59A5-B939-4679B0AC3774}" dt="2026-10-06T14:53:59.025" v="1009" actId="20577"/>
          <ac:spMkLst>
            <pc:docMk/>
            <pc:sldMk cId="3905187311" sldId="2147483345"/>
            <ac:spMk id="5" creationId="{02F9E248-D8C2-93E4-5479-A39E0923DA3A}"/>
          </ac:spMkLst>
        </pc:spChg>
        <pc:spChg chg="add mod topLvl">
          <ac:chgData name="Markatia, Danish" userId="050c7bd4-a7d7-4078-a432-131b434f7446" providerId="ADAL" clId="{C704670E-EB26-59A5-B939-4679B0AC3774}" dt="2026-10-06T14:55:09.077" v="1058" actId="20577"/>
          <ac:spMkLst>
            <pc:docMk/>
            <pc:sldMk cId="3905187311" sldId="2147483345"/>
            <ac:spMk id="6" creationId="{EAE5FD3A-05C5-AC2E-36EE-DBF2762F7ADD}"/>
          </ac:spMkLst>
        </pc:spChg>
        <pc:spChg chg="add mod topLvl">
          <ac:chgData name="Markatia, Danish" userId="050c7bd4-a7d7-4078-a432-131b434f7446" providerId="ADAL" clId="{C704670E-EB26-59A5-B939-4679B0AC3774}" dt="2026-10-06T14:55:32.643" v="1065" actId="20577"/>
          <ac:spMkLst>
            <pc:docMk/>
            <pc:sldMk cId="3905187311" sldId="2147483345"/>
            <ac:spMk id="7" creationId="{4E3A3A55-EE48-0D48-8C0A-8E73D1B5DBE3}"/>
          </ac:spMkLst>
        </pc:spChg>
        <pc:spChg chg="add mod topLvl">
          <ac:chgData name="Markatia, Danish" userId="050c7bd4-a7d7-4078-a432-131b434f7446" providerId="ADAL" clId="{C704670E-EB26-59A5-B939-4679B0AC3774}" dt="2026-10-06T14:55:19.153" v="1062" actId="20577"/>
          <ac:spMkLst>
            <pc:docMk/>
            <pc:sldMk cId="3905187311" sldId="2147483345"/>
            <ac:spMk id="8" creationId="{4A93CD48-3EC4-F630-BE84-823F8EF6A34F}"/>
          </ac:spMkLst>
        </pc:spChg>
        <pc:spChg chg="add mod">
          <ac:chgData name="Markatia, Danish" userId="050c7bd4-a7d7-4078-a432-131b434f7446" providerId="ADAL" clId="{C704670E-EB26-59A5-B939-4679B0AC3774}" dt="2026-10-06T15:04:05.496" v="1288" actId="14100"/>
          <ac:spMkLst>
            <pc:docMk/>
            <pc:sldMk cId="3905187311" sldId="2147483345"/>
            <ac:spMk id="9" creationId="{81548E6A-B5BA-D59A-8781-596A6E8D2B41}"/>
          </ac:spMkLst>
        </pc:spChg>
        <pc:spChg chg="add mod">
          <ac:chgData name="Markatia, Danish" userId="050c7bd4-a7d7-4078-a432-131b434f7446" providerId="ADAL" clId="{C704670E-EB26-59A5-B939-4679B0AC3774}" dt="2026-10-06T15:34:35.946" v="2061" actId="113"/>
          <ac:spMkLst>
            <pc:docMk/>
            <pc:sldMk cId="3905187311" sldId="2147483345"/>
            <ac:spMk id="10" creationId="{394B026B-F6BC-D79D-EB17-1F2509D99C1F}"/>
          </ac:spMkLst>
        </pc:spChg>
        <pc:spChg chg="add mod topLvl">
          <ac:chgData name="Markatia, Danish" userId="050c7bd4-a7d7-4078-a432-131b434f7446" providerId="ADAL" clId="{C704670E-EB26-59A5-B939-4679B0AC3774}" dt="2026-10-06T15:34:39.789" v="2062" actId="113"/>
          <ac:spMkLst>
            <pc:docMk/>
            <pc:sldMk cId="3905187311" sldId="2147483345"/>
            <ac:spMk id="11" creationId="{CC309F28-9907-24B2-D7B6-9F7C7DACD547}"/>
          </ac:spMkLst>
        </pc:spChg>
        <pc:spChg chg="add mod topLvl">
          <ac:chgData name="Markatia, Danish" userId="050c7bd4-a7d7-4078-a432-131b434f7446" providerId="ADAL" clId="{C704670E-EB26-59A5-B939-4679B0AC3774}" dt="2026-10-06T15:40:17.625" v="2235" actId="20577"/>
          <ac:spMkLst>
            <pc:docMk/>
            <pc:sldMk cId="3905187311" sldId="2147483345"/>
            <ac:spMk id="12" creationId="{2429C9B1-E437-82C5-7A08-D299F3E632BE}"/>
          </ac:spMkLst>
        </pc:spChg>
        <pc:spChg chg="add mod topLvl">
          <ac:chgData name="Markatia, Danish" userId="050c7bd4-a7d7-4078-a432-131b434f7446" providerId="ADAL" clId="{C704670E-EB26-59A5-B939-4679B0AC3774}" dt="2026-10-06T15:44:29.881" v="2361" actId="20577"/>
          <ac:spMkLst>
            <pc:docMk/>
            <pc:sldMk cId="3905187311" sldId="2147483345"/>
            <ac:spMk id="13" creationId="{049E2643-868F-9AB5-04DF-2FC1CB14ECAB}"/>
          </ac:spMkLst>
        </pc:spChg>
        <pc:spChg chg="add mod">
          <ac:chgData name="Markatia, Danish" userId="050c7bd4-a7d7-4078-a432-131b434f7446" providerId="ADAL" clId="{C704670E-EB26-59A5-B939-4679B0AC3774}" dt="2026-10-06T15:47:49.383" v="2740" actId="20577"/>
          <ac:spMkLst>
            <pc:docMk/>
            <pc:sldMk cId="3905187311" sldId="2147483345"/>
            <ac:spMk id="14" creationId="{17A9E4E0-BEE7-A12B-77CA-A4644018A91A}"/>
          </ac:spMkLst>
        </pc:spChg>
        <pc:spChg chg="add mod topLvl">
          <ac:chgData name="Markatia, Danish" userId="050c7bd4-a7d7-4078-a432-131b434f7446" providerId="ADAL" clId="{C704670E-EB26-59A5-B939-4679B0AC3774}" dt="2026-10-06T15:46:27.966" v="2537" actId="20577"/>
          <ac:spMkLst>
            <pc:docMk/>
            <pc:sldMk cId="3905187311" sldId="2147483345"/>
            <ac:spMk id="15" creationId="{3EAEBAEA-92E0-0CA3-E801-D6645079022B}"/>
          </ac:spMkLst>
        </pc:spChg>
        <pc:spChg chg="add mod">
          <ac:chgData name="Markatia, Danish" userId="050c7bd4-a7d7-4078-a432-131b434f7446" providerId="ADAL" clId="{C704670E-EB26-59A5-B939-4679B0AC3774}" dt="2026-10-06T14:53:38.302" v="997" actId="408"/>
          <ac:spMkLst>
            <pc:docMk/>
            <pc:sldMk cId="3905187311" sldId="2147483345"/>
            <ac:spMk id="23" creationId="{55F11F89-E5E2-8C60-23BB-E2EFA8DCE1FA}"/>
          </ac:spMkLst>
        </pc:spChg>
        <pc:spChg chg="add mod">
          <ac:chgData name="Markatia, Danish" userId="050c7bd4-a7d7-4078-a432-131b434f7446" providerId="ADAL" clId="{C704670E-EB26-59A5-B939-4679B0AC3774}" dt="2026-10-06T14:53:38.302" v="997" actId="408"/>
          <ac:spMkLst>
            <pc:docMk/>
            <pc:sldMk cId="3905187311" sldId="2147483345"/>
            <ac:spMk id="24" creationId="{54E06CB4-7BC6-1A9D-4E27-FF227FCD2B1E}"/>
          </ac:spMkLst>
        </pc:spChg>
        <pc:spChg chg="add mod">
          <ac:chgData name="Markatia, Danish" userId="050c7bd4-a7d7-4078-a432-131b434f7446" providerId="ADAL" clId="{C704670E-EB26-59A5-B939-4679B0AC3774}" dt="2026-10-06T14:53:38.302" v="997" actId="408"/>
          <ac:spMkLst>
            <pc:docMk/>
            <pc:sldMk cId="3905187311" sldId="2147483345"/>
            <ac:spMk id="25" creationId="{06301962-9321-6E95-F5E0-23690043F0F4}"/>
          </ac:spMkLst>
        </pc:spChg>
        <pc:spChg chg="add mod">
          <ac:chgData name="Markatia, Danish" userId="050c7bd4-a7d7-4078-a432-131b434f7446" providerId="ADAL" clId="{C704670E-EB26-59A5-B939-4679B0AC3774}" dt="2026-10-06T14:53:38.302" v="997" actId="408"/>
          <ac:spMkLst>
            <pc:docMk/>
            <pc:sldMk cId="3905187311" sldId="2147483345"/>
            <ac:spMk id="26" creationId="{24ED4A2B-CEE9-89AB-8676-2BDEA26D4F01}"/>
          </ac:spMkLst>
        </pc:spChg>
        <pc:spChg chg="add mod">
          <ac:chgData name="Markatia, Danish" userId="050c7bd4-a7d7-4078-a432-131b434f7446" providerId="ADAL" clId="{C704670E-EB26-59A5-B939-4679B0AC3774}" dt="2026-10-06T14:53:39.119" v="1000" actId="14100"/>
          <ac:spMkLst>
            <pc:docMk/>
            <pc:sldMk cId="3905187311" sldId="2147483345"/>
            <ac:spMk id="27" creationId="{E172AFCC-ACE8-7B39-400E-A209A4F0A82B}"/>
          </ac:spMkLst>
        </pc:spChg>
        <pc:spChg chg="add del mod">
          <ac:chgData name="Markatia, Danish" userId="050c7bd4-a7d7-4078-a432-131b434f7446" providerId="ADAL" clId="{C704670E-EB26-59A5-B939-4679B0AC3774}" dt="2026-10-06T14:56:12.504" v="1069" actId="22"/>
          <ac:spMkLst>
            <pc:docMk/>
            <pc:sldMk cId="3905187311" sldId="2147483345"/>
            <ac:spMk id="29" creationId="{3E2772DF-1F10-B58F-8C97-DB1C146FC642}"/>
          </ac:spMkLst>
        </pc:spChg>
        <pc:spChg chg="add mod">
          <ac:chgData name="Markatia, Danish" userId="050c7bd4-a7d7-4078-a432-131b434f7446" providerId="ADAL" clId="{C704670E-EB26-59A5-B939-4679B0AC3774}" dt="2026-10-06T14:56:53.284" v="1192" actId="20577"/>
          <ac:spMkLst>
            <pc:docMk/>
            <pc:sldMk cId="3905187311" sldId="2147483345"/>
            <ac:spMk id="31" creationId="{665DB069-7F3D-C3B0-77CA-3446B4553B1D}"/>
          </ac:spMkLst>
        </pc:spChg>
        <pc:spChg chg="add mod">
          <ac:chgData name="Markatia, Danish" userId="050c7bd4-a7d7-4078-a432-131b434f7446" providerId="ADAL" clId="{C704670E-EB26-59A5-B939-4679B0AC3774}" dt="2026-10-06T14:58:33.830" v="1199"/>
          <ac:spMkLst>
            <pc:docMk/>
            <pc:sldMk cId="3905187311" sldId="2147483345"/>
            <ac:spMk id="34" creationId="{B504B105-71BC-8E6C-286A-E307BEAE60E3}"/>
          </ac:spMkLst>
        </pc:spChg>
        <pc:spChg chg="add mod">
          <ac:chgData name="Markatia, Danish" userId="050c7bd4-a7d7-4078-a432-131b434f7446" providerId="ADAL" clId="{C704670E-EB26-59A5-B939-4679B0AC3774}" dt="2026-10-06T14:58:33.830" v="1199"/>
          <ac:spMkLst>
            <pc:docMk/>
            <pc:sldMk cId="3905187311" sldId="2147483345"/>
            <ac:spMk id="36" creationId="{F5D0B647-D2CD-68AB-930B-383D409378F4}"/>
          </ac:spMkLst>
        </pc:spChg>
        <pc:spChg chg="add mod">
          <ac:chgData name="Markatia, Danish" userId="050c7bd4-a7d7-4078-a432-131b434f7446" providerId="ADAL" clId="{C704670E-EB26-59A5-B939-4679B0AC3774}" dt="2026-10-06T14:58:33.830" v="1199"/>
          <ac:spMkLst>
            <pc:docMk/>
            <pc:sldMk cId="3905187311" sldId="2147483345"/>
            <ac:spMk id="40" creationId="{FE1EB147-F922-8C4D-9F19-B9AF9D7FF190}"/>
          </ac:spMkLst>
        </pc:spChg>
        <pc:spChg chg="add mod">
          <ac:chgData name="Markatia, Danish" userId="050c7bd4-a7d7-4078-a432-131b434f7446" providerId="ADAL" clId="{C704670E-EB26-59A5-B939-4679B0AC3774}" dt="2026-10-06T14:58:33.830" v="1199"/>
          <ac:spMkLst>
            <pc:docMk/>
            <pc:sldMk cId="3905187311" sldId="2147483345"/>
            <ac:spMk id="41" creationId="{A2D8966F-7EB5-E46B-C34E-90C295A55A71}"/>
          </ac:spMkLst>
        </pc:spChg>
        <pc:spChg chg="add mod">
          <ac:chgData name="Markatia, Danish" userId="050c7bd4-a7d7-4078-a432-131b434f7446" providerId="ADAL" clId="{C704670E-EB26-59A5-B939-4679B0AC3774}" dt="2026-10-06T14:58:33.830" v="1199"/>
          <ac:spMkLst>
            <pc:docMk/>
            <pc:sldMk cId="3905187311" sldId="2147483345"/>
            <ac:spMk id="42" creationId="{F02AEC7C-61EC-8714-479D-F73A1435A3CB}"/>
          </ac:spMkLst>
        </pc:spChg>
        <pc:spChg chg="add mod">
          <ac:chgData name="Markatia, Danish" userId="050c7bd4-a7d7-4078-a432-131b434f7446" providerId="ADAL" clId="{C704670E-EB26-59A5-B939-4679B0AC3774}" dt="2026-10-06T14:58:33.830" v="1199"/>
          <ac:spMkLst>
            <pc:docMk/>
            <pc:sldMk cId="3905187311" sldId="2147483345"/>
            <ac:spMk id="43" creationId="{5F0876DE-AC7A-E79D-9103-17C04B27331C}"/>
          </ac:spMkLst>
        </pc:spChg>
        <pc:spChg chg="add mod">
          <ac:chgData name="Markatia, Danish" userId="050c7bd4-a7d7-4078-a432-131b434f7446" providerId="ADAL" clId="{C704670E-EB26-59A5-B939-4679B0AC3774}" dt="2026-10-06T14:58:33.830" v="1199"/>
          <ac:spMkLst>
            <pc:docMk/>
            <pc:sldMk cId="3905187311" sldId="2147483345"/>
            <ac:spMk id="44" creationId="{E840E9BF-7465-AC2D-C304-0C514D7D61D3}"/>
          </ac:spMkLst>
        </pc:spChg>
        <pc:spChg chg="add mod">
          <ac:chgData name="Markatia, Danish" userId="050c7bd4-a7d7-4078-a432-131b434f7446" providerId="ADAL" clId="{C704670E-EB26-59A5-B939-4679B0AC3774}" dt="2026-10-06T14:58:33.830" v="1199"/>
          <ac:spMkLst>
            <pc:docMk/>
            <pc:sldMk cId="3905187311" sldId="2147483345"/>
            <ac:spMk id="46" creationId="{79930FFA-81B7-2F4C-4216-E117ABC7154C}"/>
          </ac:spMkLst>
        </pc:spChg>
        <pc:spChg chg="add mod">
          <ac:chgData name="Markatia, Danish" userId="050c7bd4-a7d7-4078-a432-131b434f7446" providerId="ADAL" clId="{C704670E-EB26-59A5-B939-4679B0AC3774}" dt="2026-10-06T14:58:33.830" v="1199"/>
          <ac:spMkLst>
            <pc:docMk/>
            <pc:sldMk cId="3905187311" sldId="2147483345"/>
            <ac:spMk id="47" creationId="{A23612C6-99A9-50EB-E571-D022021C1A0C}"/>
          </ac:spMkLst>
        </pc:spChg>
        <pc:spChg chg="add mod">
          <ac:chgData name="Markatia, Danish" userId="050c7bd4-a7d7-4078-a432-131b434f7446" providerId="ADAL" clId="{C704670E-EB26-59A5-B939-4679B0AC3774}" dt="2026-10-06T14:58:33.830" v="1199"/>
          <ac:spMkLst>
            <pc:docMk/>
            <pc:sldMk cId="3905187311" sldId="2147483345"/>
            <ac:spMk id="48" creationId="{4B935914-177E-0BBA-7153-95A0C3FF4997}"/>
          </ac:spMkLst>
        </pc:spChg>
        <pc:spChg chg="add mod">
          <ac:chgData name="Markatia, Danish" userId="050c7bd4-a7d7-4078-a432-131b434f7446" providerId="ADAL" clId="{C704670E-EB26-59A5-B939-4679B0AC3774}" dt="2026-10-06T14:58:40.573" v="1200"/>
          <ac:spMkLst>
            <pc:docMk/>
            <pc:sldMk cId="3905187311" sldId="2147483345"/>
            <ac:spMk id="52" creationId="{5DBDED78-7DE1-A170-9FE0-4D921597D697}"/>
          </ac:spMkLst>
        </pc:spChg>
        <pc:spChg chg="add mod">
          <ac:chgData name="Markatia, Danish" userId="050c7bd4-a7d7-4078-a432-131b434f7446" providerId="ADAL" clId="{C704670E-EB26-59A5-B939-4679B0AC3774}" dt="2026-10-06T14:58:40.573" v="1200"/>
          <ac:spMkLst>
            <pc:docMk/>
            <pc:sldMk cId="3905187311" sldId="2147483345"/>
            <ac:spMk id="53" creationId="{A918E8E8-1484-9EFD-8E49-6D75335DC897}"/>
          </ac:spMkLst>
        </pc:spChg>
        <pc:spChg chg="add mod">
          <ac:chgData name="Markatia, Danish" userId="050c7bd4-a7d7-4078-a432-131b434f7446" providerId="ADAL" clId="{C704670E-EB26-59A5-B939-4679B0AC3774}" dt="2026-10-06T14:58:40.573" v="1200"/>
          <ac:spMkLst>
            <pc:docMk/>
            <pc:sldMk cId="3905187311" sldId="2147483345"/>
            <ac:spMk id="56" creationId="{4A5A49A5-62E5-1194-BFB4-4B5487CF33FE}"/>
          </ac:spMkLst>
        </pc:spChg>
        <pc:spChg chg="add mod">
          <ac:chgData name="Markatia, Danish" userId="050c7bd4-a7d7-4078-a432-131b434f7446" providerId="ADAL" clId="{C704670E-EB26-59A5-B939-4679B0AC3774}" dt="2026-10-06T14:58:40.573" v="1200"/>
          <ac:spMkLst>
            <pc:docMk/>
            <pc:sldMk cId="3905187311" sldId="2147483345"/>
            <ac:spMk id="57" creationId="{A48855E4-7F84-8BBE-7A2C-AC3DB2958479}"/>
          </ac:spMkLst>
        </pc:spChg>
        <pc:spChg chg="add mod">
          <ac:chgData name="Markatia, Danish" userId="050c7bd4-a7d7-4078-a432-131b434f7446" providerId="ADAL" clId="{C704670E-EB26-59A5-B939-4679B0AC3774}" dt="2026-10-06T14:58:40.573" v="1200"/>
          <ac:spMkLst>
            <pc:docMk/>
            <pc:sldMk cId="3905187311" sldId="2147483345"/>
            <ac:spMk id="59" creationId="{8744C76E-EBD7-4F83-370B-BC9BEA0C6AD6}"/>
          </ac:spMkLst>
        </pc:spChg>
        <pc:spChg chg="add mod">
          <ac:chgData name="Markatia, Danish" userId="050c7bd4-a7d7-4078-a432-131b434f7446" providerId="ADAL" clId="{C704670E-EB26-59A5-B939-4679B0AC3774}" dt="2026-10-06T14:58:40.573" v="1200"/>
          <ac:spMkLst>
            <pc:docMk/>
            <pc:sldMk cId="3905187311" sldId="2147483345"/>
            <ac:spMk id="60" creationId="{CDD7B529-0671-3E15-8297-B592635FC173}"/>
          </ac:spMkLst>
        </pc:spChg>
        <pc:spChg chg="add mod">
          <ac:chgData name="Markatia, Danish" userId="050c7bd4-a7d7-4078-a432-131b434f7446" providerId="ADAL" clId="{C704670E-EB26-59A5-B939-4679B0AC3774}" dt="2026-10-06T14:58:40.573" v="1200"/>
          <ac:spMkLst>
            <pc:docMk/>
            <pc:sldMk cId="3905187311" sldId="2147483345"/>
            <ac:spMk id="63" creationId="{A0A251F3-83FB-69D1-4DA7-900FD32F5FFF}"/>
          </ac:spMkLst>
        </pc:spChg>
        <pc:spChg chg="add mod">
          <ac:chgData name="Markatia, Danish" userId="050c7bd4-a7d7-4078-a432-131b434f7446" providerId="ADAL" clId="{C704670E-EB26-59A5-B939-4679B0AC3774}" dt="2026-10-06T14:58:40.573" v="1200"/>
          <ac:spMkLst>
            <pc:docMk/>
            <pc:sldMk cId="3905187311" sldId="2147483345"/>
            <ac:spMk id="66" creationId="{EE92C87D-E7BE-5597-D174-1CCB414C2FAA}"/>
          </ac:spMkLst>
        </pc:spChg>
        <pc:spChg chg="add mod">
          <ac:chgData name="Markatia, Danish" userId="050c7bd4-a7d7-4078-a432-131b434f7446" providerId="ADAL" clId="{C704670E-EB26-59A5-B939-4679B0AC3774}" dt="2026-10-06T14:58:40.573" v="1200"/>
          <ac:spMkLst>
            <pc:docMk/>
            <pc:sldMk cId="3905187311" sldId="2147483345"/>
            <ac:spMk id="67" creationId="{29A8D87A-A40D-474D-26C6-ED4C2516FFF5}"/>
          </ac:spMkLst>
        </pc:spChg>
        <pc:spChg chg="add mod">
          <ac:chgData name="Markatia, Danish" userId="050c7bd4-a7d7-4078-a432-131b434f7446" providerId="ADAL" clId="{C704670E-EB26-59A5-B939-4679B0AC3774}" dt="2026-10-06T14:58:40.573" v="1200"/>
          <ac:spMkLst>
            <pc:docMk/>
            <pc:sldMk cId="3905187311" sldId="2147483345"/>
            <ac:spMk id="68" creationId="{9A573BCF-BB7B-50D3-EEAF-7C916E958F25}"/>
          </ac:spMkLst>
        </pc:spChg>
        <pc:spChg chg="add del mod">
          <ac:chgData name="Markatia, Danish" userId="050c7bd4-a7d7-4078-a432-131b434f7446" providerId="ADAL" clId="{C704670E-EB26-59A5-B939-4679B0AC3774}" dt="2026-10-06T15:03:11.889" v="1261" actId="478"/>
          <ac:spMkLst>
            <pc:docMk/>
            <pc:sldMk cId="3905187311" sldId="2147483345"/>
            <ac:spMk id="70" creationId="{CC63875A-59E5-43BD-A45A-F0F1F5C5F83C}"/>
          </ac:spMkLst>
        </pc:spChg>
        <pc:spChg chg="mod">
          <ac:chgData name="Markatia, Danish" userId="050c7bd4-a7d7-4078-a432-131b434f7446" providerId="ADAL" clId="{C704670E-EB26-59A5-B939-4679B0AC3774}" dt="2026-10-06T14:59:49.673" v="1209" actId="164"/>
          <ac:spMkLst>
            <pc:docMk/>
            <pc:sldMk cId="3905187311" sldId="2147483345"/>
            <ac:spMk id="71" creationId="{EB2410F9-A3C1-0C5B-2A7C-688F41819A1F}"/>
          </ac:spMkLst>
        </pc:spChg>
        <pc:spChg chg="mod">
          <ac:chgData name="Markatia, Danish" userId="050c7bd4-a7d7-4078-a432-131b434f7446" providerId="ADAL" clId="{C704670E-EB26-59A5-B939-4679B0AC3774}" dt="2026-10-06T14:59:49.673" v="1209" actId="164"/>
          <ac:spMkLst>
            <pc:docMk/>
            <pc:sldMk cId="3905187311" sldId="2147483345"/>
            <ac:spMk id="72" creationId="{47C98512-878C-6525-D83D-01658718D635}"/>
          </ac:spMkLst>
        </pc:spChg>
        <pc:spChg chg="mod">
          <ac:chgData name="Markatia, Danish" userId="050c7bd4-a7d7-4078-a432-131b434f7446" providerId="ADAL" clId="{C704670E-EB26-59A5-B939-4679B0AC3774}" dt="2026-10-06T14:59:49.673" v="1209" actId="164"/>
          <ac:spMkLst>
            <pc:docMk/>
            <pc:sldMk cId="3905187311" sldId="2147483345"/>
            <ac:spMk id="73" creationId="{8A382A4A-18B0-02AB-B8C7-31504F5A4E91}"/>
          </ac:spMkLst>
        </pc:spChg>
        <pc:spChg chg="add mod">
          <ac:chgData name="Markatia, Danish" userId="050c7bd4-a7d7-4078-a432-131b434f7446" providerId="ADAL" clId="{C704670E-EB26-59A5-B939-4679B0AC3774}" dt="2026-10-06T14:59:59.932" v="1210" actId="164"/>
          <ac:spMkLst>
            <pc:docMk/>
            <pc:sldMk cId="3905187311" sldId="2147483345"/>
            <ac:spMk id="74" creationId="{53F9CE04-0053-ECEB-DB41-5D944151C8D3}"/>
          </ac:spMkLst>
        </pc:spChg>
        <pc:spChg chg="add mod">
          <ac:chgData name="Markatia, Danish" userId="050c7bd4-a7d7-4078-a432-131b434f7446" providerId="ADAL" clId="{C704670E-EB26-59A5-B939-4679B0AC3774}" dt="2026-10-06T14:59:59.932" v="1210" actId="164"/>
          <ac:spMkLst>
            <pc:docMk/>
            <pc:sldMk cId="3905187311" sldId="2147483345"/>
            <ac:spMk id="75" creationId="{ED370DA6-879C-53B0-8381-9ACC866CC5FF}"/>
          </ac:spMkLst>
        </pc:spChg>
        <pc:spChg chg="mod">
          <ac:chgData name="Markatia, Danish" userId="050c7bd4-a7d7-4078-a432-131b434f7446" providerId="ADAL" clId="{C704670E-EB26-59A5-B939-4679B0AC3774}" dt="2026-10-06T14:59:59.932" v="1210" actId="164"/>
          <ac:spMkLst>
            <pc:docMk/>
            <pc:sldMk cId="3905187311" sldId="2147483345"/>
            <ac:spMk id="76" creationId="{BDE06411-1E0F-69B2-DEB2-5E2413CA87F3}"/>
          </ac:spMkLst>
        </pc:spChg>
        <pc:spChg chg="add mod">
          <ac:chgData name="Markatia, Danish" userId="050c7bd4-a7d7-4078-a432-131b434f7446" providerId="ADAL" clId="{C704670E-EB26-59A5-B939-4679B0AC3774}" dt="2026-10-06T15:00:02.196" v="1211" actId="164"/>
          <ac:spMkLst>
            <pc:docMk/>
            <pc:sldMk cId="3905187311" sldId="2147483345"/>
            <ac:spMk id="77" creationId="{D2BDBCD0-7B3A-7BC7-0016-4255AB6691BE}"/>
          </ac:spMkLst>
        </pc:spChg>
        <pc:spChg chg="add mod">
          <ac:chgData name="Markatia, Danish" userId="050c7bd4-a7d7-4078-a432-131b434f7446" providerId="ADAL" clId="{C704670E-EB26-59A5-B939-4679B0AC3774}" dt="2026-10-06T15:00:02.196" v="1211" actId="164"/>
          <ac:spMkLst>
            <pc:docMk/>
            <pc:sldMk cId="3905187311" sldId="2147483345"/>
            <ac:spMk id="78" creationId="{4EE36067-A72F-EE7A-234D-58416CC380BB}"/>
          </ac:spMkLst>
        </pc:spChg>
        <pc:spChg chg="add mod">
          <ac:chgData name="Markatia, Danish" userId="050c7bd4-a7d7-4078-a432-131b434f7446" providerId="ADAL" clId="{C704670E-EB26-59A5-B939-4679B0AC3774}" dt="2026-10-06T15:00:02.196" v="1211" actId="164"/>
          <ac:spMkLst>
            <pc:docMk/>
            <pc:sldMk cId="3905187311" sldId="2147483345"/>
            <ac:spMk id="79" creationId="{D1369212-470F-FCEB-E7AA-29607D0BE917}"/>
          </ac:spMkLst>
        </pc:spChg>
        <pc:spChg chg="mod">
          <ac:chgData name="Markatia, Danish" userId="050c7bd4-a7d7-4078-a432-131b434f7446" providerId="ADAL" clId="{C704670E-EB26-59A5-B939-4679B0AC3774}" dt="2026-10-06T15:00:04.524" v="1212" actId="164"/>
          <ac:spMkLst>
            <pc:docMk/>
            <pc:sldMk cId="3905187311" sldId="2147483345"/>
            <ac:spMk id="80" creationId="{03E497E2-CAD2-7240-19A0-FF4DA7903EA3}"/>
          </ac:spMkLst>
        </pc:spChg>
        <pc:spChg chg="add mod">
          <ac:chgData name="Markatia, Danish" userId="050c7bd4-a7d7-4078-a432-131b434f7446" providerId="ADAL" clId="{C704670E-EB26-59A5-B939-4679B0AC3774}" dt="2026-10-06T15:00:04.524" v="1212" actId="164"/>
          <ac:spMkLst>
            <pc:docMk/>
            <pc:sldMk cId="3905187311" sldId="2147483345"/>
            <ac:spMk id="81" creationId="{838C4028-45E6-0AD3-251D-DE5BCF04B850}"/>
          </ac:spMkLst>
        </pc:spChg>
        <pc:spChg chg="mod">
          <ac:chgData name="Markatia, Danish" userId="050c7bd4-a7d7-4078-a432-131b434f7446" providerId="ADAL" clId="{C704670E-EB26-59A5-B939-4679B0AC3774}" dt="2026-10-06T15:00:04.524" v="1212" actId="164"/>
          <ac:spMkLst>
            <pc:docMk/>
            <pc:sldMk cId="3905187311" sldId="2147483345"/>
            <ac:spMk id="82" creationId="{E1DCD687-E301-D4BB-25A5-46A43A70851F}"/>
          </ac:spMkLst>
        </pc:spChg>
        <pc:spChg chg="add mod">
          <ac:chgData name="Markatia, Danish" userId="050c7bd4-a7d7-4078-a432-131b434f7446" providerId="ADAL" clId="{C704670E-EB26-59A5-B939-4679B0AC3774}" dt="2026-10-06T15:00:07.259" v="1213" actId="164"/>
          <ac:spMkLst>
            <pc:docMk/>
            <pc:sldMk cId="3905187311" sldId="2147483345"/>
            <ac:spMk id="83" creationId="{43A07685-02FE-B6D3-7CDD-7B775AF08E8D}"/>
          </ac:spMkLst>
        </pc:spChg>
        <pc:spChg chg="mod">
          <ac:chgData name="Markatia, Danish" userId="050c7bd4-a7d7-4078-a432-131b434f7446" providerId="ADAL" clId="{C704670E-EB26-59A5-B939-4679B0AC3774}" dt="2026-10-06T15:00:07.259" v="1213" actId="164"/>
          <ac:spMkLst>
            <pc:docMk/>
            <pc:sldMk cId="3905187311" sldId="2147483345"/>
            <ac:spMk id="84" creationId="{A3571F37-2804-6A6F-71B2-CF8C176FF564}"/>
          </ac:spMkLst>
        </pc:spChg>
        <pc:spChg chg="mod">
          <ac:chgData name="Markatia, Danish" userId="050c7bd4-a7d7-4078-a432-131b434f7446" providerId="ADAL" clId="{C704670E-EB26-59A5-B939-4679B0AC3774}" dt="2026-10-06T15:00:07.259" v="1213" actId="164"/>
          <ac:spMkLst>
            <pc:docMk/>
            <pc:sldMk cId="3905187311" sldId="2147483345"/>
            <ac:spMk id="85" creationId="{C3ADF5BC-AB1E-9179-80FF-4BDC5BF49C96}"/>
          </ac:spMkLst>
        </pc:spChg>
        <pc:spChg chg="add del mod">
          <ac:chgData name="Markatia, Danish" userId="050c7bd4-a7d7-4078-a432-131b434f7446" providerId="ADAL" clId="{C704670E-EB26-59A5-B939-4679B0AC3774}" dt="2026-10-06T15:00:22.703" v="1218" actId="21"/>
          <ac:spMkLst>
            <pc:docMk/>
            <pc:sldMk cId="3905187311" sldId="2147483345"/>
            <ac:spMk id="86" creationId="{B3CCD3AB-39FD-D2C5-E436-8797E6CB9CCB}"/>
          </ac:spMkLst>
        </pc:spChg>
        <pc:spChg chg="add mod">
          <ac:chgData name="Markatia, Danish" userId="050c7bd4-a7d7-4078-a432-131b434f7446" providerId="ADAL" clId="{C704670E-EB26-59A5-B939-4679B0AC3774}" dt="2026-10-06T15:00:09.319" v="1214" actId="164"/>
          <ac:spMkLst>
            <pc:docMk/>
            <pc:sldMk cId="3905187311" sldId="2147483345"/>
            <ac:spMk id="87" creationId="{BCF9BEAD-BE93-A484-4415-D81A52DB8099}"/>
          </ac:spMkLst>
        </pc:spChg>
        <pc:spChg chg="mod">
          <ac:chgData name="Markatia, Danish" userId="050c7bd4-a7d7-4078-a432-131b434f7446" providerId="ADAL" clId="{C704670E-EB26-59A5-B939-4679B0AC3774}" dt="2026-10-06T15:00:09.319" v="1214" actId="164"/>
          <ac:spMkLst>
            <pc:docMk/>
            <pc:sldMk cId="3905187311" sldId="2147483345"/>
            <ac:spMk id="88" creationId="{2766EE13-FC0E-5D4E-68C7-567C260DAAB5}"/>
          </ac:spMkLst>
        </pc:spChg>
        <pc:spChg chg="add mod">
          <ac:chgData name="Markatia, Danish" userId="050c7bd4-a7d7-4078-a432-131b434f7446" providerId="ADAL" clId="{C704670E-EB26-59A5-B939-4679B0AC3774}" dt="2026-10-06T15:04:54.560" v="1320" actId="14100"/>
          <ac:spMkLst>
            <pc:docMk/>
            <pc:sldMk cId="3905187311" sldId="2147483345"/>
            <ac:spMk id="95" creationId="{D5851A8B-A8FB-A2F9-2DB4-16528A91B313}"/>
          </ac:spMkLst>
        </pc:spChg>
        <pc:spChg chg="add del mod">
          <ac:chgData name="Markatia, Danish" userId="050c7bd4-a7d7-4078-a432-131b434f7446" providerId="ADAL" clId="{C704670E-EB26-59A5-B939-4679B0AC3774}" dt="2026-10-06T15:36:20.935" v="2065"/>
          <ac:spMkLst>
            <pc:docMk/>
            <pc:sldMk cId="3905187311" sldId="2147483345"/>
            <ac:spMk id="96" creationId="{6F4314DF-FC62-9C2B-359B-BE83538B0E88}"/>
          </ac:spMkLst>
        </pc:spChg>
        <pc:grpChg chg="add mod">
          <ac:chgData name="Markatia, Danish" userId="050c7bd4-a7d7-4078-a432-131b434f7446" providerId="ADAL" clId="{C704670E-EB26-59A5-B939-4679B0AC3774}" dt="2026-10-06T13:41:40.887" v="773" actId="14100"/>
          <ac:grpSpMkLst>
            <pc:docMk/>
            <pc:sldMk cId="3905187311" sldId="2147483345"/>
            <ac:grpSpMk id="16" creationId="{5AECFA11-E5C5-F16C-B7CC-69E05265C63C}"/>
          </ac:grpSpMkLst>
        </pc:grpChg>
        <pc:grpChg chg="add mod">
          <ac:chgData name="Markatia, Danish" userId="050c7bd4-a7d7-4078-a432-131b434f7446" providerId="ADAL" clId="{C704670E-EB26-59A5-B939-4679B0AC3774}" dt="2026-10-06T13:41:40.887" v="773" actId="14100"/>
          <ac:grpSpMkLst>
            <pc:docMk/>
            <pc:sldMk cId="3905187311" sldId="2147483345"/>
            <ac:grpSpMk id="17" creationId="{8D871B26-45A5-5078-F0DD-2A9831BDDA4C}"/>
          </ac:grpSpMkLst>
        </pc:grpChg>
        <pc:grpChg chg="add mod">
          <ac:chgData name="Markatia, Danish" userId="050c7bd4-a7d7-4078-a432-131b434f7446" providerId="ADAL" clId="{C704670E-EB26-59A5-B939-4679B0AC3774}" dt="2026-10-06T13:41:40.887" v="773" actId="14100"/>
          <ac:grpSpMkLst>
            <pc:docMk/>
            <pc:sldMk cId="3905187311" sldId="2147483345"/>
            <ac:grpSpMk id="18" creationId="{F636BE93-2F5A-5F15-8CE4-BAA508033383}"/>
          </ac:grpSpMkLst>
        </pc:grpChg>
        <pc:grpChg chg="add mod">
          <ac:chgData name="Markatia, Danish" userId="050c7bd4-a7d7-4078-a432-131b434f7446" providerId="ADAL" clId="{C704670E-EB26-59A5-B939-4679B0AC3774}" dt="2026-10-06T13:41:40.887" v="773" actId="14100"/>
          <ac:grpSpMkLst>
            <pc:docMk/>
            <pc:sldMk cId="3905187311" sldId="2147483345"/>
            <ac:grpSpMk id="19" creationId="{5C09C769-F5E8-6F5C-3CD6-20681CD3EF4D}"/>
          </ac:grpSpMkLst>
        </pc:grpChg>
        <pc:grpChg chg="add mod">
          <ac:chgData name="Markatia, Danish" userId="050c7bd4-a7d7-4078-a432-131b434f7446" providerId="ADAL" clId="{C704670E-EB26-59A5-B939-4679B0AC3774}" dt="2026-10-06T13:41:40.887" v="773" actId="14100"/>
          <ac:grpSpMkLst>
            <pc:docMk/>
            <pc:sldMk cId="3905187311" sldId="2147483345"/>
            <ac:grpSpMk id="20" creationId="{8BD80D89-DF92-9398-E88E-8919FFBF6A1E}"/>
          </ac:grpSpMkLst>
        </pc:grpChg>
        <pc:grpChg chg="add mod">
          <ac:chgData name="Markatia, Danish" userId="050c7bd4-a7d7-4078-a432-131b434f7446" providerId="ADAL" clId="{C704670E-EB26-59A5-B939-4679B0AC3774}" dt="2026-10-06T13:41:40.887" v="773" actId="14100"/>
          <ac:grpSpMkLst>
            <pc:docMk/>
            <pc:sldMk cId="3905187311" sldId="2147483345"/>
            <ac:grpSpMk id="21" creationId="{1547925B-1F47-2080-1D6F-56B994EF8EFC}"/>
          </ac:grpSpMkLst>
        </pc:grpChg>
        <pc:grpChg chg="add mod">
          <ac:chgData name="Markatia, Danish" userId="050c7bd4-a7d7-4078-a432-131b434f7446" providerId="ADAL" clId="{C704670E-EB26-59A5-B939-4679B0AC3774}" dt="2026-10-06T15:04:49.179" v="1319" actId="1035"/>
          <ac:grpSpMkLst>
            <pc:docMk/>
            <pc:sldMk cId="3905187311" sldId="2147483345"/>
            <ac:grpSpMk id="89" creationId="{969E6257-8AE0-7289-D3C8-7D3135CFC2B6}"/>
          </ac:grpSpMkLst>
        </pc:grpChg>
        <pc:grpChg chg="add mod">
          <ac:chgData name="Markatia, Danish" userId="050c7bd4-a7d7-4078-a432-131b434f7446" providerId="ADAL" clId="{C704670E-EB26-59A5-B939-4679B0AC3774}" dt="2026-10-06T15:04:49.179" v="1319" actId="1035"/>
          <ac:grpSpMkLst>
            <pc:docMk/>
            <pc:sldMk cId="3905187311" sldId="2147483345"/>
            <ac:grpSpMk id="90" creationId="{47A85C74-DB96-F438-DBDD-95A7B1308F18}"/>
          </ac:grpSpMkLst>
        </pc:grpChg>
        <pc:grpChg chg="add mod">
          <ac:chgData name="Markatia, Danish" userId="050c7bd4-a7d7-4078-a432-131b434f7446" providerId="ADAL" clId="{C704670E-EB26-59A5-B939-4679B0AC3774}" dt="2026-10-06T15:04:49.179" v="1319" actId="1035"/>
          <ac:grpSpMkLst>
            <pc:docMk/>
            <pc:sldMk cId="3905187311" sldId="2147483345"/>
            <ac:grpSpMk id="91" creationId="{0AEC7F52-1C64-B2BC-B004-0CB43C72B7F6}"/>
          </ac:grpSpMkLst>
        </pc:grpChg>
        <pc:grpChg chg="add mod">
          <ac:chgData name="Markatia, Danish" userId="050c7bd4-a7d7-4078-a432-131b434f7446" providerId="ADAL" clId="{C704670E-EB26-59A5-B939-4679B0AC3774}" dt="2026-10-06T15:04:49.179" v="1319" actId="1035"/>
          <ac:grpSpMkLst>
            <pc:docMk/>
            <pc:sldMk cId="3905187311" sldId="2147483345"/>
            <ac:grpSpMk id="92" creationId="{11DB77D5-C8B9-8FBD-537B-2F9C00546A00}"/>
          </ac:grpSpMkLst>
        </pc:grpChg>
        <pc:grpChg chg="add mod">
          <ac:chgData name="Markatia, Danish" userId="050c7bd4-a7d7-4078-a432-131b434f7446" providerId="ADAL" clId="{C704670E-EB26-59A5-B939-4679B0AC3774}" dt="2026-10-06T15:04:49.179" v="1319" actId="1035"/>
          <ac:grpSpMkLst>
            <pc:docMk/>
            <pc:sldMk cId="3905187311" sldId="2147483345"/>
            <ac:grpSpMk id="93" creationId="{8351FF4D-81E5-555B-6F6D-421B66001045}"/>
          </ac:grpSpMkLst>
        </pc:grpChg>
        <pc:grpChg chg="add mod">
          <ac:chgData name="Markatia, Danish" userId="050c7bd4-a7d7-4078-a432-131b434f7446" providerId="ADAL" clId="{C704670E-EB26-59A5-B939-4679B0AC3774}" dt="2026-10-06T15:04:49.179" v="1319" actId="1035"/>
          <ac:grpSpMkLst>
            <pc:docMk/>
            <pc:sldMk cId="3905187311" sldId="2147483345"/>
            <ac:grpSpMk id="94" creationId="{18044227-DB19-5712-2178-54F05D7F1B5F}"/>
          </ac:grpSpMkLst>
        </pc:grpChg>
      </pc:sldChg>
      <pc:sldChg chg="addSp delSp modSp add mod">
        <pc:chgData name="Markatia, Danish" userId="050c7bd4-a7d7-4078-a432-131b434f7446" providerId="ADAL" clId="{C704670E-EB26-59A5-B939-4679B0AC3774}" dt="2026-10-06T15:34:10.794" v="2058"/>
        <pc:sldMkLst>
          <pc:docMk/>
          <pc:sldMk cId="1532316252" sldId="2147483346"/>
        </pc:sldMkLst>
        <pc:spChg chg="del">
          <ac:chgData name="Markatia, Danish" userId="050c7bd4-a7d7-4078-a432-131b434f7446" providerId="ADAL" clId="{C704670E-EB26-59A5-B939-4679B0AC3774}" dt="2026-10-06T15:05:36.880" v="1325" actId="478"/>
          <ac:spMkLst>
            <pc:docMk/>
            <pc:sldMk cId="1532316252" sldId="2147483346"/>
            <ac:spMk id="2" creationId="{6DD0C2BC-5EB9-2D41-E70E-BD156C0AD697}"/>
          </ac:spMkLst>
        </pc:spChg>
        <pc:spChg chg="mod">
          <ac:chgData name="Markatia, Danish" userId="050c7bd4-a7d7-4078-a432-131b434f7446" providerId="ADAL" clId="{C704670E-EB26-59A5-B939-4679B0AC3774}" dt="2026-10-06T15:34:10.794" v="2058"/>
          <ac:spMkLst>
            <pc:docMk/>
            <pc:sldMk cId="1532316252" sldId="2147483346"/>
            <ac:spMk id="3" creationId="{924F3F19-5CC0-484A-3E88-DD60DF616BE5}"/>
          </ac:spMkLst>
        </pc:spChg>
        <pc:spChg chg="del">
          <ac:chgData name="Markatia, Danish" userId="050c7bd4-a7d7-4078-a432-131b434f7446" providerId="ADAL" clId="{C704670E-EB26-59A5-B939-4679B0AC3774}" dt="2026-10-06T15:05:36.880" v="1325" actId="478"/>
          <ac:spMkLst>
            <pc:docMk/>
            <pc:sldMk cId="1532316252" sldId="2147483346"/>
            <ac:spMk id="4" creationId="{84E8629B-14E3-278C-4E57-1C86C0947703}"/>
          </ac:spMkLst>
        </pc:spChg>
        <pc:spChg chg="del">
          <ac:chgData name="Markatia, Danish" userId="050c7bd4-a7d7-4078-a432-131b434f7446" providerId="ADAL" clId="{C704670E-EB26-59A5-B939-4679B0AC3774}" dt="2026-10-06T15:05:36.880" v="1325" actId="478"/>
          <ac:spMkLst>
            <pc:docMk/>
            <pc:sldMk cId="1532316252" sldId="2147483346"/>
            <ac:spMk id="5" creationId="{5D5DBC1E-42CA-9688-69F2-33238DEDA17C}"/>
          </ac:spMkLst>
        </pc:spChg>
        <pc:spChg chg="del">
          <ac:chgData name="Markatia, Danish" userId="050c7bd4-a7d7-4078-a432-131b434f7446" providerId="ADAL" clId="{C704670E-EB26-59A5-B939-4679B0AC3774}" dt="2026-10-06T15:05:36.880" v="1325" actId="478"/>
          <ac:spMkLst>
            <pc:docMk/>
            <pc:sldMk cId="1532316252" sldId="2147483346"/>
            <ac:spMk id="7" creationId="{15E63972-5EA5-0561-7511-BE6316E0AEE2}"/>
          </ac:spMkLst>
        </pc:spChg>
        <pc:spChg chg="del">
          <ac:chgData name="Markatia, Danish" userId="050c7bd4-a7d7-4078-a432-131b434f7446" providerId="ADAL" clId="{C704670E-EB26-59A5-B939-4679B0AC3774}" dt="2026-10-06T15:05:36.880" v="1325" actId="478"/>
          <ac:spMkLst>
            <pc:docMk/>
            <pc:sldMk cId="1532316252" sldId="2147483346"/>
            <ac:spMk id="8" creationId="{56CE5472-B93E-3FE7-CCDB-84980F15A3EA}"/>
          </ac:spMkLst>
        </pc:spChg>
        <pc:spChg chg="del">
          <ac:chgData name="Markatia, Danish" userId="050c7bd4-a7d7-4078-a432-131b434f7446" providerId="ADAL" clId="{C704670E-EB26-59A5-B939-4679B0AC3774}" dt="2026-10-06T15:05:36.880" v="1325" actId="478"/>
          <ac:spMkLst>
            <pc:docMk/>
            <pc:sldMk cId="1532316252" sldId="2147483346"/>
            <ac:spMk id="11" creationId="{6950364A-3CA1-97EC-D221-6C56759C0B72}"/>
          </ac:spMkLst>
        </pc:spChg>
        <pc:spChg chg="del">
          <ac:chgData name="Markatia, Danish" userId="050c7bd4-a7d7-4078-a432-131b434f7446" providerId="ADAL" clId="{C704670E-EB26-59A5-B939-4679B0AC3774}" dt="2026-10-06T15:05:36.880" v="1325" actId="478"/>
          <ac:spMkLst>
            <pc:docMk/>
            <pc:sldMk cId="1532316252" sldId="2147483346"/>
            <ac:spMk id="12" creationId="{1DB93CD3-DB4F-516A-C7F4-4243E910DDC7}"/>
          </ac:spMkLst>
        </pc:spChg>
        <pc:spChg chg="del">
          <ac:chgData name="Markatia, Danish" userId="050c7bd4-a7d7-4078-a432-131b434f7446" providerId="ADAL" clId="{C704670E-EB26-59A5-B939-4679B0AC3774}" dt="2026-10-06T15:05:36.880" v="1325" actId="478"/>
          <ac:spMkLst>
            <pc:docMk/>
            <pc:sldMk cId="1532316252" sldId="2147483346"/>
            <ac:spMk id="13" creationId="{98FFBFFD-F018-759C-3F1D-2D7DD71955A1}"/>
          </ac:spMkLst>
        </pc:spChg>
        <pc:spChg chg="del">
          <ac:chgData name="Markatia, Danish" userId="050c7bd4-a7d7-4078-a432-131b434f7446" providerId="ADAL" clId="{C704670E-EB26-59A5-B939-4679B0AC3774}" dt="2026-10-06T15:05:36.880" v="1325" actId="478"/>
          <ac:spMkLst>
            <pc:docMk/>
            <pc:sldMk cId="1532316252" sldId="2147483346"/>
            <ac:spMk id="14" creationId="{1206C844-2B8C-10AB-29C4-876CB3A2400C}"/>
          </ac:spMkLst>
        </pc:spChg>
        <pc:spChg chg="add mod">
          <ac:chgData name="Markatia, Danish" userId="050c7bd4-a7d7-4078-a432-131b434f7446" providerId="ADAL" clId="{C704670E-EB26-59A5-B939-4679B0AC3774}" dt="2026-10-06T15:07:29.787" v="1537" actId="1036"/>
          <ac:spMkLst>
            <pc:docMk/>
            <pc:sldMk cId="1532316252" sldId="2147483346"/>
            <ac:spMk id="17" creationId="{AE4C7AC4-D6B3-CDC3-9F07-94DCFBC02FB9}"/>
          </ac:spMkLst>
        </pc:spChg>
        <pc:spChg chg="add mod">
          <ac:chgData name="Markatia, Danish" userId="050c7bd4-a7d7-4078-a432-131b434f7446" providerId="ADAL" clId="{C704670E-EB26-59A5-B939-4679B0AC3774}" dt="2026-10-06T15:07:29.787" v="1537" actId="1036"/>
          <ac:spMkLst>
            <pc:docMk/>
            <pc:sldMk cId="1532316252" sldId="2147483346"/>
            <ac:spMk id="18" creationId="{5F4275BB-E47E-BE4B-DD05-882829B49136}"/>
          </ac:spMkLst>
        </pc:spChg>
        <pc:spChg chg="add mod">
          <ac:chgData name="Markatia, Danish" userId="050c7bd4-a7d7-4078-a432-131b434f7446" providerId="ADAL" clId="{C704670E-EB26-59A5-B939-4679B0AC3774}" dt="2026-10-06T15:07:29.787" v="1537" actId="1036"/>
          <ac:spMkLst>
            <pc:docMk/>
            <pc:sldMk cId="1532316252" sldId="2147483346"/>
            <ac:spMk id="19" creationId="{AFF971AD-AFE7-7688-D7D5-8469205AFF5B}"/>
          </ac:spMkLst>
        </pc:spChg>
        <pc:spChg chg="add mod">
          <ac:chgData name="Markatia, Danish" userId="050c7bd4-a7d7-4078-a432-131b434f7446" providerId="ADAL" clId="{C704670E-EB26-59A5-B939-4679B0AC3774}" dt="2026-10-06T15:07:29.787" v="1537" actId="1036"/>
          <ac:spMkLst>
            <pc:docMk/>
            <pc:sldMk cId="1532316252" sldId="2147483346"/>
            <ac:spMk id="22" creationId="{A2A05F9B-A1C5-729A-162A-1EA40F3F63B9}"/>
          </ac:spMkLst>
        </pc:spChg>
        <pc:spChg chg="add mod">
          <ac:chgData name="Markatia, Danish" userId="050c7bd4-a7d7-4078-a432-131b434f7446" providerId="ADAL" clId="{C704670E-EB26-59A5-B939-4679B0AC3774}" dt="2026-10-06T15:07:29.787" v="1537" actId="1036"/>
          <ac:spMkLst>
            <pc:docMk/>
            <pc:sldMk cId="1532316252" sldId="2147483346"/>
            <ac:spMk id="28" creationId="{9298D544-C659-8116-C623-ACC2B5FF122E}"/>
          </ac:spMkLst>
        </pc:spChg>
        <pc:spChg chg="add mod">
          <ac:chgData name="Markatia, Danish" userId="050c7bd4-a7d7-4078-a432-131b434f7446" providerId="ADAL" clId="{C704670E-EB26-59A5-B939-4679B0AC3774}" dt="2026-10-06T15:07:29.787" v="1537" actId="1036"/>
          <ac:spMkLst>
            <pc:docMk/>
            <pc:sldMk cId="1532316252" sldId="2147483346"/>
            <ac:spMk id="29" creationId="{D1684705-1E83-FCE9-DC7C-E6DB6B2899D7}"/>
          </ac:spMkLst>
        </pc:spChg>
        <pc:spChg chg="mod">
          <ac:chgData name="Markatia, Danish" userId="050c7bd4-a7d7-4078-a432-131b434f7446" providerId="ADAL" clId="{C704670E-EB26-59A5-B939-4679B0AC3774}" dt="2026-10-06T15:06:33.311" v="1510" actId="20577"/>
          <ac:spMkLst>
            <pc:docMk/>
            <pc:sldMk cId="1532316252" sldId="2147483346"/>
            <ac:spMk id="31" creationId="{906F06FF-1D51-8E35-8F84-09E44351E7D9}"/>
          </ac:spMkLst>
        </pc:spChg>
        <pc:spChg chg="mod">
          <ac:chgData name="Markatia, Danish" userId="050c7bd4-a7d7-4078-a432-131b434f7446" providerId="ADAL" clId="{C704670E-EB26-59A5-B939-4679B0AC3774}" dt="2026-10-06T15:07:29.787" v="1537" actId="1036"/>
          <ac:spMkLst>
            <pc:docMk/>
            <pc:sldMk cId="1532316252" sldId="2147483346"/>
            <ac:spMk id="32" creationId="{CC0D0F0F-9CFF-B020-1A77-0992A5E95CD7}"/>
          </ac:spMkLst>
        </pc:spChg>
        <pc:spChg chg="add mod">
          <ac:chgData name="Markatia, Danish" userId="050c7bd4-a7d7-4078-a432-131b434f7446" providerId="ADAL" clId="{C704670E-EB26-59A5-B939-4679B0AC3774}" dt="2026-10-06T15:07:29.787" v="1537" actId="1036"/>
          <ac:spMkLst>
            <pc:docMk/>
            <pc:sldMk cId="1532316252" sldId="2147483346"/>
            <ac:spMk id="35" creationId="{EE5DFBA7-FBFD-34D8-4DC4-6D6728B2147E}"/>
          </ac:spMkLst>
        </pc:spChg>
        <pc:spChg chg="add mod">
          <ac:chgData name="Markatia, Danish" userId="050c7bd4-a7d7-4078-a432-131b434f7446" providerId="ADAL" clId="{C704670E-EB26-59A5-B939-4679B0AC3774}" dt="2026-10-06T15:07:29.787" v="1537" actId="1036"/>
          <ac:spMkLst>
            <pc:docMk/>
            <pc:sldMk cId="1532316252" sldId="2147483346"/>
            <ac:spMk id="36" creationId="{986ABD7A-5AEF-12BA-82AA-388D48263F86}"/>
          </ac:spMkLst>
        </pc:spChg>
        <pc:spChg chg="add mod">
          <ac:chgData name="Markatia, Danish" userId="050c7bd4-a7d7-4078-a432-131b434f7446" providerId="ADAL" clId="{C704670E-EB26-59A5-B939-4679B0AC3774}" dt="2026-10-06T15:07:29.787" v="1537" actId="1036"/>
          <ac:spMkLst>
            <pc:docMk/>
            <pc:sldMk cId="1532316252" sldId="2147483346"/>
            <ac:spMk id="37" creationId="{352AC077-2930-38A1-1239-7E637E77E7C7}"/>
          </ac:spMkLst>
        </pc:spChg>
        <pc:spChg chg="mod">
          <ac:chgData name="Markatia, Danish" userId="050c7bd4-a7d7-4078-a432-131b434f7446" providerId="ADAL" clId="{C704670E-EB26-59A5-B939-4679B0AC3774}" dt="2026-10-06T15:30:38.172" v="2030" actId="14100"/>
          <ac:spMkLst>
            <pc:docMk/>
            <pc:sldMk cId="1532316252" sldId="2147483346"/>
            <ac:spMk id="38" creationId="{6CCA3B23-DC8A-08EF-F0B3-C97829414514}"/>
          </ac:spMkLst>
        </pc:spChg>
        <pc:spChg chg="add mod">
          <ac:chgData name="Markatia, Danish" userId="050c7bd4-a7d7-4078-a432-131b434f7446" providerId="ADAL" clId="{C704670E-EB26-59A5-B939-4679B0AC3774}" dt="2026-10-06T15:07:39.795" v="1561" actId="1035"/>
          <ac:spMkLst>
            <pc:docMk/>
            <pc:sldMk cId="1532316252" sldId="2147483346"/>
            <ac:spMk id="39" creationId="{69699895-41AE-B6B2-C8E8-FCFCC4DC2D19}"/>
          </ac:spMkLst>
        </pc:spChg>
        <pc:spChg chg="del">
          <ac:chgData name="Markatia, Danish" userId="050c7bd4-a7d7-4078-a432-131b434f7446" providerId="ADAL" clId="{C704670E-EB26-59A5-B939-4679B0AC3774}" dt="2026-10-06T15:05:36.880" v="1325" actId="478"/>
          <ac:spMkLst>
            <pc:docMk/>
            <pc:sldMk cId="1532316252" sldId="2147483346"/>
            <ac:spMk id="95" creationId="{EEFB3265-283F-E38A-8AAE-B8B5A47C776C}"/>
          </ac:spMkLst>
        </pc:spChg>
      </pc:sldChg>
      <pc:sldChg chg="addSp delSp modSp add mod">
        <pc:chgData name="Markatia, Danish" userId="050c7bd4-a7d7-4078-a432-131b434f7446" providerId="ADAL" clId="{C704670E-EB26-59A5-B939-4679B0AC3774}" dt="2026-10-06T15:34:14.435" v="2059"/>
        <pc:sldMkLst>
          <pc:docMk/>
          <pc:sldMk cId="3470299647" sldId="2147483347"/>
        </pc:sldMkLst>
        <pc:spChg chg="mod">
          <ac:chgData name="Markatia, Danish" userId="050c7bd4-a7d7-4078-a432-131b434f7446" providerId="ADAL" clId="{C704670E-EB26-59A5-B939-4679B0AC3774}" dt="2026-10-06T15:34:14.435" v="2059"/>
          <ac:spMkLst>
            <pc:docMk/>
            <pc:sldMk cId="3470299647" sldId="2147483347"/>
            <ac:spMk id="3" creationId="{20CE9E38-8AC4-DEC8-6827-B738995DAEA0}"/>
          </ac:spMkLst>
        </pc:spChg>
        <pc:spChg chg="add mod">
          <ac:chgData name="Markatia, Danish" userId="050c7bd4-a7d7-4078-a432-131b434f7446" providerId="ADAL" clId="{C704670E-EB26-59A5-B939-4679B0AC3774}" dt="2026-10-06T15:09:34.979" v="1757" actId="1036"/>
          <ac:spMkLst>
            <pc:docMk/>
            <pc:sldMk cId="3470299647" sldId="2147483347"/>
            <ac:spMk id="5" creationId="{C875D398-0708-32B8-1F34-714F0A1D522D}"/>
          </ac:spMkLst>
        </pc:spChg>
        <pc:spChg chg="add del">
          <ac:chgData name="Markatia, Danish" userId="050c7bd4-a7d7-4078-a432-131b434f7446" providerId="ADAL" clId="{C704670E-EB26-59A5-B939-4679B0AC3774}" dt="2026-10-06T15:08:24.969" v="1565" actId="478"/>
          <ac:spMkLst>
            <pc:docMk/>
            <pc:sldMk cId="3470299647" sldId="2147483347"/>
            <ac:spMk id="18" creationId="{0D61CB2D-FB82-8BCF-53CC-B44AAA39F6FC}"/>
          </ac:spMkLst>
        </pc:spChg>
        <pc:spChg chg="add del">
          <ac:chgData name="Markatia, Danish" userId="050c7bd4-a7d7-4078-a432-131b434f7446" providerId="ADAL" clId="{C704670E-EB26-59A5-B939-4679B0AC3774}" dt="2026-10-06T15:08:24.969" v="1565" actId="478"/>
          <ac:spMkLst>
            <pc:docMk/>
            <pc:sldMk cId="3470299647" sldId="2147483347"/>
            <ac:spMk id="20" creationId="{D73B9278-3501-E302-3645-3CF7248AA259}"/>
          </ac:spMkLst>
        </pc:spChg>
        <pc:spChg chg="add mod">
          <ac:chgData name="Markatia, Danish" userId="050c7bd4-a7d7-4078-a432-131b434f7446" providerId="ADAL" clId="{C704670E-EB26-59A5-B939-4679B0AC3774}" dt="2026-10-06T15:09:34.979" v="1757" actId="1036"/>
          <ac:spMkLst>
            <pc:docMk/>
            <pc:sldMk cId="3470299647" sldId="2147483347"/>
            <ac:spMk id="23" creationId="{933C5692-1DCF-5408-39B1-4EB3663EDB8C}"/>
          </ac:spMkLst>
        </pc:spChg>
        <pc:spChg chg="add mod">
          <ac:chgData name="Markatia, Danish" userId="050c7bd4-a7d7-4078-a432-131b434f7446" providerId="ADAL" clId="{C704670E-EB26-59A5-B939-4679B0AC3774}" dt="2026-10-06T15:09:34.979" v="1757" actId="1036"/>
          <ac:spMkLst>
            <pc:docMk/>
            <pc:sldMk cId="3470299647" sldId="2147483347"/>
            <ac:spMk id="24" creationId="{C534E69E-8584-7DC2-5722-3D59A85FA6B2}"/>
          </ac:spMkLst>
        </pc:spChg>
        <pc:spChg chg="add mod">
          <ac:chgData name="Markatia, Danish" userId="050c7bd4-a7d7-4078-a432-131b434f7446" providerId="ADAL" clId="{C704670E-EB26-59A5-B939-4679B0AC3774}" dt="2026-10-06T15:09:34.979" v="1757" actId="1036"/>
          <ac:spMkLst>
            <pc:docMk/>
            <pc:sldMk cId="3470299647" sldId="2147483347"/>
            <ac:spMk id="27" creationId="{F2DC360B-310C-AF51-E3F9-1A7913C91453}"/>
          </ac:spMkLst>
        </pc:spChg>
        <pc:spChg chg="add del">
          <ac:chgData name="Markatia, Danish" userId="050c7bd4-a7d7-4078-a432-131b434f7446" providerId="ADAL" clId="{C704670E-EB26-59A5-B939-4679B0AC3774}" dt="2026-10-06T15:08:24.969" v="1565" actId="478"/>
          <ac:spMkLst>
            <pc:docMk/>
            <pc:sldMk cId="3470299647" sldId="2147483347"/>
            <ac:spMk id="28" creationId="{09CEF175-6747-665A-4CB0-8B3789213B18}"/>
          </ac:spMkLst>
        </pc:spChg>
        <pc:spChg chg="add del">
          <ac:chgData name="Markatia, Danish" userId="050c7bd4-a7d7-4078-a432-131b434f7446" providerId="ADAL" clId="{C704670E-EB26-59A5-B939-4679B0AC3774}" dt="2026-10-06T15:08:24.969" v="1565" actId="478"/>
          <ac:spMkLst>
            <pc:docMk/>
            <pc:sldMk cId="3470299647" sldId="2147483347"/>
            <ac:spMk id="30" creationId="{1E97726B-370F-28B7-262D-1D9E54B1E6A5}"/>
          </ac:spMkLst>
        </pc:spChg>
        <pc:spChg chg="mod">
          <ac:chgData name="Markatia, Danish" userId="050c7bd4-a7d7-4078-a432-131b434f7446" providerId="ADAL" clId="{C704670E-EB26-59A5-B939-4679B0AC3774}" dt="2026-10-06T15:08:48.870" v="1665" actId="20577"/>
          <ac:spMkLst>
            <pc:docMk/>
            <pc:sldMk cId="3470299647" sldId="2147483347"/>
            <ac:spMk id="31" creationId="{A2A9A8E5-31C5-4BFD-5FB2-3A9E345B1CE2}"/>
          </ac:spMkLst>
        </pc:spChg>
        <pc:spChg chg="add del">
          <ac:chgData name="Markatia, Danish" userId="050c7bd4-a7d7-4078-a432-131b434f7446" providerId="ADAL" clId="{C704670E-EB26-59A5-B939-4679B0AC3774}" dt="2026-10-06T15:08:24.969" v="1565" actId="478"/>
          <ac:spMkLst>
            <pc:docMk/>
            <pc:sldMk cId="3470299647" sldId="2147483347"/>
            <ac:spMk id="32" creationId="{8CD3FD77-8213-14E9-B2BF-5D27BC018A3A}"/>
          </ac:spMkLst>
        </pc:spChg>
        <pc:spChg chg="add del">
          <ac:chgData name="Markatia, Danish" userId="050c7bd4-a7d7-4078-a432-131b434f7446" providerId="ADAL" clId="{C704670E-EB26-59A5-B939-4679B0AC3774}" dt="2026-10-06T15:08:24.969" v="1565" actId="478"/>
          <ac:spMkLst>
            <pc:docMk/>
            <pc:sldMk cId="3470299647" sldId="2147483347"/>
            <ac:spMk id="33" creationId="{BE912B72-7E2D-40F3-B601-2DE66B421452}"/>
          </ac:spMkLst>
        </pc:spChg>
        <pc:spChg chg="add del">
          <ac:chgData name="Markatia, Danish" userId="050c7bd4-a7d7-4078-a432-131b434f7446" providerId="ADAL" clId="{C704670E-EB26-59A5-B939-4679B0AC3774}" dt="2026-10-06T15:08:24.969" v="1565" actId="478"/>
          <ac:spMkLst>
            <pc:docMk/>
            <pc:sldMk cId="3470299647" sldId="2147483347"/>
            <ac:spMk id="34" creationId="{6A2FD6B7-3CD7-2EA0-5107-9E1A125A83A9}"/>
          </ac:spMkLst>
        </pc:spChg>
        <pc:spChg chg="add del">
          <ac:chgData name="Markatia, Danish" userId="050c7bd4-a7d7-4078-a432-131b434f7446" providerId="ADAL" clId="{C704670E-EB26-59A5-B939-4679B0AC3774}" dt="2026-10-06T15:08:24.969" v="1565" actId="478"/>
          <ac:spMkLst>
            <pc:docMk/>
            <pc:sldMk cId="3470299647" sldId="2147483347"/>
            <ac:spMk id="35" creationId="{BEB8EB50-48FC-2569-168A-D3CA673FFFD3}"/>
          </ac:spMkLst>
        </pc:spChg>
        <pc:spChg chg="add del">
          <ac:chgData name="Markatia, Danish" userId="050c7bd4-a7d7-4078-a432-131b434f7446" providerId="ADAL" clId="{C704670E-EB26-59A5-B939-4679B0AC3774}" dt="2026-10-06T15:08:24.969" v="1565" actId="478"/>
          <ac:spMkLst>
            <pc:docMk/>
            <pc:sldMk cId="3470299647" sldId="2147483347"/>
            <ac:spMk id="36" creationId="{8079C086-166A-F9B9-BC9B-BEA3A5A529C9}"/>
          </ac:spMkLst>
        </pc:spChg>
        <pc:spChg chg="add del">
          <ac:chgData name="Markatia, Danish" userId="050c7bd4-a7d7-4078-a432-131b434f7446" providerId="ADAL" clId="{C704670E-EB26-59A5-B939-4679B0AC3774}" dt="2026-10-06T15:08:24.969" v="1565" actId="478"/>
          <ac:spMkLst>
            <pc:docMk/>
            <pc:sldMk cId="3470299647" sldId="2147483347"/>
            <ac:spMk id="38" creationId="{2D0B5647-F999-3E2C-58DA-F261FE695A8A}"/>
          </ac:spMkLst>
        </pc:spChg>
        <pc:spChg chg="mod">
          <ac:chgData name="Markatia, Danish" userId="050c7bd4-a7d7-4078-a432-131b434f7446" providerId="ADAL" clId="{C704670E-EB26-59A5-B939-4679B0AC3774}" dt="2026-10-06T15:10:37.508" v="1801" actId="207"/>
          <ac:spMkLst>
            <pc:docMk/>
            <pc:sldMk cId="3470299647" sldId="2147483347"/>
            <ac:spMk id="42" creationId="{B232724B-329A-5947-2C5D-066ADBF00608}"/>
          </ac:spMkLst>
        </pc:spChg>
        <pc:spChg chg="add mod">
          <ac:chgData name="Markatia, Danish" userId="050c7bd4-a7d7-4078-a432-131b434f7446" providerId="ADAL" clId="{C704670E-EB26-59A5-B939-4679B0AC3774}" dt="2026-10-06T15:09:34.979" v="1757" actId="1036"/>
          <ac:spMkLst>
            <pc:docMk/>
            <pc:sldMk cId="3470299647" sldId="2147483347"/>
            <ac:spMk id="48" creationId="{FF65EEB2-1C56-2056-75BF-39BB032D4754}"/>
          </ac:spMkLst>
        </pc:spChg>
        <pc:spChg chg="add mod">
          <ac:chgData name="Markatia, Danish" userId="050c7bd4-a7d7-4078-a432-131b434f7446" providerId="ADAL" clId="{C704670E-EB26-59A5-B939-4679B0AC3774}" dt="2026-10-06T15:09:34.979" v="1757" actId="1036"/>
          <ac:spMkLst>
            <pc:docMk/>
            <pc:sldMk cId="3470299647" sldId="2147483347"/>
            <ac:spMk id="55" creationId="{8E05B9C6-F0DD-312F-DF9C-6A278004B4B0}"/>
          </ac:spMkLst>
        </pc:spChg>
        <pc:spChg chg="add mod">
          <ac:chgData name="Markatia, Danish" userId="050c7bd4-a7d7-4078-a432-131b434f7446" providerId="ADAL" clId="{C704670E-EB26-59A5-B939-4679B0AC3774}" dt="2026-10-06T15:09:34.979" v="1757" actId="1036"/>
          <ac:spMkLst>
            <pc:docMk/>
            <pc:sldMk cId="3470299647" sldId="2147483347"/>
            <ac:spMk id="56" creationId="{647FBDB0-12AC-6FE8-3385-BAD2B78BEF89}"/>
          </ac:spMkLst>
        </pc:spChg>
        <pc:spChg chg="mod">
          <ac:chgData name="Markatia, Danish" userId="050c7bd4-a7d7-4078-a432-131b434f7446" providerId="ADAL" clId="{C704670E-EB26-59A5-B939-4679B0AC3774}" dt="2026-10-06T15:09:13.246" v="1709" actId="1035"/>
          <ac:spMkLst>
            <pc:docMk/>
            <pc:sldMk cId="3470299647" sldId="2147483347"/>
            <ac:spMk id="59" creationId="{C60CC478-B6A7-F00B-6215-FF3376A96A09}"/>
          </ac:spMkLst>
        </pc:spChg>
        <pc:spChg chg="add mod">
          <ac:chgData name="Markatia, Danish" userId="050c7bd4-a7d7-4078-a432-131b434f7446" providerId="ADAL" clId="{C704670E-EB26-59A5-B939-4679B0AC3774}" dt="2026-10-06T15:09:34.979" v="1757" actId="1036"/>
          <ac:spMkLst>
            <pc:docMk/>
            <pc:sldMk cId="3470299647" sldId="2147483347"/>
            <ac:spMk id="60" creationId="{BF168BBF-2F04-2DF5-9BE7-61E00D7EC6C1}"/>
          </ac:spMkLst>
        </pc:spChg>
        <pc:spChg chg="mod">
          <ac:chgData name="Markatia, Danish" userId="050c7bd4-a7d7-4078-a432-131b434f7446" providerId="ADAL" clId="{C704670E-EB26-59A5-B939-4679B0AC3774}" dt="2026-10-06T15:09:13.246" v="1709" actId="1035"/>
          <ac:spMkLst>
            <pc:docMk/>
            <pc:sldMk cId="3470299647" sldId="2147483347"/>
            <ac:spMk id="61" creationId="{4ACEE0D7-8743-7890-A56F-685F4ED36191}"/>
          </ac:spMkLst>
        </pc:spChg>
        <pc:spChg chg="mod">
          <ac:chgData name="Markatia, Danish" userId="050c7bd4-a7d7-4078-a432-131b434f7446" providerId="ADAL" clId="{C704670E-EB26-59A5-B939-4679B0AC3774}" dt="2026-10-06T15:09:13.246" v="1709" actId="1035"/>
          <ac:spMkLst>
            <pc:docMk/>
            <pc:sldMk cId="3470299647" sldId="2147483347"/>
            <ac:spMk id="63" creationId="{315729B8-9412-F022-DA98-F298CEE57F5C}"/>
          </ac:spMkLst>
        </pc:spChg>
        <pc:spChg chg="mod">
          <ac:chgData name="Markatia, Danish" userId="050c7bd4-a7d7-4078-a432-131b434f7446" providerId="ADAL" clId="{C704670E-EB26-59A5-B939-4679B0AC3774}" dt="2026-10-06T15:09:13.246" v="1709" actId="1035"/>
          <ac:spMkLst>
            <pc:docMk/>
            <pc:sldMk cId="3470299647" sldId="2147483347"/>
            <ac:spMk id="64" creationId="{F7A188B7-20F6-E318-A257-09029E25F84C}"/>
          </ac:spMkLst>
        </pc:spChg>
        <pc:spChg chg="mod">
          <ac:chgData name="Markatia, Danish" userId="050c7bd4-a7d7-4078-a432-131b434f7446" providerId="ADAL" clId="{C704670E-EB26-59A5-B939-4679B0AC3774}" dt="2026-10-06T15:11:00.616" v="1803" actId="208"/>
          <ac:spMkLst>
            <pc:docMk/>
            <pc:sldMk cId="3470299647" sldId="2147483347"/>
            <ac:spMk id="66" creationId="{12028917-A6B5-2C24-6095-F42EDA9117B9}"/>
          </ac:spMkLst>
        </pc:spChg>
        <pc:spChg chg="mod">
          <ac:chgData name="Markatia, Danish" userId="050c7bd4-a7d7-4078-a432-131b434f7446" providerId="ADAL" clId="{C704670E-EB26-59A5-B939-4679B0AC3774}" dt="2026-10-06T15:10:32.710" v="1800" actId="207"/>
          <ac:spMkLst>
            <pc:docMk/>
            <pc:sldMk cId="3470299647" sldId="2147483347"/>
            <ac:spMk id="67" creationId="{9DE6AE61-FA86-6E5B-8A44-22A18240BF7C}"/>
          </ac:spMkLst>
        </pc:spChg>
        <pc:spChg chg="add mod">
          <ac:chgData name="Markatia, Danish" userId="050c7bd4-a7d7-4078-a432-131b434f7446" providerId="ADAL" clId="{C704670E-EB26-59A5-B939-4679B0AC3774}" dt="2026-10-06T15:09:34.979" v="1757" actId="1036"/>
          <ac:spMkLst>
            <pc:docMk/>
            <pc:sldMk cId="3470299647" sldId="2147483347"/>
            <ac:spMk id="68" creationId="{87869C43-3476-9BCD-5F6C-FCC59B6187EF}"/>
          </ac:spMkLst>
        </pc:spChg>
        <pc:spChg chg="mod">
          <ac:chgData name="Markatia, Danish" userId="050c7bd4-a7d7-4078-a432-131b434f7446" providerId="ADAL" clId="{C704670E-EB26-59A5-B939-4679B0AC3774}" dt="2026-10-06T15:09:13.246" v="1709" actId="1035"/>
          <ac:spMkLst>
            <pc:docMk/>
            <pc:sldMk cId="3470299647" sldId="2147483347"/>
            <ac:spMk id="69" creationId="{D4A85734-CB8A-7AF1-0522-E80B29D2992A}"/>
          </ac:spMkLst>
        </pc:spChg>
        <pc:spChg chg="mod">
          <ac:chgData name="Markatia, Danish" userId="050c7bd4-a7d7-4078-a432-131b434f7446" providerId="ADAL" clId="{C704670E-EB26-59A5-B939-4679B0AC3774}" dt="2026-10-06T15:11:05.703" v="1804" actId="208"/>
          <ac:spMkLst>
            <pc:docMk/>
            <pc:sldMk cId="3470299647" sldId="2147483347"/>
            <ac:spMk id="71" creationId="{E7FEC998-D384-1087-0C77-C95BC8158323}"/>
          </ac:spMkLst>
        </pc:spChg>
        <pc:spChg chg="mod">
          <ac:chgData name="Markatia, Danish" userId="050c7bd4-a7d7-4078-a432-131b434f7446" providerId="ADAL" clId="{C704670E-EB26-59A5-B939-4679B0AC3774}" dt="2026-10-06T15:10:49.868" v="1802" actId="207"/>
          <ac:spMkLst>
            <pc:docMk/>
            <pc:sldMk cId="3470299647" sldId="2147483347"/>
            <ac:spMk id="72" creationId="{52C27F2B-0FE7-06EF-FF79-496F7AB64E7B}"/>
          </ac:spMkLst>
        </pc:spChg>
        <pc:spChg chg="mod">
          <ac:chgData name="Markatia, Danish" userId="050c7bd4-a7d7-4078-a432-131b434f7446" providerId="ADAL" clId="{C704670E-EB26-59A5-B939-4679B0AC3774}" dt="2026-10-06T15:09:13.246" v="1709" actId="1035"/>
          <ac:spMkLst>
            <pc:docMk/>
            <pc:sldMk cId="3470299647" sldId="2147483347"/>
            <ac:spMk id="74" creationId="{72145CF0-61D9-5261-8E3E-581CF2754B05}"/>
          </ac:spMkLst>
        </pc:spChg>
        <pc:spChg chg="add mod">
          <ac:chgData name="Markatia, Danish" userId="050c7bd4-a7d7-4078-a432-131b434f7446" providerId="ADAL" clId="{C704670E-EB26-59A5-B939-4679B0AC3774}" dt="2026-10-06T15:09:34.979" v="1757" actId="1036"/>
          <ac:spMkLst>
            <pc:docMk/>
            <pc:sldMk cId="3470299647" sldId="2147483347"/>
            <ac:spMk id="75" creationId="{8F92252E-D22C-3025-754D-9589D7B22B13}"/>
          </ac:spMkLst>
        </pc:spChg>
        <pc:spChg chg="mod">
          <ac:chgData name="Markatia, Danish" userId="050c7bd4-a7d7-4078-a432-131b434f7446" providerId="ADAL" clId="{C704670E-EB26-59A5-B939-4679B0AC3774}" dt="2026-10-06T15:33:29.282" v="2056" actId="14100"/>
          <ac:spMkLst>
            <pc:docMk/>
            <pc:sldMk cId="3470299647" sldId="2147483347"/>
            <ac:spMk id="76" creationId="{0D030247-DED4-776F-343D-BF7454244C00}"/>
          </ac:spMkLst>
        </pc:spChg>
        <pc:spChg chg="mod">
          <ac:chgData name="Markatia, Danish" userId="050c7bd4-a7d7-4078-a432-131b434f7446" providerId="ADAL" clId="{C704670E-EB26-59A5-B939-4679B0AC3774}" dt="2026-10-06T15:33:24.966" v="2055" actId="1035"/>
          <ac:spMkLst>
            <pc:docMk/>
            <pc:sldMk cId="3470299647" sldId="2147483347"/>
            <ac:spMk id="77" creationId="{69205644-5A92-B44E-7ECA-35F5D3E7C1FA}"/>
          </ac:spMkLst>
        </pc:spChg>
        <pc:spChg chg="mod">
          <ac:chgData name="Markatia, Danish" userId="050c7bd4-a7d7-4078-a432-131b434f7446" providerId="ADAL" clId="{C704670E-EB26-59A5-B939-4679B0AC3774}" dt="2026-10-06T15:33:24.966" v="2055" actId="1035"/>
          <ac:spMkLst>
            <pc:docMk/>
            <pc:sldMk cId="3470299647" sldId="2147483347"/>
            <ac:spMk id="78" creationId="{C0972967-EB3B-159F-7B20-7899546ECE3B}"/>
          </ac:spMkLst>
        </pc:spChg>
      </pc:sldChg>
      <pc:sldChg chg="addSp delSp modSp add mod">
        <pc:chgData name="Markatia, Danish" userId="050c7bd4-a7d7-4078-a432-131b434f7446" providerId="ADAL" clId="{C704670E-EB26-59A5-B939-4679B0AC3774}" dt="2026-10-06T15:57:43.241" v="2749" actId="1037"/>
        <pc:sldMkLst>
          <pc:docMk/>
          <pc:sldMk cId="2243418821" sldId="2147483348"/>
        </pc:sldMkLst>
        <pc:spChg chg="mod">
          <ac:chgData name="Markatia, Danish" userId="050c7bd4-a7d7-4078-a432-131b434f7446" providerId="ADAL" clId="{C704670E-EB26-59A5-B939-4679B0AC3774}" dt="2026-10-06T15:34:18.114" v="2060"/>
          <ac:spMkLst>
            <pc:docMk/>
            <pc:sldMk cId="2243418821" sldId="2147483348"/>
            <ac:spMk id="3" creationId="{8A3B2C9F-661A-BD6E-B850-F6E19D72CA0F}"/>
          </ac:spMkLst>
        </pc:spChg>
        <pc:spChg chg="del">
          <ac:chgData name="Markatia, Danish" userId="050c7bd4-a7d7-4078-a432-131b434f7446" providerId="ADAL" clId="{C704670E-EB26-59A5-B939-4679B0AC3774}" dt="2026-10-06T15:18:36.941" v="1806" actId="478"/>
          <ac:spMkLst>
            <pc:docMk/>
            <pc:sldMk cId="2243418821" sldId="2147483348"/>
            <ac:spMk id="6" creationId="{9B3AFF5A-5FA2-D583-09FF-84844930C877}"/>
          </ac:spMkLst>
        </pc:spChg>
        <pc:spChg chg="del">
          <ac:chgData name="Markatia, Danish" userId="050c7bd4-a7d7-4078-a432-131b434f7446" providerId="ADAL" clId="{C704670E-EB26-59A5-B939-4679B0AC3774}" dt="2026-10-06T15:18:36.941" v="1806" actId="478"/>
          <ac:spMkLst>
            <pc:docMk/>
            <pc:sldMk cId="2243418821" sldId="2147483348"/>
            <ac:spMk id="8" creationId="{059D8454-43F5-4C28-137F-B8A1977893D3}"/>
          </ac:spMkLst>
        </pc:spChg>
        <pc:spChg chg="del">
          <ac:chgData name="Markatia, Danish" userId="050c7bd4-a7d7-4078-a432-131b434f7446" providerId="ADAL" clId="{C704670E-EB26-59A5-B939-4679B0AC3774}" dt="2026-10-06T15:18:36.941" v="1806" actId="478"/>
          <ac:spMkLst>
            <pc:docMk/>
            <pc:sldMk cId="2243418821" sldId="2147483348"/>
            <ac:spMk id="11" creationId="{79FB1DFD-E523-0F83-4A8B-7790F1B0BB5D}"/>
          </ac:spMkLst>
        </pc:spChg>
        <pc:spChg chg="add del mod">
          <ac:chgData name="Markatia, Danish" userId="050c7bd4-a7d7-4078-a432-131b434f7446" providerId="ADAL" clId="{C704670E-EB26-59A5-B939-4679B0AC3774}" dt="2026-10-06T15:26:41.040" v="1977"/>
          <ac:spMkLst>
            <pc:docMk/>
            <pc:sldMk cId="2243418821" sldId="2147483348"/>
            <ac:spMk id="16" creationId="{3C3B0DE5-3F8E-5433-2D37-48C7E59D4BF1}"/>
          </ac:spMkLst>
        </pc:spChg>
        <pc:spChg chg="add mod">
          <ac:chgData name="Markatia, Danish" userId="050c7bd4-a7d7-4078-a432-131b434f7446" providerId="ADAL" clId="{C704670E-EB26-59A5-B939-4679B0AC3774}" dt="2026-10-06T15:30:21.179" v="2028" actId="1036"/>
          <ac:spMkLst>
            <pc:docMk/>
            <pc:sldMk cId="2243418821" sldId="2147483348"/>
            <ac:spMk id="17" creationId="{1DDB4C7C-ADB3-CD23-0458-8DBD6A8584C3}"/>
          </ac:spMkLst>
        </pc:spChg>
        <pc:spChg chg="mod">
          <ac:chgData name="Markatia, Danish" userId="050c7bd4-a7d7-4078-a432-131b434f7446" providerId="ADAL" clId="{C704670E-EB26-59A5-B939-4679B0AC3774}" dt="2026-10-06T15:28:15.990" v="2008" actId="14100"/>
          <ac:spMkLst>
            <pc:docMk/>
            <pc:sldMk cId="2243418821" sldId="2147483348"/>
            <ac:spMk id="18" creationId="{34F27FF2-D721-CF1D-7687-2C1858E4A2DC}"/>
          </ac:spMkLst>
        </pc:spChg>
        <pc:spChg chg="add mod">
          <ac:chgData name="Markatia, Danish" userId="050c7bd4-a7d7-4078-a432-131b434f7446" providerId="ADAL" clId="{C704670E-EB26-59A5-B939-4679B0AC3774}" dt="2026-10-06T15:30:21.179" v="2028" actId="1036"/>
          <ac:spMkLst>
            <pc:docMk/>
            <pc:sldMk cId="2243418821" sldId="2147483348"/>
            <ac:spMk id="19" creationId="{26658954-DDF8-BCDD-6100-89D9B352BA23}"/>
          </ac:spMkLst>
        </pc:spChg>
        <pc:spChg chg="mod">
          <ac:chgData name="Markatia, Danish" userId="050c7bd4-a7d7-4078-a432-131b434f7446" providerId="ADAL" clId="{C704670E-EB26-59A5-B939-4679B0AC3774}" dt="2026-10-06T15:29:12.042" v="2018" actId="14100"/>
          <ac:spMkLst>
            <pc:docMk/>
            <pc:sldMk cId="2243418821" sldId="2147483348"/>
            <ac:spMk id="20" creationId="{F0021A8C-FDF7-947A-9EC3-ED224543352C}"/>
          </ac:spMkLst>
        </pc:spChg>
        <pc:spChg chg="add mod">
          <ac:chgData name="Markatia, Danish" userId="050c7bd4-a7d7-4078-a432-131b434f7446" providerId="ADAL" clId="{C704670E-EB26-59A5-B939-4679B0AC3774}" dt="2026-10-06T15:57:37.292" v="2748" actId="1038"/>
          <ac:spMkLst>
            <pc:docMk/>
            <pc:sldMk cId="2243418821" sldId="2147483348"/>
            <ac:spMk id="21" creationId="{432EB446-10EE-F1AB-94D6-0000901FC830}"/>
          </ac:spMkLst>
        </pc:spChg>
        <pc:spChg chg="add mod">
          <ac:chgData name="Markatia, Danish" userId="050c7bd4-a7d7-4078-a432-131b434f7446" providerId="ADAL" clId="{C704670E-EB26-59A5-B939-4679B0AC3774}" dt="2026-10-06T15:30:21.179" v="2028" actId="1036"/>
          <ac:spMkLst>
            <pc:docMk/>
            <pc:sldMk cId="2243418821" sldId="2147483348"/>
            <ac:spMk id="22" creationId="{7A89E32E-2597-1491-9851-D96F688ABE86}"/>
          </ac:spMkLst>
        </pc:spChg>
        <pc:spChg chg="add mod">
          <ac:chgData name="Markatia, Danish" userId="050c7bd4-a7d7-4078-a432-131b434f7446" providerId="ADAL" clId="{C704670E-EB26-59A5-B939-4679B0AC3774}" dt="2026-10-06T15:30:21.179" v="2028" actId="1036"/>
          <ac:spMkLst>
            <pc:docMk/>
            <pc:sldMk cId="2243418821" sldId="2147483348"/>
            <ac:spMk id="28" creationId="{F4C14912-73D1-8A14-77A8-1825CF9D1458}"/>
          </ac:spMkLst>
        </pc:spChg>
        <pc:spChg chg="add mod">
          <ac:chgData name="Markatia, Danish" userId="050c7bd4-a7d7-4078-a432-131b434f7446" providerId="ADAL" clId="{C704670E-EB26-59A5-B939-4679B0AC3774}" dt="2026-10-06T15:30:21.179" v="2028" actId="1036"/>
          <ac:spMkLst>
            <pc:docMk/>
            <pc:sldMk cId="2243418821" sldId="2147483348"/>
            <ac:spMk id="29" creationId="{D421E00B-EE9F-E37F-F0B9-733117A392FE}"/>
          </ac:spMkLst>
        </pc:spChg>
        <pc:spChg chg="add mod">
          <ac:chgData name="Markatia, Danish" userId="050c7bd4-a7d7-4078-a432-131b434f7446" providerId="ADAL" clId="{C704670E-EB26-59A5-B939-4679B0AC3774}" dt="2026-10-06T15:30:21.179" v="2028" actId="1036"/>
          <ac:spMkLst>
            <pc:docMk/>
            <pc:sldMk cId="2243418821" sldId="2147483348"/>
            <ac:spMk id="30" creationId="{F8F07BFD-87E7-8FED-96BF-9B90C5650456}"/>
          </ac:spMkLst>
        </pc:spChg>
        <pc:spChg chg="mod">
          <ac:chgData name="Markatia, Danish" userId="050c7bd4-a7d7-4078-a432-131b434f7446" providerId="ADAL" clId="{C704670E-EB26-59A5-B939-4679B0AC3774}" dt="2026-10-06T15:26:28.805" v="1974" actId="20577"/>
          <ac:spMkLst>
            <pc:docMk/>
            <pc:sldMk cId="2243418821" sldId="2147483348"/>
            <ac:spMk id="31" creationId="{767C5328-CEFD-301B-1277-6B6724DF88E7}"/>
          </ac:spMkLst>
        </pc:spChg>
        <pc:spChg chg="add mod">
          <ac:chgData name="Markatia, Danish" userId="050c7bd4-a7d7-4078-a432-131b434f7446" providerId="ADAL" clId="{C704670E-EB26-59A5-B939-4679B0AC3774}" dt="2026-10-06T15:57:43.241" v="2749" actId="1037"/>
          <ac:spMkLst>
            <pc:docMk/>
            <pc:sldMk cId="2243418821" sldId="2147483348"/>
            <ac:spMk id="32" creationId="{CE8796B4-4238-296B-8BCC-23D9CC446B1C}"/>
          </ac:spMkLst>
        </pc:spChg>
        <pc:spChg chg="mod">
          <ac:chgData name="Markatia, Danish" userId="050c7bd4-a7d7-4078-a432-131b434f7446" providerId="ADAL" clId="{C704670E-EB26-59A5-B939-4679B0AC3774}" dt="2026-10-06T15:28:23.420" v="2009" actId="14100"/>
          <ac:spMkLst>
            <pc:docMk/>
            <pc:sldMk cId="2243418821" sldId="2147483348"/>
            <ac:spMk id="33" creationId="{3341AA38-2E07-6E8A-DDE0-F47C41714502}"/>
          </ac:spMkLst>
        </pc:spChg>
        <pc:spChg chg="mod">
          <ac:chgData name="Markatia, Danish" userId="050c7bd4-a7d7-4078-a432-131b434f7446" providerId="ADAL" clId="{C704670E-EB26-59A5-B939-4679B0AC3774}" dt="2026-10-06T15:28:23.420" v="2009" actId="14100"/>
          <ac:spMkLst>
            <pc:docMk/>
            <pc:sldMk cId="2243418821" sldId="2147483348"/>
            <ac:spMk id="34" creationId="{1F386393-7217-1260-1D55-19975EC2499A}"/>
          </ac:spMkLst>
        </pc:spChg>
        <pc:spChg chg="add mod">
          <ac:chgData name="Markatia, Danish" userId="050c7bd4-a7d7-4078-a432-131b434f7446" providerId="ADAL" clId="{C704670E-EB26-59A5-B939-4679B0AC3774}" dt="2026-10-06T15:30:21.179" v="2028" actId="1036"/>
          <ac:spMkLst>
            <pc:docMk/>
            <pc:sldMk cId="2243418821" sldId="2147483348"/>
            <ac:spMk id="35" creationId="{16A0C0D7-2780-CF09-065D-EDDC8FFAD52E}"/>
          </ac:spMkLst>
        </pc:spChg>
        <pc:spChg chg="add mod">
          <ac:chgData name="Markatia, Danish" userId="050c7bd4-a7d7-4078-a432-131b434f7446" providerId="ADAL" clId="{C704670E-EB26-59A5-B939-4679B0AC3774}" dt="2026-10-06T15:30:21.179" v="2028" actId="1036"/>
          <ac:spMkLst>
            <pc:docMk/>
            <pc:sldMk cId="2243418821" sldId="2147483348"/>
            <ac:spMk id="36" creationId="{ABCD8C47-0EDE-472E-A992-443D74105790}"/>
          </ac:spMkLst>
        </pc:spChg>
        <pc:spChg chg="mod">
          <ac:chgData name="Markatia, Danish" userId="050c7bd4-a7d7-4078-a432-131b434f7446" providerId="ADAL" clId="{C704670E-EB26-59A5-B939-4679B0AC3774}" dt="2026-10-06T15:28:33.707" v="2013" actId="14100"/>
          <ac:spMkLst>
            <pc:docMk/>
            <pc:sldMk cId="2243418821" sldId="2147483348"/>
            <ac:spMk id="37" creationId="{483AEDD2-6C62-D9CC-EEC5-DA6C911F8016}"/>
          </ac:spMkLst>
        </pc:spChg>
        <pc:spChg chg="mod">
          <ac:chgData name="Markatia, Danish" userId="050c7bd4-a7d7-4078-a432-131b434f7446" providerId="ADAL" clId="{C704670E-EB26-59A5-B939-4679B0AC3774}" dt="2026-10-06T15:28:42.425" v="2014" actId="113"/>
          <ac:spMkLst>
            <pc:docMk/>
            <pc:sldMk cId="2243418821" sldId="2147483348"/>
            <ac:spMk id="38" creationId="{4263F90B-D58C-85D2-551E-14198D4CC487}"/>
          </ac:spMkLst>
        </pc:spChg>
        <pc:spChg chg="del">
          <ac:chgData name="Markatia, Danish" userId="050c7bd4-a7d7-4078-a432-131b434f7446" providerId="ADAL" clId="{C704670E-EB26-59A5-B939-4679B0AC3774}" dt="2026-10-06T15:18:36.941" v="1806" actId="478"/>
          <ac:spMkLst>
            <pc:docMk/>
            <pc:sldMk cId="2243418821" sldId="2147483348"/>
            <ac:spMk id="41" creationId="{41D53DDD-FFBA-3C4B-0A12-6A2477D52B12}"/>
          </ac:spMkLst>
        </pc:spChg>
        <pc:spChg chg="del">
          <ac:chgData name="Markatia, Danish" userId="050c7bd4-a7d7-4078-a432-131b434f7446" providerId="ADAL" clId="{C704670E-EB26-59A5-B939-4679B0AC3774}" dt="2026-10-06T15:18:36.941" v="1806" actId="478"/>
          <ac:spMkLst>
            <pc:docMk/>
            <pc:sldMk cId="2243418821" sldId="2147483348"/>
            <ac:spMk id="43" creationId="{8CF66E20-7BC9-C7CB-B671-F1F3BCADF967}"/>
          </ac:spMkLst>
        </pc:spChg>
        <pc:spChg chg="del">
          <ac:chgData name="Markatia, Danish" userId="050c7bd4-a7d7-4078-a432-131b434f7446" providerId="ADAL" clId="{C704670E-EB26-59A5-B939-4679B0AC3774}" dt="2026-10-06T15:18:36.941" v="1806" actId="478"/>
          <ac:spMkLst>
            <pc:docMk/>
            <pc:sldMk cId="2243418821" sldId="2147483348"/>
            <ac:spMk id="56" creationId="{93C36323-D711-5836-5B89-23C1DCF51391}"/>
          </ac:spMkLst>
        </pc:spChg>
        <pc:spChg chg="del">
          <ac:chgData name="Markatia, Danish" userId="050c7bd4-a7d7-4078-a432-131b434f7446" providerId="ADAL" clId="{C704670E-EB26-59A5-B939-4679B0AC3774}" dt="2026-10-06T15:18:36.941" v="1806" actId="478"/>
          <ac:spMkLst>
            <pc:docMk/>
            <pc:sldMk cId="2243418821" sldId="2147483348"/>
            <ac:spMk id="61" creationId="{7A43BEB1-23C1-CE58-75C6-83D244471A1A}"/>
          </ac:spMkLst>
        </pc:spChg>
        <pc:spChg chg="del">
          <ac:chgData name="Markatia, Danish" userId="050c7bd4-a7d7-4078-a432-131b434f7446" providerId="ADAL" clId="{C704670E-EB26-59A5-B939-4679B0AC3774}" dt="2026-10-06T15:18:36.941" v="1806" actId="478"/>
          <ac:spMkLst>
            <pc:docMk/>
            <pc:sldMk cId="2243418821" sldId="2147483348"/>
            <ac:spMk id="68" creationId="{3B5B7D1C-28AC-2D7D-CD15-FE870AF71FF9}"/>
          </ac:spMkLst>
        </pc:spChg>
        <pc:spChg chg="del">
          <ac:chgData name="Markatia, Danish" userId="050c7bd4-a7d7-4078-a432-131b434f7446" providerId="ADAL" clId="{C704670E-EB26-59A5-B939-4679B0AC3774}" dt="2026-10-06T15:18:36.941" v="1806" actId="478"/>
          <ac:spMkLst>
            <pc:docMk/>
            <pc:sldMk cId="2243418821" sldId="2147483348"/>
            <ac:spMk id="75" creationId="{3E5D71D2-EE58-2223-C531-DDB7FCA25D25}"/>
          </ac:spMkLst>
        </pc:spChg>
        <pc:spChg chg="del">
          <ac:chgData name="Markatia, Danish" userId="050c7bd4-a7d7-4078-a432-131b434f7446" providerId="ADAL" clId="{C704670E-EB26-59A5-B939-4679B0AC3774}" dt="2026-10-06T15:18:36.941" v="1806" actId="478"/>
          <ac:spMkLst>
            <pc:docMk/>
            <pc:sldMk cId="2243418821" sldId="2147483348"/>
            <ac:spMk id="76" creationId="{18D2D31E-3804-6A6B-B19E-352B80CF0E73}"/>
          </ac:spMkLst>
        </pc:spChg>
      </pc:sldChg>
      <pc:sldChg chg="addSp delSp modSp add mod">
        <pc:chgData name="Markatia, Danish" userId="050c7bd4-a7d7-4078-a432-131b434f7446" providerId="ADAL" clId="{C704670E-EB26-59A5-B939-4679B0AC3774}" dt="2026-10-07T17:32:46.660" v="2955" actId="20577"/>
        <pc:sldMkLst>
          <pc:docMk/>
          <pc:sldMk cId="3638318155" sldId="2147483351"/>
        </pc:sldMkLst>
        <pc:spChg chg="mod">
          <ac:chgData name="Markatia, Danish" userId="050c7bd4-a7d7-4078-a432-131b434f7446" providerId="ADAL" clId="{C704670E-EB26-59A5-B939-4679B0AC3774}" dt="2026-10-07T17:32:03.094" v="2782" actId="20577"/>
          <ac:spMkLst>
            <pc:docMk/>
            <pc:sldMk cId="3638318155" sldId="2147483351"/>
            <ac:spMk id="3" creationId="{7435196C-548B-0D1A-F66C-5DA94AB4B1B9}"/>
          </ac:spMkLst>
        </pc:spChg>
        <pc:spChg chg="del">
          <ac:chgData name="Markatia, Danish" userId="050c7bd4-a7d7-4078-a432-131b434f7446" providerId="ADAL" clId="{C704670E-EB26-59A5-B939-4679B0AC3774}" dt="2026-10-07T17:31:42.190" v="2751" actId="478"/>
          <ac:spMkLst>
            <pc:docMk/>
            <pc:sldMk cId="3638318155" sldId="2147483351"/>
            <ac:spMk id="5" creationId="{B5A73D2B-0E78-12A6-2F42-65D67B2188E2}"/>
          </ac:spMkLst>
        </pc:spChg>
        <pc:spChg chg="del">
          <ac:chgData name="Markatia, Danish" userId="050c7bd4-a7d7-4078-a432-131b434f7446" providerId="ADAL" clId="{C704670E-EB26-59A5-B939-4679B0AC3774}" dt="2026-10-07T17:31:42.190" v="2751" actId="478"/>
          <ac:spMkLst>
            <pc:docMk/>
            <pc:sldMk cId="3638318155" sldId="2147483351"/>
            <ac:spMk id="7" creationId="{B35BAF1E-91F3-7C22-B315-00881A848A71}"/>
          </ac:spMkLst>
        </pc:spChg>
        <pc:spChg chg="del">
          <ac:chgData name="Markatia, Danish" userId="050c7bd4-a7d7-4078-a432-131b434f7446" providerId="ADAL" clId="{C704670E-EB26-59A5-B939-4679B0AC3774}" dt="2026-10-07T17:31:42.190" v="2751" actId="478"/>
          <ac:spMkLst>
            <pc:docMk/>
            <pc:sldMk cId="3638318155" sldId="2147483351"/>
            <ac:spMk id="8" creationId="{FFE565DF-A834-E721-AC88-490B8507CD18}"/>
          </ac:spMkLst>
        </pc:spChg>
        <pc:spChg chg="del">
          <ac:chgData name="Markatia, Danish" userId="050c7bd4-a7d7-4078-a432-131b434f7446" providerId="ADAL" clId="{C704670E-EB26-59A5-B939-4679B0AC3774}" dt="2026-10-07T17:31:42.190" v="2751" actId="478"/>
          <ac:spMkLst>
            <pc:docMk/>
            <pc:sldMk cId="3638318155" sldId="2147483351"/>
            <ac:spMk id="9" creationId="{1909E5CE-E9EE-0FE3-3065-EBC5F61135A6}"/>
          </ac:spMkLst>
        </pc:spChg>
        <pc:spChg chg="del">
          <ac:chgData name="Markatia, Danish" userId="050c7bd4-a7d7-4078-a432-131b434f7446" providerId="ADAL" clId="{C704670E-EB26-59A5-B939-4679B0AC3774}" dt="2026-10-07T17:31:42.190" v="2751" actId="478"/>
          <ac:spMkLst>
            <pc:docMk/>
            <pc:sldMk cId="3638318155" sldId="2147483351"/>
            <ac:spMk id="11" creationId="{447BF53A-4F5C-21A8-154B-2BDB4E3D4C4E}"/>
          </ac:spMkLst>
        </pc:spChg>
        <pc:spChg chg="del">
          <ac:chgData name="Markatia, Danish" userId="050c7bd4-a7d7-4078-a432-131b434f7446" providerId="ADAL" clId="{C704670E-EB26-59A5-B939-4679B0AC3774}" dt="2026-10-07T17:31:42.190" v="2751" actId="478"/>
          <ac:spMkLst>
            <pc:docMk/>
            <pc:sldMk cId="3638318155" sldId="2147483351"/>
            <ac:spMk id="13" creationId="{51525EC6-49DD-F6A2-5A21-85F782234B36}"/>
          </ac:spMkLst>
        </pc:spChg>
        <pc:spChg chg="add mod">
          <ac:chgData name="Markatia, Danish" userId="050c7bd4-a7d7-4078-a432-131b434f7446" providerId="ADAL" clId="{C704670E-EB26-59A5-B939-4679B0AC3774}" dt="2026-10-07T17:32:46.660" v="2955" actId="20577"/>
          <ac:spMkLst>
            <pc:docMk/>
            <pc:sldMk cId="3638318155" sldId="2147483351"/>
            <ac:spMk id="14" creationId="{7D254884-1BC2-5A5D-0A6D-DDC8DC9BB8B1}"/>
          </ac:spMkLst>
        </pc:spChg>
        <pc:cxnChg chg="del">
          <ac:chgData name="Markatia, Danish" userId="050c7bd4-a7d7-4078-a432-131b434f7446" providerId="ADAL" clId="{C704670E-EB26-59A5-B939-4679B0AC3774}" dt="2026-10-07T17:31:42.190" v="2751" actId="478"/>
          <ac:cxnSpMkLst>
            <pc:docMk/>
            <pc:sldMk cId="3638318155" sldId="2147483351"/>
            <ac:cxnSpMk id="10" creationId="{AEB16B09-E977-AB28-DB31-150313E342AA}"/>
          </ac:cxnSpMkLst>
        </pc:cxnChg>
        <pc:cxnChg chg="del">
          <ac:chgData name="Markatia, Danish" userId="050c7bd4-a7d7-4078-a432-131b434f7446" providerId="ADAL" clId="{C704670E-EB26-59A5-B939-4679B0AC3774}" dt="2026-10-07T17:31:42.190" v="2751" actId="478"/>
          <ac:cxnSpMkLst>
            <pc:docMk/>
            <pc:sldMk cId="3638318155" sldId="2147483351"/>
            <ac:cxnSpMk id="12" creationId="{33C0A433-2A72-A4A9-424D-91D0B80E8221}"/>
          </ac:cxnSpMkLst>
        </pc:cxnChg>
      </pc:sldChg>
    </pc:docChg>
  </pc:docChgLst>
  <pc:docChgLst>
    <pc:chgData name="Kalidindi, Naga Mahendra V" userId="498c76e8-dbe5-45f5-932b-5ad14c9040e2" providerId="ADAL" clId="{96EE79D7-9BF9-4966-A943-03EEB87D6812}"/>
    <pc:docChg chg="custSel addSld modSld modSection">
      <pc:chgData name="Kalidindi, Naga Mahendra V" userId="498c76e8-dbe5-45f5-932b-5ad14c9040e2" providerId="ADAL" clId="{96EE79D7-9BF9-4966-A943-03EEB87D6812}" dt="2026-10-02T13:43:01.383" v="64" actId="478"/>
      <pc:docMkLst>
        <pc:docMk/>
      </pc:docMkLst>
      <pc:sldChg chg="delSp modSp new mod">
        <pc:chgData name="Kalidindi, Naga Mahendra V" userId="498c76e8-dbe5-45f5-932b-5ad14c9040e2" providerId="ADAL" clId="{96EE79D7-9BF9-4966-A943-03EEB87D6812}" dt="2026-10-02T13:43:01.383" v="64" actId="478"/>
        <pc:sldMkLst>
          <pc:docMk/>
          <pc:sldMk cId="3905187311" sldId="2147483345"/>
        </pc:sldMkLst>
        <pc:spChg chg="del">
          <ac:chgData name="Kalidindi, Naga Mahendra V" userId="498c76e8-dbe5-45f5-932b-5ad14c9040e2" providerId="ADAL" clId="{96EE79D7-9BF9-4966-A943-03EEB87D6812}" dt="2026-10-02T13:43:01.383" v="64" actId="478"/>
          <ac:spMkLst>
            <pc:docMk/>
            <pc:sldMk cId="3905187311" sldId="2147483345"/>
            <ac:spMk id="2" creationId="{3B915F4F-9383-2E96-55BE-173EE681345B}"/>
          </ac:spMkLst>
        </pc:spChg>
        <pc:spChg chg="mod">
          <ac:chgData name="Kalidindi, Naga Mahendra V" userId="498c76e8-dbe5-45f5-932b-5ad14c9040e2" providerId="ADAL" clId="{96EE79D7-9BF9-4966-A943-03EEB87D6812}" dt="2026-10-02T13:42:58.824" v="63" actId="20577"/>
          <ac:spMkLst>
            <pc:docMk/>
            <pc:sldMk cId="3905187311" sldId="2147483345"/>
            <ac:spMk id="3" creationId="{A09EDF06-6F70-0DD1-CF44-90FA2C228A77}"/>
          </ac:spMkLst>
        </pc:spChg>
      </pc:sldChg>
    </pc:docChg>
  </pc:docChgLst>
  <pc:docChgLst>
    <pc:chgData name="Walsh, William" userId="21366335-7b20-481e-9e5e-f413db4dabe6" providerId="ADAL" clId="{C87244E7-8C98-4A47-A311-39D6022DD3CD}"/>
    <pc:docChg chg="undo custSel addSld delSld modSld sldOrd addSection delSection modSection">
      <pc:chgData name="Walsh, William" userId="21366335-7b20-481e-9e5e-f413db4dabe6" providerId="ADAL" clId="{C87244E7-8C98-4A47-A311-39D6022DD3CD}" dt="2026-10-06T19:40:44.174" v="1606" actId="1076"/>
      <pc:docMkLst>
        <pc:docMk/>
      </pc:docMkLst>
      <pc:sldChg chg="ord">
        <pc:chgData name="Walsh, William" userId="21366335-7b20-481e-9e5e-f413db4dabe6" providerId="ADAL" clId="{C87244E7-8C98-4A47-A311-39D6022DD3CD}" dt="2026-09-25T14:00:05.224" v="122"/>
        <pc:sldMkLst>
          <pc:docMk/>
          <pc:sldMk cId="3267068862" sldId="563"/>
        </pc:sldMkLst>
      </pc:sldChg>
      <pc:sldChg chg="addSp modSp mod ord">
        <pc:chgData name="Walsh, William" userId="21366335-7b20-481e-9e5e-f413db4dabe6" providerId="ADAL" clId="{C87244E7-8C98-4A47-A311-39D6022DD3CD}" dt="2026-10-02T17:57:56.828" v="1192" actId="20577"/>
        <pc:sldMkLst>
          <pc:docMk/>
          <pc:sldMk cId="3652795259" sldId="564"/>
        </pc:sldMkLst>
        <pc:spChg chg="add mod">
          <ac:chgData name="Walsh, William" userId="21366335-7b20-481e-9e5e-f413db4dabe6" providerId="ADAL" clId="{C87244E7-8C98-4A47-A311-39D6022DD3CD}" dt="2026-10-02T17:57:56.828" v="1192" actId="20577"/>
          <ac:spMkLst>
            <pc:docMk/>
            <pc:sldMk cId="3652795259" sldId="564"/>
            <ac:spMk id="6" creationId="{BC4E9553-5930-5C7C-6778-9878D957F12A}"/>
          </ac:spMkLst>
        </pc:spChg>
        <pc:spChg chg="add mod">
          <ac:chgData name="Walsh, William" userId="21366335-7b20-481e-9e5e-f413db4dabe6" providerId="ADAL" clId="{C87244E7-8C98-4A47-A311-39D6022DD3CD}" dt="2026-09-25T16:25:37.907" v="492" actId="20577"/>
          <ac:spMkLst>
            <pc:docMk/>
            <pc:sldMk cId="3652795259" sldId="564"/>
            <ac:spMk id="8" creationId="{021F93E1-0245-A1B8-3D87-D01070204DFE}"/>
          </ac:spMkLst>
        </pc:spChg>
        <pc:graphicFrameChg chg="mod modGraphic">
          <ac:chgData name="Walsh, William" userId="21366335-7b20-481e-9e5e-f413db4dabe6" providerId="ADAL" clId="{C87244E7-8C98-4A47-A311-39D6022DD3CD}" dt="2026-09-25T16:25:10.231" v="430"/>
          <ac:graphicFrameMkLst>
            <pc:docMk/>
            <pc:sldMk cId="3652795259" sldId="564"/>
            <ac:graphicFrameMk id="5" creationId="{29D7B417-F2A9-E41F-D90A-F3E4D3C46BAC}"/>
          </ac:graphicFrameMkLst>
        </pc:graphicFrameChg>
      </pc:sldChg>
      <pc:sldChg chg="mod ord modShow">
        <pc:chgData name="Walsh, William" userId="21366335-7b20-481e-9e5e-f413db4dabe6" providerId="ADAL" clId="{C87244E7-8C98-4A47-A311-39D6022DD3CD}" dt="2026-10-01T19:38:52.484" v="1113"/>
        <pc:sldMkLst>
          <pc:docMk/>
          <pc:sldMk cId="3856245014" sldId="566"/>
        </pc:sldMkLst>
      </pc:sldChg>
      <pc:sldChg chg="mod ord modShow">
        <pc:chgData name="Walsh, William" userId="21366335-7b20-481e-9e5e-f413db4dabe6" providerId="ADAL" clId="{C87244E7-8C98-4A47-A311-39D6022DD3CD}" dt="2026-10-01T19:38:52.484" v="1113"/>
        <pc:sldMkLst>
          <pc:docMk/>
          <pc:sldMk cId="1334462469" sldId="568"/>
        </pc:sldMkLst>
      </pc:sldChg>
      <pc:sldChg chg="mod ord modShow">
        <pc:chgData name="Walsh, William" userId="21366335-7b20-481e-9e5e-f413db4dabe6" providerId="ADAL" clId="{C87244E7-8C98-4A47-A311-39D6022DD3CD}" dt="2026-10-01T19:38:52.484" v="1113"/>
        <pc:sldMkLst>
          <pc:docMk/>
          <pc:sldMk cId="2739048353" sldId="569"/>
        </pc:sldMkLst>
      </pc:sldChg>
      <pc:sldChg chg="mod modShow">
        <pc:chgData name="Walsh, William" userId="21366335-7b20-481e-9e5e-f413db4dabe6" providerId="ADAL" clId="{C87244E7-8C98-4A47-A311-39D6022DD3CD}" dt="2026-09-25T16:20:11.251" v="173" actId="729"/>
        <pc:sldMkLst>
          <pc:docMk/>
          <pc:sldMk cId="2457102759" sldId="2147483281"/>
        </pc:sldMkLst>
      </pc:sldChg>
      <pc:sldChg chg="modSp mod modShow">
        <pc:chgData name="Walsh, William" userId="21366335-7b20-481e-9e5e-f413db4dabe6" providerId="ADAL" clId="{C87244E7-8C98-4A47-A311-39D6022DD3CD}" dt="2026-09-30T17:15:48.867" v="494" actId="20577"/>
        <pc:sldMkLst>
          <pc:docMk/>
          <pc:sldMk cId="136054181" sldId="2147483293"/>
        </pc:sldMkLst>
        <pc:graphicFrameChg chg="modGraphic">
          <ac:chgData name="Walsh, William" userId="21366335-7b20-481e-9e5e-f413db4dabe6" providerId="ADAL" clId="{C87244E7-8C98-4A47-A311-39D6022DD3CD}" dt="2026-09-30T17:15:48.867" v="494" actId="20577"/>
          <ac:graphicFrameMkLst>
            <pc:docMk/>
            <pc:sldMk cId="136054181" sldId="2147483293"/>
            <ac:graphicFrameMk id="22" creationId="{489284EA-00F0-EA39-5149-1AB646A5BC36}"/>
          </ac:graphicFrameMkLst>
        </pc:graphicFrameChg>
      </pc:sldChg>
      <pc:sldChg chg="mod modShow">
        <pc:chgData name="Walsh, William" userId="21366335-7b20-481e-9e5e-f413db4dabe6" providerId="ADAL" clId="{C87244E7-8C98-4A47-A311-39D6022DD3CD}" dt="2026-09-25T16:20:11.251" v="173" actId="729"/>
        <pc:sldMkLst>
          <pc:docMk/>
          <pc:sldMk cId="3884867139" sldId="2147483294"/>
        </pc:sldMkLst>
      </pc:sldChg>
      <pc:sldChg chg="mod modShow">
        <pc:chgData name="Walsh, William" userId="21366335-7b20-481e-9e5e-f413db4dabe6" providerId="ADAL" clId="{C87244E7-8C98-4A47-A311-39D6022DD3CD}" dt="2026-09-25T16:20:11.251" v="173" actId="729"/>
        <pc:sldMkLst>
          <pc:docMk/>
          <pc:sldMk cId="611187388" sldId="2147483296"/>
        </pc:sldMkLst>
      </pc:sldChg>
      <pc:sldChg chg="modSp mod ord modShow">
        <pc:chgData name="Walsh, William" userId="21366335-7b20-481e-9e5e-f413db4dabe6" providerId="ADAL" clId="{C87244E7-8C98-4A47-A311-39D6022DD3CD}" dt="2026-10-01T19:40:52.528" v="1159" actId="299"/>
        <pc:sldMkLst>
          <pc:docMk/>
          <pc:sldMk cId="3332604580" sldId="2147483297"/>
        </pc:sldMkLst>
        <pc:spChg chg="mod">
          <ac:chgData name="Walsh, William" userId="21366335-7b20-481e-9e5e-f413db4dabe6" providerId="ADAL" clId="{C87244E7-8C98-4A47-A311-39D6022DD3CD}" dt="2026-10-01T19:40:52.528" v="1159" actId="299"/>
          <ac:spMkLst>
            <pc:docMk/>
            <pc:sldMk cId="3332604580" sldId="2147483297"/>
            <ac:spMk id="4" creationId="{B3CC48F1-11FD-B16A-4752-5479925572DE}"/>
          </ac:spMkLst>
        </pc:spChg>
      </pc:sldChg>
      <pc:sldChg chg="mod modShow">
        <pc:chgData name="Walsh, William" userId="21366335-7b20-481e-9e5e-f413db4dabe6" providerId="ADAL" clId="{C87244E7-8C98-4A47-A311-39D6022DD3CD}" dt="2026-09-25T16:20:11.251" v="173" actId="729"/>
        <pc:sldMkLst>
          <pc:docMk/>
          <pc:sldMk cId="3252489332" sldId="2147483299"/>
        </pc:sldMkLst>
      </pc:sldChg>
      <pc:sldChg chg="mod modShow">
        <pc:chgData name="Walsh, William" userId="21366335-7b20-481e-9e5e-f413db4dabe6" providerId="ADAL" clId="{C87244E7-8C98-4A47-A311-39D6022DD3CD}" dt="2026-09-25T16:20:11.251" v="173" actId="729"/>
        <pc:sldMkLst>
          <pc:docMk/>
          <pc:sldMk cId="4233286924" sldId="2147483300"/>
        </pc:sldMkLst>
      </pc:sldChg>
      <pc:sldChg chg="mod ord modShow">
        <pc:chgData name="Walsh, William" userId="21366335-7b20-481e-9e5e-f413db4dabe6" providerId="ADAL" clId="{C87244E7-8C98-4A47-A311-39D6022DD3CD}" dt="2026-10-01T19:40:06.777" v="1133"/>
        <pc:sldMkLst>
          <pc:docMk/>
          <pc:sldMk cId="2626116431" sldId="2147483301"/>
        </pc:sldMkLst>
      </pc:sldChg>
      <pc:sldChg chg="mod ord modShow">
        <pc:chgData name="Walsh, William" userId="21366335-7b20-481e-9e5e-f413db4dabe6" providerId="ADAL" clId="{C87244E7-8C98-4A47-A311-39D6022DD3CD}" dt="2026-10-01T19:40:14.960" v="1135"/>
        <pc:sldMkLst>
          <pc:docMk/>
          <pc:sldMk cId="486721167" sldId="2147483302"/>
        </pc:sldMkLst>
      </pc:sldChg>
      <pc:sldChg chg="mod ord modShow">
        <pc:chgData name="Walsh, William" userId="21366335-7b20-481e-9e5e-f413db4dabe6" providerId="ADAL" clId="{C87244E7-8C98-4A47-A311-39D6022DD3CD}" dt="2026-10-01T19:40:14.960" v="1135"/>
        <pc:sldMkLst>
          <pc:docMk/>
          <pc:sldMk cId="3931383773" sldId="2147483303"/>
        </pc:sldMkLst>
      </pc:sldChg>
      <pc:sldChg chg="mod ord modShow">
        <pc:chgData name="Walsh, William" userId="21366335-7b20-481e-9e5e-f413db4dabe6" providerId="ADAL" clId="{C87244E7-8C98-4A47-A311-39D6022DD3CD}" dt="2026-10-01T19:40:23.340" v="1139"/>
        <pc:sldMkLst>
          <pc:docMk/>
          <pc:sldMk cId="3786956283" sldId="2147483304"/>
        </pc:sldMkLst>
      </pc:sldChg>
      <pc:sldChg chg="mod ord modShow">
        <pc:chgData name="Walsh, William" userId="21366335-7b20-481e-9e5e-f413db4dabe6" providerId="ADAL" clId="{C87244E7-8C98-4A47-A311-39D6022DD3CD}" dt="2026-10-01T19:40:23.340" v="1139"/>
        <pc:sldMkLst>
          <pc:docMk/>
          <pc:sldMk cId="2212850449" sldId="2147483305"/>
        </pc:sldMkLst>
      </pc:sldChg>
      <pc:sldChg chg="mod ord modShow">
        <pc:chgData name="Walsh, William" userId="21366335-7b20-481e-9e5e-f413db4dabe6" providerId="ADAL" clId="{C87244E7-8C98-4A47-A311-39D6022DD3CD}" dt="2026-10-01T19:38:45.180" v="1111"/>
        <pc:sldMkLst>
          <pc:docMk/>
          <pc:sldMk cId="1985389302" sldId="2147483306"/>
        </pc:sldMkLst>
      </pc:sldChg>
      <pc:sldChg chg="mod ord modShow">
        <pc:chgData name="Walsh, William" userId="21366335-7b20-481e-9e5e-f413db4dabe6" providerId="ADAL" clId="{C87244E7-8C98-4A47-A311-39D6022DD3CD}" dt="2026-10-01T19:38:45.180" v="1111"/>
        <pc:sldMkLst>
          <pc:docMk/>
          <pc:sldMk cId="1154151098" sldId="2147483307"/>
        </pc:sldMkLst>
      </pc:sldChg>
      <pc:sldChg chg="mod ord modShow">
        <pc:chgData name="Walsh, William" userId="21366335-7b20-481e-9e5e-f413db4dabe6" providerId="ADAL" clId="{C87244E7-8C98-4A47-A311-39D6022DD3CD}" dt="2026-10-01T19:40:04.528" v="1131"/>
        <pc:sldMkLst>
          <pc:docMk/>
          <pc:sldMk cId="1025703201" sldId="2147483308"/>
        </pc:sldMkLst>
      </pc:sldChg>
      <pc:sldChg chg="mod ord modShow">
        <pc:chgData name="Walsh, William" userId="21366335-7b20-481e-9e5e-f413db4dabe6" providerId="ADAL" clId="{C87244E7-8C98-4A47-A311-39D6022DD3CD}" dt="2026-10-01T19:40:04.528" v="1131"/>
        <pc:sldMkLst>
          <pc:docMk/>
          <pc:sldMk cId="3569946288" sldId="2147483309"/>
        </pc:sldMkLst>
      </pc:sldChg>
      <pc:sldChg chg="mod ord modShow">
        <pc:chgData name="Walsh, William" userId="21366335-7b20-481e-9e5e-f413db4dabe6" providerId="ADAL" clId="{C87244E7-8C98-4A47-A311-39D6022DD3CD}" dt="2026-10-01T19:38:41.393" v="1107"/>
        <pc:sldMkLst>
          <pc:docMk/>
          <pc:sldMk cId="538469364" sldId="2147483312"/>
        </pc:sldMkLst>
      </pc:sldChg>
      <pc:sldChg chg="mod ord modShow">
        <pc:chgData name="Walsh, William" userId="21366335-7b20-481e-9e5e-f413db4dabe6" providerId="ADAL" clId="{C87244E7-8C98-4A47-A311-39D6022DD3CD}" dt="2026-10-01T19:38:43.229" v="1109"/>
        <pc:sldMkLst>
          <pc:docMk/>
          <pc:sldMk cId="1447657405" sldId="2147483313"/>
        </pc:sldMkLst>
      </pc:sldChg>
      <pc:sldChg chg="mod ord modShow">
        <pc:chgData name="Walsh, William" userId="21366335-7b20-481e-9e5e-f413db4dabe6" providerId="ADAL" clId="{C87244E7-8C98-4A47-A311-39D6022DD3CD}" dt="2026-10-01T19:39:09.067" v="1119"/>
        <pc:sldMkLst>
          <pc:docMk/>
          <pc:sldMk cId="2045327328" sldId="2147483314"/>
        </pc:sldMkLst>
      </pc:sldChg>
      <pc:sldChg chg="mod ord modShow">
        <pc:chgData name="Walsh, William" userId="21366335-7b20-481e-9e5e-f413db4dabe6" providerId="ADAL" clId="{C87244E7-8C98-4A47-A311-39D6022DD3CD}" dt="2026-10-01T19:39:09.067" v="1119"/>
        <pc:sldMkLst>
          <pc:docMk/>
          <pc:sldMk cId="1718874611" sldId="2147483315"/>
        </pc:sldMkLst>
      </pc:sldChg>
      <pc:sldChg chg="mod ord modShow">
        <pc:chgData name="Walsh, William" userId="21366335-7b20-481e-9e5e-f413db4dabe6" providerId="ADAL" clId="{C87244E7-8C98-4A47-A311-39D6022DD3CD}" dt="2026-10-01T19:40:06.777" v="1133"/>
        <pc:sldMkLst>
          <pc:docMk/>
          <pc:sldMk cId="37098819" sldId="2147483316"/>
        </pc:sldMkLst>
      </pc:sldChg>
      <pc:sldChg chg="addSp modSp add mod">
        <pc:chgData name="Walsh, William" userId="21366335-7b20-481e-9e5e-f413db4dabe6" providerId="ADAL" clId="{C87244E7-8C98-4A47-A311-39D6022DD3CD}" dt="2026-10-06T19:20:39.962" v="1589" actId="20577"/>
        <pc:sldMkLst>
          <pc:docMk/>
          <pc:sldMk cId="70911775" sldId="2147483319"/>
        </pc:sldMkLst>
        <pc:spChg chg="add mod">
          <ac:chgData name="Walsh, William" userId="21366335-7b20-481e-9e5e-f413db4dabe6" providerId="ADAL" clId="{C87244E7-8C98-4A47-A311-39D6022DD3CD}" dt="2026-10-06T19:20:39.962" v="1589" actId="20577"/>
          <ac:spMkLst>
            <pc:docMk/>
            <pc:sldMk cId="70911775" sldId="2147483319"/>
            <ac:spMk id="16" creationId="{80FEE0E8-34D9-D41C-3919-0BE6F417A493}"/>
          </ac:spMkLst>
        </pc:spChg>
      </pc:sldChg>
      <pc:sldChg chg="addSp modSp new mod ord">
        <pc:chgData name="Walsh, William" userId="21366335-7b20-481e-9e5e-f413db4dabe6" providerId="ADAL" clId="{C87244E7-8C98-4A47-A311-39D6022DD3CD}" dt="2026-10-01T19:39:01.014" v="1115"/>
        <pc:sldMkLst>
          <pc:docMk/>
          <pc:sldMk cId="2017050885" sldId="2147483321"/>
        </pc:sldMkLst>
        <pc:spChg chg="mod">
          <ac:chgData name="Walsh, William" userId="21366335-7b20-481e-9e5e-f413db4dabe6" providerId="ADAL" clId="{C87244E7-8C98-4A47-A311-39D6022DD3CD}" dt="2026-09-30T18:30:03.315" v="646" actId="299"/>
          <ac:spMkLst>
            <pc:docMk/>
            <pc:sldMk cId="2017050885" sldId="2147483321"/>
            <ac:spMk id="3" creationId="{5DE7414A-0A2A-1737-5865-58295A87DFFD}"/>
          </ac:spMkLst>
        </pc:spChg>
        <pc:spChg chg="add mod">
          <ac:chgData name="Walsh, William" userId="21366335-7b20-481e-9e5e-f413db4dabe6" providerId="ADAL" clId="{C87244E7-8C98-4A47-A311-39D6022DD3CD}" dt="2026-09-30T18:33:49.940" v="1007" actId="20577"/>
          <ac:spMkLst>
            <pc:docMk/>
            <pc:sldMk cId="2017050885" sldId="2147483321"/>
            <ac:spMk id="6" creationId="{8A4F06CF-65F6-D5EE-97FE-BEC66DD048A2}"/>
          </ac:spMkLst>
        </pc:spChg>
        <pc:graphicFrameChg chg="add mod ord modVis">
          <ac:chgData name="Walsh, William" userId="21366335-7b20-481e-9e5e-f413db4dabe6" providerId="ADAL" clId="{C87244E7-8C98-4A47-A311-39D6022DD3CD}" dt="2026-09-30T18:29:55.835" v="603"/>
          <ac:graphicFrameMkLst>
            <pc:docMk/>
            <pc:sldMk cId="2017050885" sldId="2147483321"/>
            <ac:graphicFrameMk id="4" creationId="{F0D144DC-C940-52CA-6041-3A27F4DFC937}"/>
          </ac:graphicFrameMkLst>
        </pc:graphicFrameChg>
      </pc:sldChg>
      <pc:sldChg chg="addSp modSp new mod ord">
        <pc:chgData name="Walsh, William" userId="21366335-7b20-481e-9e5e-f413db4dabe6" providerId="ADAL" clId="{C87244E7-8C98-4A47-A311-39D6022DD3CD}" dt="2026-10-01T19:39:03.952" v="1117"/>
        <pc:sldMkLst>
          <pc:docMk/>
          <pc:sldMk cId="2445919042" sldId="2147483322"/>
        </pc:sldMkLst>
        <pc:spChg chg="mod">
          <ac:chgData name="Walsh, William" userId="21366335-7b20-481e-9e5e-f413db4dabe6" providerId="ADAL" clId="{C87244E7-8C98-4A47-A311-39D6022DD3CD}" dt="2026-09-30T18:34:24.613" v="1027" actId="299"/>
          <ac:spMkLst>
            <pc:docMk/>
            <pc:sldMk cId="2445919042" sldId="2147483322"/>
            <ac:spMk id="3" creationId="{D65CE26D-73CF-AC23-968E-D9C5FB342EB0}"/>
          </ac:spMkLst>
        </pc:spChg>
        <pc:spChg chg="add mod">
          <ac:chgData name="Walsh, William" userId="21366335-7b20-481e-9e5e-f413db4dabe6" providerId="ADAL" clId="{C87244E7-8C98-4A47-A311-39D6022DD3CD}" dt="2026-09-30T18:34:38.654" v="1071" actId="20577"/>
          <ac:spMkLst>
            <pc:docMk/>
            <pc:sldMk cId="2445919042" sldId="2147483322"/>
            <ac:spMk id="6" creationId="{D06ED13A-ABE4-488D-AF75-9C5821587793}"/>
          </ac:spMkLst>
        </pc:spChg>
        <pc:graphicFrameChg chg="add mod ord modVis">
          <ac:chgData name="Walsh, William" userId="21366335-7b20-481e-9e5e-f413db4dabe6" providerId="ADAL" clId="{C87244E7-8C98-4A47-A311-39D6022DD3CD}" dt="2026-09-30T18:30:20.785" v="665"/>
          <ac:graphicFrameMkLst>
            <pc:docMk/>
            <pc:sldMk cId="2445919042" sldId="2147483322"/>
            <ac:graphicFrameMk id="4" creationId="{F891CE11-7B69-0261-DD22-073487961E23}"/>
          </ac:graphicFrameMkLst>
        </pc:graphicFrameChg>
      </pc:sldChg>
      <pc:sldChg chg="addSp modSp new mod ord">
        <pc:chgData name="Walsh, William" userId="21366335-7b20-481e-9e5e-f413db4dabe6" providerId="ADAL" clId="{C87244E7-8C98-4A47-A311-39D6022DD3CD}" dt="2026-10-01T19:39:01.014" v="1115"/>
        <pc:sldMkLst>
          <pc:docMk/>
          <pc:sldMk cId="537933474" sldId="2147483323"/>
        </pc:sldMkLst>
        <pc:spChg chg="mod">
          <ac:chgData name="Walsh, William" userId="21366335-7b20-481e-9e5e-f413db4dabe6" providerId="ADAL" clId="{C87244E7-8C98-4A47-A311-39D6022DD3CD}" dt="2026-09-30T18:31:09.588" v="794" actId="299"/>
          <ac:spMkLst>
            <pc:docMk/>
            <pc:sldMk cId="537933474" sldId="2147483323"/>
            <ac:spMk id="3" creationId="{330D2707-DDD7-5765-9398-58EC0CA95A08}"/>
          </ac:spMkLst>
        </pc:spChg>
        <pc:spChg chg="add mod">
          <ac:chgData name="Walsh, William" userId="21366335-7b20-481e-9e5e-f413db4dabe6" providerId="ADAL" clId="{C87244E7-8C98-4A47-A311-39D6022DD3CD}" dt="2026-09-30T18:32:41.357" v="984" actId="20577"/>
          <ac:spMkLst>
            <pc:docMk/>
            <pc:sldMk cId="537933474" sldId="2147483323"/>
            <ac:spMk id="6" creationId="{1061E0E9-6909-C14A-98B4-3B395ED48CFA}"/>
          </ac:spMkLst>
        </pc:spChg>
        <pc:graphicFrameChg chg="add mod ord modVis">
          <ac:chgData name="Walsh, William" userId="21366335-7b20-481e-9e5e-f413db4dabe6" providerId="ADAL" clId="{C87244E7-8C98-4A47-A311-39D6022DD3CD}" dt="2026-09-30T18:31:09.612" v="808"/>
          <ac:graphicFrameMkLst>
            <pc:docMk/>
            <pc:sldMk cId="537933474" sldId="2147483323"/>
            <ac:graphicFrameMk id="4" creationId="{6A3CFE8E-7D46-D4B2-11B9-6EB2A9A0887A}"/>
          </ac:graphicFrameMkLst>
        </pc:graphicFrameChg>
      </pc:sldChg>
      <pc:sldChg chg="ord">
        <pc:chgData name="Walsh, William" userId="21366335-7b20-481e-9e5e-f413db4dabe6" providerId="ADAL" clId="{C87244E7-8C98-4A47-A311-39D6022DD3CD}" dt="2026-10-01T19:39:09.067" v="1119"/>
        <pc:sldMkLst>
          <pc:docMk/>
          <pc:sldMk cId="0" sldId="2147483335"/>
        </pc:sldMkLst>
      </pc:sldChg>
      <pc:sldChg chg="ord">
        <pc:chgData name="Walsh, William" userId="21366335-7b20-481e-9e5e-f413db4dabe6" providerId="ADAL" clId="{C87244E7-8C98-4A47-A311-39D6022DD3CD}" dt="2026-10-01T19:41:25.654" v="1176"/>
        <pc:sldMkLst>
          <pc:docMk/>
          <pc:sldMk cId="0" sldId="2147483336"/>
        </pc:sldMkLst>
      </pc:sldChg>
      <pc:sldChg chg="ord">
        <pc:chgData name="Walsh, William" userId="21366335-7b20-481e-9e5e-f413db4dabe6" providerId="ADAL" clId="{C87244E7-8C98-4A47-A311-39D6022DD3CD}" dt="2026-10-01T19:39:12.630" v="1121"/>
        <pc:sldMkLst>
          <pc:docMk/>
          <pc:sldMk cId="0" sldId="2147483337"/>
        </pc:sldMkLst>
      </pc:sldChg>
      <pc:sldChg chg="ord">
        <pc:chgData name="Walsh, William" userId="21366335-7b20-481e-9e5e-f413db4dabe6" providerId="ADAL" clId="{C87244E7-8C98-4A47-A311-39D6022DD3CD}" dt="2026-10-01T19:39:49.865" v="1129"/>
        <pc:sldMkLst>
          <pc:docMk/>
          <pc:sldMk cId="0" sldId="2147483338"/>
        </pc:sldMkLst>
      </pc:sldChg>
      <pc:sldChg chg="ord">
        <pc:chgData name="Walsh, William" userId="21366335-7b20-481e-9e5e-f413db4dabe6" providerId="ADAL" clId="{C87244E7-8C98-4A47-A311-39D6022DD3CD}" dt="2026-10-01T19:39:49.865" v="1129"/>
        <pc:sldMkLst>
          <pc:docMk/>
          <pc:sldMk cId="0" sldId="2147483339"/>
        </pc:sldMkLst>
      </pc:sldChg>
      <pc:sldChg chg="ord">
        <pc:chgData name="Walsh, William" userId="21366335-7b20-481e-9e5e-f413db4dabe6" providerId="ADAL" clId="{C87244E7-8C98-4A47-A311-39D6022DD3CD}" dt="2026-10-01T19:39:49.865" v="1129"/>
        <pc:sldMkLst>
          <pc:docMk/>
          <pc:sldMk cId="0" sldId="2147483340"/>
        </pc:sldMkLst>
      </pc:sldChg>
      <pc:sldChg chg="modSp add mod">
        <pc:chgData name="Walsh, William" userId="21366335-7b20-481e-9e5e-f413db4dabe6" providerId="ADAL" clId="{C87244E7-8C98-4A47-A311-39D6022DD3CD}" dt="2026-10-01T19:40:59.513" v="1164" actId="299"/>
        <pc:sldMkLst>
          <pc:docMk/>
          <pc:sldMk cId="380904973" sldId="2147483341"/>
        </pc:sldMkLst>
        <pc:spChg chg="mod">
          <ac:chgData name="Walsh, William" userId="21366335-7b20-481e-9e5e-f413db4dabe6" providerId="ADAL" clId="{C87244E7-8C98-4A47-A311-39D6022DD3CD}" dt="2026-10-01T19:40:59.513" v="1164" actId="299"/>
          <ac:spMkLst>
            <pc:docMk/>
            <pc:sldMk cId="380904973" sldId="2147483341"/>
            <ac:spMk id="4" creationId="{1A0711BA-29EE-5514-1EF4-06F46F388005}"/>
          </ac:spMkLst>
        </pc:spChg>
      </pc:sldChg>
      <pc:sldChg chg="modSp add mod">
        <pc:chgData name="Walsh, William" userId="21366335-7b20-481e-9e5e-f413db4dabe6" providerId="ADAL" clId="{C87244E7-8C98-4A47-A311-39D6022DD3CD}" dt="2026-10-01T19:41:03.742" v="1169" actId="299"/>
        <pc:sldMkLst>
          <pc:docMk/>
          <pc:sldMk cId="620367202" sldId="2147483342"/>
        </pc:sldMkLst>
        <pc:spChg chg="mod">
          <ac:chgData name="Walsh, William" userId="21366335-7b20-481e-9e5e-f413db4dabe6" providerId="ADAL" clId="{C87244E7-8C98-4A47-A311-39D6022DD3CD}" dt="2026-10-01T19:41:03.742" v="1169" actId="299"/>
          <ac:spMkLst>
            <pc:docMk/>
            <pc:sldMk cId="620367202" sldId="2147483342"/>
            <ac:spMk id="4" creationId="{09835F8D-99E5-658D-2B1B-C530B4C6CF91}"/>
          </ac:spMkLst>
        </pc:spChg>
      </pc:sldChg>
      <pc:sldChg chg="modSp add mod">
        <pc:chgData name="Walsh, William" userId="21366335-7b20-481e-9e5e-f413db4dabe6" providerId="ADAL" clId="{C87244E7-8C98-4A47-A311-39D6022DD3CD}" dt="2026-10-01T19:41:10.894" v="1174" actId="299"/>
        <pc:sldMkLst>
          <pc:docMk/>
          <pc:sldMk cId="1092876364" sldId="2147483343"/>
        </pc:sldMkLst>
        <pc:spChg chg="mod">
          <ac:chgData name="Walsh, William" userId="21366335-7b20-481e-9e5e-f413db4dabe6" providerId="ADAL" clId="{C87244E7-8C98-4A47-A311-39D6022DD3CD}" dt="2026-10-01T19:41:10.894" v="1174" actId="299"/>
          <ac:spMkLst>
            <pc:docMk/>
            <pc:sldMk cId="1092876364" sldId="2147483343"/>
            <ac:spMk id="4" creationId="{726D3C2A-38CA-2289-7EBF-64073627CD96}"/>
          </ac:spMkLst>
        </pc:spChg>
      </pc:sldChg>
      <pc:sldChg chg="modSp add mod">
        <pc:chgData name="Walsh, William" userId="21366335-7b20-481e-9e5e-f413db4dabe6" providerId="ADAL" clId="{C87244E7-8C98-4A47-A311-39D6022DD3CD}" dt="2026-10-01T19:41:35.361" v="1181" actId="299"/>
        <pc:sldMkLst>
          <pc:docMk/>
          <pc:sldMk cId="1423915636" sldId="2147483344"/>
        </pc:sldMkLst>
        <pc:spChg chg="mod">
          <ac:chgData name="Walsh, William" userId="21366335-7b20-481e-9e5e-f413db4dabe6" providerId="ADAL" clId="{C87244E7-8C98-4A47-A311-39D6022DD3CD}" dt="2026-10-01T19:41:35.361" v="1181" actId="299"/>
          <ac:spMkLst>
            <pc:docMk/>
            <pc:sldMk cId="1423915636" sldId="2147483344"/>
            <ac:spMk id="4" creationId="{D9BF86E1-F2E8-28A3-F56C-4F4B58371F46}"/>
          </ac:spMkLst>
        </pc:spChg>
      </pc:sldChg>
      <pc:sldChg chg="addSp delSp modSp new mod modClrScheme modShow chgLayout">
        <pc:chgData name="Walsh, William" userId="21366335-7b20-481e-9e5e-f413db4dabe6" providerId="ADAL" clId="{C87244E7-8C98-4A47-A311-39D6022DD3CD}" dt="2026-10-06T19:40:44.174" v="1606" actId="1076"/>
        <pc:sldMkLst>
          <pc:docMk/>
          <pc:sldMk cId="724695398" sldId="2147483349"/>
        </pc:sldMkLst>
        <pc:spChg chg="del mod ord">
          <ac:chgData name="Walsh, William" userId="21366335-7b20-481e-9e5e-f413db4dabe6" providerId="ADAL" clId="{C87244E7-8C98-4A47-A311-39D6022DD3CD}" dt="2026-10-06T16:15:33.306" v="1195" actId="700"/>
          <ac:spMkLst>
            <pc:docMk/>
            <pc:sldMk cId="724695398" sldId="2147483349"/>
            <ac:spMk id="2" creationId="{2C9C07F5-ED8B-332A-56CC-D0967E94813E}"/>
          </ac:spMkLst>
        </pc:spChg>
        <pc:spChg chg="add mod ord">
          <ac:chgData name="Walsh, William" userId="21366335-7b20-481e-9e5e-f413db4dabe6" providerId="ADAL" clId="{C87244E7-8C98-4A47-A311-39D6022DD3CD}" dt="2026-10-06T16:17:41.662" v="1333" actId="20577"/>
          <ac:spMkLst>
            <pc:docMk/>
            <pc:sldMk cId="724695398" sldId="2147483349"/>
            <ac:spMk id="3" creationId="{A19D174F-3501-58D4-5D22-3F6F82D88102}"/>
          </ac:spMkLst>
        </pc:spChg>
        <pc:spChg chg="add del mod ord">
          <ac:chgData name="Walsh, William" userId="21366335-7b20-481e-9e5e-f413db4dabe6" providerId="ADAL" clId="{C87244E7-8C98-4A47-A311-39D6022DD3CD}" dt="2026-10-06T16:16:16.699" v="1214"/>
          <ac:spMkLst>
            <pc:docMk/>
            <pc:sldMk cId="724695398" sldId="2147483349"/>
            <ac:spMk id="4" creationId="{C554BAED-B819-9394-5BBF-8443707BEEA2}"/>
          </ac:spMkLst>
        </pc:spChg>
        <pc:spChg chg="add del mod">
          <ac:chgData name="Walsh, William" userId="21366335-7b20-481e-9e5e-f413db4dabe6" providerId="ADAL" clId="{C87244E7-8C98-4A47-A311-39D6022DD3CD}" dt="2026-10-06T16:16:14.872" v="1213" actId="478"/>
          <ac:spMkLst>
            <pc:docMk/>
            <pc:sldMk cId="724695398" sldId="2147483349"/>
            <ac:spMk id="7" creationId="{798DC691-5261-0939-B035-FD38F177A2A7}"/>
          </ac:spMkLst>
        </pc:spChg>
        <pc:spChg chg="add mod">
          <ac:chgData name="Walsh, William" userId="21366335-7b20-481e-9e5e-f413db4dabe6" providerId="ADAL" clId="{C87244E7-8C98-4A47-A311-39D6022DD3CD}" dt="2026-10-06T19:40:44.174" v="1606" actId="1076"/>
          <ac:spMkLst>
            <pc:docMk/>
            <pc:sldMk cId="724695398" sldId="2147483349"/>
            <ac:spMk id="10" creationId="{13390C2C-9673-C067-51EF-6E30CD3F1EAD}"/>
          </ac:spMkLst>
        </pc:spChg>
        <pc:spChg chg="add del">
          <ac:chgData name="Walsh, William" userId="21366335-7b20-481e-9e5e-f413db4dabe6" providerId="ADAL" clId="{C87244E7-8C98-4A47-A311-39D6022DD3CD}" dt="2026-10-06T16:19:06.736" v="1390" actId="22"/>
          <ac:spMkLst>
            <pc:docMk/>
            <pc:sldMk cId="724695398" sldId="2147483349"/>
            <ac:spMk id="12" creationId="{8BEB0541-700F-A132-A98A-AAF366D532E1}"/>
          </ac:spMkLst>
        </pc:spChg>
        <pc:graphicFrameChg chg="add mod ord modVis">
          <ac:chgData name="Walsh, William" userId="21366335-7b20-481e-9e5e-f413db4dabe6" providerId="ADAL" clId="{C87244E7-8C98-4A47-A311-39D6022DD3CD}" dt="2026-10-06T16:15:33.932" v="1209"/>
          <ac:graphicFrameMkLst>
            <pc:docMk/>
            <pc:sldMk cId="724695398" sldId="2147483349"/>
            <ac:graphicFrameMk id="5" creationId="{81D66760-83A5-A83F-5426-8E19705F2987}"/>
          </ac:graphicFrameMkLst>
        </pc:graphicFrameChg>
        <pc:graphicFrameChg chg="add mod modGraphic">
          <ac:chgData name="Walsh, William" userId="21366335-7b20-481e-9e5e-f413db4dabe6" providerId="ADAL" clId="{C87244E7-8C98-4A47-A311-39D6022DD3CD}" dt="2026-10-06T19:40:40.912" v="1605" actId="14100"/>
          <ac:graphicFrameMkLst>
            <pc:docMk/>
            <pc:sldMk cId="724695398" sldId="2147483349"/>
            <ac:graphicFrameMk id="8" creationId="{2F16388F-E6CD-78AE-3531-DD83488B910A}"/>
          </ac:graphicFrameMkLst>
        </pc:graphicFrameChg>
      </pc:sldChg>
      <pc:sldChg chg="addSp delSp modSp new mod modClrScheme chgLayout">
        <pc:chgData name="Walsh, William" userId="21366335-7b20-481e-9e5e-f413db4dabe6" providerId="ADAL" clId="{C87244E7-8C98-4A47-A311-39D6022DD3CD}" dt="2026-10-06T16:31:01.774" v="1560" actId="1076"/>
        <pc:sldMkLst>
          <pc:docMk/>
          <pc:sldMk cId="2348150937" sldId="2147483350"/>
        </pc:sldMkLst>
        <pc:spChg chg="del mod ord">
          <ac:chgData name="Walsh, William" userId="21366335-7b20-481e-9e5e-f413db4dabe6" providerId="ADAL" clId="{C87244E7-8C98-4A47-A311-39D6022DD3CD}" dt="2026-10-06T16:30:41.732" v="1544" actId="700"/>
          <ac:spMkLst>
            <pc:docMk/>
            <pc:sldMk cId="2348150937" sldId="2147483350"/>
            <ac:spMk id="2" creationId="{39BD473E-E120-A861-A45B-91C4D4D53C63}"/>
          </ac:spMkLst>
        </pc:spChg>
        <pc:spChg chg="mod ord">
          <ac:chgData name="Walsh, William" userId="21366335-7b20-481e-9e5e-f413db4dabe6" providerId="ADAL" clId="{C87244E7-8C98-4A47-A311-39D6022DD3CD}" dt="2026-10-06T16:30:46.382" v="1554" actId="299"/>
          <ac:spMkLst>
            <pc:docMk/>
            <pc:sldMk cId="2348150937" sldId="2147483350"/>
            <ac:spMk id="3" creationId="{59119C2D-0303-E3FF-CB6A-94BCDA9134F1}"/>
          </ac:spMkLst>
        </pc:spChg>
        <pc:spChg chg="add mod">
          <ac:chgData name="Walsh, William" userId="21366335-7b20-481e-9e5e-f413db4dabe6" providerId="ADAL" clId="{C87244E7-8C98-4A47-A311-39D6022DD3CD}" dt="2026-10-06T16:29:44.411" v="1471"/>
          <ac:spMkLst>
            <pc:docMk/>
            <pc:sldMk cId="2348150937" sldId="2147483350"/>
            <ac:spMk id="10" creationId="{39CDC91F-9B0D-9E77-6707-34F188AD6CB4}"/>
          </ac:spMkLst>
        </pc:spChg>
        <pc:spChg chg="add mod">
          <ac:chgData name="Walsh, William" userId="21366335-7b20-481e-9e5e-f413db4dabe6" providerId="ADAL" clId="{C87244E7-8C98-4A47-A311-39D6022DD3CD}" dt="2026-10-06T16:29:44.411" v="1471"/>
          <ac:spMkLst>
            <pc:docMk/>
            <pc:sldMk cId="2348150937" sldId="2147483350"/>
            <ac:spMk id="12" creationId="{401FA08D-8146-EF4C-2CDE-4241EA1422EE}"/>
          </ac:spMkLst>
        </pc:spChg>
        <pc:spChg chg="add mod">
          <ac:chgData name="Walsh, William" userId="21366335-7b20-481e-9e5e-f413db4dabe6" providerId="ADAL" clId="{C87244E7-8C98-4A47-A311-39D6022DD3CD}" dt="2026-10-06T16:29:44.411" v="1471"/>
          <ac:spMkLst>
            <pc:docMk/>
            <pc:sldMk cId="2348150937" sldId="2147483350"/>
            <ac:spMk id="13" creationId="{3AF469F1-1232-405B-F5A5-3A6C0E418506}"/>
          </ac:spMkLst>
        </pc:spChg>
        <pc:spChg chg="add mod">
          <ac:chgData name="Walsh, William" userId="21366335-7b20-481e-9e5e-f413db4dabe6" providerId="ADAL" clId="{C87244E7-8C98-4A47-A311-39D6022DD3CD}" dt="2026-10-06T16:29:44.411" v="1471"/>
          <ac:spMkLst>
            <pc:docMk/>
            <pc:sldMk cId="2348150937" sldId="2147483350"/>
            <ac:spMk id="14" creationId="{CE96EF3D-8BC4-71AF-C1B9-2E0928A29E01}"/>
          </ac:spMkLst>
        </pc:spChg>
        <pc:spChg chg="add mod">
          <ac:chgData name="Walsh, William" userId="21366335-7b20-481e-9e5e-f413db4dabe6" providerId="ADAL" clId="{C87244E7-8C98-4A47-A311-39D6022DD3CD}" dt="2026-10-06T16:29:44.411" v="1471"/>
          <ac:spMkLst>
            <pc:docMk/>
            <pc:sldMk cId="2348150937" sldId="2147483350"/>
            <ac:spMk id="15" creationId="{99535DB6-E3C5-80C7-0081-7FEB83A815F7}"/>
          </ac:spMkLst>
        </pc:spChg>
        <pc:spChg chg="add mod">
          <ac:chgData name="Walsh, William" userId="21366335-7b20-481e-9e5e-f413db4dabe6" providerId="ADAL" clId="{C87244E7-8C98-4A47-A311-39D6022DD3CD}" dt="2026-10-06T16:29:44.411" v="1471"/>
          <ac:spMkLst>
            <pc:docMk/>
            <pc:sldMk cId="2348150937" sldId="2147483350"/>
            <ac:spMk id="17" creationId="{776160D7-7D24-7F3B-D745-6C3DAE461372}"/>
          </ac:spMkLst>
        </pc:spChg>
        <pc:spChg chg="add mod">
          <ac:chgData name="Walsh, William" userId="21366335-7b20-481e-9e5e-f413db4dabe6" providerId="ADAL" clId="{C87244E7-8C98-4A47-A311-39D6022DD3CD}" dt="2026-10-06T16:29:44.411" v="1471"/>
          <ac:spMkLst>
            <pc:docMk/>
            <pc:sldMk cId="2348150937" sldId="2147483350"/>
            <ac:spMk id="19" creationId="{CC03B469-ED5F-1F36-DE83-78665FF21E2A}"/>
          </ac:spMkLst>
        </pc:spChg>
        <pc:spChg chg="add mod">
          <ac:chgData name="Walsh, William" userId="21366335-7b20-481e-9e5e-f413db4dabe6" providerId="ADAL" clId="{C87244E7-8C98-4A47-A311-39D6022DD3CD}" dt="2026-10-06T16:29:44.411" v="1471"/>
          <ac:spMkLst>
            <pc:docMk/>
            <pc:sldMk cId="2348150937" sldId="2147483350"/>
            <ac:spMk id="20" creationId="{30FF60F4-0233-90F3-C7FF-27F7B64C968D}"/>
          </ac:spMkLst>
        </pc:spChg>
        <pc:spChg chg="add mod">
          <ac:chgData name="Walsh, William" userId="21366335-7b20-481e-9e5e-f413db4dabe6" providerId="ADAL" clId="{C87244E7-8C98-4A47-A311-39D6022DD3CD}" dt="2026-10-06T16:29:44.411" v="1471"/>
          <ac:spMkLst>
            <pc:docMk/>
            <pc:sldMk cId="2348150937" sldId="2147483350"/>
            <ac:spMk id="22" creationId="{58FD0BBC-A41C-2480-76AE-91846FB8E572}"/>
          </ac:spMkLst>
        </pc:spChg>
        <pc:spChg chg="add mod">
          <ac:chgData name="Walsh, William" userId="21366335-7b20-481e-9e5e-f413db4dabe6" providerId="ADAL" clId="{C87244E7-8C98-4A47-A311-39D6022DD3CD}" dt="2026-10-06T16:29:44.411" v="1471"/>
          <ac:spMkLst>
            <pc:docMk/>
            <pc:sldMk cId="2348150937" sldId="2147483350"/>
            <ac:spMk id="31" creationId="{1F6D8615-7B14-D244-799D-CBECA2CA410A}"/>
          </ac:spMkLst>
        </pc:spChg>
        <pc:spChg chg="add del mod ord">
          <ac:chgData name="Walsh, William" userId="21366335-7b20-481e-9e5e-f413db4dabe6" providerId="ADAL" clId="{C87244E7-8C98-4A47-A311-39D6022DD3CD}" dt="2026-10-06T16:30:45.868" v="1551" actId="700"/>
          <ac:spMkLst>
            <pc:docMk/>
            <pc:sldMk cId="2348150937" sldId="2147483350"/>
            <ac:spMk id="34" creationId="{EBBC23BF-1D61-7025-E2EA-B7DA63E3B2E3}"/>
          </ac:spMkLst>
        </pc:spChg>
        <pc:spChg chg="add del mod ord">
          <ac:chgData name="Walsh, William" userId="21366335-7b20-481e-9e5e-f413db4dabe6" providerId="ADAL" clId="{C87244E7-8C98-4A47-A311-39D6022DD3CD}" dt="2026-10-06T16:30:57.053" v="1558" actId="478"/>
          <ac:spMkLst>
            <pc:docMk/>
            <pc:sldMk cId="2348150937" sldId="2147483350"/>
            <ac:spMk id="35" creationId="{7FFCE383-C5BE-8A0A-CB6C-15FD539D5EC8}"/>
          </ac:spMkLst>
        </pc:spChg>
        <pc:spChg chg="add del mod">
          <ac:chgData name="Walsh, William" userId="21366335-7b20-481e-9e5e-f413db4dabe6" providerId="ADAL" clId="{C87244E7-8C98-4A47-A311-39D6022DD3CD}" dt="2026-10-06T16:30:50.692" v="1556" actId="478"/>
          <ac:spMkLst>
            <pc:docMk/>
            <pc:sldMk cId="2348150937" sldId="2147483350"/>
            <ac:spMk id="36" creationId="{FF42CF06-5BF1-F18D-A347-F0816DB2C21C}"/>
          </ac:spMkLst>
        </pc:spChg>
        <pc:spChg chg="add mod">
          <ac:chgData name="Walsh, William" userId="21366335-7b20-481e-9e5e-f413db4dabe6" providerId="ADAL" clId="{C87244E7-8C98-4A47-A311-39D6022DD3CD}" dt="2026-10-06T16:30:47.954" v="1555"/>
          <ac:spMkLst>
            <pc:docMk/>
            <pc:sldMk cId="2348150937" sldId="2147483350"/>
            <ac:spMk id="39" creationId="{71416471-DD08-0674-F8C0-2439C862EDE4}"/>
          </ac:spMkLst>
        </pc:spChg>
        <pc:spChg chg="add mod">
          <ac:chgData name="Walsh, William" userId="21366335-7b20-481e-9e5e-f413db4dabe6" providerId="ADAL" clId="{C87244E7-8C98-4A47-A311-39D6022DD3CD}" dt="2026-10-06T16:31:01.774" v="1560" actId="1076"/>
          <ac:spMkLst>
            <pc:docMk/>
            <pc:sldMk cId="2348150937" sldId="2147483350"/>
            <ac:spMk id="40" creationId="{646ADA7E-B1A0-B385-0D15-AD73B510ABC8}"/>
          </ac:spMkLst>
        </pc:spChg>
        <pc:spChg chg="add mod">
          <ac:chgData name="Walsh, William" userId="21366335-7b20-481e-9e5e-f413db4dabe6" providerId="ADAL" clId="{C87244E7-8C98-4A47-A311-39D6022DD3CD}" dt="2026-10-06T16:30:47.954" v="1555"/>
          <ac:spMkLst>
            <pc:docMk/>
            <pc:sldMk cId="2348150937" sldId="2147483350"/>
            <ac:spMk id="43" creationId="{401FA08D-8146-EF4C-2CDE-4241EA1422EE}"/>
          </ac:spMkLst>
        </pc:spChg>
        <pc:spChg chg="add mod">
          <ac:chgData name="Walsh, William" userId="21366335-7b20-481e-9e5e-f413db4dabe6" providerId="ADAL" clId="{C87244E7-8C98-4A47-A311-39D6022DD3CD}" dt="2026-10-06T16:30:47.954" v="1555"/>
          <ac:spMkLst>
            <pc:docMk/>
            <pc:sldMk cId="2348150937" sldId="2147483350"/>
            <ac:spMk id="44" creationId="{3AF469F1-1232-405B-F5A5-3A6C0E418506}"/>
          </ac:spMkLst>
        </pc:spChg>
        <pc:spChg chg="add mod">
          <ac:chgData name="Walsh, William" userId="21366335-7b20-481e-9e5e-f413db4dabe6" providerId="ADAL" clId="{C87244E7-8C98-4A47-A311-39D6022DD3CD}" dt="2026-10-06T16:30:47.954" v="1555"/>
          <ac:spMkLst>
            <pc:docMk/>
            <pc:sldMk cId="2348150937" sldId="2147483350"/>
            <ac:spMk id="47" creationId="{7DC1FF82-B8E5-8AC1-FA80-5F9853533E04}"/>
          </ac:spMkLst>
        </pc:spChg>
        <pc:spChg chg="add mod">
          <ac:chgData name="Walsh, William" userId="21366335-7b20-481e-9e5e-f413db4dabe6" providerId="ADAL" clId="{C87244E7-8C98-4A47-A311-39D6022DD3CD}" dt="2026-10-06T16:30:47.954" v="1555"/>
          <ac:spMkLst>
            <pc:docMk/>
            <pc:sldMk cId="2348150937" sldId="2147483350"/>
            <ac:spMk id="49" creationId="{7724CECB-7063-DC74-9107-71F061A285DE}"/>
          </ac:spMkLst>
        </pc:spChg>
        <pc:spChg chg="add mod">
          <ac:chgData name="Walsh, William" userId="21366335-7b20-481e-9e5e-f413db4dabe6" providerId="ADAL" clId="{C87244E7-8C98-4A47-A311-39D6022DD3CD}" dt="2026-10-06T16:30:47.954" v="1555"/>
          <ac:spMkLst>
            <pc:docMk/>
            <pc:sldMk cId="2348150937" sldId="2147483350"/>
            <ac:spMk id="53" creationId="{58FD0BBC-A41C-2480-76AE-91846FB8E572}"/>
          </ac:spMkLst>
        </pc:spChg>
        <pc:spChg chg="add mod">
          <ac:chgData name="Walsh, William" userId="21366335-7b20-481e-9e5e-f413db4dabe6" providerId="ADAL" clId="{C87244E7-8C98-4A47-A311-39D6022DD3CD}" dt="2026-10-06T16:30:47.954" v="1555"/>
          <ac:spMkLst>
            <pc:docMk/>
            <pc:sldMk cId="2348150937" sldId="2147483350"/>
            <ac:spMk id="59" creationId="{9897EC6A-9850-D3E9-184F-ADDB2DCE1525}"/>
          </ac:spMkLst>
        </pc:spChg>
        <pc:spChg chg="add mod">
          <ac:chgData name="Walsh, William" userId="21366335-7b20-481e-9e5e-f413db4dabe6" providerId="ADAL" clId="{C87244E7-8C98-4A47-A311-39D6022DD3CD}" dt="2026-10-06T16:30:47.954" v="1555"/>
          <ac:spMkLst>
            <pc:docMk/>
            <pc:sldMk cId="2348150937" sldId="2147483350"/>
            <ac:spMk id="62" creationId="{1F6D8615-7B14-D244-799D-CBECA2CA410A}"/>
          </ac:spMkLst>
        </pc:spChg>
        <pc:graphicFrameChg chg="add mod ord modVis">
          <ac:chgData name="Walsh, William" userId="21366335-7b20-481e-9e5e-f413db4dabe6" providerId="ADAL" clId="{C87244E7-8C98-4A47-A311-39D6022DD3CD}" dt="2026-10-06T16:22:50.657" v="1442"/>
          <ac:graphicFrameMkLst>
            <pc:docMk/>
            <pc:sldMk cId="2348150937" sldId="2147483350"/>
            <ac:graphicFrameMk id="4" creationId="{C2D19134-5464-6593-F864-5F7ACCDDD228}"/>
          </ac:graphicFrameMkLst>
        </pc:graphicFrameChg>
      </pc:sldChg>
    </pc:docChg>
  </pc:docChgLst>
  <pc:docChgLst>
    <pc:chgData name="Veingrad, Joseph" userId="d8b68cd1-7862-48a0-9c72-8fbfd5f2a4a5" providerId="ADAL" clId="{D0CC7B09-119E-4A16-A7AE-B46817E80CC4}"/>
    <pc:docChg chg="addSld delSld modSld modSection">
      <pc:chgData name="Veingrad, Joseph" userId="d8b68cd1-7862-48a0-9c72-8fbfd5f2a4a5" providerId="ADAL" clId="{D0CC7B09-119E-4A16-A7AE-B46817E80CC4}" dt="2026-10-01T19:16:46.468" v="20" actId="47"/>
      <pc:docMkLst>
        <pc:docMk/>
      </pc:docMkLst>
      <pc:sldChg chg="del">
        <pc:chgData name="Veingrad, Joseph" userId="d8b68cd1-7862-48a0-9c72-8fbfd5f2a4a5" providerId="ADAL" clId="{D0CC7B09-119E-4A16-A7AE-B46817E80CC4}" dt="2026-10-01T17:49:34.740" v="16" actId="47"/>
        <pc:sldMkLst>
          <pc:docMk/>
          <pc:sldMk cId="365003514" sldId="2147483292"/>
        </pc:sldMkLst>
      </pc:sldChg>
      <pc:sldChg chg="del">
        <pc:chgData name="Veingrad, Joseph" userId="d8b68cd1-7862-48a0-9c72-8fbfd5f2a4a5" providerId="ADAL" clId="{D0CC7B09-119E-4A16-A7AE-B46817E80CC4}" dt="2026-10-01T17:49:32.764" v="15" actId="47"/>
        <pc:sldMkLst>
          <pc:docMk/>
          <pc:sldMk cId="2341158944" sldId="2147483320"/>
        </pc:sldMkLst>
      </pc:sldChg>
      <pc:sldChg chg="modSp add del mod">
        <pc:chgData name="Veingrad, Joseph" userId="d8b68cd1-7862-48a0-9c72-8fbfd5f2a4a5" providerId="ADAL" clId="{D0CC7B09-119E-4A16-A7AE-B46817E80CC4}" dt="2026-10-01T17:41:39.178" v="4" actId="20577"/>
        <pc:sldMkLst>
          <pc:docMk/>
          <pc:sldMk cId="2017050885" sldId="2147483321"/>
        </pc:sldMkLst>
        <pc:spChg chg="mod">
          <ac:chgData name="Veingrad, Joseph" userId="d8b68cd1-7862-48a0-9c72-8fbfd5f2a4a5" providerId="ADAL" clId="{D0CC7B09-119E-4A16-A7AE-B46817E80CC4}" dt="2026-10-01T17:41:39.178" v="4" actId="20577"/>
          <ac:spMkLst>
            <pc:docMk/>
            <pc:sldMk cId="2017050885" sldId="2147483321"/>
            <ac:spMk id="3" creationId="{5DE7414A-0A2A-1737-5865-58295A87DFFD}"/>
          </ac:spMkLst>
        </pc:spChg>
      </pc:sldChg>
      <pc:sldChg chg="modSp add del mod">
        <pc:chgData name="Veingrad, Joseph" userId="d8b68cd1-7862-48a0-9c72-8fbfd5f2a4a5" providerId="ADAL" clId="{D0CC7B09-119E-4A16-A7AE-B46817E80CC4}" dt="2026-10-01T17:41:41.635" v="5" actId="20577"/>
        <pc:sldMkLst>
          <pc:docMk/>
          <pc:sldMk cId="2445919042" sldId="2147483322"/>
        </pc:sldMkLst>
        <pc:spChg chg="mod">
          <ac:chgData name="Veingrad, Joseph" userId="d8b68cd1-7862-48a0-9c72-8fbfd5f2a4a5" providerId="ADAL" clId="{D0CC7B09-119E-4A16-A7AE-B46817E80CC4}" dt="2026-10-01T17:41:41.635" v="5" actId="20577"/>
          <ac:spMkLst>
            <pc:docMk/>
            <pc:sldMk cId="2445919042" sldId="2147483322"/>
            <ac:spMk id="3" creationId="{D65CE26D-73CF-AC23-968E-D9C5FB342EB0}"/>
          </ac:spMkLst>
        </pc:spChg>
      </pc:sldChg>
      <pc:sldChg chg="modSp add del mod">
        <pc:chgData name="Veingrad, Joseph" userId="d8b68cd1-7862-48a0-9c72-8fbfd5f2a4a5" providerId="ADAL" clId="{D0CC7B09-119E-4A16-A7AE-B46817E80CC4}" dt="2026-10-01T17:41:36.863" v="3" actId="20577"/>
        <pc:sldMkLst>
          <pc:docMk/>
          <pc:sldMk cId="537933474" sldId="2147483323"/>
        </pc:sldMkLst>
        <pc:spChg chg="mod">
          <ac:chgData name="Veingrad, Joseph" userId="d8b68cd1-7862-48a0-9c72-8fbfd5f2a4a5" providerId="ADAL" clId="{D0CC7B09-119E-4A16-A7AE-B46817E80CC4}" dt="2026-10-01T17:41:36.863" v="3" actId="20577"/>
          <ac:spMkLst>
            <pc:docMk/>
            <pc:sldMk cId="537933474" sldId="2147483323"/>
            <ac:spMk id="3" creationId="{330D2707-DDD7-5765-9398-58EC0CA95A08}"/>
          </ac:spMkLst>
        </pc:spChg>
      </pc:sldChg>
      <pc:sldChg chg="add">
        <pc:chgData name="Veingrad, Joseph" userId="d8b68cd1-7862-48a0-9c72-8fbfd5f2a4a5" providerId="ADAL" clId="{D0CC7B09-119E-4A16-A7AE-B46817E80CC4}" dt="2026-10-01T17:35:44.410" v="0"/>
        <pc:sldMkLst>
          <pc:docMk/>
          <pc:sldMk cId="2401556910" sldId="2147483324"/>
        </pc:sldMkLst>
      </pc:sldChg>
      <pc:sldChg chg="add">
        <pc:chgData name="Veingrad, Joseph" userId="d8b68cd1-7862-48a0-9c72-8fbfd5f2a4a5" providerId="ADAL" clId="{D0CC7B09-119E-4A16-A7AE-B46817E80CC4}" dt="2026-10-01T17:35:44.410" v="0"/>
        <pc:sldMkLst>
          <pc:docMk/>
          <pc:sldMk cId="1298540881" sldId="2147483325"/>
        </pc:sldMkLst>
      </pc:sldChg>
      <pc:sldChg chg="add">
        <pc:chgData name="Veingrad, Joseph" userId="d8b68cd1-7862-48a0-9c72-8fbfd5f2a4a5" providerId="ADAL" clId="{D0CC7B09-119E-4A16-A7AE-B46817E80CC4}" dt="2026-10-01T17:35:44.410" v="0"/>
        <pc:sldMkLst>
          <pc:docMk/>
          <pc:sldMk cId="3669826188" sldId="2147483326"/>
        </pc:sldMkLst>
      </pc:sldChg>
      <pc:sldChg chg="modSp add del mod">
        <pc:chgData name="Veingrad, Joseph" userId="d8b68cd1-7862-48a0-9c72-8fbfd5f2a4a5" providerId="ADAL" clId="{D0CC7B09-119E-4A16-A7AE-B46817E80CC4}" dt="2026-10-01T19:16:33.510" v="18" actId="47"/>
        <pc:sldMkLst>
          <pc:docMk/>
          <pc:sldMk cId="2364283886" sldId="2147483327"/>
        </pc:sldMkLst>
        <pc:spChg chg="mod">
          <ac:chgData name="Veingrad, Joseph" userId="d8b68cd1-7862-48a0-9c72-8fbfd5f2a4a5" providerId="ADAL" clId="{D0CC7B09-119E-4A16-A7AE-B46817E80CC4}" dt="2026-10-01T17:41:52.972" v="7" actId="20577"/>
          <ac:spMkLst>
            <pc:docMk/>
            <pc:sldMk cId="2364283886" sldId="2147483327"/>
            <ac:spMk id="3" creationId="{D800CAD3-9F06-E3AA-595F-645FC31E06AA}"/>
          </ac:spMkLst>
        </pc:spChg>
      </pc:sldChg>
      <pc:sldChg chg="modSp add del mod">
        <pc:chgData name="Veingrad, Joseph" userId="d8b68cd1-7862-48a0-9c72-8fbfd5f2a4a5" providerId="ADAL" clId="{D0CC7B09-119E-4A16-A7AE-B46817E80CC4}" dt="2026-10-01T19:16:33.510" v="18" actId="47"/>
        <pc:sldMkLst>
          <pc:docMk/>
          <pc:sldMk cId="937889802" sldId="2147483328"/>
        </pc:sldMkLst>
        <pc:spChg chg="mod">
          <ac:chgData name="Veingrad, Joseph" userId="d8b68cd1-7862-48a0-9c72-8fbfd5f2a4a5" providerId="ADAL" clId="{D0CC7B09-119E-4A16-A7AE-B46817E80CC4}" dt="2026-10-01T17:41:55.086" v="8" actId="20577"/>
          <ac:spMkLst>
            <pc:docMk/>
            <pc:sldMk cId="937889802" sldId="2147483328"/>
            <ac:spMk id="3" creationId="{DB2269EE-C9A4-4C39-F2C4-5011CC8A5BB6}"/>
          </ac:spMkLst>
        </pc:spChg>
      </pc:sldChg>
      <pc:sldChg chg="modSp add del mod">
        <pc:chgData name="Veingrad, Joseph" userId="d8b68cd1-7862-48a0-9c72-8fbfd5f2a4a5" providerId="ADAL" clId="{D0CC7B09-119E-4A16-A7AE-B46817E80CC4}" dt="2026-10-01T19:16:33.510" v="18" actId="47"/>
        <pc:sldMkLst>
          <pc:docMk/>
          <pc:sldMk cId="834740142" sldId="2147483329"/>
        </pc:sldMkLst>
        <pc:spChg chg="mod">
          <ac:chgData name="Veingrad, Joseph" userId="d8b68cd1-7862-48a0-9c72-8fbfd5f2a4a5" providerId="ADAL" clId="{D0CC7B09-119E-4A16-A7AE-B46817E80CC4}" dt="2026-10-01T17:41:57.450" v="9" actId="20577"/>
          <ac:spMkLst>
            <pc:docMk/>
            <pc:sldMk cId="834740142" sldId="2147483329"/>
            <ac:spMk id="3" creationId="{9FEB90B4-167D-1E45-F301-287A84249946}"/>
          </ac:spMkLst>
        </pc:spChg>
      </pc:sldChg>
      <pc:sldChg chg="modSp add del mod">
        <pc:chgData name="Veingrad, Joseph" userId="d8b68cd1-7862-48a0-9c72-8fbfd5f2a4a5" providerId="ADAL" clId="{D0CC7B09-119E-4A16-A7AE-B46817E80CC4}" dt="2026-10-01T19:16:46.468" v="20" actId="47"/>
        <pc:sldMkLst>
          <pc:docMk/>
          <pc:sldMk cId="790865670" sldId="2147483330"/>
        </pc:sldMkLst>
        <pc:spChg chg="mod">
          <ac:chgData name="Veingrad, Joseph" userId="d8b68cd1-7862-48a0-9c72-8fbfd5f2a4a5" providerId="ADAL" clId="{D0CC7B09-119E-4A16-A7AE-B46817E80CC4}" dt="2026-10-01T17:42:20.446" v="11" actId="20577"/>
          <ac:spMkLst>
            <pc:docMk/>
            <pc:sldMk cId="790865670" sldId="2147483330"/>
            <ac:spMk id="3" creationId="{66034AC3-8BCF-88EC-397F-2AC3412BC516}"/>
          </ac:spMkLst>
        </pc:spChg>
      </pc:sldChg>
      <pc:sldChg chg="modSp add del mod">
        <pc:chgData name="Veingrad, Joseph" userId="d8b68cd1-7862-48a0-9c72-8fbfd5f2a4a5" providerId="ADAL" clId="{D0CC7B09-119E-4A16-A7AE-B46817E80CC4}" dt="2026-10-01T19:16:46.468" v="20" actId="47"/>
        <pc:sldMkLst>
          <pc:docMk/>
          <pc:sldMk cId="3564279153" sldId="2147483331"/>
        </pc:sldMkLst>
        <pc:spChg chg="mod">
          <ac:chgData name="Veingrad, Joseph" userId="d8b68cd1-7862-48a0-9c72-8fbfd5f2a4a5" providerId="ADAL" clId="{D0CC7B09-119E-4A16-A7AE-B46817E80CC4}" dt="2026-10-01T17:42:22.471" v="12" actId="20577"/>
          <ac:spMkLst>
            <pc:docMk/>
            <pc:sldMk cId="3564279153" sldId="2147483331"/>
            <ac:spMk id="3" creationId="{0FC6B173-A8BE-3DE9-317D-E1F4F26A43F8}"/>
          </ac:spMkLst>
        </pc:spChg>
      </pc:sldChg>
      <pc:sldChg chg="modSp add del mod">
        <pc:chgData name="Veingrad, Joseph" userId="d8b68cd1-7862-48a0-9c72-8fbfd5f2a4a5" providerId="ADAL" clId="{D0CC7B09-119E-4A16-A7AE-B46817E80CC4}" dt="2026-10-01T19:16:46.468" v="20" actId="47"/>
        <pc:sldMkLst>
          <pc:docMk/>
          <pc:sldMk cId="420888617" sldId="2147483332"/>
        </pc:sldMkLst>
        <pc:spChg chg="mod">
          <ac:chgData name="Veingrad, Joseph" userId="d8b68cd1-7862-48a0-9c72-8fbfd5f2a4a5" providerId="ADAL" clId="{D0CC7B09-119E-4A16-A7AE-B46817E80CC4}" dt="2026-10-01T17:42:24.653" v="13" actId="20577"/>
          <ac:spMkLst>
            <pc:docMk/>
            <pc:sldMk cId="420888617" sldId="2147483332"/>
            <ac:spMk id="3" creationId="{2FC2B56F-A841-629A-AEE3-A77EED789C36}"/>
          </ac:spMkLst>
        </pc:spChg>
      </pc:sldChg>
      <pc:sldChg chg="add">
        <pc:chgData name="Veingrad, Joseph" userId="d8b68cd1-7862-48a0-9c72-8fbfd5f2a4a5" providerId="ADAL" clId="{D0CC7B09-119E-4A16-A7AE-B46817E80CC4}" dt="2026-10-01T17:49:30.643" v="14"/>
        <pc:sldMkLst>
          <pc:docMk/>
          <pc:sldMk cId="1723457011" sldId="2147483333"/>
        </pc:sldMkLst>
      </pc:sldChg>
      <pc:sldChg chg="add">
        <pc:chgData name="Veingrad, Joseph" userId="d8b68cd1-7862-48a0-9c72-8fbfd5f2a4a5" providerId="ADAL" clId="{D0CC7B09-119E-4A16-A7AE-B46817E80CC4}" dt="2026-10-01T17:49:30.643" v="14"/>
        <pc:sldMkLst>
          <pc:docMk/>
          <pc:sldMk cId="601759922" sldId="2147483334"/>
        </pc:sldMkLst>
      </pc:sldChg>
      <pc:sldChg chg="add">
        <pc:chgData name="Veingrad, Joseph" userId="d8b68cd1-7862-48a0-9c72-8fbfd5f2a4a5" providerId="ADAL" clId="{D0CC7B09-119E-4A16-A7AE-B46817E80CC4}" dt="2026-10-01T19:16:30.858" v="17"/>
        <pc:sldMkLst>
          <pc:docMk/>
          <pc:sldMk cId="0" sldId="2147483335"/>
        </pc:sldMkLst>
      </pc:sldChg>
      <pc:sldChg chg="add">
        <pc:chgData name="Veingrad, Joseph" userId="d8b68cd1-7862-48a0-9c72-8fbfd5f2a4a5" providerId="ADAL" clId="{D0CC7B09-119E-4A16-A7AE-B46817E80CC4}" dt="2026-10-01T19:16:30.858" v="17"/>
        <pc:sldMkLst>
          <pc:docMk/>
          <pc:sldMk cId="0" sldId="2147483336"/>
        </pc:sldMkLst>
      </pc:sldChg>
      <pc:sldChg chg="add">
        <pc:chgData name="Veingrad, Joseph" userId="d8b68cd1-7862-48a0-9c72-8fbfd5f2a4a5" providerId="ADAL" clId="{D0CC7B09-119E-4A16-A7AE-B46817E80CC4}" dt="2026-10-01T19:16:30.858" v="17"/>
        <pc:sldMkLst>
          <pc:docMk/>
          <pc:sldMk cId="0" sldId="2147483337"/>
        </pc:sldMkLst>
      </pc:sldChg>
      <pc:sldChg chg="add">
        <pc:chgData name="Veingrad, Joseph" userId="d8b68cd1-7862-48a0-9c72-8fbfd5f2a4a5" providerId="ADAL" clId="{D0CC7B09-119E-4A16-A7AE-B46817E80CC4}" dt="2026-10-01T19:16:42.806" v="19"/>
        <pc:sldMkLst>
          <pc:docMk/>
          <pc:sldMk cId="0" sldId="2147483338"/>
        </pc:sldMkLst>
      </pc:sldChg>
      <pc:sldChg chg="add">
        <pc:chgData name="Veingrad, Joseph" userId="d8b68cd1-7862-48a0-9c72-8fbfd5f2a4a5" providerId="ADAL" clId="{D0CC7B09-119E-4A16-A7AE-B46817E80CC4}" dt="2026-10-01T19:16:42.806" v="19"/>
        <pc:sldMkLst>
          <pc:docMk/>
          <pc:sldMk cId="0" sldId="2147483339"/>
        </pc:sldMkLst>
      </pc:sldChg>
      <pc:sldChg chg="add">
        <pc:chgData name="Veingrad, Joseph" userId="d8b68cd1-7862-48a0-9c72-8fbfd5f2a4a5" providerId="ADAL" clId="{D0CC7B09-119E-4A16-A7AE-B46817E80CC4}" dt="2026-10-01T19:16:42.806" v="19"/>
        <pc:sldMkLst>
          <pc:docMk/>
          <pc:sldMk cId="0" sldId="2147483340"/>
        </pc:sldMkLst>
      </pc:sldChg>
    </pc:docChg>
  </pc:docChgLst>
</pc:chgInfo>
</file>

<file path=ppt/comments/modernComment_7FFFFEB9_7839C105.xml><?xml version="1.0" encoding="utf-8"?>
<p188:cmLst xmlns:a="http://schemas.openxmlformats.org/drawingml/2006/main" xmlns:r="http://schemas.openxmlformats.org/officeDocument/2006/relationships" xmlns:p188="http://schemas.microsoft.com/office/powerpoint/2018/8/main">
  <p188:cm id="{4B7DAEF5-C625-4647-B607-C3465086ED47}" authorId="{F24CE182-DE66-5D04-E21D-F69500392F05}" created="2026-10-06T13:16:47.409">
    <ac:deMkLst xmlns:ac="http://schemas.microsoft.com/office/drawing/2013/main/command">
      <pc:docMk xmlns:pc="http://schemas.microsoft.com/office/powerpoint/2013/main/command"/>
      <pc:sldMk xmlns:pc="http://schemas.microsoft.com/office/powerpoint/2013/main/command" cId="2017050885" sldId="2147483321"/>
      <ac:graphicFrameMk id="7" creationId="{2EE76BE3-14A0-C8F7-650D-6897DCB26B22}"/>
    </ac:deMkLst>
    <p188:txBody>
      <a:bodyPr/>
      <a:lstStyle/>
      <a:p>
        <a:r>
          <a:rPr lang="en-US"/>
          <a:t>May have already been completed by RB and team, sync required.</a:t>
        </a:r>
      </a:p>
    </p188:txBody>
  </p188:cm>
</p188:cmLst>
</file>

<file path=ppt/comments/modernComment_7FFFFED3_CED891FF.xml><?xml version="1.0" encoding="utf-8"?>
<p188:cmLst xmlns:a="http://schemas.openxmlformats.org/drawingml/2006/main" xmlns:r="http://schemas.openxmlformats.org/officeDocument/2006/relationships" xmlns:p188="http://schemas.microsoft.com/office/powerpoint/2018/8/main">
  <p188:cm id="{FB1B7703-0233-9145-B366-FF55D302F9F0}" authorId="{F24CE182-DE66-5D04-E21D-F69500392F05}" created="2026-10-06T19:55:14.472">
    <ac:txMkLst xmlns:ac="http://schemas.microsoft.com/office/drawing/2013/main/command">
      <pc:docMk xmlns:pc="http://schemas.microsoft.com/office/powerpoint/2013/main/command"/>
      <pc:sldMk xmlns:pc="http://schemas.microsoft.com/office/powerpoint/2013/main/command" cId="3470299647" sldId="2147483347"/>
      <ac:spMk id="5" creationId="{C875D398-0708-32B8-1F34-714F0A1D522D}"/>
      <ac:txMk cp="0" len="8">
        <ac:context len="9" hash="3875861932"/>
      </ac:txMk>
    </ac:txMkLst>
    <p188:pos x="904476" y="275105"/>
    <p188:txBody>
      <a:bodyPr/>
      <a:lstStyle/>
      <a:p>
        <a:r>
          <a:rPr lang="en-US"/>
          <a:t>Discover and rationalize, identify if the source is required</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778B60-8965-4B89-955F-C10B25225CE2}" type="datetimeFigureOut">
              <a:rPr lang="en-US" smtClean="0"/>
              <a:t>10/7/2026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663B33-C500-49BD-B04E-474E1B577D32}" type="slidenum">
              <a:rPr lang="en-US" smtClean="0"/>
              <a:t>‹#›</a:t>
            </a:fld>
            <a:endParaRPr lang="en-US"/>
          </a:p>
        </p:txBody>
      </p:sp>
    </p:spTree>
    <p:extLst>
      <p:ext uri="{BB962C8B-B14F-4D97-AF65-F5344CB8AC3E}">
        <p14:creationId xmlns:p14="http://schemas.microsoft.com/office/powerpoint/2010/main" val="543881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D663B33-C500-49BD-B04E-474E1B577D3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238737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Talking Points:</a:t>
            </a:r>
          </a:p>
          <a:p>
            <a:pPr marL="171450" lvl="0" indent="-171450">
              <a:buFont typeface="Arial" panose="020B0604020202020204" pitchFamily="34" charset="0"/>
              <a:buChar char="•"/>
            </a:pPr>
            <a:r>
              <a:rPr lang="en-US" sz="1200" b="0" i="0" kern="1200">
                <a:solidFill>
                  <a:schemeClr val="tx1"/>
                </a:solidFill>
                <a:effectLst/>
                <a:latin typeface="+mn-lt"/>
                <a:ea typeface="+mn-ea"/>
                <a:cs typeface="+mn-cs"/>
              </a:rPr>
              <a:t>Acknowledge Progress &amp; Momentum: "We have made significant operational progress with the Agile pods and preliminary architecture work. This 'at-risk' work has been essential to keep the project moving, but it is not sustainable."</a:t>
            </a:r>
          </a:p>
          <a:p>
            <a:pPr marL="171450" lvl="0" indent="-171450">
              <a:buFont typeface="Arial" panose="020B0604020202020204" pitchFamily="34" charset="0"/>
              <a:buChar char="•"/>
            </a:pPr>
            <a:r>
              <a:rPr lang="en-US" sz="1200" b="0" i="0" kern="1200">
                <a:solidFill>
                  <a:schemeClr val="tx1"/>
                </a:solidFill>
                <a:effectLst/>
                <a:latin typeface="+mn-lt"/>
                <a:ea typeface="+mn-ea"/>
                <a:cs typeface="+mn-cs"/>
              </a:rPr>
              <a:t>Highlight the Immediate Risk: "The most significant risk to our shared success is the lack of a signed SOW. Without it, we face critical challenges with funding alignment, resource allocation, and team access. Most importantly, we risk missing the Dec 1 deadline for data ingestion, which is critical to productivity during the holiday change freeze."</a:t>
            </a:r>
          </a:p>
          <a:p>
            <a:pPr marL="171450" lvl="0" indent="-171450">
              <a:buFont typeface="Arial" panose="020B0604020202020204" pitchFamily="34" charset="0"/>
              <a:buChar char="•"/>
            </a:pPr>
            <a:r>
              <a:rPr lang="en-US" sz="1200" b="0" i="0" kern="1200">
                <a:solidFill>
                  <a:schemeClr val="tx1"/>
                </a:solidFill>
                <a:effectLst/>
                <a:latin typeface="+mn-lt"/>
                <a:ea typeface="+mn-ea"/>
                <a:cs typeface="+mn-cs"/>
              </a:rPr>
              <a:t>Present the SOW as the Solution: "Signing the SOW this week is the single most important step to de-risk the project. It formalizes our partnership, secures the necessary resources, and unlocks the VDI access our teams need to be productive."</a:t>
            </a:r>
          </a:p>
          <a:p>
            <a:endParaRPr lang="en-US"/>
          </a:p>
        </p:txBody>
      </p:sp>
      <p:sp>
        <p:nvSpPr>
          <p:cNvPr id="4" name="Slide Number Placeholder 3"/>
          <p:cNvSpPr>
            <a:spLocks noGrp="1"/>
          </p:cNvSpPr>
          <p:nvPr>
            <p:ph type="sldNum" sz="quarter" idx="5"/>
          </p:nvPr>
        </p:nvSpPr>
        <p:spPr/>
        <p:txBody>
          <a:bodyPr/>
          <a:lstStyle/>
          <a:p>
            <a:fld id="{7D663B33-C500-49BD-B04E-474E1B577D32}" type="slidenum">
              <a:rPr lang="en-US" smtClean="0"/>
              <a:t>5</a:t>
            </a:fld>
            <a:endParaRPr lang="en-US"/>
          </a:p>
        </p:txBody>
      </p:sp>
    </p:spTree>
    <p:extLst>
      <p:ext uri="{BB962C8B-B14F-4D97-AF65-F5344CB8AC3E}">
        <p14:creationId xmlns:p14="http://schemas.microsoft.com/office/powerpoint/2010/main" val="2201201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D663B33-C500-49BD-B04E-474E1B577D32}" type="slidenum">
              <a:rPr lang="en-US" smtClean="0"/>
              <a:t>23</a:t>
            </a:fld>
            <a:endParaRPr lang="en-US"/>
          </a:p>
        </p:txBody>
      </p:sp>
    </p:spTree>
    <p:extLst>
      <p:ext uri="{BB962C8B-B14F-4D97-AF65-F5344CB8AC3E}">
        <p14:creationId xmlns:p14="http://schemas.microsoft.com/office/powerpoint/2010/main" val="2774983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001D1-F138-2F48-EA87-50C2792372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424372-0809-3B09-A17B-BCBEEECD41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2A9509-95C8-6A8B-2454-01A33CD145D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99B26A6-176A-0A84-0A61-129E25A3BC78}"/>
              </a:ext>
            </a:extLst>
          </p:cNvPr>
          <p:cNvSpPr>
            <a:spLocks noGrp="1"/>
          </p:cNvSpPr>
          <p:nvPr>
            <p:ph type="sldNum" sz="quarter" idx="5"/>
          </p:nvPr>
        </p:nvSpPr>
        <p:spPr/>
        <p:txBody>
          <a:bodyPr/>
          <a:lstStyle/>
          <a:p>
            <a:fld id="{7D663B33-C500-49BD-B04E-474E1B577D32}" type="slidenum">
              <a:rPr lang="en-US" smtClean="0"/>
              <a:t>24</a:t>
            </a:fld>
            <a:endParaRPr lang="en-US"/>
          </a:p>
        </p:txBody>
      </p:sp>
    </p:spTree>
    <p:extLst>
      <p:ext uri="{BB962C8B-B14F-4D97-AF65-F5344CB8AC3E}">
        <p14:creationId xmlns:p14="http://schemas.microsoft.com/office/powerpoint/2010/main" val="29450680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81E3B-1F1F-E147-47BF-714CA01F1A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6E4F10-C0D4-45F6-BD81-FEA7A448AF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5F3425-E142-48EB-03A2-E2900751604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FDD14C4-0C6F-9D28-6EA1-B3E6D10B9523}"/>
              </a:ext>
            </a:extLst>
          </p:cNvPr>
          <p:cNvSpPr>
            <a:spLocks noGrp="1"/>
          </p:cNvSpPr>
          <p:nvPr>
            <p:ph type="sldNum" sz="quarter" idx="5"/>
          </p:nvPr>
        </p:nvSpPr>
        <p:spPr/>
        <p:txBody>
          <a:bodyPr/>
          <a:lstStyle/>
          <a:p>
            <a:fld id="{7D663B33-C500-49BD-B04E-474E1B577D32}" type="slidenum">
              <a:rPr lang="en-US" smtClean="0"/>
              <a:t>25</a:t>
            </a:fld>
            <a:endParaRPr lang="en-US"/>
          </a:p>
        </p:txBody>
      </p:sp>
    </p:spTree>
    <p:extLst>
      <p:ext uri="{BB962C8B-B14F-4D97-AF65-F5344CB8AC3E}">
        <p14:creationId xmlns:p14="http://schemas.microsoft.com/office/powerpoint/2010/main" val="40754645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47519-3808-4CCC-0EE3-29596BB273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C59CAC-4F27-2B92-4E09-BC2D3F1327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F62DF3-C5E7-426D-2169-6B02E1CC5B5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8C8B7B0-76BC-F04D-8C16-E8EEE0B5E317}"/>
              </a:ext>
            </a:extLst>
          </p:cNvPr>
          <p:cNvSpPr>
            <a:spLocks noGrp="1"/>
          </p:cNvSpPr>
          <p:nvPr>
            <p:ph type="sldNum" sz="quarter" idx="5"/>
          </p:nvPr>
        </p:nvSpPr>
        <p:spPr/>
        <p:txBody>
          <a:bodyPr/>
          <a:lstStyle/>
          <a:p>
            <a:fld id="{7D663B33-C500-49BD-B04E-474E1B577D32}" type="slidenum">
              <a:rPr lang="en-US" smtClean="0"/>
              <a:t>26</a:t>
            </a:fld>
            <a:endParaRPr lang="en-US"/>
          </a:p>
        </p:txBody>
      </p:sp>
    </p:spTree>
    <p:extLst>
      <p:ext uri="{BB962C8B-B14F-4D97-AF65-F5344CB8AC3E}">
        <p14:creationId xmlns:p14="http://schemas.microsoft.com/office/powerpoint/2010/main" val="33329099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Talking Points:</a:t>
            </a:r>
          </a:p>
          <a:p>
            <a:pPr marL="171450" lvl="0" indent="-171450">
              <a:buFont typeface="Arial" panose="020B0604020202020204" pitchFamily="34" charset="0"/>
              <a:buChar char="•"/>
            </a:pPr>
            <a:r>
              <a:rPr lang="en-US" sz="1200" b="0" i="0" kern="1200">
                <a:solidFill>
                  <a:schemeClr val="tx1"/>
                </a:solidFill>
                <a:effectLst/>
                <a:latin typeface="+mn-lt"/>
                <a:ea typeface="+mn-ea"/>
                <a:cs typeface="+mn-cs"/>
              </a:rPr>
              <a:t>The Critical Dependency: "As outlined on slide 9, our ability to work effectively during the November-January change freeze is entirely dependent on ingesting the five key telemetry datasets by Dec 1. This is not a 'nice to have'; it's a 'must-have'."</a:t>
            </a:r>
          </a:p>
          <a:p>
            <a:pPr marL="171450" lvl="0" indent="-171450">
              <a:buFont typeface="Arial" panose="020B0604020202020204" pitchFamily="34" charset="0"/>
              <a:buChar char="•"/>
            </a:pPr>
            <a:r>
              <a:rPr lang="en-US" sz="1200" b="0" i="0" kern="1200">
                <a:solidFill>
                  <a:schemeClr val="tx1"/>
                </a:solidFill>
                <a:effectLst/>
                <a:latin typeface="+mn-lt"/>
                <a:ea typeface="+mn-ea"/>
                <a:cs typeface="+mn-cs"/>
              </a:rPr>
              <a:t>The Cost of Inaction: "If we miss this date, Workstream B (Ingestion) will be delayed by at least a quarter. This will have a cascading effect on all subsequent workstreams, delaying the entire project and postponing the delivery of value to CVS."</a:t>
            </a:r>
          </a:p>
          <a:p>
            <a:pPr marL="171450" lvl="0" indent="-171450">
              <a:buFont typeface="Arial" panose="020B0604020202020204" pitchFamily="34" charset="0"/>
              <a:buChar char="•"/>
            </a:pPr>
            <a:r>
              <a:rPr lang="en-US" sz="1200" b="0" i="0" kern="1200">
                <a:solidFill>
                  <a:schemeClr val="tx1"/>
                </a:solidFill>
                <a:effectLst/>
                <a:latin typeface="+mn-lt"/>
                <a:ea typeface="+mn-ea"/>
                <a:cs typeface="+mn-cs"/>
              </a:rPr>
              <a:t>The Path to Success: "To prevent this, we need two things: formal ratification of the SOW this week, and authorization for provisional VDI access by mid-October. This gives us a clear, albeit narrow, window to succeed."</a:t>
            </a:r>
          </a:p>
        </p:txBody>
      </p:sp>
      <p:sp>
        <p:nvSpPr>
          <p:cNvPr id="4" name="Slide Number Placeholder 3"/>
          <p:cNvSpPr>
            <a:spLocks noGrp="1"/>
          </p:cNvSpPr>
          <p:nvPr>
            <p:ph type="sldNum" sz="quarter" idx="5"/>
          </p:nvPr>
        </p:nvSpPr>
        <p:spPr/>
        <p:txBody>
          <a:bodyPr/>
          <a:lstStyle/>
          <a:p>
            <a:fld id="{7D663B33-C500-49BD-B04E-474E1B577D32}" type="slidenum">
              <a:rPr lang="en-US" smtClean="0"/>
              <a:t>50</a:t>
            </a:fld>
            <a:endParaRPr lang="en-US"/>
          </a:p>
        </p:txBody>
      </p:sp>
    </p:spTree>
    <p:extLst>
      <p:ext uri="{BB962C8B-B14F-4D97-AF65-F5344CB8AC3E}">
        <p14:creationId xmlns:p14="http://schemas.microsoft.com/office/powerpoint/2010/main" val="14941484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D663B33-C500-49BD-B04E-474E1B577D32}" type="slidenum">
              <a:rPr lang="en-US" smtClean="0"/>
              <a:t>51</a:t>
            </a:fld>
            <a:endParaRPr lang="en-US"/>
          </a:p>
        </p:txBody>
      </p:sp>
    </p:spTree>
    <p:extLst>
      <p:ext uri="{BB962C8B-B14F-4D97-AF65-F5344CB8AC3E}">
        <p14:creationId xmlns:p14="http://schemas.microsoft.com/office/powerpoint/2010/main" val="19152637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8.jpeg"/><Relationship Id="rId4" Type="http://schemas.openxmlformats.org/officeDocument/2006/relationships/image" Target="../media/image11.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2.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8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10E6DA-AE9B-72A4-31E5-389A7363F7D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a:fillRect/>
          </a:stretch>
        </p:blipFill>
        <p:spPr>
          <a:xfrm flipH="1">
            <a:off x="1804" y="0"/>
            <a:ext cx="12188388" cy="6858000"/>
          </a:xfrm>
          <a:prstGeom prst="rect">
            <a:avLst/>
          </a:prstGeom>
        </p:spPr>
      </p:pic>
      <p:sp>
        <p:nvSpPr>
          <p:cNvPr id="8" name="Rectangle 7">
            <a:extLst>
              <a:ext uri="{FF2B5EF4-FFF2-40B4-BE49-F238E27FC236}">
                <a16:creationId xmlns:a16="http://schemas.microsoft.com/office/drawing/2014/main" id="{73FB0C00-E9D5-34BA-1C5D-577B9C282E48}"/>
              </a:ext>
            </a:extLst>
          </p:cNvPr>
          <p:cNvSpPr>
            <a:spLocks/>
          </p:cNvSpPr>
          <p:nvPr userDrawn="1"/>
        </p:nvSpPr>
        <p:spPr bwMode="gray">
          <a:xfrm>
            <a:off x="0" y="-1"/>
            <a:ext cx="12191999" cy="6857999"/>
          </a:xfrm>
          <a:prstGeom prst="rect">
            <a:avLst/>
          </a:prstGeom>
          <a:gradFill flip="none" rotWithShape="1">
            <a:gsLst>
              <a:gs pos="0">
                <a:srgbClr val="00B0F0">
                  <a:alpha val="1000"/>
                </a:srgbClr>
              </a:gs>
              <a:gs pos="100000">
                <a:srgbClr val="0A4B8C"/>
              </a:gs>
              <a:gs pos="58000">
                <a:srgbClr val="0A4B8C">
                  <a:alpha val="61000"/>
                </a:srgbClr>
              </a:gs>
            </a:gsLst>
            <a:lin ang="108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1500" b="1">
              <a:solidFill>
                <a:schemeClr val="bg1"/>
              </a:solidFill>
            </a:endParaRPr>
          </a:p>
        </p:txBody>
      </p:sp>
      <p:sp>
        <p:nvSpPr>
          <p:cNvPr id="9" name="Rectangle: Rounded Corners 8">
            <a:extLst>
              <a:ext uri="{FF2B5EF4-FFF2-40B4-BE49-F238E27FC236}">
                <a16:creationId xmlns:a16="http://schemas.microsoft.com/office/drawing/2014/main" id="{D9F82715-F4A0-F960-33E4-E04C85406DE7}"/>
              </a:ext>
            </a:extLst>
          </p:cNvPr>
          <p:cNvSpPr/>
          <p:nvPr userDrawn="1"/>
        </p:nvSpPr>
        <p:spPr bwMode="gray">
          <a:xfrm>
            <a:off x="574676" y="795340"/>
            <a:ext cx="4436229" cy="5267325"/>
          </a:xfrm>
          <a:prstGeom prst="roundRect">
            <a:avLst>
              <a:gd name="adj" fmla="val 6826"/>
            </a:avLst>
          </a:prstGeom>
          <a:solidFill>
            <a:schemeClr val="bg1"/>
          </a:solidFill>
          <a:ln>
            <a:solidFill>
              <a:srgbClr val="267AC0"/>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sp>
        <p:nvSpPr>
          <p:cNvPr id="10" name="Title 1">
            <a:extLst>
              <a:ext uri="{FF2B5EF4-FFF2-40B4-BE49-F238E27FC236}">
                <a16:creationId xmlns:a16="http://schemas.microsoft.com/office/drawing/2014/main" id="{1E3A5B1F-A8A6-5504-278D-A9836AB96809}"/>
              </a:ext>
            </a:extLst>
          </p:cNvPr>
          <p:cNvSpPr>
            <a:spLocks noGrp="1"/>
          </p:cNvSpPr>
          <p:nvPr>
            <p:ph type="ctrTitle" hasCustomPrompt="1"/>
          </p:nvPr>
        </p:nvSpPr>
        <p:spPr>
          <a:xfrm>
            <a:off x="908806" y="2524536"/>
            <a:ext cx="3865213" cy="1262324"/>
          </a:xfrm>
        </p:spPr>
        <p:txBody>
          <a:bodyPr rIns="0" anchor="t" anchorCtr="0"/>
          <a:lstStyle>
            <a:lvl1pPr>
              <a:lnSpc>
                <a:spcPct val="90000"/>
              </a:lnSpc>
              <a:defRPr sz="3600">
                <a:solidFill>
                  <a:srgbClr val="0B315E"/>
                </a:solidFill>
              </a:defRPr>
            </a:lvl1pPr>
          </a:lstStyle>
          <a:p>
            <a:r>
              <a:rPr lang="en-US"/>
              <a:t>Click to add title</a:t>
            </a:r>
          </a:p>
        </p:txBody>
      </p:sp>
      <p:pic>
        <p:nvPicPr>
          <p:cNvPr id="14" name="Graphic 13" descr="CVS Health logo.">
            <a:extLst>
              <a:ext uri="{FF2B5EF4-FFF2-40B4-BE49-F238E27FC236}">
                <a16:creationId xmlns:a16="http://schemas.microsoft.com/office/drawing/2014/main" id="{94AECE69-B9DB-9EB5-99A4-DC5844CA5E3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08806" y="1257300"/>
            <a:ext cx="2079927" cy="253755"/>
          </a:xfrm>
          <a:prstGeom prst="rect">
            <a:avLst/>
          </a:prstGeom>
        </p:spPr>
      </p:pic>
      <p:sp>
        <p:nvSpPr>
          <p:cNvPr id="19" name="Graphic 8">
            <a:extLst>
              <a:ext uri="{FF2B5EF4-FFF2-40B4-BE49-F238E27FC236}">
                <a16:creationId xmlns:a16="http://schemas.microsoft.com/office/drawing/2014/main" id="{7F5589DF-3887-80B8-D1FC-69B898A14C38}"/>
              </a:ext>
            </a:extLst>
          </p:cNvPr>
          <p:cNvSpPr>
            <a:spLocks noChangeAspect="1"/>
          </p:cNvSpPr>
          <p:nvPr userDrawn="1"/>
        </p:nvSpPr>
        <p:spPr>
          <a:xfrm>
            <a:off x="908806" y="1836163"/>
            <a:ext cx="910769" cy="365760"/>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rgbClr val="00338D"/>
          </a:solidFill>
          <a:ln w="1683"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000000"/>
              </a:solidFill>
              <a:effectLst/>
              <a:uLnTx/>
              <a:uFillTx/>
              <a:latin typeface="Arial"/>
            </a:endParaRPr>
          </a:p>
        </p:txBody>
      </p:sp>
      <p:sp>
        <p:nvSpPr>
          <p:cNvPr id="2" name="TextBox 1">
            <a:extLst>
              <a:ext uri="{FF2B5EF4-FFF2-40B4-BE49-F238E27FC236}">
                <a16:creationId xmlns:a16="http://schemas.microsoft.com/office/drawing/2014/main" id="{67FA20E3-9233-30BA-01A1-4FCAE62F9F14}"/>
              </a:ext>
            </a:extLst>
          </p:cNvPr>
          <p:cNvSpPr txBox="1"/>
          <p:nvPr userDrawn="1"/>
        </p:nvSpPr>
        <p:spPr>
          <a:xfrm>
            <a:off x="4107180" y="6501384"/>
            <a:ext cx="3977640" cy="323165"/>
          </a:xfrm>
          <a:prstGeom prst="rect">
            <a:avLst/>
          </a:prstGeom>
          <a:noFill/>
        </p:spPr>
        <p:txBody>
          <a:bodyPr wrap="square" rtlCol="0">
            <a:spAutoFit/>
          </a:bodyPr>
          <a:lstStyle/>
          <a:p>
            <a:pPr algn="l"/>
            <a:r>
              <a:rPr lang="en-US" sz="1500" b="1">
                <a:solidFill>
                  <a:schemeClr val="accent2"/>
                </a:solidFill>
              </a:rPr>
              <a:t>Draft Document - For Discussion Purposes Only</a:t>
            </a:r>
          </a:p>
        </p:txBody>
      </p:sp>
    </p:spTree>
    <p:extLst>
      <p:ext uri="{BB962C8B-B14F-4D97-AF65-F5344CB8AC3E}">
        <p14:creationId xmlns:p14="http://schemas.microsoft.com/office/powerpoint/2010/main" val="862702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F9A7D85-A138-6ED3-1F3F-E151468284FF}"/>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a:fillRect/>
          </a:stretch>
        </p:blipFill>
        <p:spPr>
          <a:xfrm>
            <a:off x="-1" y="9144"/>
            <a:ext cx="12192001" cy="6858000"/>
          </a:xfrm>
          <a:prstGeom prst="rect">
            <a:avLst/>
          </a:prstGeom>
        </p:spPr>
      </p:pic>
      <p:sp>
        <p:nvSpPr>
          <p:cNvPr id="4" name="Rectangle 3">
            <a:extLst>
              <a:ext uri="{FF2B5EF4-FFF2-40B4-BE49-F238E27FC236}">
                <a16:creationId xmlns:a16="http://schemas.microsoft.com/office/drawing/2014/main" id="{6135AA92-4232-99EC-B02E-003EFC8252EE}"/>
              </a:ext>
            </a:extLst>
          </p:cNvPr>
          <p:cNvSpPr>
            <a:spLocks/>
          </p:cNvSpPr>
          <p:nvPr userDrawn="1"/>
        </p:nvSpPr>
        <p:spPr bwMode="gray">
          <a:xfrm>
            <a:off x="-1" y="-1"/>
            <a:ext cx="12192001" cy="6857999"/>
          </a:xfrm>
          <a:prstGeom prst="rect">
            <a:avLst/>
          </a:prstGeom>
          <a:gradFill flip="none" rotWithShape="1">
            <a:gsLst>
              <a:gs pos="0">
                <a:srgbClr val="00B0F0">
                  <a:alpha val="1000"/>
                </a:srgbClr>
              </a:gs>
              <a:gs pos="100000">
                <a:srgbClr val="0A4B8C"/>
              </a:gs>
              <a:gs pos="58000">
                <a:srgbClr val="0A4B8C">
                  <a:alpha val="61000"/>
                </a:srgbClr>
              </a:gs>
            </a:gsLst>
            <a:lin ang="108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1500" b="1">
              <a:solidFill>
                <a:schemeClr val="bg1"/>
              </a:solidFill>
            </a:endParaRPr>
          </a:p>
        </p:txBody>
      </p:sp>
      <p:sp>
        <p:nvSpPr>
          <p:cNvPr id="20" name="Content Placeholder 8"/>
          <p:cNvSpPr txBox="1">
            <a:spLocks/>
          </p:cNvSpPr>
          <p:nvPr userDrawn="1"/>
        </p:nvSpPr>
        <p:spPr>
          <a:xfrm>
            <a:off x="557932" y="6367487"/>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0" smtClean="0">
                <a:solidFill>
                  <a:schemeClr val="bg1"/>
                </a:solidFill>
                <a:latin typeface="CVS Health Sans Medium" panose="020B0504020202020204" pitchFamily="34" charset="0"/>
                <a:ea typeface="Open Sans" panose="020B0606030504020204" pitchFamily="34" charset="0"/>
                <a:cs typeface="Arial" panose="020B0604020202020204" pitchFamily="34" charset="0"/>
              </a:rPr>
              <a:pPr algn="l"/>
              <a:t>‹#›</a:t>
            </a:fld>
            <a:endParaRPr lang="en-US" sz="1000" b="0">
              <a:solidFill>
                <a:schemeClr val="bg1"/>
              </a:solidFill>
              <a:latin typeface="CVS Health Sans Medium" panose="020B0504020202020204" pitchFamily="34" charset="0"/>
              <a:ea typeface="Open Sans" panose="020B0606030504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E6118871-4A8C-4517-9A46-8863C34DC7FC}"/>
              </a:ext>
            </a:extLst>
          </p:cNvPr>
          <p:cNvSpPr txBox="1"/>
          <p:nvPr userDrawn="1"/>
        </p:nvSpPr>
        <p:spPr>
          <a:xfrm>
            <a:off x="859758" y="6425586"/>
            <a:ext cx="8048816" cy="123111"/>
          </a:xfrm>
          <a:prstGeom prst="rect">
            <a:avLst/>
          </a:prstGeom>
          <a:noFill/>
        </p:spPr>
        <p:txBody>
          <a:bodyPr wrap="square" lIns="0" tIns="0" rIns="0" bIns="0" rtlCol="0" anchor="b">
            <a:spAutoFit/>
          </a:bodyPr>
          <a:lstStyle/>
          <a:p>
            <a:r>
              <a:rPr lang="en-US" sz="800">
                <a:solidFill>
                  <a:schemeClr val="bg1"/>
                </a:solidFill>
                <a:latin typeface="+mn-lt"/>
              </a:rPr>
              <a:t>©2026 CVS Health and/or one of its affiliates. Confidential and proprietary.</a:t>
            </a:r>
          </a:p>
        </p:txBody>
      </p:sp>
      <p:sp>
        <p:nvSpPr>
          <p:cNvPr id="3" name="Title 1">
            <a:extLst>
              <a:ext uri="{FF2B5EF4-FFF2-40B4-BE49-F238E27FC236}">
                <a16:creationId xmlns:a16="http://schemas.microsoft.com/office/drawing/2014/main" id="{7CD1F70B-0561-EF7E-4389-953EEC3C930A}"/>
              </a:ext>
            </a:extLst>
          </p:cNvPr>
          <p:cNvSpPr>
            <a:spLocks noGrp="1"/>
          </p:cNvSpPr>
          <p:nvPr>
            <p:ph type="title" hasCustomPrompt="1"/>
          </p:nvPr>
        </p:nvSpPr>
        <p:spPr>
          <a:xfrm>
            <a:off x="557931" y="584200"/>
            <a:ext cx="2375771" cy="713232"/>
          </a:xfrm>
        </p:spPr>
        <p:txBody>
          <a:bodyPr/>
          <a:lstStyle>
            <a:lvl1pPr>
              <a:defRPr sz="4797">
                <a:solidFill>
                  <a:schemeClr val="bg1"/>
                </a:solidFill>
              </a:defRPr>
            </a:lvl1pPr>
          </a:lstStyle>
          <a:p>
            <a:r>
              <a:rPr lang="en-US"/>
              <a:t>Agenda</a:t>
            </a:r>
          </a:p>
        </p:txBody>
      </p:sp>
      <p:pic>
        <p:nvPicPr>
          <p:cNvPr id="6" name="Graphic 5" descr="CVS Health logo.">
            <a:extLst>
              <a:ext uri="{FF2B5EF4-FFF2-40B4-BE49-F238E27FC236}">
                <a16:creationId xmlns:a16="http://schemas.microsoft.com/office/drawing/2014/main" id="{40D4FD5D-5BCE-846B-AA62-DC97ED0E38C4}"/>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83402" y="6393249"/>
            <a:ext cx="1274145" cy="155448"/>
          </a:xfrm>
          <a:prstGeom prst="rect">
            <a:avLst/>
          </a:prstGeom>
        </p:spPr>
      </p:pic>
      <p:sp>
        <p:nvSpPr>
          <p:cNvPr id="7" name="TextBox 6">
            <a:extLst>
              <a:ext uri="{FF2B5EF4-FFF2-40B4-BE49-F238E27FC236}">
                <a16:creationId xmlns:a16="http://schemas.microsoft.com/office/drawing/2014/main" id="{BB27EB5D-EED6-558C-B6BA-9356A89FC686}"/>
              </a:ext>
            </a:extLst>
          </p:cNvPr>
          <p:cNvSpPr txBox="1"/>
          <p:nvPr userDrawn="1"/>
        </p:nvSpPr>
        <p:spPr>
          <a:xfrm>
            <a:off x="4107180" y="6501384"/>
            <a:ext cx="3977640" cy="323165"/>
          </a:xfrm>
          <a:prstGeom prst="rect">
            <a:avLst/>
          </a:prstGeom>
          <a:noFill/>
        </p:spPr>
        <p:txBody>
          <a:bodyPr wrap="square" rtlCol="0">
            <a:spAutoFit/>
          </a:bodyPr>
          <a:lstStyle/>
          <a:p>
            <a:pPr algn="l"/>
            <a:r>
              <a:rPr lang="en-US" sz="1500" b="1">
                <a:solidFill>
                  <a:schemeClr val="accent2"/>
                </a:solidFill>
              </a:rPr>
              <a:t>Draft Document - For Discussion Purposes Only</a:t>
            </a:r>
          </a:p>
        </p:txBody>
      </p:sp>
    </p:spTree>
    <p:extLst>
      <p:ext uri="{BB962C8B-B14F-4D97-AF65-F5344CB8AC3E}">
        <p14:creationId xmlns:p14="http://schemas.microsoft.com/office/powerpoint/2010/main" val="968825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Agenda">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F9A7D85-A138-6ED3-1F3F-E151468284FF}"/>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a:fillRect/>
          </a:stretch>
        </p:blipFill>
        <p:spPr>
          <a:xfrm>
            <a:off x="0" y="0"/>
            <a:ext cx="4398746" cy="6858000"/>
          </a:xfrm>
          <a:prstGeom prst="rect">
            <a:avLst/>
          </a:prstGeom>
        </p:spPr>
      </p:pic>
      <p:sp>
        <p:nvSpPr>
          <p:cNvPr id="4" name="Rectangle 3">
            <a:extLst>
              <a:ext uri="{FF2B5EF4-FFF2-40B4-BE49-F238E27FC236}">
                <a16:creationId xmlns:a16="http://schemas.microsoft.com/office/drawing/2014/main" id="{6135AA92-4232-99EC-B02E-003EFC8252EE}"/>
              </a:ext>
            </a:extLst>
          </p:cNvPr>
          <p:cNvSpPr>
            <a:spLocks/>
          </p:cNvSpPr>
          <p:nvPr userDrawn="1"/>
        </p:nvSpPr>
        <p:spPr bwMode="gray">
          <a:xfrm>
            <a:off x="0" y="-1"/>
            <a:ext cx="4398746" cy="6857999"/>
          </a:xfrm>
          <a:prstGeom prst="rect">
            <a:avLst/>
          </a:prstGeom>
          <a:gradFill flip="none" rotWithShape="1">
            <a:gsLst>
              <a:gs pos="0">
                <a:srgbClr val="00B0F0">
                  <a:alpha val="1000"/>
                </a:srgbClr>
              </a:gs>
              <a:gs pos="100000">
                <a:srgbClr val="0A4B8C"/>
              </a:gs>
              <a:gs pos="58000">
                <a:srgbClr val="0A4B8C">
                  <a:alpha val="61000"/>
                </a:srgbClr>
              </a:gs>
            </a:gsLst>
            <a:lin ang="135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1500" b="1">
              <a:solidFill>
                <a:schemeClr val="bg1"/>
              </a:solidFill>
            </a:endParaRPr>
          </a:p>
        </p:txBody>
      </p:sp>
      <p:sp>
        <p:nvSpPr>
          <p:cNvPr id="20" name="Content Placeholder 8"/>
          <p:cNvSpPr txBox="1">
            <a:spLocks/>
          </p:cNvSpPr>
          <p:nvPr userDrawn="1"/>
        </p:nvSpPr>
        <p:spPr>
          <a:xfrm>
            <a:off x="557932" y="6367487"/>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0" smtClean="0">
                <a:solidFill>
                  <a:schemeClr val="bg1"/>
                </a:solidFill>
                <a:latin typeface="CVS Health Sans Medium" panose="020B0504020202020204" pitchFamily="34" charset="0"/>
                <a:ea typeface="Open Sans" panose="020B0606030504020204" pitchFamily="34" charset="0"/>
                <a:cs typeface="Arial" panose="020B0604020202020204" pitchFamily="34" charset="0"/>
              </a:rPr>
              <a:pPr algn="l"/>
              <a:t>‹#›</a:t>
            </a:fld>
            <a:endParaRPr lang="en-US" sz="1000" b="0">
              <a:solidFill>
                <a:schemeClr val="bg1"/>
              </a:solidFill>
              <a:latin typeface="CVS Health Sans Medium" panose="020B0504020202020204" pitchFamily="34" charset="0"/>
              <a:ea typeface="Open Sans" panose="020B0606030504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E6118871-4A8C-4517-9A46-8863C34DC7FC}"/>
              </a:ext>
            </a:extLst>
          </p:cNvPr>
          <p:cNvSpPr txBox="1"/>
          <p:nvPr userDrawn="1"/>
        </p:nvSpPr>
        <p:spPr>
          <a:xfrm>
            <a:off x="859758" y="6425586"/>
            <a:ext cx="8048816" cy="123111"/>
          </a:xfrm>
          <a:prstGeom prst="rect">
            <a:avLst/>
          </a:prstGeom>
          <a:noFill/>
        </p:spPr>
        <p:txBody>
          <a:bodyPr wrap="square" lIns="0" tIns="0" rIns="0" bIns="0" rtlCol="0" anchor="b">
            <a:spAutoFit/>
          </a:bodyPr>
          <a:lstStyle/>
          <a:p>
            <a:r>
              <a:rPr lang="en-US" sz="800">
                <a:solidFill>
                  <a:schemeClr val="bg1"/>
                </a:solidFill>
                <a:latin typeface="+mn-lt"/>
              </a:rPr>
              <a:t>©2026 CVS Health and/or one of its affiliates. Confidential and proprietary.</a:t>
            </a:r>
          </a:p>
        </p:txBody>
      </p:sp>
      <p:pic>
        <p:nvPicPr>
          <p:cNvPr id="14" name="Graphic 13" descr="CVS Health logo.">
            <a:extLst>
              <a:ext uri="{FF2B5EF4-FFF2-40B4-BE49-F238E27FC236}">
                <a16:creationId xmlns:a16="http://schemas.microsoft.com/office/drawing/2014/main" id="{E4ED132B-CD59-47A6-9E0F-74A5ED67C019}"/>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53707" y="6373368"/>
            <a:ext cx="1274145" cy="155448"/>
          </a:xfrm>
          <a:prstGeom prst="rect">
            <a:avLst/>
          </a:prstGeom>
        </p:spPr>
      </p:pic>
      <p:sp>
        <p:nvSpPr>
          <p:cNvPr id="3" name="Title 1">
            <a:extLst>
              <a:ext uri="{FF2B5EF4-FFF2-40B4-BE49-F238E27FC236}">
                <a16:creationId xmlns:a16="http://schemas.microsoft.com/office/drawing/2014/main" id="{7CD1F70B-0561-EF7E-4389-953EEC3C930A}"/>
              </a:ext>
            </a:extLst>
          </p:cNvPr>
          <p:cNvSpPr>
            <a:spLocks noGrp="1"/>
          </p:cNvSpPr>
          <p:nvPr>
            <p:ph type="title" hasCustomPrompt="1"/>
          </p:nvPr>
        </p:nvSpPr>
        <p:spPr>
          <a:xfrm>
            <a:off x="557931" y="584200"/>
            <a:ext cx="2375771" cy="713232"/>
          </a:xfrm>
        </p:spPr>
        <p:txBody>
          <a:bodyPr/>
          <a:lstStyle>
            <a:lvl1pPr>
              <a:defRPr sz="4797">
                <a:solidFill>
                  <a:schemeClr val="bg1"/>
                </a:solidFill>
              </a:defRPr>
            </a:lvl1pPr>
          </a:lstStyle>
          <a:p>
            <a:r>
              <a:rPr lang="en-US"/>
              <a:t>Agenda</a:t>
            </a:r>
          </a:p>
        </p:txBody>
      </p:sp>
      <p:pic>
        <p:nvPicPr>
          <p:cNvPr id="5" name="Graphic 4" descr="CVS Health logo.">
            <a:extLst>
              <a:ext uri="{FF2B5EF4-FFF2-40B4-BE49-F238E27FC236}">
                <a16:creationId xmlns:a16="http://schemas.microsoft.com/office/drawing/2014/main" id="{E19E38E8-8CE2-3594-0F60-E17D5DDCA817}"/>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383402" y="6393249"/>
            <a:ext cx="1274145" cy="155448"/>
          </a:xfrm>
          <a:prstGeom prst="rect">
            <a:avLst/>
          </a:prstGeom>
        </p:spPr>
      </p:pic>
      <p:sp>
        <p:nvSpPr>
          <p:cNvPr id="7" name="TextBox 6">
            <a:extLst>
              <a:ext uri="{FF2B5EF4-FFF2-40B4-BE49-F238E27FC236}">
                <a16:creationId xmlns:a16="http://schemas.microsoft.com/office/drawing/2014/main" id="{F0A5A034-04F6-A65E-BF7A-E737D972CB9E}"/>
              </a:ext>
            </a:extLst>
          </p:cNvPr>
          <p:cNvSpPr txBox="1"/>
          <p:nvPr userDrawn="1"/>
        </p:nvSpPr>
        <p:spPr>
          <a:xfrm>
            <a:off x="4107180" y="6501384"/>
            <a:ext cx="3977640" cy="323165"/>
          </a:xfrm>
          <a:prstGeom prst="rect">
            <a:avLst/>
          </a:prstGeom>
          <a:noFill/>
        </p:spPr>
        <p:txBody>
          <a:bodyPr wrap="square" rtlCol="0">
            <a:spAutoFit/>
          </a:bodyPr>
          <a:lstStyle/>
          <a:p>
            <a:pPr algn="l"/>
            <a:r>
              <a:rPr lang="en-US" sz="1500" b="1">
                <a:solidFill>
                  <a:schemeClr val="accent2"/>
                </a:solidFill>
              </a:rPr>
              <a:t>Draft Document - For Discussion Purposes Only</a:t>
            </a:r>
          </a:p>
        </p:txBody>
      </p:sp>
    </p:spTree>
    <p:extLst>
      <p:ext uri="{BB962C8B-B14F-4D97-AF65-F5344CB8AC3E}">
        <p14:creationId xmlns:p14="http://schemas.microsoft.com/office/powerpoint/2010/main" val="28700217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6_Agenda">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F9A7D85-A138-6ED3-1F3F-E151468284FF}"/>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a:fillRect/>
          </a:stretch>
        </p:blipFill>
        <p:spPr>
          <a:xfrm>
            <a:off x="0" y="0"/>
            <a:ext cx="5270500" cy="6858000"/>
          </a:xfrm>
          <a:prstGeom prst="rect">
            <a:avLst/>
          </a:prstGeom>
        </p:spPr>
      </p:pic>
      <p:sp>
        <p:nvSpPr>
          <p:cNvPr id="4" name="Rectangle 3">
            <a:extLst>
              <a:ext uri="{FF2B5EF4-FFF2-40B4-BE49-F238E27FC236}">
                <a16:creationId xmlns:a16="http://schemas.microsoft.com/office/drawing/2014/main" id="{6135AA92-4232-99EC-B02E-003EFC8252EE}"/>
              </a:ext>
            </a:extLst>
          </p:cNvPr>
          <p:cNvSpPr>
            <a:spLocks/>
          </p:cNvSpPr>
          <p:nvPr userDrawn="1"/>
        </p:nvSpPr>
        <p:spPr bwMode="gray">
          <a:xfrm>
            <a:off x="0" y="-1"/>
            <a:ext cx="5270500" cy="6857999"/>
          </a:xfrm>
          <a:prstGeom prst="rect">
            <a:avLst/>
          </a:prstGeom>
          <a:gradFill flip="none" rotWithShape="1">
            <a:gsLst>
              <a:gs pos="0">
                <a:srgbClr val="00B0F0"/>
              </a:gs>
              <a:gs pos="100000">
                <a:srgbClr val="0A4B8C"/>
              </a:gs>
              <a:gs pos="58000">
                <a:srgbClr val="0A4B8C">
                  <a:alpha val="79000"/>
                </a:srgbClr>
              </a:gs>
            </a:gsLst>
            <a:lin ang="108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1500" b="1">
              <a:solidFill>
                <a:schemeClr val="bg1"/>
              </a:solidFill>
            </a:endParaRPr>
          </a:p>
        </p:txBody>
      </p:sp>
      <p:sp>
        <p:nvSpPr>
          <p:cNvPr id="20" name="Content Placeholder 8"/>
          <p:cNvSpPr txBox="1">
            <a:spLocks/>
          </p:cNvSpPr>
          <p:nvPr userDrawn="1"/>
        </p:nvSpPr>
        <p:spPr>
          <a:xfrm>
            <a:off x="557932" y="6367487"/>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0" smtClean="0">
                <a:solidFill>
                  <a:schemeClr val="bg1"/>
                </a:solidFill>
                <a:latin typeface="CVS Health Sans Medium" panose="020B0504020202020204" pitchFamily="34" charset="0"/>
                <a:ea typeface="Open Sans" panose="020B0606030504020204" pitchFamily="34" charset="0"/>
                <a:cs typeface="Arial" panose="020B0604020202020204" pitchFamily="34" charset="0"/>
              </a:rPr>
              <a:pPr algn="l"/>
              <a:t>‹#›</a:t>
            </a:fld>
            <a:endParaRPr lang="en-US" sz="1000" b="0">
              <a:solidFill>
                <a:schemeClr val="bg1"/>
              </a:solidFill>
              <a:latin typeface="CVS Health Sans Medium" panose="020B0504020202020204" pitchFamily="34" charset="0"/>
              <a:ea typeface="Open Sans" panose="020B0606030504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E6118871-4A8C-4517-9A46-8863C34DC7FC}"/>
              </a:ext>
            </a:extLst>
          </p:cNvPr>
          <p:cNvSpPr txBox="1"/>
          <p:nvPr userDrawn="1"/>
        </p:nvSpPr>
        <p:spPr>
          <a:xfrm>
            <a:off x="859758" y="6425586"/>
            <a:ext cx="8048816" cy="123111"/>
          </a:xfrm>
          <a:prstGeom prst="rect">
            <a:avLst/>
          </a:prstGeom>
          <a:noFill/>
        </p:spPr>
        <p:txBody>
          <a:bodyPr wrap="square" lIns="0" tIns="0" rIns="0" bIns="0" rtlCol="0" anchor="b">
            <a:spAutoFit/>
          </a:bodyPr>
          <a:lstStyle/>
          <a:p>
            <a:r>
              <a:rPr lang="en-US" sz="800">
                <a:solidFill>
                  <a:schemeClr val="bg1"/>
                </a:solidFill>
                <a:latin typeface="+mn-lt"/>
              </a:rPr>
              <a:t>©2026 CVS Health and/or one of its affiliates. Confidential and proprietary.</a:t>
            </a:r>
          </a:p>
        </p:txBody>
      </p:sp>
      <p:pic>
        <p:nvPicPr>
          <p:cNvPr id="14" name="Graphic 13" descr="CVS Health logo.">
            <a:extLst>
              <a:ext uri="{FF2B5EF4-FFF2-40B4-BE49-F238E27FC236}">
                <a16:creationId xmlns:a16="http://schemas.microsoft.com/office/drawing/2014/main" id="{E4ED132B-CD59-47A6-9E0F-74A5ED67C019}"/>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53707" y="6373368"/>
            <a:ext cx="1274145" cy="155448"/>
          </a:xfrm>
          <a:prstGeom prst="rect">
            <a:avLst/>
          </a:prstGeom>
        </p:spPr>
      </p:pic>
      <p:sp>
        <p:nvSpPr>
          <p:cNvPr id="3" name="Title 1">
            <a:extLst>
              <a:ext uri="{FF2B5EF4-FFF2-40B4-BE49-F238E27FC236}">
                <a16:creationId xmlns:a16="http://schemas.microsoft.com/office/drawing/2014/main" id="{7CD1F70B-0561-EF7E-4389-953EEC3C930A}"/>
              </a:ext>
            </a:extLst>
          </p:cNvPr>
          <p:cNvSpPr>
            <a:spLocks noGrp="1"/>
          </p:cNvSpPr>
          <p:nvPr>
            <p:ph type="title" hasCustomPrompt="1"/>
          </p:nvPr>
        </p:nvSpPr>
        <p:spPr>
          <a:xfrm>
            <a:off x="557931" y="584200"/>
            <a:ext cx="2375771" cy="713232"/>
          </a:xfrm>
        </p:spPr>
        <p:txBody>
          <a:bodyPr/>
          <a:lstStyle>
            <a:lvl1pPr>
              <a:defRPr sz="4797">
                <a:solidFill>
                  <a:schemeClr val="bg1"/>
                </a:solidFill>
              </a:defRPr>
            </a:lvl1pPr>
          </a:lstStyle>
          <a:p>
            <a:r>
              <a:rPr lang="en-US"/>
              <a:t>Agenda</a:t>
            </a:r>
          </a:p>
        </p:txBody>
      </p:sp>
      <p:pic>
        <p:nvPicPr>
          <p:cNvPr id="5" name="Graphic 4" descr="CVS Health logo.">
            <a:extLst>
              <a:ext uri="{FF2B5EF4-FFF2-40B4-BE49-F238E27FC236}">
                <a16:creationId xmlns:a16="http://schemas.microsoft.com/office/drawing/2014/main" id="{E19E38E8-8CE2-3594-0F60-E17D5DDCA817}"/>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383402" y="6393249"/>
            <a:ext cx="1274145" cy="155448"/>
          </a:xfrm>
          <a:prstGeom prst="rect">
            <a:avLst/>
          </a:prstGeom>
        </p:spPr>
      </p:pic>
      <p:sp>
        <p:nvSpPr>
          <p:cNvPr id="7" name="TextBox 6">
            <a:extLst>
              <a:ext uri="{FF2B5EF4-FFF2-40B4-BE49-F238E27FC236}">
                <a16:creationId xmlns:a16="http://schemas.microsoft.com/office/drawing/2014/main" id="{0867E97B-A074-0D03-4108-FD83C41FA99B}"/>
              </a:ext>
            </a:extLst>
          </p:cNvPr>
          <p:cNvSpPr txBox="1"/>
          <p:nvPr userDrawn="1"/>
        </p:nvSpPr>
        <p:spPr>
          <a:xfrm>
            <a:off x="4107180" y="6501384"/>
            <a:ext cx="3977640" cy="323165"/>
          </a:xfrm>
          <a:prstGeom prst="rect">
            <a:avLst/>
          </a:prstGeom>
          <a:noFill/>
        </p:spPr>
        <p:txBody>
          <a:bodyPr wrap="square" rtlCol="0">
            <a:spAutoFit/>
          </a:bodyPr>
          <a:lstStyle/>
          <a:p>
            <a:pPr algn="l"/>
            <a:r>
              <a:rPr lang="en-US" sz="1500" b="1">
                <a:solidFill>
                  <a:schemeClr val="accent2"/>
                </a:solidFill>
              </a:rPr>
              <a:t>Draft Document - For Discussion Purposes Only</a:t>
            </a:r>
          </a:p>
        </p:txBody>
      </p:sp>
    </p:spTree>
    <p:extLst>
      <p:ext uri="{BB962C8B-B14F-4D97-AF65-F5344CB8AC3E}">
        <p14:creationId xmlns:p14="http://schemas.microsoft.com/office/powerpoint/2010/main" val="3794280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Agenda">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4C064E0-3E43-2E86-9DC1-26A2B86D01B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a:fillRect/>
          </a:stretch>
        </p:blipFill>
        <p:spPr>
          <a:xfrm>
            <a:off x="0" y="0"/>
            <a:ext cx="12192000" cy="1473200"/>
          </a:xfrm>
          <a:prstGeom prst="rect">
            <a:avLst/>
          </a:prstGeom>
        </p:spPr>
      </p:pic>
      <p:sp>
        <p:nvSpPr>
          <p:cNvPr id="6" name="Rectangle 5">
            <a:extLst>
              <a:ext uri="{FF2B5EF4-FFF2-40B4-BE49-F238E27FC236}">
                <a16:creationId xmlns:a16="http://schemas.microsoft.com/office/drawing/2014/main" id="{75343733-C58B-D9A2-C6B7-4E1F4F053BEA}"/>
              </a:ext>
            </a:extLst>
          </p:cNvPr>
          <p:cNvSpPr>
            <a:spLocks/>
          </p:cNvSpPr>
          <p:nvPr userDrawn="1"/>
        </p:nvSpPr>
        <p:spPr bwMode="gray">
          <a:xfrm>
            <a:off x="0" y="1"/>
            <a:ext cx="12192000" cy="1473199"/>
          </a:xfrm>
          <a:prstGeom prst="rect">
            <a:avLst/>
          </a:prstGeom>
          <a:gradFill flip="none" rotWithShape="1">
            <a:gsLst>
              <a:gs pos="0">
                <a:srgbClr val="00B0F0">
                  <a:alpha val="83000"/>
                </a:srgbClr>
              </a:gs>
              <a:gs pos="100000">
                <a:srgbClr val="0A4B8C"/>
              </a:gs>
              <a:gs pos="58000">
                <a:srgbClr val="0A4B8C">
                  <a:alpha val="61000"/>
                </a:srgbClr>
              </a:gs>
            </a:gsLst>
            <a:lin ang="108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sp>
        <p:nvSpPr>
          <p:cNvPr id="20" name="Content Placeholder 8"/>
          <p:cNvSpPr txBox="1">
            <a:spLocks/>
          </p:cNvSpPr>
          <p:nvPr userDrawn="1"/>
        </p:nvSpPr>
        <p:spPr>
          <a:xfrm>
            <a:off x="557932" y="6367487"/>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0" smtClean="0">
                <a:solidFill>
                  <a:schemeClr val="tx2"/>
                </a:solidFill>
                <a:latin typeface="+mn-lt"/>
                <a:ea typeface="Open Sans" panose="020B0606030504020204" pitchFamily="34" charset="0"/>
                <a:cs typeface="Arial" panose="020B0604020202020204" pitchFamily="34" charset="0"/>
              </a:rPr>
              <a:pPr algn="l"/>
              <a:t>‹#›</a:t>
            </a:fld>
            <a:endParaRPr lang="en-US" sz="1000" b="0">
              <a:solidFill>
                <a:schemeClr val="tx2"/>
              </a:solidFill>
              <a:latin typeface="+mn-lt"/>
              <a:ea typeface="Open Sans" panose="020B0606030504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E6118871-4A8C-4517-9A46-8863C34DC7FC}"/>
              </a:ext>
            </a:extLst>
          </p:cNvPr>
          <p:cNvSpPr txBox="1"/>
          <p:nvPr userDrawn="1"/>
        </p:nvSpPr>
        <p:spPr>
          <a:xfrm>
            <a:off x="859758" y="6425586"/>
            <a:ext cx="8048816" cy="123111"/>
          </a:xfrm>
          <a:prstGeom prst="rect">
            <a:avLst/>
          </a:prstGeom>
          <a:noFill/>
        </p:spPr>
        <p:txBody>
          <a:bodyPr wrap="square" lIns="0" tIns="0" rIns="0" bIns="0" rtlCol="0" anchor="b">
            <a:spAutoFit/>
          </a:bodyPr>
          <a:lstStyle/>
          <a:p>
            <a:r>
              <a:rPr lang="en-US" sz="800">
                <a:solidFill>
                  <a:schemeClr val="tx2"/>
                </a:solidFill>
                <a:latin typeface="+mn-lt"/>
              </a:rPr>
              <a:t>©2026 CVS Health and/or one of its affiliates. Confidential and proprietary.</a:t>
            </a:r>
          </a:p>
        </p:txBody>
      </p:sp>
      <p:pic>
        <p:nvPicPr>
          <p:cNvPr id="14" name="Graphic 13" descr="CVS Health logo.">
            <a:extLst>
              <a:ext uri="{FF2B5EF4-FFF2-40B4-BE49-F238E27FC236}">
                <a16:creationId xmlns:a16="http://schemas.microsoft.com/office/drawing/2014/main" id="{E4ED132B-CD59-47A6-9E0F-74A5ED67C019}"/>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53707" y="6373368"/>
            <a:ext cx="1274145" cy="155448"/>
          </a:xfrm>
          <a:prstGeom prst="rect">
            <a:avLst/>
          </a:prstGeom>
        </p:spPr>
      </p:pic>
      <p:pic>
        <p:nvPicPr>
          <p:cNvPr id="5" name="Graphic 4" descr="CVS Health logo.">
            <a:extLst>
              <a:ext uri="{FF2B5EF4-FFF2-40B4-BE49-F238E27FC236}">
                <a16:creationId xmlns:a16="http://schemas.microsoft.com/office/drawing/2014/main" id="{E19E38E8-8CE2-3594-0F60-E17D5DDCA817}"/>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383402" y="6393249"/>
            <a:ext cx="1274145" cy="155448"/>
          </a:xfrm>
          <a:prstGeom prst="rect">
            <a:avLst/>
          </a:prstGeom>
        </p:spPr>
      </p:pic>
      <p:sp>
        <p:nvSpPr>
          <p:cNvPr id="10" name="Text Placeholder 9">
            <a:extLst>
              <a:ext uri="{FF2B5EF4-FFF2-40B4-BE49-F238E27FC236}">
                <a16:creationId xmlns:a16="http://schemas.microsoft.com/office/drawing/2014/main" id="{0E717C28-0316-CCEA-82AD-7F3DFF8FD0A8}"/>
              </a:ext>
            </a:extLst>
          </p:cNvPr>
          <p:cNvSpPr>
            <a:spLocks noGrp="1"/>
          </p:cNvSpPr>
          <p:nvPr>
            <p:ph type="body" sz="quarter" idx="10"/>
          </p:nvPr>
        </p:nvSpPr>
        <p:spPr>
          <a:xfrm>
            <a:off x="531813" y="571500"/>
            <a:ext cx="11125200" cy="685800"/>
          </a:xfrm>
        </p:spPr>
        <p:txBody>
          <a:bodyPr/>
          <a:lstStyle>
            <a:lvl1pPr>
              <a:spcBef>
                <a:spcPts val="0"/>
              </a:spcBef>
              <a:defRPr lang="en-US" sz="2200" b="1" kern="1200" dirty="0">
                <a:solidFill>
                  <a:schemeClr val="bg1"/>
                </a:solidFill>
                <a:latin typeface="+mj-lt"/>
                <a:ea typeface="+mj-ea"/>
                <a:cs typeface="+mj-cs"/>
              </a:defRPr>
            </a:lvl1pPr>
          </a:lstStyle>
          <a:p>
            <a:pPr lvl="0"/>
            <a:r>
              <a:rPr lang="en-US"/>
              <a:t>Click to edit Master text styles</a:t>
            </a:r>
          </a:p>
        </p:txBody>
      </p:sp>
      <p:sp>
        <p:nvSpPr>
          <p:cNvPr id="3" name="TextBox 2">
            <a:extLst>
              <a:ext uri="{FF2B5EF4-FFF2-40B4-BE49-F238E27FC236}">
                <a16:creationId xmlns:a16="http://schemas.microsoft.com/office/drawing/2014/main" id="{E8731638-E774-C0FB-4E04-D658DAC09588}"/>
              </a:ext>
            </a:extLst>
          </p:cNvPr>
          <p:cNvSpPr txBox="1"/>
          <p:nvPr userDrawn="1"/>
        </p:nvSpPr>
        <p:spPr>
          <a:xfrm>
            <a:off x="4107180" y="6501384"/>
            <a:ext cx="3977640" cy="323165"/>
          </a:xfrm>
          <a:prstGeom prst="rect">
            <a:avLst/>
          </a:prstGeom>
          <a:noFill/>
        </p:spPr>
        <p:txBody>
          <a:bodyPr wrap="square" rtlCol="0">
            <a:spAutoFit/>
          </a:bodyPr>
          <a:lstStyle/>
          <a:p>
            <a:pPr algn="l"/>
            <a:r>
              <a:rPr lang="en-US" sz="1500" b="1">
                <a:solidFill>
                  <a:schemeClr val="accent2"/>
                </a:solidFill>
              </a:rPr>
              <a:t>Draft Document - For Discussion Purposes Only</a:t>
            </a:r>
          </a:p>
        </p:txBody>
      </p:sp>
    </p:spTree>
    <p:extLst>
      <p:ext uri="{BB962C8B-B14F-4D97-AF65-F5344CB8AC3E}">
        <p14:creationId xmlns:p14="http://schemas.microsoft.com/office/powerpoint/2010/main" val="1140499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_Agenda">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4C064E0-3E43-2E86-9DC1-26A2B86D01B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a:fillRect/>
          </a:stretch>
        </p:blipFill>
        <p:spPr>
          <a:xfrm>
            <a:off x="0" y="0"/>
            <a:ext cx="12192000" cy="2670890"/>
          </a:xfrm>
          <a:prstGeom prst="rect">
            <a:avLst/>
          </a:prstGeom>
        </p:spPr>
      </p:pic>
      <p:sp>
        <p:nvSpPr>
          <p:cNvPr id="6" name="Rectangle 5">
            <a:extLst>
              <a:ext uri="{FF2B5EF4-FFF2-40B4-BE49-F238E27FC236}">
                <a16:creationId xmlns:a16="http://schemas.microsoft.com/office/drawing/2014/main" id="{75343733-C58B-D9A2-C6B7-4E1F4F053BEA}"/>
              </a:ext>
            </a:extLst>
          </p:cNvPr>
          <p:cNvSpPr>
            <a:spLocks/>
          </p:cNvSpPr>
          <p:nvPr userDrawn="1"/>
        </p:nvSpPr>
        <p:spPr bwMode="gray">
          <a:xfrm>
            <a:off x="0" y="1"/>
            <a:ext cx="12192000" cy="2670888"/>
          </a:xfrm>
          <a:prstGeom prst="rect">
            <a:avLst/>
          </a:prstGeom>
          <a:gradFill flip="none" rotWithShape="1">
            <a:gsLst>
              <a:gs pos="0">
                <a:srgbClr val="00B0F0">
                  <a:alpha val="1000"/>
                </a:srgbClr>
              </a:gs>
              <a:gs pos="100000">
                <a:srgbClr val="0A4B8C"/>
              </a:gs>
              <a:gs pos="58000">
                <a:srgbClr val="0A4B8C">
                  <a:alpha val="61000"/>
                </a:srgbClr>
              </a:gs>
            </a:gsLst>
            <a:lin ang="108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sp>
        <p:nvSpPr>
          <p:cNvPr id="20" name="Content Placeholder 8"/>
          <p:cNvSpPr txBox="1">
            <a:spLocks/>
          </p:cNvSpPr>
          <p:nvPr userDrawn="1"/>
        </p:nvSpPr>
        <p:spPr>
          <a:xfrm>
            <a:off x="557932" y="6367487"/>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0" smtClean="0">
                <a:solidFill>
                  <a:schemeClr val="tx2"/>
                </a:solidFill>
                <a:latin typeface="CVS Health Sans Medium" panose="020B0504020202020204" pitchFamily="34" charset="0"/>
                <a:ea typeface="Open Sans" panose="020B0606030504020204" pitchFamily="34" charset="0"/>
                <a:cs typeface="Arial" panose="020B0604020202020204" pitchFamily="34" charset="0"/>
              </a:rPr>
              <a:pPr algn="l"/>
              <a:t>‹#›</a:t>
            </a:fld>
            <a:endParaRPr lang="en-US" sz="1000" b="0">
              <a:solidFill>
                <a:schemeClr val="tx2"/>
              </a:solidFill>
              <a:latin typeface="CVS Health Sans Medium" panose="020B0504020202020204" pitchFamily="34" charset="0"/>
              <a:ea typeface="Open Sans" panose="020B0606030504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E6118871-4A8C-4517-9A46-8863C34DC7FC}"/>
              </a:ext>
            </a:extLst>
          </p:cNvPr>
          <p:cNvSpPr txBox="1"/>
          <p:nvPr userDrawn="1"/>
        </p:nvSpPr>
        <p:spPr>
          <a:xfrm>
            <a:off x="859758" y="6425586"/>
            <a:ext cx="8048816" cy="123111"/>
          </a:xfrm>
          <a:prstGeom prst="rect">
            <a:avLst/>
          </a:prstGeom>
          <a:noFill/>
        </p:spPr>
        <p:txBody>
          <a:bodyPr wrap="square" lIns="0" tIns="0" rIns="0" bIns="0" rtlCol="0" anchor="b">
            <a:spAutoFit/>
          </a:bodyPr>
          <a:lstStyle/>
          <a:p>
            <a:r>
              <a:rPr lang="en-US" sz="800">
                <a:solidFill>
                  <a:schemeClr val="tx2"/>
                </a:solidFill>
                <a:latin typeface="+mn-lt"/>
              </a:rPr>
              <a:t>©2026 CVS Health and/or one of its affiliates. Confidential and proprietary.</a:t>
            </a:r>
          </a:p>
        </p:txBody>
      </p:sp>
      <p:pic>
        <p:nvPicPr>
          <p:cNvPr id="14" name="Graphic 13" descr="CVS Health logo.">
            <a:extLst>
              <a:ext uri="{FF2B5EF4-FFF2-40B4-BE49-F238E27FC236}">
                <a16:creationId xmlns:a16="http://schemas.microsoft.com/office/drawing/2014/main" id="{E4ED132B-CD59-47A6-9E0F-74A5ED67C019}"/>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53707" y="6373368"/>
            <a:ext cx="1274145" cy="155448"/>
          </a:xfrm>
          <a:prstGeom prst="rect">
            <a:avLst/>
          </a:prstGeom>
        </p:spPr>
      </p:pic>
      <p:pic>
        <p:nvPicPr>
          <p:cNvPr id="5" name="Graphic 4" descr="CVS Health logo.">
            <a:extLst>
              <a:ext uri="{FF2B5EF4-FFF2-40B4-BE49-F238E27FC236}">
                <a16:creationId xmlns:a16="http://schemas.microsoft.com/office/drawing/2014/main" id="{E19E38E8-8CE2-3594-0F60-E17D5DDCA817}"/>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383402" y="6393249"/>
            <a:ext cx="1274145" cy="155448"/>
          </a:xfrm>
          <a:prstGeom prst="rect">
            <a:avLst/>
          </a:prstGeom>
        </p:spPr>
      </p:pic>
      <p:sp>
        <p:nvSpPr>
          <p:cNvPr id="3" name="TextBox 2">
            <a:extLst>
              <a:ext uri="{FF2B5EF4-FFF2-40B4-BE49-F238E27FC236}">
                <a16:creationId xmlns:a16="http://schemas.microsoft.com/office/drawing/2014/main" id="{C941753D-406C-3BCB-14DB-4565EA754521}"/>
              </a:ext>
            </a:extLst>
          </p:cNvPr>
          <p:cNvSpPr txBox="1"/>
          <p:nvPr userDrawn="1"/>
        </p:nvSpPr>
        <p:spPr>
          <a:xfrm>
            <a:off x="4107180" y="6501384"/>
            <a:ext cx="3977640" cy="323165"/>
          </a:xfrm>
          <a:prstGeom prst="rect">
            <a:avLst/>
          </a:prstGeom>
          <a:noFill/>
        </p:spPr>
        <p:txBody>
          <a:bodyPr wrap="square" rtlCol="0">
            <a:spAutoFit/>
          </a:bodyPr>
          <a:lstStyle/>
          <a:p>
            <a:pPr algn="l"/>
            <a:r>
              <a:rPr lang="en-US" sz="1500" b="1">
                <a:solidFill>
                  <a:schemeClr val="accent2"/>
                </a:solidFill>
              </a:rPr>
              <a:t>Draft Document - For Discussion Purposes Only</a:t>
            </a:r>
          </a:p>
        </p:txBody>
      </p:sp>
    </p:spTree>
    <p:extLst>
      <p:ext uri="{BB962C8B-B14F-4D97-AF65-F5344CB8AC3E}">
        <p14:creationId xmlns:p14="http://schemas.microsoft.com/office/powerpoint/2010/main" val="4058411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Content without Header">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CECE1894-1D65-F7FC-3906-E3CE863A6F09}"/>
              </a:ext>
            </a:extLst>
          </p:cNvPr>
          <p:cNvCxnSpPr>
            <a:cxnSpLocks/>
            <a:endCxn id="40" idx="3"/>
          </p:cNvCxnSpPr>
          <p:nvPr userDrawn="1"/>
        </p:nvCxnSpPr>
        <p:spPr>
          <a:xfrm flipH="1">
            <a:off x="4217158" y="6472596"/>
            <a:ext cx="7082434" cy="0"/>
          </a:xfrm>
          <a:prstGeom prst="line">
            <a:avLst/>
          </a:prstGeom>
          <a:solidFill>
            <a:schemeClr val="bg1"/>
          </a:solidFill>
          <a:ln w="229" cap="flat">
            <a:solidFill>
              <a:schemeClr val="bg2"/>
            </a:solidFill>
            <a:prstDash val="solid"/>
            <a:miter/>
          </a:ln>
        </p:spPr>
      </p:cxnSp>
      <p:sp>
        <p:nvSpPr>
          <p:cNvPr id="2" name="Graphic 14">
            <a:extLst>
              <a:ext uri="{FF2B5EF4-FFF2-40B4-BE49-F238E27FC236}">
                <a16:creationId xmlns:a16="http://schemas.microsoft.com/office/drawing/2014/main" id="{9FCC35A8-B0EA-F08C-4213-D6DE42E8B749}"/>
              </a:ext>
            </a:extLst>
          </p:cNvPr>
          <p:cNvSpPr/>
          <p:nvPr userDrawn="1"/>
        </p:nvSpPr>
        <p:spPr>
          <a:xfrm>
            <a:off x="11234841" y="6332325"/>
            <a:ext cx="283884" cy="228602"/>
          </a:xfrm>
          <a:custGeom>
            <a:avLst/>
            <a:gdLst>
              <a:gd name="csX0" fmla="*/ 663690 w 687213"/>
              <a:gd name="csY0" fmla="*/ 136856 h 570182"/>
              <a:gd name="csX1" fmla="*/ 550341 w 687213"/>
              <a:gd name="csY1" fmla="*/ 23557 h 570182"/>
              <a:gd name="csX2" fmla="*/ 433152 w 687213"/>
              <a:gd name="csY2" fmla="*/ 27358 h 570182"/>
              <a:gd name="csX3" fmla="*/ 433152 w 687213"/>
              <a:gd name="csY3" fmla="*/ 27358 h 570182"/>
              <a:gd name="csX4" fmla="*/ 343633 w 687213"/>
              <a:gd name="csY4" fmla="*/ 116834 h 570182"/>
              <a:gd name="csX5" fmla="*/ 250298 w 687213"/>
              <a:gd name="csY5" fmla="*/ 23539 h 570182"/>
              <a:gd name="csX6" fmla="*/ 245886 w 687213"/>
              <a:gd name="csY6" fmla="*/ 19432 h 570182"/>
              <a:gd name="csX7" fmla="*/ 230321 w 687213"/>
              <a:gd name="csY7" fmla="*/ 8895 h 570182"/>
              <a:gd name="csX8" fmla="*/ 152789 w 687213"/>
              <a:gd name="csY8" fmla="*/ 11084 h 570182"/>
              <a:gd name="csX9" fmla="*/ 117090 w 687213"/>
              <a:gd name="csY9" fmla="*/ 43238 h 570182"/>
              <a:gd name="csX10" fmla="*/ 117090 w 687213"/>
              <a:gd name="csY10" fmla="*/ 43238 h 570182"/>
              <a:gd name="csX11" fmla="*/ 91982 w 687213"/>
              <a:gd name="csY11" fmla="*/ 68335 h 570182"/>
              <a:gd name="csX12" fmla="*/ 31101 w 687213"/>
              <a:gd name="csY12" fmla="*/ 129175 h 570182"/>
              <a:gd name="csX13" fmla="*/ 1970 w 687213"/>
              <a:gd name="csY13" fmla="*/ 175746 h 570182"/>
              <a:gd name="csX14" fmla="*/ 13715 w 687213"/>
              <a:gd name="csY14" fmla="*/ 238345 h 570182"/>
              <a:gd name="csX15" fmla="*/ 43780 w 687213"/>
              <a:gd name="csY15" fmla="*/ 270460 h 570182"/>
              <a:gd name="csX16" fmla="*/ 43780 w 687213"/>
              <a:gd name="csY16" fmla="*/ 270460 h 570182"/>
              <a:gd name="csX17" fmla="*/ 179574 w 687213"/>
              <a:gd name="csY17" fmla="*/ 406194 h 570182"/>
              <a:gd name="csX18" fmla="*/ 343636 w 687213"/>
              <a:gd name="csY18" fmla="*/ 570182 h 570182"/>
              <a:gd name="csX19" fmla="*/ 430733 w 687213"/>
              <a:gd name="csY19" fmla="*/ 483126 h 570182"/>
              <a:gd name="csX20" fmla="*/ 507603 w 687213"/>
              <a:gd name="csY20" fmla="*/ 406297 h 570182"/>
              <a:gd name="csX21" fmla="*/ 507603 w 687213"/>
              <a:gd name="csY21" fmla="*/ 406297 h 570182"/>
              <a:gd name="csX22" fmla="*/ 580249 w 687213"/>
              <a:gd name="csY22" fmla="*/ 333685 h 570182"/>
              <a:gd name="csX23" fmla="*/ 615606 w 687213"/>
              <a:gd name="csY23" fmla="*/ 298347 h 570182"/>
              <a:gd name="csX24" fmla="*/ 615606 w 687213"/>
              <a:gd name="csY24" fmla="*/ 298347 h 570182"/>
              <a:gd name="csX25" fmla="*/ 663759 w 687213"/>
              <a:gd name="csY25" fmla="*/ 250219 h 570182"/>
              <a:gd name="csX26" fmla="*/ 663690 w 687213"/>
              <a:gd name="csY26" fmla="*/ 136861 h 5701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687213" h="570182">
                <a:moveTo>
                  <a:pt x="663690" y="136856"/>
                </a:moveTo>
                <a:cubicBezTo>
                  <a:pt x="654507" y="127753"/>
                  <a:pt x="562141" y="35296"/>
                  <a:pt x="550341" y="23557"/>
                </a:cubicBezTo>
                <a:cubicBezTo>
                  <a:pt x="517607" y="-9533"/>
                  <a:pt x="463912" y="-7173"/>
                  <a:pt x="433152" y="27358"/>
                </a:cubicBezTo>
                <a:cubicBezTo>
                  <a:pt x="433152" y="27358"/>
                  <a:pt x="433152" y="27358"/>
                  <a:pt x="433152" y="27358"/>
                </a:cubicBezTo>
                <a:cubicBezTo>
                  <a:pt x="411391" y="49110"/>
                  <a:pt x="365104" y="95375"/>
                  <a:pt x="343633" y="116834"/>
                </a:cubicBezTo>
                <a:cubicBezTo>
                  <a:pt x="343629" y="116825"/>
                  <a:pt x="250303" y="23548"/>
                  <a:pt x="250298" y="23539"/>
                </a:cubicBezTo>
                <a:cubicBezTo>
                  <a:pt x="248875" y="22117"/>
                  <a:pt x="247407" y="20743"/>
                  <a:pt x="245886" y="19432"/>
                </a:cubicBezTo>
                <a:cubicBezTo>
                  <a:pt x="241137" y="15320"/>
                  <a:pt x="235899" y="11780"/>
                  <a:pt x="230321" y="8895"/>
                </a:cubicBezTo>
                <a:cubicBezTo>
                  <a:pt x="206245" y="-3697"/>
                  <a:pt x="176088" y="-2877"/>
                  <a:pt x="152789" y="11084"/>
                </a:cubicBezTo>
                <a:cubicBezTo>
                  <a:pt x="141255" y="17140"/>
                  <a:pt x="126544" y="34323"/>
                  <a:pt x="117090" y="43238"/>
                </a:cubicBezTo>
                <a:cubicBezTo>
                  <a:pt x="117090" y="43238"/>
                  <a:pt x="117090" y="43238"/>
                  <a:pt x="117090" y="43238"/>
                </a:cubicBezTo>
                <a:cubicBezTo>
                  <a:pt x="113860" y="46466"/>
                  <a:pt x="94660" y="65659"/>
                  <a:pt x="91982" y="68335"/>
                </a:cubicBezTo>
                <a:cubicBezTo>
                  <a:pt x="91982" y="68335"/>
                  <a:pt x="31101" y="129175"/>
                  <a:pt x="31101" y="129175"/>
                </a:cubicBezTo>
                <a:cubicBezTo>
                  <a:pt x="17219" y="141648"/>
                  <a:pt x="5443" y="157958"/>
                  <a:pt x="1970" y="175746"/>
                </a:cubicBezTo>
                <a:cubicBezTo>
                  <a:pt x="-2907" y="197075"/>
                  <a:pt x="1368" y="220242"/>
                  <a:pt x="13715" y="238345"/>
                </a:cubicBezTo>
                <a:cubicBezTo>
                  <a:pt x="21354" y="249626"/>
                  <a:pt x="34409" y="260558"/>
                  <a:pt x="43780" y="270460"/>
                </a:cubicBezTo>
                <a:lnTo>
                  <a:pt x="43780" y="270460"/>
                </a:lnTo>
                <a:cubicBezTo>
                  <a:pt x="73436" y="300103"/>
                  <a:pt x="149028" y="375661"/>
                  <a:pt x="179574" y="406194"/>
                </a:cubicBezTo>
                <a:cubicBezTo>
                  <a:pt x="225783" y="452380"/>
                  <a:pt x="297393" y="523959"/>
                  <a:pt x="343636" y="570182"/>
                </a:cubicBezTo>
                <a:cubicBezTo>
                  <a:pt x="363274" y="550557"/>
                  <a:pt x="410561" y="503290"/>
                  <a:pt x="430733" y="483126"/>
                </a:cubicBezTo>
                <a:cubicBezTo>
                  <a:pt x="445575" y="468292"/>
                  <a:pt x="493602" y="420290"/>
                  <a:pt x="507603" y="406297"/>
                </a:cubicBezTo>
                <a:cubicBezTo>
                  <a:pt x="507603" y="406297"/>
                  <a:pt x="507603" y="406297"/>
                  <a:pt x="507603" y="406297"/>
                </a:cubicBezTo>
                <a:cubicBezTo>
                  <a:pt x="527942" y="385971"/>
                  <a:pt x="559985" y="353950"/>
                  <a:pt x="580249" y="333685"/>
                </a:cubicBezTo>
                <a:cubicBezTo>
                  <a:pt x="581687" y="332247"/>
                  <a:pt x="615166" y="298786"/>
                  <a:pt x="615606" y="298347"/>
                </a:cubicBezTo>
                <a:cubicBezTo>
                  <a:pt x="615606" y="298347"/>
                  <a:pt x="615606" y="298347"/>
                  <a:pt x="615606" y="298347"/>
                </a:cubicBezTo>
                <a:cubicBezTo>
                  <a:pt x="624322" y="289697"/>
                  <a:pt x="654525" y="259402"/>
                  <a:pt x="663759" y="250219"/>
                </a:cubicBezTo>
                <a:cubicBezTo>
                  <a:pt x="695089" y="218914"/>
                  <a:pt x="694998" y="168154"/>
                  <a:pt x="663690" y="136861"/>
                </a:cubicBezTo>
                <a:close/>
              </a:path>
            </a:pathLst>
          </a:custGeom>
          <a:solidFill>
            <a:schemeClr val="bg1"/>
          </a:solidFill>
          <a:ln w="229" cap="flat">
            <a:solidFill>
              <a:schemeClr val="bg2"/>
            </a:solidFill>
            <a:prstDash val="solid"/>
            <a:miter/>
          </a:ln>
        </p:spPr>
        <p:txBody>
          <a:bodyPr/>
          <a:lstStyle/>
          <a:p>
            <a:endParaRPr lang="en-US" sz="1500"/>
          </a:p>
        </p:txBody>
      </p:sp>
      <p:sp>
        <p:nvSpPr>
          <p:cNvPr id="38" name="Title 1">
            <a:extLst>
              <a:ext uri="{FF2B5EF4-FFF2-40B4-BE49-F238E27FC236}">
                <a16:creationId xmlns:a16="http://schemas.microsoft.com/office/drawing/2014/main" id="{0C7CB2C1-D45A-553D-7C4D-8C6E6C18A8AB}"/>
              </a:ext>
            </a:extLst>
          </p:cNvPr>
          <p:cNvSpPr>
            <a:spLocks noGrp="1"/>
          </p:cNvSpPr>
          <p:nvPr>
            <p:ph type="title" hasCustomPrompt="1"/>
          </p:nvPr>
        </p:nvSpPr>
        <p:spPr>
          <a:xfrm>
            <a:off x="587376" y="594870"/>
            <a:ext cx="10396058" cy="633431"/>
          </a:xfrm>
        </p:spPr>
        <p:txBody>
          <a:bodyPr/>
          <a:lstStyle>
            <a:lvl1pPr>
              <a:defRPr sz="2799">
                <a:solidFill>
                  <a:srgbClr val="0B315E"/>
                </a:solidFill>
              </a:defRPr>
            </a:lvl1pPr>
          </a:lstStyle>
          <a:p>
            <a:r>
              <a:rPr lang="en-US"/>
              <a:t>Title</a:t>
            </a:r>
          </a:p>
        </p:txBody>
      </p:sp>
      <p:sp>
        <p:nvSpPr>
          <p:cNvPr id="39" name="Content Placeholder 2">
            <a:extLst>
              <a:ext uri="{FF2B5EF4-FFF2-40B4-BE49-F238E27FC236}">
                <a16:creationId xmlns:a16="http://schemas.microsoft.com/office/drawing/2014/main" id="{6B860B51-E631-5FCC-145D-3A2392DEE379}"/>
              </a:ext>
            </a:extLst>
          </p:cNvPr>
          <p:cNvSpPr>
            <a:spLocks noGrp="1"/>
          </p:cNvSpPr>
          <p:nvPr>
            <p:ph idx="1" hasCustomPrompt="1"/>
          </p:nvPr>
        </p:nvSpPr>
        <p:spPr bwMode="gray">
          <a:xfrm>
            <a:off x="587376" y="1494292"/>
            <a:ext cx="10396058" cy="4576307"/>
          </a:xfrm>
        </p:spPr>
        <p:txBody>
          <a:bodyPr/>
          <a:lstStyle>
            <a:lvl1pPr>
              <a:lnSpc>
                <a:spcPct val="100000"/>
              </a:lnSpc>
              <a:buClr>
                <a:schemeClr val="tx1"/>
              </a:buClr>
              <a:defRPr sz="1797" b="1" cap="none" baseline="0">
                <a:solidFill>
                  <a:schemeClr val="tx2"/>
                </a:solidFill>
                <a:latin typeface="+mn-lt"/>
              </a:defRPr>
            </a:lvl1pPr>
            <a:lvl2pPr marL="0" indent="0">
              <a:buClr>
                <a:schemeClr val="tx1"/>
              </a:buClr>
              <a:buNone/>
              <a:defRPr sz="1300" baseline="0">
                <a:solidFill>
                  <a:schemeClr val="tx2"/>
                </a:solidFill>
              </a:defRPr>
            </a:lvl2pPr>
            <a:lvl3pPr marL="171297" indent="-171297">
              <a:spcBef>
                <a:spcPts val="1200"/>
              </a:spcBef>
              <a:buClr>
                <a:schemeClr val="tx1"/>
              </a:buClr>
              <a:buFont typeface="Arial" panose="020B0604020202020204" pitchFamily="34" charset="0"/>
              <a:buChar char="•"/>
              <a:defRPr sz="1300" baseline="0">
                <a:solidFill>
                  <a:schemeClr val="tx2"/>
                </a:solidFill>
              </a:defRPr>
            </a:lvl3pPr>
            <a:lvl4pPr marL="342591" indent="-171297">
              <a:buClr>
                <a:schemeClr val="tx1"/>
              </a:buClr>
              <a:buFont typeface="Arial" panose="020B0604020202020204" pitchFamily="34" charset="0"/>
              <a:buChar char="–"/>
              <a:defRPr sz="1300" baseline="0">
                <a:solidFill>
                  <a:schemeClr val="tx2"/>
                </a:solidFill>
              </a:defRPr>
            </a:lvl4pPr>
            <a:lvl5pPr marL="515473" indent="-172882">
              <a:buClr>
                <a:schemeClr val="tx1"/>
              </a:buClr>
              <a:buFont typeface="Arial" panose="020B0604020202020204" pitchFamily="34" charset="0"/>
              <a:buChar char="•"/>
              <a:defRPr sz="1300">
                <a:solidFill>
                  <a:schemeClr val="tx2"/>
                </a:solidFill>
              </a:defRPr>
            </a:lvl5pPr>
            <a:lvl6pPr marL="686770" indent="-171297">
              <a:buClr>
                <a:schemeClr val="tx1"/>
              </a:buClr>
              <a:buFont typeface="Arial" panose="020B0604020202020204" pitchFamily="34" charset="0"/>
              <a:buChar char="–"/>
              <a:defRPr sz="1300" baseline="0">
                <a:solidFill>
                  <a:schemeClr val="tx2"/>
                </a:solidFill>
              </a:defRPr>
            </a:lvl6pPr>
            <a:lvl7pPr marL="859651" indent="-172882">
              <a:buFont typeface="Arial" panose="020B0604020202020204" pitchFamily="34" charset="0"/>
              <a:buChar char="•"/>
              <a:defRPr sz="1300"/>
            </a:lvl7pPr>
            <a:lvl8pPr marL="1030947" indent="-171297">
              <a:buFont typeface="Arial" panose="020B0604020202020204" pitchFamily="34" charset="0"/>
              <a:buChar char="–"/>
              <a:defRPr sz="1300"/>
            </a:lvl8pPr>
            <a:lvl9pPr marL="1202242" indent="-171297">
              <a:buFont typeface="Arial" panose="020B0604020202020204" pitchFamily="34" charset="0"/>
              <a:buChar char="•"/>
              <a:defRPr sz="1300" baseline="0"/>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40" name="TextBox 39">
            <a:extLst>
              <a:ext uri="{FF2B5EF4-FFF2-40B4-BE49-F238E27FC236}">
                <a16:creationId xmlns:a16="http://schemas.microsoft.com/office/drawing/2014/main" id="{20CAAC85-FE49-0686-4CD3-F9B4FBD6CDFE}"/>
              </a:ext>
            </a:extLst>
          </p:cNvPr>
          <p:cNvSpPr txBox="1"/>
          <p:nvPr userDrawn="1"/>
        </p:nvSpPr>
        <p:spPr>
          <a:xfrm>
            <a:off x="587375" y="6411041"/>
            <a:ext cx="3629783" cy="123111"/>
          </a:xfrm>
          <a:prstGeom prst="rect">
            <a:avLst/>
          </a:prstGeom>
          <a:noFill/>
        </p:spPr>
        <p:txBody>
          <a:bodyPr wrap="square" lIns="0" tIns="0" rIns="0" bIns="0" rtlCol="0" anchor="b">
            <a:spAutoFit/>
          </a:bodyPr>
          <a:lstStyle/>
          <a:p>
            <a:r>
              <a:rPr lang="en-US" sz="800">
                <a:solidFill>
                  <a:srgbClr val="646464"/>
                </a:solidFill>
                <a:latin typeface="+mn-lt"/>
              </a:rPr>
              <a:t>©2026 CVS Health and/or one of its affiliates. Confidential and proprietary.</a:t>
            </a:r>
          </a:p>
        </p:txBody>
      </p:sp>
      <p:grpSp>
        <p:nvGrpSpPr>
          <p:cNvPr id="43" name="Group 42">
            <a:extLst>
              <a:ext uri="{FF2B5EF4-FFF2-40B4-BE49-F238E27FC236}">
                <a16:creationId xmlns:a16="http://schemas.microsoft.com/office/drawing/2014/main" id="{99BB8A31-1E30-EEAC-DFB0-109EFF4EA290}"/>
              </a:ext>
            </a:extLst>
          </p:cNvPr>
          <p:cNvGrpSpPr/>
          <p:nvPr userDrawn="1"/>
        </p:nvGrpSpPr>
        <p:grpSpPr>
          <a:xfrm>
            <a:off x="219828" y="2"/>
            <a:ext cx="167558" cy="1228299"/>
            <a:chOff x="536850" y="5638963"/>
            <a:chExt cx="167558" cy="1228299"/>
          </a:xfrm>
        </p:grpSpPr>
        <p:pic>
          <p:nvPicPr>
            <p:cNvPr id="44" name="Graphic 43">
              <a:extLst>
                <a:ext uri="{FF2B5EF4-FFF2-40B4-BE49-F238E27FC236}">
                  <a16:creationId xmlns:a16="http://schemas.microsoft.com/office/drawing/2014/main" id="{6E9E99BC-9F14-9883-064F-B53361C1BD9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6850" y="6728262"/>
              <a:ext cx="167558" cy="139000"/>
            </a:xfrm>
            <a:prstGeom prst="rect">
              <a:avLst/>
            </a:prstGeom>
          </p:spPr>
        </p:pic>
        <p:cxnSp>
          <p:nvCxnSpPr>
            <p:cNvPr id="45" name="Straight Connector 44">
              <a:extLst>
                <a:ext uri="{FF2B5EF4-FFF2-40B4-BE49-F238E27FC236}">
                  <a16:creationId xmlns:a16="http://schemas.microsoft.com/office/drawing/2014/main" id="{58DF05CE-98E7-C963-C785-DDC8A0269B21}"/>
                </a:ext>
              </a:extLst>
            </p:cNvPr>
            <p:cNvCxnSpPr>
              <a:cxnSpLocks/>
              <a:endCxn id="44" idx="0"/>
            </p:cNvCxnSpPr>
            <p:nvPr/>
          </p:nvCxnSpPr>
          <p:spPr>
            <a:xfrm>
              <a:off x="620629" y="5638963"/>
              <a:ext cx="0" cy="1089299"/>
            </a:xfrm>
            <a:prstGeom prst="line">
              <a:avLst/>
            </a:prstGeom>
            <a:ln w="12700" cmpd="sng">
              <a:solidFill>
                <a:srgbClr val="CC0000"/>
              </a:solidFill>
            </a:ln>
          </p:spPr>
          <p:style>
            <a:lnRef idx="1">
              <a:schemeClr val="accent1"/>
            </a:lnRef>
            <a:fillRef idx="0">
              <a:schemeClr val="accent1"/>
            </a:fillRef>
            <a:effectRef idx="0">
              <a:schemeClr val="accent1"/>
            </a:effectRef>
            <a:fontRef idx="minor">
              <a:schemeClr val="tx1"/>
            </a:fontRef>
          </p:style>
        </p:cxnSp>
      </p:grpSp>
      <p:sp>
        <p:nvSpPr>
          <p:cNvPr id="3" name="Content Placeholder 8">
            <a:extLst>
              <a:ext uri="{FF2B5EF4-FFF2-40B4-BE49-F238E27FC236}">
                <a16:creationId xmlns:a16="http://schemas.microsoft.com/office/drawing/2014/main" id="{5F505027-3A99-DEEE-B85F-71A3E0A39572}"/>
              </a:ext>
            </a:extLst>
          </p:cNvPr>
          <p:cNvSpPr txBox="1">
            <a:spLocks/>
          </p:cNvSpPr>
          <p:nvPr userDrawn="1"/>
        </p:nvSpPr>
        <p:spPr>
          <a:xfrm>
            <a:off x="11200555" y="6332324"/>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fld id="{38743595-4496-5147-A886-7D133864DF76}" type="slidenum">
              <a:rPr lang="en-US" sz="800" b="0" smtClean="0">
                <a:solidFill>
                  <a:srgbClr val="646464"/>
                </a:solidFill>
                <a:latin typeface="CVS Health Sans Medium" panose="020B0504020202020204" pitchFamily="34" charset="0"/>
                <a:ea typeface="Open Sans" panose="020B0606030504020204" pitchFamily="34" charset="0"/>
                <a:cs typeface="Arial" panose="020B0604020202020204" pitchFamily="34" charset="0"/>
              </a:rPr>
              <a:pPr algn="ctr"/>
              <a:t>‹#›</a:t>
            </a:fld>
            <a:endParaRPr lang="en-US" sz="1000" b="0">
              <a:solidFill>
                <a:srgbClr val="646464"/>
              </a:solidFill>
              <a:latin typeface="CVS Health Sans Medium" panose="020B0504020202020204" pitchFamily="34" charset="0"/>
              <a:ea typeface="Open Sans" panose="020B0606030504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D8431D0F-2E17-1439-350F-4724C8BA4E8F}"/>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a:fillRect/>
          </a:stretch>
        </p:blipFill>
        <p:spPr>
          <a:xfrm>
            <a:off x="0" y="0"/>
            <a:ext cx="12192000" cy="1473200"/>
          </a:xfrm>
          <a:prstGeom prst="rect">
            <a:avLst/>
          </a:prstGeom>
        </p:spPr>
      </p:pic>
      <p:sp>
        <p:nvSpPr>
          <p:cNvPr id="8" name="Rectangle 7">
            <a:extLst>
              <a:ext uri="{FF2B5EF4-FFF2-40B4-BE49-F238E27FC236}">
                <a16:creationId xmlns:a16="http://schemas.microsoft.com/office/drawing/2014/main" id="{569A9860-D17F-1250-4A68-648408367AB9}"/>
              </a:ext>
            </a:extLst>
          </p:cNvPr>
          <p:cNvSpPr>
            <a:spLocks/>
          </p:cNvSpPr>
          <p:nvPr userDrawn="1"/>
        </p:nvSpPr>
        <p:spPr bwMode="gray">
          <a:xfrm>
            <a:off x="0" y="1"/>
            <a:ext cx="12192000" cy="1473199"/>
          </a:xfrm>
          <a:prstGeom prst="rect">
            <a:avLst/>
          </a:prstGeom>
          <a:gradFill flip="none" rotWithShape="1">
            <a:gsLst>
              <a:gs pos="0">
                <a:srgbClr val="00B0F0">
                  <a:alpha val="83000"/>
                </a:srgbClr>
              </a:gs>
              <a:gs pos="100000">
                <a:srgbClr val="0A4B8C"/>
              </a:gs>
              <a:gs pos="58000">
                <a:srgbClr val="0A4B8C">
                  <a:alpha val="61000"/>
                </a:srgbClr>
              </a:gs>
            </a:gsLst>
            <a:lin ang="108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sp>
        <p:nvSpPr>
          <p:cNvPr id="7" name="TextBox 6">
            <a:extLst>
              <a:ext uri="{FF2B5EF4-FFF2-40B4-BE49-F238E27FC236}">
                <a16:creationId xmlns:a16="http://schemas.microsoft.com/office/drawing/2014/main" id="{1F9FC096-04F2-0401-8246-9722B79957FB}"/>
              </a:ext>
            </a:extLst>
          </p:cNvPr>
          <p:cNvSpPr txBox="1"/>
          <p:nvPr userDrawn="1"/>
        </p:nvSpPr>
        <p:spPr>
          <a:xfrm>
            <a:off x="4107180" y="6501384"/>
            <a:ext cx="3977640" cy="323165"/>
          </a:xfrm>
          <a:prstGeom prst="rect">
            <a:avLst/>
          </a:prstGeom>
          <a:noFill/>
        </p:spPr>
        <p:txBody>
          <a:bodyPr wrap="square" rtlCol="0">
            <a:spAutoFit/>
          </a:bodyPr>
          <a:lstStyle/>
          <a:p>
            <a:pPr algn="l"/>
            <a:r>
              <a:rPr lang="en-US" sz="1500" b="1">
                <a:solidFill>
                  <a:schemeClr val="accent2"/>
                </a:solidFill>
              </a:rPr>
              <a:t>Draft Document - For Discussion Purposes Only</a:t>
            </a:r>
          </a:p>
        </p:txBody>
      </p:sp>
    </p:spTree>
    <p:extLst>
      <p:ext uri="{BB962C8B-B14F-4D97-AF65-F5344CB8AC3E}">
        <p14:creationId xmlns:p14="http://schemas.microsoft.com/office/powerpoint/2010/main" val="560695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and Content without Header">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4F8D3137-93BC-F30F-CD06-6320E48A1D83}"/>
              </a:ext>
            </a:extLst>
          </p:cNvPr>
          <p:cNvGraphicFramePr>
            <a:graphicFrameLocks/>
          </p:cNvGraphicFramePr>
          <p:nvPr userDrawn="1">
            <p:custDataLst>
              <p:tags r:id="rId1"/>
            </p:custDataLst>
            <p:extLst>
              <p:ext uri="{D42A27DB-BD31-4B8C-83A1-F6EECF244321}">
                <p14:modId xmlns:p14="http://schemas.microsoft.com/office/powerpoint/2010/main" val="17444421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17" name="thinkcell data - do not delete" hidden="1">
                        <a:extLst>
                          <a:ext uri="{FF2B5EF4-FFF2-40B4-BE49-F238E27FC236}">
                            <a16:creationId xmlns:a16="http://schemas.microsoft.com/office/drawing/2014/main" id="{4F8D3137-93BC-F30F-CD06-6320E48A1D8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Picture 11">
            <a:extLst>
              <a:ext uri="{FF2B5EF4-FFF2-40B4-BE49-F238E27FC236}">
                <a16:creationId xmlns:a16="http://schemas.microsoft.com/office/drawing/2014/main" id="{E74AA67E-0D06-BA19-490B-5CBCCAF6B490}"/>
              </a:ext>
            </a:extLst>
          </p:cNvPr>
          <p:cNvPicPr preferRelativeResize="0">
            <a:picLocks/>
          </p:cNvPicPr>
          <p:nvPr userDrawn="1"/>
        </p:nvPicPr>
        <p:blipFill rotWithShape="1">
          <a:blip r:embed="rId5" cstate="print">
            <a:extLst>
              <a:ext uri="{28A0092B-C50C-407E-A947-70E740481C1C}">
                <a14:useLocalDpi xmlns:a14="http://schemas.microsoft.com/office/drawing/2010/main" val="0"/>
              </a:ext>
            </a:extLst>
          </a:blip>
          <a:srcRect/>
          <a:stretch>
            <a:fillRect/>
          </a:stretch>
        </p:blipFill>
        <p:spPr>
          <a:xfrm>
            <a:off x="0" y="0"/>
            <a:ext cx="12192000" cy="1335024"/>
          </a:xfrm>
          <a:prstGeom prst="rect">
            <a:avLst/>
          </a:prstGeom>
        </p:spPr>
      </p:pic>
      <p:sp>
        <p:nvSpPr>
          <p:cNvPr id="14" name="Rectangle 13">
            <a:extLst>
              <a:ext uri="{FF2B5EF4-FFF2-40B4-BE49-F238E27FC236}">
                <a16:creationId xmlns:a16="http://schemas.microsoft.com/office/drawing/2014/main" id="{A0047F93-FA9B-8FC1-6250-7CE5A58E6FF8}"/>
              </a:ext>
            </a:extLst>
          </p:cNvPr>
          <p:cNvSpPr>
            <a:spLocks/>
          </p:cNvSpPr>
          <p:nvPr userDrawn="1"/>
        </p:nvSpPr>
        <p:spPr bwMode="gray">
          <a:xfrm>
            <a:off x="0" y="1"/>
            <a:ext cx="12192000" cy="1335024"/>
          </a:xfrm>
          <a:prstGeom prst="rect">
            <a:avLst/>
          </a:prstGeom>
          <a:gradFill flip="none" rotWithShape="1">
            <a:gsLst>
              <a:gs pos="0">
                <a:srgbClr val="00B0F0">
                  <a:alpha val="83000"/>
                </a:srgbClr>
              </a:gs>
              <a:gs pos="100000">
                <a:srgbClr val="0A4B8C"/>
              </a:gs>
              <a:gs pos="58000">
                <a:srgbClr val="0A4B8C">
                  <a:alpha val="61000"/>
                </a:srgbClr>
              </a:gs>
            </a:gsLst>
            <a:lin ang="108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sp>
        <p:nvSpPr>
          <p:cNvPr id="21" name="Graphic 14">
            <a:extLst>
              <a:ext uri="{FF2B5EF4-FFF2-40B4-BE49-F238E27FC236}">
                <a16:creationId xmlns:a16="http://schemas.microsoft.com/office/drawing/2014/main" id="{7232F01C-EBE8-A726-2707-766CCEC38916}"/>
              </a:ext>
            </a:extLst>
          </p:cNvPr>
          <p:cNvSpPr/>
          <p:nvPr userDrawn="1"/>
        </p:nvSpPr>
        <p:spPr>
          <a:xfrm>
            <a:off x="11137828" y="6248365"/>
            <a:ext cx="477910" cy="396523"/>
          </a:xfrm>
          <a:custGeom>
            <a:avLst/>
            <a:gdLst>
              <a:gd name="csX0" fmla="*/ 663690 w 687213"/>
              <a:gd name="csY0" fmla="*/ 136856 h 570182"/>
              <a:gd name="csX1" fmla="*/ 550341 w 687213"/>
              <a:gd name="csY1" fmla="*/ 23557 h 570182"/>
              <a:gd name="csX2" fmla="*/ 433152 w 687213"/>
              <a:gd name="csY2" fmla="*/ 27358 h 570182"/>
              <a:gd name="csX3" fmla="*/ 433152 w 687213"/>
              <a:gd name="csY3" fmla="*/ 27358 h 570182"/>
              <a:gd name="csX4" fmla="*/ 343633 w 687213"/>
              <a:gd name="csY4" fmla="*/ 116834 h 570182"/>
              <a:gd name="csX5" fmla="*/ 250298 w 687213"/>
              <a:gd name="csY5" fmla="*/ 23539 h 570182"/>
              <a:gd name="csX6" fmla="*/ 245886 w 687213"/>
              <a:gd name="csY6" fmla="*/ 19432 h 570182"/>
              <a:gd name="csX7" fmla="*/ 230321 w 687213"/>
              <a:gd name="csY7" fmla="*/ 8895 h 570182"/>
              <a:gd name="csX8" fmla="*/ 152789 w 687213"/>
              <a:gd name="csY8" fmla="*/ 11084 h 570182"/>
              <a:gd name="csX9" fmla="*/ 117090 w 687213"/>
              <a:gd name="csY9" fmla="*/ 43238 h 570182"/>
              <a:gd name="csX10" fmla="*/ 117090 w 687213"/>
              <a:gd name="csY10" fmla="*/ 43238 h 570182"/>
              <a:gd name="csX11" fmla="*/ 91982 w 687213"/>
              <a:gd name="csY11" fmla="*/ 68335 h 570182"/>
              <a:gd name="csX12" fmla="*/ 31101 w 687213"/>
              <a:gd name="csY12" fmla="*/ 129175 h 570182"/>
              <a:gd name="csX13" fmla="*/ 1970 w 687213"/>
              <a:gd name="csY13" fmla="*/ 175746 h 570182"/>
              <a:gd name="csX14" fmla="*/ 13715 w 687213"/>
              <a:gd name="csY14" fmla="*/ 238345 h 570182"/>
              <a:gd name="csX15" fmla="*/ 43780 w 687213"/>
              <a:gd name="csY15" fmla="*/ 270460 h 570182"/>
              <a:gd name="csX16" fmla="*/ 43780 w 687213"/>
              <a:gd name="csY16" fmla="*/ 270460 h 570182"/>
              <a:gd name="csX17" fmla="*/ 179574 w 687213"/>
              <a:gd name="csY17" fmla="*/ 406194 h 570182"/>
              <a:gd name="csX18" fmla="*/ 343636 w 687213"/>
              <a:gd name="csY18" fmla="*/ 570182 h 570182"/>
              <a:gd name="csX19" fmla="*/ 430733 w 687213"/>
              <a:gd name="csY19" fmla="*/ 483126 h 570182"/>
              <a:gd name="csX20" fmla="*/ 507603 w 687213"/>
              <a:gd name="csY20" fmla="*/ 406297 h 570182"/>
              <a:gd name="csX21" fmla="*/ 507603 w 687213"/>
              <a:gd name="csY21" fmla="*/ 406297 h 570182"/>
              <a:gd name="csX22" fmla="*/ 580249 w 687213"/>
              <a:gd name="csY22" fmla="*/ 333685 h 570182"/>
              <a:gd name="csX23" fmla="*/ 615606 w 687213"/>
              <a:gd name="csY23" fmla="*/ 298347 h 570182"/>
              <a:gd name="csX24" fmla="*/ 615606 w 687213"/>
              <a:gd name="csY24" fmla="*/ 298347 h 570182"/>
              <a:gd name="csX25" fmla="*/ 663759 w 687213"/>
              <a:gd name="csY25" fmla="*/ 250219 h 570182"/>
              <a:gd name="csX26" fmla="*/ 663690 w 687213"/>
              <a:gd name="csY26" fmla="*/ 136861 h 5701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687213" h="570182">
                <a:moveTo>
                  <a:pt x="663690" y="136856"/>
                </a:moveTo>
                <a:cubicBezTo>
                  <a:pt x="654507" y="127753"/>
                  <a:pt x="562141" y="35296"/>
                  <a:pt x="550341" y="23557"/>
                </a:cubicBezTo>
                <a:cubicBezTo>
                  <a:pt x="517607" y="-9533"/>
                  <a:pt x="463912" y="-7173"/>
                  <a:pt x="433152" y="27358"/>
                </a:cubicBezTo>
                <a:cubicBezTo>
                  <a:pt x="433152" y="27358"/>
                  <a:pt x="433152" y="27358"/>
                  <a:pt x="433152" y="27358"/>
                </a:cubicBezTo>
                <a:cubicBezTo>
                  <a:pt x="411391" y="49110"/>
                  <a:pt x="365104" y="95375"/>
                  <a:pt x="343633" y="116834"/>
                </a:cubicBezTo>
                <a:cubicBezTo>
                  <a:pt x="343629" y="116825"/>
                  <a:pt x="250303" y="23548"/>
                  <a:pt x="250298" y="23539"/>
                </a:cubicBezTo>
                <a:cubicBezTo>
                  <a:pt x="248875" y="22117"/>
                  <a:pt x="247407" y="20743"/>
                  <a:pt x="245886" y="19432"/>
                </a:cubicBezTo>
                <a:cubicBezTo>
                  <a:pt x="241137" y="15320"/>
                  <a:pt x="235899" y="11780"/>
                  <a:pt x="230321" y="8895"/>
                </a:cubicBezTo>
                <a:cubicBezTo>
                  <a:pt x="206245" y="-3697"/>
                  <a:pt x="176088" y="-2877"/>
                  <a:pt x="152789" y="11084"/>
                </a:cubicBezTo>
                <a:cubicBezTo>
                  <a:pt x="141255" y="17140"/>
                  <a:pt x="126544" y="34323"/>
                  <a:pt x="117090" y="43238"/>
                </a:cubicBezTo>
                <a:cubicBezTo>
                  <a:pt x="117090" y="43238"/>
                  <a:pt x="117090" y="43238"/>
                  <a:pt x="117090" y="43238"/>
                </a:cubicBezTo>
                <a:cubicBezTo>
                  <a:pt x="113860" y="46466"/>
                  <a:pt x="94660" y="65659"/>
                  <a:pt x="91982" y="68335"/>
                </a:cubicBezTo>
                <a:cubicBezTo>
                  <a:pt x="91982" y="68335"/>
                  <a:pt x="31101" y="129175"/>
                  <a:pt x="31101" y="129175"/>
                </a:cubicBezTo>
                <a:cubicBezTo>
                  <a:pt x="17219" y="141648"/>
                  <a:pt x="5443" y="157958"/>
                  <a:pt x="1970" y="175746"/>
                </a:cubicBezTo>
                <a:cubicBezTo>
                  <a:pt x="-2907" y="197075"/>
                  <a:pt x="1368" y="220242"/>
                  <a:pt x="13715" y="238345"/>
                </a:cubicBezTo>
                <a:cubicBezTo>
                  <a:pt x="21354" y="249626"/>
                  <a:pt x="34409" y="260558"/>
                  <a:pt x="43780" y="270460"/>
                </a:cubicBezTo>
                <a:lnTo>
                  <a:pt x="43780" y="270460"/>
                </a:lnTo>
                <a:cubicBezTo>
                  <a:pt x="73436" y="300103"/>
                  <a:pt x="149028" y="375661"/>
                  <a:pt x="179574" y="406194"/>
                </a:cubicBezTo>
                <a:cubicBezTo>
                  <a:pt x="225783" y="452380"/>
                  <a:pt x="297393" y="523959"/>
                  <a:pt x="343636" y="570182"/>
                </a:cubicBezTo>
                <a:cubicBezTo>
                  <a:pt x="363274" y="550557"/>
                  <a:pt x="410561" y="503290"/>
                  <a:pt x="430733" y="483126"/>
                </a:cubicBezTo>
                <a:cubicBezTo>
                  <a:pt x="445575" y="468292"/>
                  <a:pt x="493602" y="420290"/>
                  <a:pt x="507603" y="406297"/>
                </a:cubicBezTo>
                <a:cubicBezTo>
                  <a:pt x="507603" y="406297"/>
                  <a:pt x="507603" y="406297"/>
                  <a:pt x="507603" y="406297"/>
                </a:cubicBezTo>
                <a:cubicBezTo>
                  <a:pt x="527942" y="385971"/>
                  <a:pt x="559985" y="353950"/>
                  <a:pt x="580249" y="333685"/>
                </a:cubicBezTo>
                <a:cubicBezTo>
                  <a:pt x="581687" y="332247"/>
                  <a:pt x="615166" y="298786"/>
                  <a:pt x="615606" y="298347"/>
                </a:cubicBezTo>
                <a:cubicBezTo>
                  <a:pt x="615606" y="298347"/>
                  <a:pt x="615606" y="298347"/>
                  <a:pt x="615606" y="298347"/>
                </a:cubicBezTo>
                <a:cubicBezTo>
                  <a:pt x="624322" y="289697"/>
                  <a:pt x="654525" y="259402"/>
                  <a:pt x="663759" y="250219"/>
                </a:cubicBezTo>
                <a:cubicBezTo>
                  <a:pt x="695089" y="218914"/>
                  <a:pt x="694998" y="168154"/>
                  <a:pt x="663690" y="136861"/>
                </a:cubicBezTo>
                <a:close/>
              </a:path>
            </a:pathLst>
          </a:custGeom>
          <a:solidFill>
            <a:schemeClr val="bg1"/>
          </a:solidFill>
          <a:ln w="229" cap="flat">
            <a:solidFill>
              <a:srgbClr val="646464"/>
            </a:solidFill>
            <a:prstDash val="solid"/>
            <a:miter/>
          </a:ln>
        </p:spPr>
        <p:txBody>
          <a:bodyPr/>
          <a:lstStyle/>
          <a:p>
            <a:endParaRPr lang="en-US" sz="1500"/>
          </a:p>
        </p:txBody>
      </p:sp>
      <p:sp>
        <p:nvSpPr>
          <p:cNvPr id="7" name="Content Placeholder 2">
            <a:extLst>
              <a:ext uri="{FF2B5EF4-FFF2-40B4-BE49-F238E27FC236}">
                <a16:creationId xmlns:a16="http://schemas.microsoft.com/office/drawing/2014/main" id="{6B860B51-E631-5FCC-145D-3A2392DEE379}"/>
              </a:ext>
            </a:extLst>
          </p:cNvPr>
          <p:cNvSpPr>
            <a:spLocks noGrp="1"/>
          </p:cNvSpPr>
          <p:nvPr>
            <p:ph idx="1" hasCustomPrompt="1"/>
          </p:nvPr>
        </p:nvSpPr>
        <p:spPr bwMode="gray">
          <a:xfrm>
            <a:off x="587375" y="1494292"/>
            <a:ext cx="11028363" cy="4576307"/>
          </a:xfrm>
        </p:spPr>
        <p:txBody>
          <a:bodyPr/>
          <a:lstStyle>
            <a:lvl1pPr>
              <a:lnSpc>
                <a:spcPct val="100000"/>
              </a:lnSpc>
              <a:buClr>
                <a:schemeClr val="tx1"/>
              </a:buClr>
              <a:defRPr sz="1797" b="1" cap="none" baseline="0">
                <a:solidFill>
                  <a:schemeClr val="tx2"/>
                </a:solidFill>
                <a:latin typeface="+mn-lt"/>
              </a:defRPr>
            </a:lvl1pPr>
            <a:lvl2pPr marL="0" indent="0">
              <a:buClr>
                <a:schemeClr val="tx1"/>
              </a:buClr>
              <a:buNone/>
              <a:defRPr sz="1300" baseline="0">
                <a:solidFill>
                  <a:schemeClr val="tx2"/>
                </a:solidFill>
              </a:defRPr>
            </a:lvl2pPr>
            <a:lvl3pPr marL="171297" indent="-171297">
              <a:spcBef>
                <a:spcPts val="1200"/>
              </a:spcBef>
              <a:buClr>
                <a:schemeClr val="tx1"/>
              </a:buClr>
              <a:buFont typeface="Arial" panose="020B0604020202020204" pitchFamily="34" charset="0"/>
              <a:buChar char="•"/>
              <a:defRPr sz="1300" baseline="0">
                <a:solidFill>
                  <a:schemeClr val="tx2"/>
                </a:solidFill>
              </a:defRPr>
            </a:lvl3pPr>
            <a:lvl4pPr marL="342591" indent="-171297">
              <a:buClr>
                <a:schemeClr val="tx1"/>
              </a:buClr>
              <a:buFont typeface="Arial" panose="020B0604020202020204" pitchFamily="34" charset="0"/>
              <a:buChar char="–"/>
              <a:defRPr sz="1300" baseline="0">
                <a:solidFill>
                  <a:schemeClr val="tx2"/>
                </a:solidFill>
              </a:defRPr>
            </a:lvl4pPr>
            <a:lvl5pPr marL="515473" indent="-172882">
              <a:buClr>
                <a:schemeClr val="tx1"/>
              </a:buClr>
              <a:buFont typeface="Arial" panose="020B0604020202020204" pitchFamily="34" charset="0"/>
              <a:buChar char="•"/>
              <a:defRPr sz="1300">
                <a:solidFill>
                  <a:schemeClr val="tx2"/>
                </a:solidFill>
              </a:defRPr>
            </a:lvl5pPr>
            <a:lvl6pPr marL="686770" indent="-171297">
              <a:buClr>
                <a:schemeClr val="tx1"/>
              </a:buClr>
              <a:buFont typeface="Arial" panose="020B0604020202020204" pitchFamily="34" charset="0"/>
              <a:buChar char="–"/>
              <a:defRPr sz="1300" baseline="0">
                <a:solidFill>
                  <a:schemeClr val="tx2"/>
                </a:solidFill>
              </a:defRPr>
            </a:lvl6pPr>
            <a:lvl7pPr marL="859651" indent="-172882">
              <a:buFont typeface="Arial" panose="020B0604020202020204" pitchFamily="34" charset="0"/>
              <a:buChar char="•"/>
              <a:defRPr sz="1300"/>
            </a:lvl7pPr>
            <a:lvl8pPr marL="1030947" indent="-171297">
              <a:buFont typeface="Arial" panose="020B0604020202020204" pitchFamily="34" charset="0"/>
              <a:buChar char="–"/>
              <a:defRPr sz="1300"/>
            </a:lvl8pPr>
            <a:lvl9pPr marL="1202242" indent="-171297">
              <a:buFont typeface="Arial" panose="020B0604020202020204" pitchFamily="34" charset="0"/>
              <a:buChar char="•"/>
              <a:defRPr sz="1300" baseline="0"/>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16" name="TextBox 15">
            <a:extLst>
              <a:ext uri="{FF2B5EF4-FFF2-40B4-BE49-F238E27FC236}">
                <a16:creationId xmlns:a16="http://schemas.microsoft.com/office/drawing/2014/main" id="{20CAAC85-FE49-0686-4CD3-F9B4FBD6CDFE}"/>
              </a:ext>
            </a:extLst>
          </p:cNvPr>
          <p:cNvSpPr txBox="1"/>
          <p:nvPr userDrawn="1"/>
        </p:nvSpPr>
        <p:spPr>
          <a:xfrm>
            <a:off x="587375" y="6411041"/>
            <a:ext cx="3629783" cy="123111"/>
          </a:xfrm>
          <a:prstGeom prst="rect">
            <a:avLst/>
          </a:prstGeom>
          <a:noFill/>
        </p:spPr>
        <p:txBody>
          <a:bodyPr wrap="square" lIns="0" tIns="0" rIns="0" bIns="0" rtlCol="0" anchor="b">
            <a:spAutoFit/>
          </a:bodyPr>
          <a:lstStyle/>
          <a:p>
            <a:r>
              <a:rPr lang="en-US" sz="800">
                <a:solidFill>
                  <a:srgbClr val="646464"/>
                </a:solidFill>
                <a:latin typeface="+mn-lt"/>
              </a:rPr>
              <a:t>©2026 CVS Health and/or one of its affiliates. Confidential and proprietary.</a:t>
            </a:r>
          </a:p>
        </p:txBody>
      </p:sp>
      <p:sp>
        <p:nvSpPr>
          <p:cNvPr id="15" name="Content Placeholder 8">
            <a:extLst>
              <a:ext uri="{FF2B5EF4-FFF2-40B4-BE49-F238E27FC236}">
                <a16:creationId xmlns:a16="http://schemas.microsoft.com/office/drawing/2014/main" id="{7B8E535F-0B34-19ED-1ECE-F571D6F1C0A3}"/>
              </a:ext>
            </a:extLst>
          </p:cNvPr>
          <p:cNvSpPr txBox="1">
            <a:spLocks/>
          </p:cNvSpPr>
          <p:nvPr userDrawn="1"/>
        </p:nvSpPr>
        <p:spPr>
          <a:xfrm>
            <a:off x="11200555" y="6332324"/>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fld id="{38743595-4496-5147-A886-7D133864DF76}" type="slidenum">
              <a:rPr lang="en-US" sz="1000" b="0" smtClean="0">
                <a:solidFill>
                  <a:srgbClr val="646464"/>
                </a:solidFill>
                <a:latin typeface="CVS Health Sans Medium" panose="020B0504020202020204" pitchFamily="34" charset="0"/>
                <a:ea typeface="Open Sans" panose="020B0606030504020204" pitchFamily="34" charset="0"/>
                <a:cs typeface="Arial" panose="020B0604020202020204" pitchFamily="34" charset="0"/>
              </a:rPr>
              <a:pPr algn="ctr"/>
              <a:t>‹#›</a:t>
            </a:fld>
            <a:endParaRPr lang="en-US" sz="1000" b="0">
              <a:solidFill>
                <a:srgbClr val="646464"/>
              </a:solidFill>
              <a:latin typeface="CVS Health Sans Medium" panose="020B0504020202020204" pitchFamily="34" charset="0"/>
              <a:ea typeface="Open Sans" panose="020B0606030504020204" pitchFamily="34" charset="0"/>
              <a:cs typeface="Arial" panose="020B0604020202020204" pitchFamily="34" charset="0"/>
            </a:endParaRPr>
          </a:p>
        </p:txBody>
      </p:sp>
      <p:cxnSp>
        <p:nvCxnSpPr>
          <p:cNvPr id="24" name="Straight Connector 23">
            <a:extLst>
              <a:ext uri="{FF2B5EF4-FFF2-40B4-BE49-F238E27FC236}">
                <a16:creationId xmlns:a16="http://schemas.microsoft.com/office/drawing/2014/main" id="{A51E17B0-20B0-8CCF-949F-B0BBB617646F}"/>
              </a:ext>
            </a:extLst>
          </p:cNvPr>
          <p:cNvCxnSpPr>
            <a:cxnSpLocks/>
            <a:stCxn id="15" idx="1"/>
            <a:endCxn id="16" idx="3"/>
          </p:cNvCxnSpPr>
          <p:nvPr userDrawn="1"/>
        </p:nvCxnSpPr>
        <p:spPr>
          <a:xfrm flipH="1">
            <a:off x="4217158" y="6446626"/>
            <a:ext cx="6949440" cy="25971"/>
          </a:xfrm>
          <a:prstGeom prst="line">
            <a:avLst/>
          </a:prstGeom>
          <a:solidFill>
            <a:schemeClr val="bg1"/>
          </a:solidFill>
          <a:ln w="229" cap="flat">
            <a:solidFill>
              <a:srgbClr val="646464"/>
            </a:solidFill>
            <a:prstDash val="solid"/>
            <a:miter/>
          </a:ln>
        </p:spPr>
      </p:cxnSp>
      <p:sp>
        <p:nvSpPr>
          <p:cNvPr id="6" name="Title 1">
            <a:extLst>
              <a:ext uri="{FF2B5EF4-FFF2-40B4-BE49-F238E27FC236}">
                <a16:creationId xmlns:a16="http://schemas.microsoft.com/office/drawing/2014/main" id="{0C7CB2C1-D45A-553D-7C4D-8C6E6C18A8AB}"/>
              </a:ext>
            </a:extLst>
          </p:cNvPr>
          <p:cNvSpPr>
            <a:spLocks noGrp="1"/>
          </p:cNvSpPr>
          <p:nvPr>
            <p:ph type="title" hasCustomPrompt="1"/>
          </p:nvPr>
        </p:nvSpPr>
        <p:spPr>
          <a:xfrm>
            <a:off x="587375" y="594870"/>
            <a:ext cx="10965638" cy="633431"/>
          </a:xfrm>
        </p:spPr>
        <p:txBody>
          <a:bodyPr vert="horz" rIns="0"/>
          <a:lstStyle>
            <a:lvl1pPr>
              <a:defRPr sz="2799">
                <a:solidFill>
                  <a:schemeClr val="bg1"/>
                </a:solidFill>
              </a:defRPr>
            </a:lvl1pPr>
          </a:lstStyle>
          <a:p>
            <a:r>
              <a:rPr lang="en-US"/>
              <a:t>Title</a:t>
            </a:r>
          </a:p>
        </p:txBody>
      </p:sp>
      <p:sp>
        <p:nvSpPr>
          <p:cNvPr id="3" name="TextBox 2">
            <a:extLst>
              <a:ext uri="{FF2B5EF4-FFF2-40B4-BE49-F238E27FC236}">
                <a16:creationId xmlns:a16="http://schemas.microsoft.com/office/drawing/2014/main" id="{75FBF624-F94D-901E-E963-8926EA75D228}"/>
              </a:ext>
            </a:extLst>
          </p:cNvPr>
          <p:cNvSpPr txBox="1"/>
          <p:nvPr userDrawn="1"/>
        </p:nvSpPr>
        <p:spPr>
          <a:xfrm>
            <a:off x="4107180" y="6501384"/>
            <a:ext cx="3977640" cy="323165"/>
          </a:xfrm>
          <a:prstGeom prst="rect">
            <a:avLst/>
          </a:prstGeom>
          <a:noFill/>
        </p:spPr>
        <p:txBody>
          <a:bodyPr wrap="square" rtlCol="0">
            <a:spAutoFit/>
          </a:bodyPr>
          <a:lstStyle/>
          <a:p>
            <a:pPr algn="l"/>
            <a:r>
              <a:rPr lang="en-US" sz="1500" b="1">
                <a:solidFill>
                  <a:schemeClr val="accent2"/>
                </a:solidFill>
              </a:rPr>
              <a:t>Draft Document - For Discussion Purposes Only</a:t>
            </a:r>
          </a:p>
        </p:txBody>
      </p:sp>
    </p:spTree>
    <p:extLst>
      <p:ext uri="{BB962C8B-B14F-4D97-AF65-F5344CB8AC3E}">
        <p14:creationId xmlns:p14="http://schemas.microsoft.com/office/powerpoint/2010/main" val="30974214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without Header">
    <p:spTree>
      <p:nvGrpSpPr>
        <p:cNvPr id="1" name=""/>
        <p:cNvGrpSpPr/>
        <p:nvPr/>
      </p:nvGrpSpPr>
      <p:grpSpPr>
        <a:xfrm>
          <a:off x="0" y="0"/>
          <a:ext cx="0" cy="0"/>
          <a:chOff x="0" y="0"/>
          <a:chExt cx="0" cy="0"/>
        </a:xfrm>
      </p:grpSpPr>
      <p:pic>
        <p:nvPicPr>
          <p:cNvPr id="37" name="Picture 36">
            <a:extLst>
              <a:ext uri="{FF2B5EF4-FFF2-40B4-BE49-F238E27FC236}">
                <a16:creationId xmlns:a16="http://schemas.microsoft.com/office/drawing/2014/main" id="{B74A4B3A-DB72-A065-FF30-24C856492232}"/>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a:fillRect/>
          </a:stretch>
        </p:blipFill>
        <p:spPr>
          <a:xfrm rot="16200000" flipH="1" flipV="1">
            <a:off x="8235913" y="2901915"/>
            <a:ext cx="6858000" cy="1054172"/>
          </a:xfrm>
          <a:prstGeom prst="rect">
            <a:avLst/>
          </a:prstGeom>
        </p:spPr>
      </p:pic>
      <p:sp>
        <p:nvSpPr>
          <p:cNvPr id="38" name="Title 1">
            <a:extLst>
              <a:ext uri="{FF2B5EF4-FFF2-40B4-BE49-F238E27FC236}">
                <a16:creationId xmlns:a16="http://schemas.microsoft.com/office/drawing/2014/main" id="{0C7CB2C1-D45A-553D-7C4D-8C6E6C18A8AB}"/>
              </a:ext>
            </a:extLst>
          </p:cNvPr>
          <p:cNvSpPr>
            <a:spLocks noGrp="1"/>
          </p:cNvSpPr>
          <p:nvPr>
            <p:ph type="title" hasCustomPrompt="1"/>
          </p:nvPr>
        </p:nvSpPr>
        <p:spPr>
          <a:xfrm>
            <a:off x="587376" y="594870"/>
            <a:ext cx="10396058" cy="633431"/>
          </a:xfrm>
        </p:spPr>
        <p:txBody>
          <a:bodyPr/>
          <a:lstStyle>
            <a:lvl1pPr>
              <a:defRPr sz="2799">
                <a:solidFill>
                  <a:srgbClr val="0B315E"/>
                </a:solidFill>
              </a:defRPr>
            </a:lvl1pPr>
          </a:lstStyle>
          <a:p>
            <a:r>
              <a:rPr lang="en-US"/>
              <a:t>Title</a:t>
            </a:r>
          </a:p>
        </p:txBody>
      </p:sp>
      <p:sp>
        <p:nvSpPr>
          <p:cNvPr id="39" name="Content Placeholder 2">
            <a:extLst>
              <a:ext uri="{FF2B5EF4-FFF2-40B4-BE49-F238E27FC236}">
                <a16:creationId xmlns:a16="http://schemas.microsoft.com/office/drawing/2014/main" id="{6B860B51-E631-5FCC-145D-3A2392DEE379}"/>
              </a:ext>
            </a:extLst>
          </p:cNvPr>
          <p:cNvSpPr>
            <a:spLocks noGrp="1"/>
          </p:cNvSpPr>
          <p:nvPr>
            <p:ph idx="1" hasCustomPrompt="1"/>
          </p:nvPr>
        </p:nvSpPr>
        <p:spPr bwMode="gray">
          <a:xfrm>
            <a:off x="587376" y="1494292"/>
            <a:ext cx="10396058" cy="4576307"/>
          </a:xfrm>
        </p:spPr>
        <p:txBody>
          <a:bodyPr/>
          <a:lstStyle>
            <a:lvl1pPr>
              <a:lnSpc>
                <a:spcPct val="100000"/>
              </a:lnSpc>
              <a:buClr>
                <a:schemeClr val="tx1"/>
              </a:buClr>
              <a:defRPr sz="1797" b="1" cap="none" baseline="0">
                <a:solidFill>
                  <a:schemeClr val="tx2"/>
                </a:solidFill>
                <a:latin typeface="+mn-lt"/>
              </a:defRPr>
            </a:lvl1pPr>
            <a:lvl2pPr marL="0" indent="0">
              <a:buClr>
                <a:schemeClr val="tx1"/>
              </a:buClr>
              <a:buNone/>
              <a:defRPr sz="1300" baseline="0">
                <a:solidFill>
                  <a:schemeClr val="tx2"/>
                </a:solidFill>
              </a:defRPr>
            </a:lvl2pPr>
            <a:lvl3pPr marL="171297" indent="-171297">
              <a:spcBef>
                <a:spcPts val="1200"/>
              </a:spcBef>
              <a:buClr>
                <a:schemeClr val="tx1"/>
              </a:buClr>
              <a:buFont typeface="Arial" panose="020B0604020202020204" pitchFamily="34" charset="0"/>
              <a:buChar char="•"/>
              <a:defRPr sz="1300" baseline="0">
                <a:solidFill>
                  <a:schemeClr val="tx2"/>
                </a:solidFill>
              </a:defRPr>
            </a:lvl3pPr>
            <a:lvl4pPr marL="342591" indent="-171297">
              <a:buClr>
                <a:schemeClr val="tx1"/>
              </a:buClr>
              <a:buFont typeface="Arial" panose="020B0604020202020204" pitchFamily="34" charset="0"/>
              <a:buChar char="–"/>
              <a:defRPr sz="1300" baseline="0">
                <a:solidFill>
                  <a:schemeClr val="tx2"/>
                </a:solidFill>
              </a:defRPr>
            </a:lvl4pPr>
            <a:lvl5pPr marL="515473" indent="-172882">
              <a:buClr>
                <a:schemeClr val="tx1"/>
              </a:buClr>
              <a:buFont typeface="Arial" panose="020B0604020202020204" pitchFamily="34" charset="0"/>
              <a:buChar char="•"/>
              <a:defRPr sz="1300">
                <a:solidFill>
                  <a:schemeClr val="tx2"/>
                </a:solidFill>
              </a:defRPr>
            </a:lvl5pPr>
            <a:lvl6pPr marL="686770" indent="-171297">
              <a:buClr>
                <a:schemeClr val="tx1"/>
              </a:buClr>
              <a:buFont typeface="Arial" panose="020B0604020202020204" pitchFamily="34" charset="0"/>
              <a:buChar char="–"/>
              <a:defRPr sz="1300" baseline="0">
                <a:solidFill>
                  <a:schemeClr val="tx2"/>
                </a:solidFill>
              </a:defRPr>
            </a:lvl6pPr>
            <a:lvl7pPr marL="859651" indent="-172882">
              <a:buFont typeface="Arial" panose="020B0604020202020204" pitchFamily="34" charset="0"/>
              <a:buChar char="•"/>
              <a:defRPr sz="1300"/>
            </a:lvl7pPr>
            <a:lvl8pPr marL="1030947" indent="-171297">
              <a:buFont typeface="Arial" panose="020B0604020202020204" pitchFamily="34" charset="0"/>
              <a:buChar char="–"/>
              <a:defRPr sz="1300"/>
            </a:lvl8pPr>
            <a:lvl9pPr marL="1202242" indent="-171297">
              <a:buFont typeface="Arial" panose="020B0604020202020204" pitchFamily="34" charset="0"/>
              <a:buChar char="•"/>
              <a:defRPr sz="1300" baseline="0"/>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41" name="Rectangle 40">
            <a:extLst>
              <a:ext uri="{FF2B5EF4-FFF2-40B4-BE49-F238E27FC236}">
                <a16:creationId xmlns:a16="http://schemas.microsoft.com/office/drawing/2014/main" id="{EBB8EB98-800A-1DAB-D1FD-4B08E37A35D5}"/>
              </a:ext>
            </a:extLst>
          </p:cNvPr>
          <p:cNvSpPr>
            <a:spLocks/>
          </p:cNvSpPr>
          <p:nvPr userDrawn="1"/>
        </p:nvSpPr>
        <p:spPr bwMode="gray">
          <a:xfrm rot="5400000">
            <a:off x="8235912" y="2901916"/>
            <a:ext cx="6858002" cy="1054171"/>
          </a:xfrm>
          <a:prstGeom prst="rect">
            <a:avLst/>
          </a:prstGeom>
          <a:gradFill flip="none" rotWithShape="1">
            <a:gsLst>
              <a:gs pos="0">
                <a:srgbClr val="0A4B8C">
                  <a:alpha val="55000"/>
                </a:srgbClr>
              </a:gs>
              <a:gs pos="100000">
                <a:srgbClr val="0B315E"/>
              </a:gs>
            </a:gsLst>
            <a:lin ang="108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sp>
        <p:nvSpPr>
          <p:cNvPr id="42" name="Content Placeholder 8">
            <a:extLst>
              <a:ext uri="{FF2B5EF4-FFF2-40B4-BE49-F238E27FC236}">
                <a16:creationId xmlns:a16="http://schemas.microsoft.com/office/drawing/2014/main" id="{7B8E535F-0B34-19ED-1ECE-F571D6F1C0A3}"/>
              </a:ext>
            </a:extLst>
          </p:cNvPr>
          <p:cNvSpPr txBox="1">
            <a:spLocks/>
          </p:cNvSpPr>
          <p:nvPr userDrawn="1"/>
        </p:nvSpPr>
        <p:spPr>
          <a:xfrm>
            <a:off x="11220774" y="6330801"/>
            <a:ext cx="325860" cy="211348"/>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fld id="{38743595-4496-5147-A886-7D133864DF76}" type="slidenum">
              <a:rPr lang="en-US" sz="1000" b="0" smtClean="0">
                <a:solidFill>
                  <a:schemeClr val="bg1"/>
                </a:solidFill>
                <a:latin typeface="CVS Health Sans Medium" panose="020B0504020202020204" pitchFamily="34" charset="0"/>
                <a:ea typeface="Open Sans" panose="020B0606030504020204" pitchFamily="34" charset="0"/>
                <a:cs typeface="Arial" panose="020B0604020202020204" pitchFamily="34" charset="0"/>
              </a:rPr>
              <a:pPr algn="ctr"/>
              <a:t>‹#›</a:t>
            </a:fld>
            <a:endParaRPr lang="en-US" sz="1000" b="0">
              <a:solidFill>
                <a:schemeClr val="bg1"/>
              </a:solidFill>
              <a:latin typeface="CVS Health Sans Medium" panose="020B0504020202020204" pitchFamily="34" charset="0"/>
              <a:ea typeface="Open Sans" panose="020B0606030504020204" pitchFamily="34" charset="0"/>
              <a:cs typeface="Arial" panose="020B0604020202020204" pitchFamily="34" charset="0"/>
            </a:endParaRPr>
          </a:p>
        </p:txBody>
      </p:sp>
      <p:grpSp>
        <p:nvGrpSpPr>
          <p:cNvPr id="43" name="Group 42">
            <a:extLst>
              <a:ext uri="{FF2B5EF4-FFF2-40B4-BE49-F238E27FC236}">
                <a16:creationId xmlns:a16="http://schemas.microsoft.com/office/drawing/2014/main" id="{99BB8A31-1E30-EEAC-DFB0-109EFF4EA290}"/>
              </a:ext>
            </a:extLst>
          </p:cNvPr>
          <p:cNvGrpSpPr/>
          <p:nvPr userDrawn="1"/>
        </p:nvGrpSpPr>
        <p:grpSpPr>
          <a:xfrm>
            <a:off x="210302" y="2"/>
            <a:ext cx="167558" cy="1228299"/>
            <a:chOff x="536850" y="5638963"/>
            <a:chExt cx="167558" cy="1228299"/>
          </a:xfrm>
        </p:grpSpPr>
        <p:pic>
          <p:nvPicPr>
            <p:cNvPr id="44" name="Graphic 43">
              <a:extLst>
                <a:ext uri="{FF2B5EF4-FFF2-40B4-BE49-F238E27FC236}">
                  <a16:creationId xmlns:a16="http://schemas.microsoft.com/office/drawing/2014/main" id="{6E9E99BC-9F14-9883-064F-B53361C1BD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6850" y="6728262"/>
              <a:ext cx="167558" cy="139000"/>
            </a:xfrm>
            <a:prstGeom prst="rect">
              <a:avLst/>
            </a:prstGeom>
          </p:spPr>
        </p:pic>
        <p:cxnSp>
          <p:nvCxnSpPr>
            <p:cNvPr id="45" name="Straight Connector 44">
              <a:extLst>
                <a:ext uri="{FF2B5EF4-FFF2-40B4-BE49-F238E27FC236}">
                  <a16:creationId xmlns:a16="http://schemas.microsoft.com/office/drawing/2014/main" id="{58DF05CE-98E7-C963-C785-DDC8A0269B21}"/>
                </a:ext>
              </a:extLst>
            </p:cNvPr>
            <p:cNvCxnSpPr>
              <a:cxnSpLocks/>
              <a:endCxn id="44" idx="0"/>
            </p:cNvCxnSpPr>
            <p:nvPr/>
          </p:nvCxnSpPr>
          <p:spPr>
            <a:xfrm>
              <a:off x="620629" y="5638963"/>
              <a:ext cx="0" cy="1089299"/>
            </a:xfrm>
            <a:prstGeom prst="line">
              <a:avLst/>
            </a:prstGeom>
            <a:ln w="12700" cmpd="sng">
              <a:solidFill>
                <a:srgbClr val="CC0000"/>
              </a:solidFill>
            </a:ln>
          </p:spPr>
          <p:style>
            <a:lnRef idx="1">
              <a:schemeClr val="accent1"/>
            </a:lnRef>
            <a:fillRef idx="0">
              <a:schemeClr val="accent1"/>
            </a:fillRef>
            <a:effectRef idx="0">
              <a:schemeClr val="accent1"/>
            </a:effectRef>
            <a:fontRef idx="minor">
              <a:schemeClr val="tx1"/>
            </a:fontRef>
          </p:style>
        </p:cxnSp>
      </p:grpSp>
      <p:sp>
        <p:nvSpPr>
          <p:cNvPr id="2" name="Graphic 8">
            <a:extLst>
              <a:ext uri="{FF2B5EF4-FFF2-40B4-BE49-F238E27FC236}">
                <a16:creationId xmlns:a16="http://schemas.microsoft.com/office/drawing/2014/main" id="{8293975E-78AB-7C19-2DA9-FDB004C6213B}"/>
              </a:ext>
            </a:extLst>
          </p:cNvPr>
          <p:cNvSpPr/>
          <p:nvPr userDrawn="1"/>
        </p:nvSpPr>
        <p:spPr>
          <a:xfrm>
            <a:off x="9062819" y="6337753"/>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rgbClr val="00338D"/>
          </a:solidFill>
          <a:ln w="1683"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000000"/>
              </a:solidFill>
              <a:effectLst/>
              <a:uLnTx/>
              <a:uFillTx/>
              <a:latin typeface="Arial"/>
            </a:endParaRPr>
          </a:p>
        </p:txBody>
      </p:sp>
      <p:pic>
        <p:nvPicPr>
          <p:cNvPr id="3" name="Graphic 2" descr="CVS Health logo.">
            <a:extLst>
              <a:ext uri="{FF2B5EF4-FFF2-40B4-BE49-F238E27FC236}">
                <a16:creationId xmlns:a16="http://schemas.microsoft.com/office/drawing/2014/main" id="{6AC210E5-5179-4DA4-8D49-F392D904549D}"/>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630597" y="6343666"/>
            <a:ext cx="1498994" cy="182880"/>
          </a:xfrm>
          <a:prstGeom prst="rect">
            <a:avLst/>
          </a:prstGeom>
        </p:spPr>
      </p:pic>
    </p:spTree>
    <p:extLst>
      <p:ext uri="{BB962C8B-B14F-4D97-AF65-F5344CB8AC3E}">
        <p14:creationId xmlns:p14="http://schemas.microsoft.com/office/powerpoint/2010/main" val="40246484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4_Title and Content without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74A4B3A-DB72-A065-FF30-24C856492232}"/>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a:fillRect/>
          </a:stretch>
        </p:blipFill>
        <p:spPr>
          <a:xfrm rot="10800000" flipH="1" flipV="1">
            <a:off x="1" y="2"/>
            <a:ext cx="12192000" cy="1333499"/>
          </a:xfrm>
          <a:prstGeom prst="rect">
            <a:avLst/>
          </a:prstGeom>
        </p:spPr>
      </p:pic>
      <p:sp>
        <p:nvSpPr>
          <p:cNvPr id="9" name="Rectangle 8">
            <a:extLst>
              <a:ext uri="{FF2B5EF4-FFF2-40B4-BE49-F238E27FC236}">
                <a16:creationId xmlns:a16="http://schemas.microsoft.com/office/drawing/2014/main" id="{EBB8EB98-800A-1DAB-D1FD-4B08E37A35D5}"/>
              </a:ext>
            </a:extLst>
          </p:cNvPr>
          <p:cNvSpPr>
            <a:spLocks/>
          </p:cNvSpPr>
          <p:nvPr userDrawn="1"/>
        </p:nvSpPr>
        <p:spPr bwMode="gray">
          <a:xfrm>
            <a:off x="1" y="0"/>
            <a:ext cx="12192000" cy="1333500"/>
          </a:xfrm>
          <a:prstGeom prst="rect">
            <a:avLst/>
          </a:prstGeom>
          <a:gradFill flip="none" rotWithShape="1">
            <a:gsLst>
              <a:gs pos="0">
                <a:srgbClr val="0A4B8C">
                  <a:alpha val="55000"/>
                </a:srgbClr>
              </a:gs>
              <a:gs pos="100000">
                <a:srgbClr val="0B315E"/>
              </a:gs>
            </a:gsLst>
            <a:lin ang="108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sp>
        <p:nvSpPr>
          <p:cNvPr id="21" name="Graphic 14">
            <a:extLst>
              <a:ext uri="{FF2B5EF4-FFF2-40B4-BE49-F238E27FC236}">
                <a16:creationId xmlns:a16="http://schemas.microsoft.com/office/drawing/2014/main" id="{7232F01C-EBE8-A726-2707-766CCEC38916}"/>
              </a:ext>
            </a:extLst>
          </p:cNvPr>
          <p:cNvSpPr/>
          <p:nvPr userDrawn="1"/>
        </p:nvSpPr>
        <p:spPr>
          <a:xfrm>
            <a:off x="11137828" y="6248365"/>
            <a:ext cx="477910" cy="396523"/>
          </a:xfrm>
          <a:custGeom>
            <a:avLst/>
            <a:gdLst>
              <a:gd name="csX0" fmla="*/ 663690 w 687213"/>
              <a:gd name="csY0" fmla="*/ 136856 h 570182"/>
              <a:gd name="csX1" fmla="*/ 550341 w 687213"/>
              <a:gd name="csY1" fmla="*/ 23557 h 570182"/>
              <a:gd name="csX2" fmla="*/ 433152 w 687213"/>
              <a:gd name="csY2" fmla="*/ 27358 h 570182"/>
              <a:gd name="csX3" fmla="*/ 433152 w 687213"/>
              <a:gd name="csY3" fmla="*/ 27358 h 570182"/>
              <a:gd name="csX4" fmla="*/ 343633 w 687213"/>
              <a:gd name="csY4" fmla="*/ 116834 h 570182"/>
              <a:gd name="csX5" fmla="*/ 250298 w 687213"/>
              <a:gd name="csY5" fmla="*/ 23539 h 570182"/>
              <a:gd name="csX6" fmla="*/ 245886 w 687213"/>
              <a:gd name="csY6" fmla="*/ 19432 h 570182"/>
              <a:gd name="csX7" fmla="*/ 230321 w 687213"/>
              <a:gd name="csY7" fmla="*/ 8895 h 570182"/>
              <a:gd name="csX8" fmla="*/ 152789 w 687213"/>
              <a:gd name="csY8" fmla="*/ 11084 h 570182"/>
              <a:gd name="csX9" fmla="*/ 117090 w 687213"/>
              <a:gd name="csY9" fmla="*/ 43238 h 570182"/>
              <a:gd name="csX10" fmla="*/ 117090 w 687213"/>
              <a:gd name="csY10" fmla="*/ 43238 h 570182"/>
              <a:gd name="csX11" fmla="*/ 91982 w 687213"/>
              <a:gd name="csY11" fmla="*/ 68335 h 570182"/>
              <a:gd name="csX12" fmla="*/ 31101 w 687213"/>
              <a:gd name="csY12" fmla="*/ 129175 h 570182"/>
              <a:gd name="csX13" fmla="*/ 1970 w 687213"/>
              <a:gd name="csY13" fmla="*/ 175746 h 570182"/>
              <a:gd name="csX14" fmla="*/ 13715 w 687213"/>
              <a:gd name="csY14" fmla="*/ 238345 h 570182"/>
              <a:gd name="csX15" fmla="*/ 43780 w 687213"/>
              <a:gd name="csY15" fmla="*/ 270460 h 570182"/>
              <a:gd name="csX16" fmla="*/ 43780 w 687213"/>
              <a:gd name="csY16" fmla="*/ 270460 h 570182"/>
              <a:gd name="csX17" fmla="*/ 179574 w 687213"/>
              <a:gd name="csY17" fmla="*/ 406194 h 570182"/>
              <a:gd name="csX18" fmla="*/ 343636 w 687213"/>
              <a:gd name="csY18" fmla="*/ 570182 h 570182"/>
              <a:gd name="csX19" fmla="*/ 430733 w 687213"/>
              <a:gd name="csY19" fmla="*/ 483126 h 570182"/>
              <a:gd name="csX20" fmla="*/ 507603 w 687213"/>
              <a:gd name="csY20" fmla="*/ 406297 h 570182"/>
              <a:gd name="csX21" fmla="*/ 507603 w 687213"/>
              <a:gd name="csY21" fmla="*/ 406297 h 570182"/>
              <a:gd name="csX22" fmla="*/ 580249 w 687213"/>
              <a:gd name="csY22" fmla="*/ 333685 h 570182"/>
              <a:gd name="csX23" fmla="*/ 615606 w 687213"/>
              <a:gd name="csY23" fmla="*/ 298347 h 570182"/>
              <a:gd name="csX24" fmla="*/ 615606 w 687213"/>
              <a:gd name="csY24" fmla="*/ 298347 h 570182"/>
              <a:gd name="csX25" fmla="*/ 663759 w 687213"/>
              <a:gd name="csY25" fmla="*/ 250219 h 570182"/>
              <a:gd name="csX26" fmla="*/ 663690 w 687213"/>
              <a:gd name="csY26" fmla="*/ 136861 h 5701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687213" h="570182">
                <a:moveTo>
                  <a:pt x="663690" y="136856"/>
                </a:moveTo>
                <a:cubicBezTo>
                  <a:pt x="654507" y="127753"/>
                  <a:pt x="562141" y="35296"/>
                  <a:pt x="550341" y="23557"/>
                </a:cubicBezTo>
                <a:cubicBezTo>
                  <a:pt x="517607" y="-9533"/>
                  <a:pt x="463912" y="-7173"/>
                  <a:pt x="433152" y="27358"/>
                </a:cubicBezTo>
                <a:cubicBezTo>
                  <a:pt x="433152" y="27358"/>
                  <a:pt x="433152" y="27358"/>
                  <a:pt x="433152" y="27358"/>
                </a:cubicBezTo>
                <a:cubicBezTo>
                  <a:pt x="411391" y="49110"/>
                  <a:pt x="365104" y="95375"/>
                  <a:pt x="343633" y="116834"/>
                </a:cubicBezTo>
                <a:cubicBezTo>
                  <a:pt x="343629" y="116825"/>
                  <a:pt x="250303" y="23548"/>
                  <a:pt x="250298" y="23539"/>
                </a:cubicBezTo>
                <a:cubicBezTo>
                  <a:pt x="248875" y="22117"/>
                  <a:pt x="247407" y="20743"/>
                  <a:pt x="245886" y="19432"/>
                </a:cubicBezTo>
                <a:cubicBezTo>
                  <a:pt x="241137" y="15320"/>
                  <a:pt x="235899" y="11780"/>
                  <a:pt x="230321" y="8895"/>
                </a:cubicBezTo>
                <a:cubicBezTo>
                  <a:pt x="206245" y="-3697"/>
                  <a:pt x="176088" y="-2877"/>
                  <a:pt x="152789" y="11084"/>
                </a:cubicBezTo>
                <a:cubicBezTo>
                  <a:pt x="141255" y="17140"/>
                  <a:pt x="126544" y="34323"/>
                  <a:pt x="117090" y="43238"/>
                </a:cubicBezTo>
                <a:cubicBezTo>
                  <a:pt x="117090" y="43238"/>
                  <a:pt x="117090" y="43238"/>
                  <a:pt x="117090" y="43238"/>
                </a:cubicBezTo>
                <a:cubicBezTo>
                  <a:pt x="113860" y="46466"/>
                  <a:pt x="94660" y="65659"/>
                  <a:pt x="91982" y="68335"/>
                </a:cubicBezTo>
                <a:cubicBezTo>
                  <a:pt x="91982" y="68335"/>
                  <a:pt x="31101" y="129175"/>
                  <a:pt x="31101" y="129175"/>
                </a:cubicBezTo>
                <a:cubicBezTo>
                  <a:pt x="17219" y="141648"/>
                  <a:pt x="5443" y="157958"/>
                  <a:pt x="1970" y="175746"/>
                </a:cubicBezTo>
                <a:cubicBezTo>
                  <a:pt x="-2907" y="197075"/>
                  <a:pt x="1368" y="220242"/>
                  <a:pt x="13715" y="238345"/>
                </a:cubicBezTo>
                <a:cubicBezTo>
                  <a:pt x="21354" y="249626"/>
                  <a:pt x="34409" y="260558"/>
                  <a:pt x="43780" y="270460"/>
                </a:cubicBezTo>
                <a:lnTo>
                  <a:pt x="43780" y="270460"/>
                </a:lnTo>
                <a:cubicBezTo>
                  <a:pt x="73436" y="300103"/>
                  <a:pt x="149028" y="375661"/>
                  <a:pt x="179574" y="406194"/>
                </a:cubicBezTo>
                <a:cubicBezTo>
                  <a:pt x="225783" y="452380"/>
                  <a:pt x="297393" y="523959"/>
                  <a:pt x="343636" y="570182"/>
                </a:cubicBezTo>
                <a:cubicBezTo>
                  <a:pt x="363274" y="550557"/>
                  <a:pt x="410561" y="503290"/>
                  <a:pt x="430733" y="483126"/>
                </a:cubicBezTo>
                <a:cubicBezTo>
                  <a:pt x="445575" y="468292"/>
                  <a:pt x="493602" y="420290"/>
                  <a:pt x="507603" y="406297"/>
                </a:cubicBezTo>
                <a:cubicBezTo>
                  <a:pt x="507603" y="406297"/>
                  <a:pt x="507603" y="406297"/>
                  <a:pt x="507603" y="406297"/>
                </a:cubicBezTo>
                <a:cubicBezTo>
                  <a:pt x="527942" y="385971"/>
                  <a:pt x="559985" y="353950"/>
                  <a:pt x="580249" y="333685"/>
                </a:cubicBezTo>
                <a:cubicBezTo>
                  <a:pt x="581687" y="332247"/>
                  <a:pt x="615166" y="298786"/>
                  <a:pt x="615606" y="298347"/>
                </a:cubicBezTo>
                <a:cubicBezTo>
                  <a:pt x="615606" y="298347"/>
                  <a:pt x="615606" y="298347"/>
                  <a:pt x="615606" y="298347"/>
                </a:cubicBezTo>
                <a:cubicBezTo>
                  <a:pt x="624322" y="289697"/>
                  <a:pt x="654525" y="259402"/>
                  <a:pt x="663759" y="250219"/>
                </a:cubicBezTo>
                <a:cubicBezTo>
                  <a:pt x="695089" y="218914"/>
                  <a:pt x="694998" y="168154"/>
                  <a:pt x="663690" y="136861"/>
                </a:cubicBezTo>
                <a:close/>
              </a:path>
            </a:pathLst>
          </a:custGeom>
          <a:solidFill>
            <a:schemeClr val="bg1"/>
          </a:solidFill>
          <a:ln w="229" cap="flat">
            <a:solidFill>
              <a:srgbClr val="646464"/>
            </a:solidFill>
            <a:prstDash val="solid"/>
            <a:miter/>
          </a:ln>
        </p:spPr>
        <p:txBody>
          <a:bodyPr/>
          <a:lstStyle/>
          <a:p>
            <a:endParaRPr lang="en-US" sz="1500"/>
          </a:p>
        </p:txBody>
      </p:sp>
      <p:sp>
        <p:nvSpPr>
          <p:cNvPr id="16" name="TextBox 15">
            <a:extLst>
              <a:ext uri="{FF2B5EF4-FFF2-40B4-BE49-F238E27FC236}">
                <a16:creationId xmlns:a16="http://schemas.microsoft.com/office/drawing/2014/main" id="{20CAAC85-FE49-0686-4CD3-F9B4FBD6CDFE}"/>
              </a:ext>
            </a:extLst>
          </p:cNvPr>
          <p:cNvSpPr txBox="1"/>
          <p:nvPr userDrawn="1"/>
        </p:nvSpPr>
        <p:spPr>
          <a:xfrm>
            <a:off x="587375" y="6411041"/>
            <a:ext cx="3629783" cy="123111"/>
          </a:xfrm>
          <a:prstGeom prst="rect">
            <a:avLst/>
          </a:prstGeom>
          <a:noFill/>
        </p:spPr>
        <p:txBody>
          <a:bodyPr wrap="square" lIns="0" tIns="0" rIns="0" bIns="0" rtlCol="0" anchor="b">
            <a:spAutoFit/>
          </a:bodyPr>
          <a:lstStyle/>
          <a:p>
            <a:r>
              <a:rPr lang="en-US" sz="800">
                <a:solidFill>
                  <a:schemeClr val="tx2"/>
                </a:solidFill>
                <a:latin typeface="+mn-lt"/>
              </a:rPr>
              <a:t>©2026 CVS Health and/or one of its affiliates. Confidential and proprietary.</a:t>
            </a:r>
          </a:p>
        </p:txBody>
      </p:sp>
      <p:sp>
        <p:nvSpPr>
          <p:cNvPr id="15" name="Content Placeholder 8">
            <a:extLst>
              <a:ext uri="{FF2B5EF4-FFF2-40B4-BE49-F238E27FC236}">
                <a16:creationId xmlns:a16="http://schemas.microsoft.com/office/drawing/2014/main" id="{7B8E535F-0B34-19ED-1ECE-F571D6F1C0A3}"/>
              </a:ext>
            </a:extLst>
          </p:cNvPr>
          <p:cNvSpPr txBox="1">
            <a:spLocks/>
          </p:cNvSpPr>
          <p:nvPr userDrawn="1"/>
        </p:nvSpPr>
        <p:spPr>
          <a:xfrm>
            <a:off x="11200555" y="6332324"/>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fld id="{38743595-4496-5147-A886-7D133864DF76}" type="slidenum">
              <a:rPr lang="en-US" sz="1000" b="0" smtClean="0">
                <a:solidFill>
                  <a:schemeClr val="tx2"/>
                </a:solidFill>
                <a:latin typeface="+mn-lt"/>
                <a:ea typeface="Open Sans" panose="020B0606030504020204" pitchFamily="34" charset="0"/>
                <a:cs typeface="Arial" panose="020B0604020202020204" pitchFamily="34" charset="0"/>
              </a:rPr>
              <a:pPr algn="ctr"/>
              <a:t>‹#›</a:t>
            </a:fld>
            <a:endParaRPr lang="en-US" sz="1000" b="0">
              <a:solidFill>
                <a:schemeClr val="tx2"/>
              </a:solidFill>
              <a:latin typeface="+mn-lt"/>
              <a:ea typeface="Open Sans" panose="020B0606030504020204" pitchFamily="34" charset="0"/>
              <a:cs typeface="Arial" panose="020B0604020202020204" pitchFamily="34" charset="0"/>
            </a:endParaRPr>
          </a:p>
        </p:txBody>
      </p:sp>
      <p:cxnSp>
        <p:nvCxnSpPr>
          <p:cNvPr id="24" name="Straight Connector 23">
            <a:extLst>
              <a:ext uri="{FF2B5EF4-FFF2-40B4-BE49-F238E27FC236}">
                <a16:creationId xmlns:a16="http://schemas.microsoft.com/office/drawing/2014/main" id="{A51E17B0-20B0-8CCF-949F-B0BBB617646F}"/>
              </a:ext>
            </a:extLst>
          </p:cNvPr>
          <p:cNvCxnSpPr>
            <a:cxnSpLocks/>
            <a:stCxn id="15" idx="1"/>
            <a:endCxn id="16" idx="3"/>
          </p:cNvCxnSpPr>
          <p:nvPr userDrawn="1"/>
        </p:nvCxnSpPr>
        <p:spPr>
          <a:xfrm flipH="1">
            <a:off x="4217158" y="6446626"/>
            <a:ext cx="6949440" cy="25971"/>
          </a:xfrm>
          <a:prstGeom prst="line">
            <a:avLst/>
          </a:prstGeom>
          <a:solidFill>
            <a:schemeClr val="bg1"/>
          </a:solidFill>
          <a:ln w="229" cap="flat">
            <a:solidFill>
              <a:srgbClr val="646464"/>
            </a:solidFill>
            <a:prstDash val="solid"/>
            <a:miter/>
          </a:ln>
        </p:spPr>
      </p:cxnSp>
      <p:sp>
        <p:nvSpPr>
          <p:cNvPr id="6" name="Title 1">
            <a:extLst>
              <a:ext uri="{FF2B5EF4-FFF2-40B4-BE49-F238E27FC236}">
                <a16:creationId xmlns:a16="http://schemas.microsoft.com/office/drawing/2014/main" id="{0C7CB2C1-D45A-553D-7C4D-8C6E6C18A8AB}"/>
              </a:ext>
            </a:extLst>
          </p:cNvPr>
          <p:cNvSpPr>
            <a:spLocks noGrp="1"/>
          </p:cNvSpPr>
          <p:nvPr>
            <p:ph type="title" hasCustomPrompt="1"/>
          </p:nvPr>
        </p:nvSpPr>
        <p:spPr>
          <a:xfrm>
            <a:off x="531813" y="594871"/>
            <a:ext cx="11021200" cy="340218"/>
          </a:xfrm>
        </p:spPr>
        <p:txBody>
          <a:bodyPr/>
          <a:lstStyle>
            <a:lvl1pPr>
              <a:defRPr sz="1800">
                <a:solidFill>
                  <a:schemeClr val="bg1"/>
                </a:solidFill>
              </a:defRPr>
            </a:lvl1pPr>
          </a:lstStyle>
          <a:p>
            <a:r>
              <a:rPr lang="en-US"/>
              <a:t>Title</a:t>
            </a:r>
          </a:p>
        </p:txBody>
      </p:sp>
      <p:sp>
        <p:nvSpPr>
          <p:cNvPr id="3" name="Text Placeholder 2">
            <a:extLst>
              <a:ext uri="{FF2B5EF4-FFF2-40B4-BE49-F238E27FC236}">
                <a16:creationId xmlns:a16="http://schemas.microsoft.com/office/drawing/2014/main" id="{04CFF245-631A-A227-5CA4-3AFEB183C843}"/>
              </a:ext>
            </a:extLst>
          </p:cNvPr>
          <p:cNvSpPr>
            <a:spLocks noGrp="1"/>
          </p:cNvSpPr>
          <p:nvPr>
            <p:ph type="body" sz="quarter" idx="10"/>
          </p:nvPr>
        </p:nvSpPr>
        <p:spPr>
          <a:xfrm>
            <a:off x="531648" y="935089"/>
            <a:ext cx="11053927" cy="255587"/>
          </a:xfrm>
        </p:spPr>
        <p:txBody>
          <a:bodyPr/>
          <a:lstStyle>
            <a:lvl1pPr>
              <a:defRPr lang="en-US" sz="1400" b="0" kern="1200" dirty="0">
                <a:solidFill>
                  <a:schemeClr val="bg1"/>
                </a:solidFill>
                <a:latin typeface="+mj-lt"/>
                <a:ea typeface="+mj-ea"/>
                <a:cs typeface="+mj-cs"/>
              </a:defRPr>
            </a:lvl1pPr>
          </a:lstStyle>
          <a:p>
            <a:pPr lvl="0"/>
            <a:r>
              <a:rPr lang="en-US"/>
              <a:t>Click to edit Master text styles</a:t>
            </a:r>
          </a:p>
        </p:txBody>
      </p:sp>
    </p:spTree>
    <p:extLst>
      <p:ext uri="{BB962C8B-B14F-4D97-AF65-F5344CB8AC3E}">
        <p14:creationId xmlns:p14="http://schemas.microsoft.com/office/powerpoint/2010/main" val="23770921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4878119-95AC-DFE5-2B25-2F9C1A9C1181}"/>
              </a:ext>
            </a:extLst>
          </p:cNvPr>
          <p:cNvGraphicFramePr>
            <a:graphicFrameLocks/>
          </p:cNvGraphicFramePr>
          <p:nvPr>
            <p:custDataLst>
              <p:tags r:id="rId1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410" imgH="409" progId="TCLayout.ActiveDocument.1">
                  <p:embed/>
                </p:oleObj>
              </mc:Choice>
              <mc:Fallback>
                <p:oleObj name="thinkcell Slide" r:id="rId13" imgW="410" imgH="409" progId="TCLayout.ActiveDocument.1">
                  <p:embed/>
                  <p:pic>
                    <p:nvPicPr>
                      <p:cNvPr id="5" name="think-cell data - do not delete" hidden="1">
                        <a:extLst>
                          <a:ext uri="{FF2B5EF4-FFF2-40B4-BE49-F238E27FC236}">
                            <a16:creationId xmlns:a16="http://schemas.microsoft.com/office/drawing/2014/main" id="{84878119-95AC-DFE5-2B25-2F9C1A9C1181}"/>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557929" y="530351"/>
            <a:ext cx="9667726" cy="713232"/>
          </a:xfrm>
          <a:prstGeom prst="rect">
            <a:avLst/>
          </a:prstGeom>
        </p:spPr>
        <p:txBody>
          <a:bodyPr vert="horz" lIns="0" tIns="0" rIns="0" bIns="0" rtlCol="0" anchor="t" anchorCtr="0">
            <a:noAutofit/>
          </a:bodyPr>
          <a:lstStyle/>
          <a:p>
            <a:r>
              <a:rPr lang="en-US"/>
              <a:t>Click to edit master title</a:t>
            </a:r>
          </a:p>
        </p:txBody>
      </p:sp>
      <p:sp>
        <p:nvSpPr>
          <p:cNvPr id="3" name="Text Placeholder 2"/>
          <p:cNvSpPr>
            <a:spLocks noGrp="1"/>
          </p:cNvSpPr>
          <p:nvPr>
            <p:ph type="body" idx="1"/>
          </p:nvPr>
        </p:nvSpPr>
        <p:spPr bwMode="gray">
          <a:xfrm>
            <a:off x="557929" y="1767532"/>
            <a:ext cx="11048829" cy="3977640"/>
          </a:xfrm>
          <a:prstGeom prst="rect">
            <a:avLst/>
          </a:prstGeom>
        </p:spPr>
        <p:txBody>
          <a:bodyPr vert="horz" lIns="0" tIns="0" rIns="0" bIns="0" rtlCol="0">
            <a:noAutofit/>
          </a:bodyPr>
          <a:lstStyle/>
          <a:p>
            <a:pPr lvl="0"/>
            <a:r>
              <a:rPr lang="en-US"/>
              <a:t>Click to edit Master text styles</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Tree>
    <p:extLst>
      <p:ext uri="{BB962C8B-B14F-4D97-AF65-F5344CB8AC3E}">
        <p14:creationId xmlns:p14="http://schemas.microsoft.com/office/powerpoint/2010/main" val="831138142"/>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4" r:id="rId9"/>
    <p:sldLayoutId id="2147483705" r:id="rId10"/>
  </p:sldLayoutIdLst>
  <p:txStyles>
    <p:titleStyle>
      <a:lvl1pPr algn="l" defTabSz="457063" rtl="0" eaLnBrk="1" latinLnBrk="0" hangingPunct="1">
        <a:lnSpc>
          <a:spcPct val="90000"/>
        </a:lnSpc>
        <a:spcBef>
          <a:spcPct val="0"/>
        </a:spcBef>
        <a:buNone/>
        <a:defRPr sz="2599" b="1" kern="1200">
          <a:solidFill>
            <a:schemeClr val="tx2"/>
          </a:solidFill>
          <a:latin typeface="+mj-lt"/>
          <a:ea typeface="+mj-ea"/>
          <a:cs typeface="+mj-cs"/>
        </a:defRPr>
      </a:lvl1pPr>
    </p:titleStyle>
    <p:bodyStyle>
      <a:lvl1pPr marL="0" indent="0" algn="l" defTabSz="457063" rtl="0" eaLnBrk="1" fontAlgn="ctr" latinLnBrk="0" hangingPunct="1">
        <a:lnSpc>
          <a:spcPct val="100000"/>
        </a:lnSpc>
        <a:spcBef>
          <a:spcPts val="1799"/>
        </a:spcBef>
        <a:buClrTx/>
        <a:buFont typeface="Arial"/>
        <a:buNone/>
        <a:defRPr sz="1300" b="0" kern="1200">
          <a:solidFill>
            <a:schemeClr val="tx2"/>
          </a:solidFill>
          <a:latin typeface="+mn-lt"/>
          <a:ea typeface="+mn-ea"/>
          <a:cs typeface="+mn-cs"/>
        </a:defRPr>
      </a:lvl1pPr>
      <a:lvl2pPr marL="171399" indent="-171399" algn="l" defTabSz="457063" rtl="0" eaLnBrk="1" fontAlgn="ctr" latinLnBrk="0" hangingPunct="1">
        <a:lnSpc>
          <a:spcPct val="100000"/>
        </a:lnSpc>
        <a:spcBef>
          <a:spcPts val="1200"/>
        </a:spcBef>
        <a:buClrTx/>
        <a:buFont typeface="Arial"/>
        <a:buChar char="•"/>
        <a:defRPr sz="1300" kern="1200">
          <a:solidFill>
            <a:schemeClr val="tx2"/>
          </a:solidFill>
          <a:latin typeface="+mn-lt"/>
          <a:ea typeface="+mn-ea"/>
          <a:cs typeface="+mn-cs"/>
        </a:defRPr>
      </a:lvl2pPr>
      <a:lvl3pPr marL="342797" indent="-171399" algn="l" defTabSz="457063" rtl="0" eaLnBrk="1" fontAlgn="ctr" latinLnBrk="0" hangingPunct="1">
        <a:lnSpc>
          <a:spcPct val="100000"/>
        </a:lnSpc>
        <a:spcBef>
          <a:spcPts val="600"/>
        </a:spcBef>
        <a:buClrTx/>
        <a:buFont typeface="CVS Health Sans"/>
        <a:buChar char="–"/>
        <a:defRPr sz="1300" kern="1200" baseline="0">
          <a:solidFill>
            <a:schemeClr val="tx2"/>
          </a:solidFill>
          <a:latin typeface="+mn-lt"/>
          <a:ea typeface="+mn-ea"/>
          <a:cs typeface="+mn-cs"/>
        </a:defRPr>
      </a:lvl3pPr>
      <a:lvl4pPr marL="514196" indent="-171399" algn="l" defTabSz="457063" rtl="0" eaLnBrk="1" fontAlgn="ctr" latinLnBrk="0" hangingPunct="1">
        <a:lnSpc>
          <a:spcPct val="100000"/>
        </a:lnSpc>
        <a:spcBef>
          <a:spcPts val="600"/>
        </a:spcBef>
        <a:buClrTx/>
        <a:buFont typeface="Arial"/>
        <a:buChar char="•"/>
        <a:defRPr sz="1300" kern="1200">
          <a:solidFill>
            <a:schemeClr val="tx2"/>
          </a:solidFill>
          <a:latin typeface="+mn-lt"/>
          <a:ea typeface="+mn-ea"/>
          <a:cs typeface="+mn-cs"/>
        </a:defRPr>
      </a:lvl4pPr>
      <a:lvl5pPr marL="685594" indent="-171399" algn="l" defTabSz="457063" rtl="0" eaLnBrk="1" fontAlgn="ctr" latinLnBrk="0" hangingPunct="1">
        <a:lnSpc>
          <a:spcPct val="100000"/>
        </a:lnSpc>
        <a:spcBef>
          <a:spcPts val="600"/>
        </a:spcBef>
        <a:buClrTx/>
        <a:buFont typeface="Arial" panose="020B0604020202020204" pitchFamily="34" charset="0"/>
        <a:buChar char="–"/>
        <a:defRPr sz="1300" kern="1200" baseline="0">
          <a:solidFill>
            <a:schemeClr val="tx2"/>
          </a:solidFill>
          <a:latin typeface="+mn-lt"/>
          <a:ea typeface="+mn-ea"/>
          <a:cs typeface="+mn-cs"/>
        </a:defRPr>
      </a:lvl5pPr>
      <a:lvl6pPr marL="856993" indent="-171399" algn="l" defTabSz="457063"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6pPr>
      <a:lvl7pPr marL="1028391" indent="-165050" algn="l" defTabSz="457063"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7pPr>
      <a:lvl8pPr marL="1206138" indent="-177747" algn="l" defTabSz="457063" rtl="0" eaLnBrk="1" fontAlgn="ctr" latinLnBrk="0" hangingPunct="1">
        <a:lnSpc>
          <a:spcPct val="100000"/>
        </a:lnSpc>
        <a:spcBef>
          <a:spcPts val="600"/>
        </a:spcBef>
        <a:buClrTx/>
        <a:buFont typeface="Arial"/>
        <a:buChar char="•"/>
        <a:defRPr sz="1300" kern="1200">
          <a:solidFill>
            <a:schemeClr val="tx2"/>
          </a:solidFill>
          <a:latin typeface="+mn-lt"/>
          <a:ea typeface="+mn-ea"/>
          <a:cs typeface="+mn-cs"/>
        </a:defRPr>
      </a:lvl8pPr>
      <a:lvl9pPr marL="1371189" indent="-165050" algn="l" defTabSz="457063"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9pPr>
    </p:bodyStyle>
    <p:otherStyle>
      <a:defPPr>
        <a:defRPr lang="en-US"/>
      </a:defPPr>
      <a:lvl1pPr marL="0" algn="l" defTabSz="457063" rtl="0" eaLnBrk="1" fontAlgn="ctr" latinLnBrk="0" hangingPunct="1">
        <a:defRPr sz="1500" kern="1500">
          <a:solidFill>
            <a:schemeClr val="tx1"/>
          </a:solidFill>
          <a:latin typeface="+mn-lt"/>
          <a:ea typeface="+mn-ea"/>
          <a:cs typeface="+mn-cs"/>
        </a:defRPr>
      </a:lvl1pPr>
      <a:lvl2pPr marL="0" algn="r" defTabSz="457063" rtl="0" eaLnBrk="1" fontAlgn="ctr" latinLnBrk="0" hangingPunct="1">
        <a:defRPr sz="1500" kern="1500">
          <a:solidFill>
            <a:schemeClr val="tx1"/>
          </a:solidFill>
          <a:latin typeface="+mn-lt"/>
          <a:ea typeface="+mn-ea"/>
          <a:cs typeface="+mn-cs"/>
        </a:defRPr>
      </a:lvl2pPr>
      <a:lvl3pPr marL="0" algn="ctr" defTabSz="457063" rtl="0" eaLnBrk="1" fontAlgn="ctr" latinLnBrk="0" hangingPunct="1">
        <a:defRPr sz="1500" kern="1500">
          <a:solidFill>
            <a:schemeClr val="tx1"/>
          </a:solidFill>
          <a:latin typeface="+mn-lt"/>
          <a:ea typeface="+mn-ea"/>
          <a:cs typeface="+mn-cs"/>
        </a:defRPr>
      </a:lvl3pPr>
      <a:lvl4pPr marL="0" algn="l" defTabSz="457063" rtl="0" eaLnBrk="1" fontAlgn="ctr" latinLnBrk="0" hangingPunct="1">
        <a:defRPr sz="1500" kern="1500">
          <a:solidFill>
            <a:schemeClr val="tx1"/>
          </a:solidFill>
          <a:latin typeface="+mn-lt"/>
          <a:ea typeface="+mn-ea"/>
          <a:cs typeface="+mn-cs"/>
        </a:defRPr>
      </a:lvl4pPr>
      <a:lvl5pPr marL="0" algn="r" defTabSz="457063" rtl="0" eaLnBrk="1" fontAlgn="ctr" latinLnBrk="0" hangingPunct="1">
        <a:defRPr sz="1500" kern="1500">
          <a:solidFill>
            <a:schemeClr val="tx1"/>
          </a:solidFill>
          <a:latin typeface="+mn-lt"/>
          <a:ea typeface="+mn-ea"/>
          <a:cs typeface="+mn-cs"/>
        </a:defRPr>
      </a:lvl5pPr>
      <a:lvl6pPr marL="0" algn="ctr" defTabSz="457063" rtl="0" eaLnBrk="1" fontAlgn="ctr" latinLnBrk="0" hangingPunct="1">
        <a:defRPr sz="1500" kern="1500">
          <a:solidFill>
            <a:schemeClr val="tx1"/>
          </a:solidFill>
          <a:latin typeface="+mn-lt"/>
          <a:ea typeface="+mn-ea"/>
          <a:cs typeface="+mn-cs"/>
        </a:defRPr>
      </a:lvl6pPr>
      <a:lvl7pPr marL="0" algn="l" defTabSz="457063" rtl="0" eaLnBrk="1" fontAlgn="ctr" latinLnBrk="0" hangingPunct="1">
        <a:defRPr sz="1500" kern="1500">
          <a:solidFill>
            <a:schemeClr val="tx1"/>
          </a:solidFill>
          <a:latin typeface="+mn-lt"/>
          <a:ea typeface="+mn-ea"/>
          <a:cs typeface="+mn-cs"/>
        </a:defRPr>
      </a:lvl7pPr>
      <a:lvl8pPr marL="0" algn="r" defTabSz="457063" rtl="0" eaLnBrk="1" fontAlgn="ctr" latinLnBrk="0" hangingPunct="1">
        <a:defRPr sz="1500" kern="1500">
          <a:solidFill>
            <a:schemeClr val="tx1"/>
          </a:solidFill>
          <a:latin typeface="+mn-lt"/>
          <a:ea typeface="+mn-ea"/>
          <a:cs typeface="+mn-cs"/>
        </a:defRPr>
      </a:lvl8pPr>
      <a:lvl9pPr marL="0" algn="ctr" defTabSz="457063" rtl="0" eaLnBrk="1" fontAlgn="ctr" latinLnBrk="0" hangingPunct="1">
        <a:defRPr sz="1500" kern="15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92">
          <p15:clr>
            <a:srgbClr val="F26B43"/>
          </p15:clr>
        </p15:guide>
        <p15:guide id="2" pos="191">
          <p15:clr>
            <a:srgbClr val="F26B43"/>
          </p15:clr>
        </p15:guide>
        <p15:guide id="3" pos="7487">
          <p15:clr>
            <a:srgbClr val="F26B43"/>
          </p15:clr>
        </p15:guide>
        <p15:guide id="4" orient="horz" pos="360">
          <p15:clr>
            <a:srgbClr val="F26B43"/>
          </p15:clr>
        </p15:guide>
        <p15:guide id="5" orient="horz" pos="3984">
          <p15:clr>
            <a:srgbClr val="F26B43"/>
          </p15:clr>
        </p15:guide>
        <p15:guide id="6" orient="horz" pos="4116">
          <p15:clr>
            <a:srgbClr val="F26B43"/>
          </p15:clr>
        </p15:guide>
        <p15:guide id="7" orient="horz" pos="3824">
          <p15:clr>
            <a:srgbClr val="F26B43"/>
          </p15:clr>
        </p15:guide>
        <p15:guide id="8" orient="horz" pos="928">
          <p15:clr>
            <a:srgbClr val="F26B43"/>
          </p15:clr>
        </p15:guide>
        <p15:guide id="9" pos="335">
          <p15:clr>
            <a:srgbClr val="F26B43"/>
          </p15:clr>
        </p15:guide>
        <p15:guide id="10" pos="734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xml"/><Relationship Id="rId1" Type="http://schemas.openxmlformats.org/officeDocument/2006/relationships/tags" Target="../tags/tag3.xml"/><Relationship Id="rId4" Type="http://schemas.openxmlformats.org/officeDocument/2006/relationships/image" Target="../media/image11.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3.xml"/><Relationship Id="rId1" Type="http://schemas.openxmlformats.org/officeDocument/2006/relationships/tags" Target="../tags/tag4.xml"/><Relationship Id="rId4" Type="http://schemas.openxmlformats.org/officeDocument/2006/relationships/image" Target="../media/image11.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8.xml"/><Relationship Id="rId1" Type="http://schemas.openxmlformats.org/officeDocument/2006/relationships/tags" Target="../tags/tag5.xml"/><Relationship Id="rId4" Type="http://schemas.openxmlformats.org/officeDocument/2006/relationships/image" Target="../media/image11.emf"/></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xml"/><Relationship Id="rId1" Type="http://schemas.openxmlformats.org/officeDocument/2006/relationships/tags" Target="../tags/tag6.xml"/><Relationship Id="rId5" Type="http://schemas.openxmlformats.org/officeDocument/2006/relationships/image" Target="../media/image11.emf"/><Relationship Id="rId4" Type="http://schemas.openxmlformats.org/officeDocument/2006/relationships/oleObject" Target="../embeddings/oleObject6.bin"/></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11.emf"/></Relationships>
</file>

<file path=ppt/slides/_rels/slide7.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11.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8.xml"/><Relationship Id="rId1" Type="http://schemas.openxmlformats.org/officeDocument/2006/relationships/tags" Target="../tags/tag9.xml"/><Relationship Id="rId4" Type="http://schemas.openxmlformats.org/officeDocument/2006/relationships/image" Target="../media/image11.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8.xml"/><Relationship Id="rId1" Type="http://schemas.openxmlformats.org/officeDocument/2006/relationships/tags" Target="../tags/tag10.xml"/><Relationship Id="rId4" Type="http://schemas.openxmlformats.org/officeDocument/2006/relationships/image" Target="../media/image11.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8.xml"/><Relationship Id="rId1" Type="http://schemas.openxmlformats.org/officeDocument/2006/relationships/tags" Target="../tags/tag11.xml"/><Relationship Id="rId4" Type="http://schemas.openxmlformats.org/officeDocument/2006/relationships/image" Target="../media/image11.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8.xml"/><Relationship Id="rId1" Type="http://schemas.openxmlformats.org/officeDocument/2006/relationships/tags" Target="../tags/tag12.xml"/><Relationship Id="rId6" Type="http://schemas.microsoft.com/office/2007/relationships/hdphoto" Target="../media/hdphoto1.wdp"/><Relationship Id="rId5" Type="http://schemas.openxmlformats.org/officeDocument/2006/relationships/image" Target="../media/image16.png"/><Relationship Id="rId4" Type="http://schemas.openxmlformats.org/officeDocument/2006/relationships/image" Target="../media/image11.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8.xml"/><Relationship Id="rId1" Type="http://schemas.openxmlformats.org/officeDocument/2006/relationships/tags" Target="../tags/tag13.xml"/><Relationship Id="rId4" Type="http://schemas.openxmlformats.org/officeDocument/2006/relationships/image" Target="../media/image11.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8.xml"/><Relationship Id="rId1" Type="http://schemas.openxmlformats.org/officeDocument/2006/relationships/tags" Target="../tags/tag14.xml"/><Relationship Id="rId4" Type="http://schemas.openxmlformats.org/officeDocument/2006/relationships/image" Target="../media/image11.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8.xml"/><Relationship Id="rId1" Type="http://schemas.openxmlformats.org/officeDocument/2006/relationships/tags" Target="../tags/tag15.xml"/><Relationship Id="rId4" Type="http://schemas.openxmlformats.org/officeDocument/2006/relationships/image" Target="../media/image11.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8.xml"/><Relationship Id="rId1" Type="http://schemas.openxmlformats.org/officeDocument/2006/relationships/tags" Target="../tags/tag16.xml"/><Relationship Id="rId4" Type="http://schemas.openxmlformats.org/officeDocument/2006/relationships/image" Target="../media/image11.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8.xml"/><Relationship Id="rId1" Type="http://schemas.openxmlformats.org/officeDocument/2006/relationships/tags" Target="../tags/tag17.xml"/><Relationship Id="rId4" Type="http://schemas.openxmlformats.org/officeDocument/2006/relationships/image" Target="../media/image11.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8.xml"/><Relationship Id="rId1" Type="http://schemas.openxmlformats.org/officeDocument/2006/relationships/tags" Target="../tags/tag18.xml"/><Relationship Id="rId4" Type="http://schemas.openxmlformats.org/officeDocument/2006/relationships/image" Target="../media/image11.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8.xml"/><Relationship Id="rId1" Type="http://schemas.openxmlformats.org/officeDocument/2006/relationships/tags" Target="../tags/tag19.xml"/><Relationship Id="rId4" Type="http://schemas.openxmlformats.org/officeDocument/2006/relationships/image" Target="../media/image11.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8.xml"/><Relationship Id="rId1" Type="http://schemas.openxmlformats.org/officeDocument/2006/relationships/tags" Target="../tags/tag20.xml"/><Relationship Id="rId4" Type="http://schemas.openxmlformats.org/officeDocument/2006/relationships/image" Target="../media/image11.e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8.xml"/><Relationship Id="rId1" Type="http://schemas.openxmlformats.org/officeDocument/2006/relationships/tags" Target="../tags/tag21.xml"/><Relationship Id="rId4" Type="http://schemas.openxmlformats.org/officeDocument/2006/relationships/image" Target="../media/image11.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8.xml"/><Relationship Id="rId1" Type="http://schemas.openxmlformats.org/officeDocument/2006/relationships/tags" Target="../tags/tag22.xml"/><Relationship Id="rId4" Type="http://schemas.openxmlformats.org/officeDocument/2006/relationships/image" Target="../media/image11.e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microsoft.com/office/2018/10/relationships/comments" Target="../comments/modernComment_7FFFFED3_CED891FF.xml"/><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microsoft.com/office/2018/10/relationships/comments" Target="../comments/modernComment_7FFFFEB9_7839C105.xml"/><Relationship Id="rId2" Type="http://schemas.openxmlformats.org/officeDocument/2006/relationships/slideLayout" Target="../slideLayouts/slideLayout8.xml"/><Relationship Id="rId1" Type="http://schemas.openxmlformats.org/officeDocument/2006/relationships/tags" Target="../tags/tag23.xml"/><Relationship Id="rId5" Type="http://schemas.openxmlformats.org/officeDocument/2006/relationships/image" Target="../media/image11.emf"/><Relationship Id="rId4" Type="http://schemas.openxmlformats.org/officeDocument/2006/relationships/oleObject" Target="../embeddings/oleObject12.bin"/></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8.xml"/><Relationship Id="rId1" Type="http://schemas.openxmlformats.org/officeDocument/2006/relationships/tags" Target="../tags/tag24.xml"/><Relationship Id="rId4" Type="http://schemas.openxmlformats.org/officeDocument/2006/relationships/image" Target="../media/image11.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tags" Target="../tags/tag25.xml"/><Relationship Id="rId4" Type="http://schemas.openxmlformats.org/officeDocument/2006/relationships/image" Target="../media/image11.e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8.xml"/><Relationship Id="rId1" Type="http://schemas.openxmlformats.org/officeDocument/2006/relationships/tags" Target="../tags/tag26.xml"/><Relationship Id="rId4" Type="http://schemas.openxmlformats.org/officeDocument/2006/relationships/image" Target="../media/image11.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8.xml"/><Relationship Id="rId1" Type="http://schemas.openxmlformats.org/officeDocument/2006/relationships/tags" Target="../tags/tag27.xml"/><Relationship Id="rId4" Type="http://schemas.openxmlformats.org/officeDocument/2006/relationships/image" Target="../media/image11.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tags" Target="../tags/tag28.xml"/><Relationship Id="rId4" Type="http://schemas.openxmlformats.org/officeDocument/2006/relationships/image" Target="../media/image11.e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8.xml"/><Relationship Id="rId1" Type="http://schemas.openxmlformats.org/officeDocument/2006/relationships/tags" Target="../tags/tag29.xml"/><Relationship Id="rId4" Type="http://schemas.openxmlformats.org/officeDocument/2006/relationships/image" Target="../media/image11.e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8.xml"/><Relationship Id="rId1" Type="http://schemas.openxmlformats.org/officeDocument/2006/relationships/tags" Target="../tags/tag30.xml"/><Relationship Id="rId4" Type="http://schemas.openxmlformats.org/officeDocument/2006/relationships/image" Target="../media/image11.e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tags" Target="../tags/tag31.xml"/><Relationship Id="rId4" Type="http://schemas.openxmlformats.org/officeDocument/2006/relationships/image" Target="../media/image11.e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8.xml"/><Relationship Id="rId1" Type="http://schemas.openxmlformats.org/officeDocument/2006/relationships/tags" Target="../tags/tag32.xml"/><Relationship Id="rId4" Type="http://schemas.openxmlformats.org/officeDocument/2006/relationships/image" Target="../media/image11.e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8.xml"/><Relationship Id="rId1" Type="http://schemas.openxmlformats.org/officeDocument/2006/relationships/tags" Target="../tags/tag33.xml"/><Relationship Id="rId4" Type="http://schemas.openxmlformats.org/officeDocument/2006/relationships/image" Target="../media/image11.emf"/></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tags" Target="../tags/tag34.xml"/><Relationship Id="rId4" Type="http://schemas.openxmlformats.org/officeDocument/2006/relationships/image" Target="../media/image11.emf"/></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8.xml"/><Relationship Id="rId1" Type="http://schemas.openxmlformats.org/officeDocument/2006/relationships/tags" Target="../tags/tag35.xml"/><Relationship Id="rId4" Type="http://schemas.openxmlformats.org/officeDocument/2006/relationships/image" Target="../media/image11.e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8.xml"/><Relationship Id="rId1" Type="http://schemas.openxmlformats.org/officeDocument/2006/relationships/tags" Target="../tags/tag36.xml"/><Relationship Id="rId4" Type="http://schemas.openxmlformats.org/officeDocument/2006/relationships/image" Target="../media/image11.e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tags" Target="../tags/tag37.xml"/><Relationship Id="rId4" Type="http://schemas.openxmlformats.org/officeDocument/2006/relationships/image" Target="../media/image11.e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8.xml"/><Relationship Id="rId1" Type="http://schemas.openxmlformats.org/officeDocument/2006/relationships/tags" Target="../tags/tag38.xml"/><Relationship Id="rId4" Type="http://schemas.openxmlformats.org/officeDocument/2006/relationships/image" Target="../media/image11.e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8.xml"/><Relationship Id="rId1" Type="http://schemas.openxmlformats.org/officeDocument/2006/relationships/tags" Target="../tags/tag39.xml"/><Relationship Id="rId4" Type="http://schemas.openxmlformats.org/officeDocument/2006/relationships/image" Target="../media/image11.emf"/></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8.xml"/><Relationship Id="rId1" Type="http://schemas.openxmlformats.org/officeDocument/2006/relationships/tags" Target="../tags/tag40.xml"/><Relationship Id="rId5" Type="http://schemas.openxmlformats.org/officeDocument/2006/relationships/image" Target="../media/image11.emf"/><Relationship Id="rId4" Type="http://schemas.openxmlformats.org/officeDocument/2006/relationships/oleObject" Target="../embeddings/oleObject18.bin"/></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xml"/><Relationship Id="rId1" Type="http://schemas.openxmlformats.org/officeDocument/2006/relationships/tags" Target="../tags/tag41.xml"/><Relationship Id="rId5" Type="http://schemas.openxmlformats.org/officeDocument/2006/relationships/image" Target="../media/image11.emf"/><Relationship Id="rId4" Type="http://schemas.openxmlformats.org/officeDocument/2006/relationships/oleObject" Target="../embeddings/oleObject19.bin"/></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8.xml"/><Relationship Id="rId1" Type="http://schemas.openxmlformats.org/officeDocument/2006/relationships/tags" Target="../tags/tag42.xml"/><Relationship Id="rId4" Type="http://schemas.openxmlformats.org/officeDocument/2006/relationships/image" Target="../media/image1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C32EB-0EC8-8FE0-DA9A-59C219572522}"/>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58FBD4C2-C13A-7C23-DB96-3E345EDF8A68}"/>
              </a:ext>
            </a:extLst>
          </p:cNvPr>
          <p:cNvGraphicFramePr>
            <a:graphicFrameLocks/>
          </p:cNvGraphicFramePr>
          <p:nvPr>
            <p:custDataLst>
              <p:tags r:id="rId1"/>
            </p:custDataLst>
            <p:extLst>
              <p:ext uri="{D42A27DB-BD31-4B8C-83A1-F6EECF244321}">
                <p14:modId xmlns:p14="http://schemas.microsoft.com/office/powerpoint/2010/main" val="16059501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2" name="thinkcell data - do not delete" hidden="1">
                        <a:extLst>
                          <a:ext uri="{FF2B5EF4-FFF2-40B4-BE49-F238E27FC236}">
                            <a16:creationId xmlns:a16="http://schemas.microsoft.com/office/drawing/2014/main" id="{58FBD4C2-C13A-7C23-DB96-3E345EDF8A6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25" name="Title 224">
            <a:extLst>
              <a:ext uri="{FF2B5EF4-FFF2-40B4-BE49-F238E27FC236}">
                <a16:creationId xmlns:a16="http://schemas.microsoft.com/office/drawing/2014/main" id="{275C80C0-02F5-9D12-1F88-DF6B58400377}"/>
              </a:ext>
            </a:extLst>
          </p:cNvPr>
          <p:cNvSpPr>
            <a:spLocks noGrp="1"/>
          </p:cNvSpPr>
          <p:nvPr>
            <p:ph type="ctrTitle"/>
          </p:nvPr>
        </p:nvSpPr>
        <p:spPr>
          <a:xfrm>
            <a:off x="908806" y="2524536"/>
            <a:ext cx="3865213" cy="1262324"/>
          </a:xfrm>
        </p:spPr>
        <p:txBody>
          <a:bodyPr vert="horz" rIns="0"/>
          <a:lstStyle/>
          <a:p>
            <a:r>
              <a:rPr lang="en-US"/>
              <a:t>Discuss Databricks SOW &amp; Key Project Topics</a:t>
            </a:r>
            <a:br>
              <a:rPr lang="en-US"/>
            </a:br>
            <a:br>
              <a:rPr lang="en-US"/>
            </a:br>
            <a:r>
              <a:rPr lang="en-US" sz="2000" b="0"/>
              <a:t>September 24, 2026</a:t>
            </a:r>
          </a:p>
        </p:txBody>
      </p:sp>
    </p:spTree>
    <p:extLst>
      <p:ext uri="{BB962C8B-B14F-4D97-AF65-F5344CB8AC3E}">
        <p14:creationId xmlns:p14="http://schemas.microsoft.com/office/powerpoint/2010/main" val="3267068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6D1F9125-A9BE-AC7E-CB87-E48BEE578D46}"/>
              </a:ext>
            </a:extLst>
          </p:cNvPr>
          <p:cNvGraphicFramePr>
            <a:graphicFrameLocks/>
          </p:cNvGraphicFramePr>
          <p:nvPr>
            <p:custDataLst>
              <p:tags r:id="rId1"/>
            </p:custDataLst>
            <p:extLst>
              <p:ext uri="{D42A27DB-BD31-4B8C-83A1-F6EECF244321}">
                <p14:modId xmlns:p14="http://schemas.microsoft.com/office/powerpoint/2010/main" val="21960177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4" name="thinkcell data - do not delete" hidden="1">
                        <a:extLst>
                          <a:ext uri="{FF2B5EF4-FFF2-40B4-BE49-F238E27FC236}">
                            <a16:creationId xmlns:a16="http://schemas.microsoft.com/office/drawing/2014/main" id="{6D1F9125-A9BE-AC7E-CB87-E48BEE578D4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75F102A2-F126-6672-2697-5FD1DFF338E3}"/>
              </a:ext>
            </a:extLst>
          </p:cNvPr>
          <p:cNvSpPr>
            <a:spLocks noGrp="1"/>
          </p:cNvSpPr>
          <p:nvPr>
            <p:ph type="title"/>
          </p:nvPr>
        </p:nvSpPr>
        <p:spPr/>
        <p:txBody>
          <a:bodyPr vert="horz" rIns="0"/>
          <a:lstStyle/>
          <a:p>
            <a:r>
              <a:rPr lang="en-US"/>
              <a:t>Agenda</a:t>
            </a:r>
          </a:p>
        </p:txBody>
      </p:sp>
      <p:graphicFrame>
        <p:nvGraphicFramePr>
          <p:cNvPr id="5" name="Table 4">
            <a:extLst>
              <a:ext uri="{FF2B5EF4-FFF2-40B4-BE49-F238E27FC236}">
                <a16:creationId xmlns:a16="http://schemas.microsoft.com/office/drawing/2014/main" id="{29D7B417-F2A9-E41F-D90A-F3E4D3C46BAC}"/>
              </a:ext>
            </a:extLst>
          </p:cNvPr>
          <p:cNvGraphicFramePr>
            <a:graphicFrameLocks noGrp="1"/>
          </p:cNvGraphicFramePr>
          <p:nvPr>
            <p:extLst>
              <p:ext uri="{D42A27DB-BD31-4B8C-83A1-F6EECF244321}">
                <p14:modId xmlns:p14="http://schemas.microsoft.com/office/powerpoint/2010/main" val="1726850371"/>
              </p:ext>
            </p:extLst>
          </p:nvPr>
        </p:nvGraphicFramePr>
        <p:xfrm>
          <a:off x="4495801" y="1082537"/>
          <a:ext cx="7305674" cy="4670149"/>
        </p:xfrm>
        <a:graphic>
          <a:graphicData uri="http://schemas.openxmlformats.org/drawingml/2006/table">
            <a:tbl>
              <a:tblPr firstRow="1" bandRow="1">
                <a:tableStyleId>{2D5ABB26-0587-4C30-8999-92F81FD0307C}</a:tableStyleId>
              </a:tblPr>
              <a:tblGrid>
                <a:gridCol w="1227214">
                  <a:extLst>
                    <a:ext uri="{9D8B030D-6E8A-4147-A177-3AD203B41FA5}">
                      <a16:colId xmlns:a16="http://schemas.microsoft.com/office/drawing/2014/main" val="1039915488"/>
                    </a:ext>
                  </a:extLst>
                </a:gridCol>
                <a:gridCol w="6078460">
                  <a:extLst>
                    <a:ext uri="{9D8B030D-6E8A-4147-A177-3AD203B41FA5}">
                      <a16:colId xmlns:a16="http://schemas.microsoft.com/office/drawing/2014/main" val="819655411"/>
                    </a:ext>
                  </a:extLst>
                </a:gridCol>
              </a:tblGrid>
              <a:tr h="555349">
                <a:tc gridSpan="2">
                  <a:txBody>
                    <a:bodyPr/>
                    <a:lstStyle/>
                    <a:p>
                      <a:r>
                        <a:rPr lang="en-US" sz="1200" b="1">
                          <a:solidFill>
                            <a:srgbClr val="0B315E"/>
                          </a:solidFill>
                        </a:rPr>
                        <a:t>Section</a:t>
                      </a:r>
                      <a:endParaRPr lang="en-US" sz="1200">
                        <a:solidFill>
                          <a:srgbClr val="0B315E"/>
                        </a:solidFill>
                      </a:endParaRPr>
                    </a:p>
                  </a:txBody>
                  <a:tcPr>
                    <a:lnB w="12700" cap="flat" cmpd="sng" algn="ctr">
                      <a:solidFill>
                        <a:srgbClr val="0B315E"/>
                      </a:solidFill>
                      <a:prstDash val="solid"/>
                      <a:round/>
                      <a:headEnd type="none" w="med" len="med"/>
                      <a:tailEnd type="none" w="med" len="med"/>
                    </a:lnB>
                  </a:tcPr>
                </a:tc>
                <a:tc hMerge="1">
                  <a:txBody>
                    <a:bodyPr/>
                    <a:lstStyle/>
                    <a:p>
                      <a:endParaRPr lang="en-US" sz="2400" b="1">
                        <a:solidFill>
                          <a:srgbClr val="0B315E"/>
                        </a:solidFill>
                      </a:endParaRPr>
                    </a:p>
                  </a:txBody>
                  <a:tcPr>
                    <a:lnB w="12700" cap="flat" cmpd="sng" algn="ctr">
                      <a:solidFill>
                        <a:srgbClr val="0B315E"/>
                      </a:solidFill>
                      <a:prstDash val="solid"/>
                      <a:round/>
                      <a:headEnd type="none" w="med" len="med"/>
                      <a:tailEnd type="none" w="med" len="med"/>
                    </a:lnB>
                  </a:tcPr>
                </a:tc>
                <a:extLst>
                  <a:ext uri="{0D108BD9-81ED-4DB2-BD59-A6C34878D82A}">
                    <a16:rowId xmlns:a16="http://schemas.microsoft.com/office/drawing/2014/main" val="4214550267"/>
                  </a:ext>
                </a:extLst>
              </a:tr>
              <a:tr h="365760">
                <a:tc>
                  <a:txBody>
                    <a:bodyPr/>
                    <a:lstStyle/>
                    <a:p>
                      <a:r>
                        <a:rPr lang="en-US" sz="1200" b="1">
                          <a:solidFill>
                            <a:srgbClr val="0B315E"/>
                          </a:solidFill>
                        </a:rPr>
                        <a:t>1</a:t>
                      </a:r>
                    </a:p>
                  </a:txBody>
                  <a:tcPr>
                    <a:lnT w="12700" cap="flat" cmpd="sng" algn="ctr">
                      <a:solidFill>
                        <a:srgbClr val="0B315E"/>
                      </a:solidFill>
                      <a:prstDash val="solid"/>
                      <a:round/>
                      <a:headEnd type="none" w="med" len="med"/>
                      <a:tailEnd type="none" w="med" len="med"/>
                    </a:lnT>
                    <a:lnB w="12700" cap="flat" cmpd="sng" algn="ctr">
                      <a:solidFill>
                        <a:srgbClr val="0B315E"/>
                      </a:solidFill>
                      <a:prstDash val="solid"/>
                      <a:round/>
                      <a:headEnd type="none" w="med" len="med"/>
                      <a:tailEnd type="none" w="med" len="med"/>
                    </a:lnB>
                  </a:tcPr>
                </a:tc>
                <a:tc>
                  <a:txBody>
                    <a:bodyPr/>
                    <a:lstStyle/>
                    <a:p>
                      <a:r>
                        <a:rPr lang="en-US" sz="1200" b="0" kern="1500">
                          <a:solidFill>
                            <a:srgbClr val="0B315E"/>
                          </a:solidFill>
                          <a:effectLst/>
                          <a:latin typeface="+mn-lt"/>
                          <a:ea typeface="+mn-ea"/>
                          <a:cs typeface="+mn-cs"/>
                        </a:rPr>
                        <a:t>Executive Vision &amp; Business Mandate</a:t>
                      </a:r>
                    </a:p>
                    <a:p>
                      <a:pPr marL="342900" indent="-342900">
                        <a:buFont typeface="Arial" panose="020B0604020202020204" pitchFamily="34" charset="0"/>
                        <a:buChar char="•"/>
                      </a:pPr>
                      <a:r>
                        <a:rPr lang="en-US" sz="1200" b="0" kern="1500">
                          <a:solidFill>
                            <a:srgbClr val="0B315E"/>
                          </a:solidFill>
                          <a:effectLst/>
                          <a:latin typeface="+mn-lt"/>
                          <a:ea typeface="+mn-ea"/>
                          <a:cs typeface="+mn-cs"/>
                        </a:rPr>
                        <a:t>Partnership alignment</a:t>
                      </a:r>
                    </a:p>
                    <a:p>
                      <a:pPr marL="342900" indent="-342900">
                        <a:buFont typeface="Arial" panose="020B0604020202020204" pitchFamily="34" charset="0"/>
                        <a:buChar char="•"/>
                      </a:pPr>
                      <a:r>
                        <a:rPr lang="en-US" sz="1200" b="0" kern="1500">
                          <a:solidFill>
                            <a:srgbClr val="0B315E"/>
                          </a:solidFill>
                          <a:effectLst/>
                          <a:latin typeface="+mn-lt"/>
                          <a:ea typeface="+mn-ea"/>
                          <a:cs typeface="+mn-cs"/>
                        </a:rPr>
                        <a:t>Strategic Drivers &amp; Program Mission</a:t>
                      </a:r>
                    </a:p>
                    <a:p>
                      <a:pPr marL="342900" indent="-342900">
                        <a:buFont typeface="Arial" panose="020B0604020202020204" pitchFamily="34" charset="0"/>
                        <a:buChar char="•"/>
                      </a:pPr>
                      <a:r>
                        <a:rPr lang="en-US" sz="1200" b="0" kern="1500">
                          <a:solidFill>
                            <a:srgbClr val="0B315E"/>
                          </a:solidFill>
                          <a:effectLst/>
                          <a:latin typeface="+mn-lt"/>
                          <a:ea typeface="+mn-ea"/>
                          <a:cs typeface="+mn-cs"/>
                        </a:rPr>
                        <a:t>Current State vs Target Lakehouse Architecture</a:t>
                      </a:r>
                    </a:p>
                  </a:txBody>
                  <a:tcPr>
                    <a:lnT w="12700" cap="flat" cmpd="sng" algn="ctr">
                      <a:solidFill>
                        <a:srgbClr val="0B315E"/>
                      </a:solidFill>
                      <a:prstDash val="solid"/>
                      <a:round/>
                      <a:headEnd type="none" w="med" len="med"/>
                      <a:tailEnd type="none" w="med" len="med"/>
                    </a:lnT>
                    <a:lnB w="12700" cap="flat" cmpd="sng" algn="ctr">
                      <a:solidFill>
                        <a:srgbClr val="0B315E"/>
                      </a:solidFill>
                      <a:prstDash val="solid"/>
                      <a:round/>
                      <a:headEnd type="none" w="med" len="med"/>
                      <a:tailEnd type="none" w="med" len="med"/>
                    </a:lnB>
                  </a:tcPr>
                </a:tc>
                <a:extLst>
                  <a:ext uri="{0D108BD9-81ED-4DB2-BD59-A6C34878D82A}">
                    <a16:rowId xmlns:a16="http://schemas.microsoft.com/office/drawing/2014/main" val="3300388409"/>
                  </a:ext>
                </a:extLst>
              </a:tr>
              <a:tr h="365760">
                <a:tc>
                  <a:txBody>
                    <a:bodyPr/>
                    <a:lstStyle/>
                    <a:p>
                      <a:r>
                        <a:rPr lang="en-US" sz="1200" b="1">
                          <a:solidFill>
                            <a:srgbClr val="0B315E"/>
                          </a:solidFill>
                        </a:rPr>
                        <a:t>2</a:t>
                      </a:r>
                    </a:p>
                  </a:txBody>
                  <a:tcPr>
                    <a:lnT w="12700" cap="flat" cmpd="sng" algn="ctr">
                      <a:solidFill>
                        <a:srgbClr val="0B315E"/>
                      </a:solidFill>
                      <a:prstDash val="solid"/>
                      <a:round/>
                      <a:headEnd type="none" w="med" len="med"/>
                      <a:tailEnd type="none" w="med" len="med"/>
                    </a:lnT>
                    <a:lnB w="12700" cap="flat" cmpd="sng" algn="ctr">
                      <a:solidFill>
                        <a:srgbClr val="0B315E"/>
                      </a:solidFill>
                      <a:prstDash val="solid"/>
                      <a:round/>
                      <a:headEnd type="none" w="med" len="med"/>
                      <a:tailEnd type="none" w="med" len="med"/>
                    </a:lnB>
                  </a:tcPr>
                </a:tc>
                <a:tc>
                  <a:txBody>
                    <a:bodyPr/>
                    <a:lstStyle/>
                    <a:p>
                      <a:r>
                        <a:rPr lang="en-US" sz="1200">
                          <a:solidFill>
                            <a:srgbClr val="0B315E"/>
                          </a:solidFill>
                        </a:rPr>
                        <a:t>Scope, Metrics &amp; Architectural Foundation</a:t>
                      </a:r>
                    </a:p>
                    <a:p>
                      <a:pPr marL="342900" indent="-342900">
                        <a:buFont typeface="Arial" panose="020B0604020202020204" pitchFamily="34" charset="0"/>
                        <a:buChar char="•"/>
                      </a:pPr>
                      <a:r>
                        <a:rPr lang="en-US" sz="1200">
                          <a:solidFill>
                            <a:srgbClr val="0B315E"/>
                          </a:solidFill>
                        </a:rPr>
                        <a:t>Enterprise Ingestion Sizing &amp; Telemetry Scope</a:t>
                      </a:r>
                    </a:p>
                    <a:p>
                      <a:pPr marL="342900" indent="-342900">
                        <a:buFont typeface="Arial" panose="020B0604020202020204" pitchFamily="34" charset="0"/>
                        <a:buChar char="•"/>
                      </a:pPr>
                      <a:r>
                        <a:rPr lang="en-US" sz="1200">
                          <a:solidFill>
                            <a:srgbClr val="0B315E"/>
                          </a:solidFill>
                        </a:rPr>
                        <a:t>Data Contract Standardization &amp; The Medallion Architecture</a:t>
                      </a:r>
                    </a:p>
                    <a:p>
                      <a:pPr marL="342900" indent="-342900">
                        <a:buFont typeface="Arial" panose="020B0604020202020204" pitchFamily="34" charset="0"/>
                        <a:buChar char="•"/>
                      </a:pPr>
                      <a:r>
                        <a:rPr lang="en-US" sz="1200">
                          <a:solidFill>
                            <a:srgbClr val="0B315E"/>
                          </a:solidFill>
                        </a:rPr>
                        <a:t>Observability &amp; Security Analytics Rationalization</a:t>
                      </a:r>
                    </a:p>
                  </a:txBody>
                  <a:tcPr>
                    <a:lnT w="12700" cap="flat" cmpd="sng" algn="ctr">
                      <a:solidFill>
                        <a:srgbClr val="0B315E"/>
                      </a:solidFill>
                      <a:prstDash val="solid"/>
                      <a:round/>
                      <a:headEnd type="none" w="med" len="med"/>
                      <a:tailEnd type="none" w="med" len="med"/>
                    </a:lnT>
                    <a:lnB w="12700" cap="flat" cmpd="sng" algn="ctr">
                      <a:solidFill>
                        <a:srgbClr val="0B315E"/>
                      </a:solidFill>
                      <a:prstDash val="solid"/>
                      <a:round/>
                      <a:headEnd type="none" w="med" len="med"/>
                      <a:tailEnd type="none" w="med" len="med"/>
                    </a:lnB>
                  </a:tcPr>
                </a:tc>
                <a:extLst>
                  <a:ext uri="{0D108BD9-81ED-4DB2-BD59-A6C34878D82A}">
                    <a16:rowId xmlns:a16="http://schemas.microsoft.com/office/drawing/2014/main" val="1588845903"/>
                  </a:ext>
                </a:extLst>
              </a:tr>
              <a:tr h="365760">
                <a:tc>
                  <a:txBody>
                    <a:bodyPr/>
                    <a:lstStyle/>
                    <a:p>
                      <a:r>
                        <a:rPr lang="en-US" sz="1200" b="1">
                          <a:solidFill>
                            <a:srgbClr val="0B315E"/>
                          </a:solidFill>
                        </a:rPr>
                        <a:t>3</a:t>
                      </a:r>
                    </a:p>
                  </a:txBody>
                  <a:tcPr>
                    <a:lnT w="12700" cap="flat" cmpd="sng" algn="ctr">
                      <a:solidFill>
                        <a:srgbClr val="0B315E"/>
                      </a:solidFill>
                      <a:prstDash val="solid"/>
                      <a:round/>
                      <a:headEnd type="none" w="med" len="med"/>
                      <a:tailEnd type="none" w="med" len="med"/>
                    </a:lnT>
                    <a:lnB w="12700" cap="flat" cmpd="sng" algn="ctr">
                      <a:solidFill>
                        <a:srgbClr val="0B315E"/>
                      </a:solidFill>
                      <a:prstDash val="solid"/>
                      <a:round/>
                      <a:headEnd type="none" w="med" len="med"/>
                      <a:tailEnd type="none" w="med" len="med"/>
                    </a:lnB>
                  </a:tcPr>
                </a:tc>
                <a:tc>
                  <a:txBody>
                    <a:bodyPr/>
                    <a:lstStyle/>
                    <a:p>
                      <a:r>
                        <a:rPr lang="en-US" sz="1200" b="0" kern="1500">
                          <a:solidFill>
                            <a:srgbClr val="0B315E"/>
                          </a:solidFill>
                          <a:effectLst/>
                          <a:latin typeface="+mn-lt"/>
                          <a:ea typeface="+mn-ea"/>
                          <a:cs typeface="+mn-cs"/>
                        </a:rPr>
                        <a:t>Agile Delivery Model &amp; Factory Execution</a:t>
                      </a:r>
                    </a:p>
                    <a:p>
                      <a:pPr marL="342900" indent="-342900">
                        <a:buFont typeface="Arial" panose="020B0604020202020204" pitchFamily="34" charset="0"/>
                        <a:buChar char="•"/>
                      </a:pPr>
                      <a:r>
                        <a:rPr lang="en-US" sz="1200" b="0" kern="1500">
                          <a:solidFill>
                            <a:srgbClr val="0B315E"/>
                          </a:solidFill>
                          <a:effectLst/>
                          <a:latin typeface="+mn-lt"/>
                          <a:ea typeface="+mn-ea"/>
                          <a:cs typeface="+mn-cs"/>
                        </a:rPr>
                        <a:t>Moving Beyond Waterfall: The Persona-Based Agile Pod Model</a:t>
                      </a:r>
                    </a:p>
                    <a:p>
                      <a:pPr marL="342900" indent="-342900">
                        <a:buFont typeface="Arial" panose="020B0604020202020204" pitchFamily="34" charset="0"/>
                        <a:buChar char="•"/>
                      </a:pPr>
                      <a:r>
                        <a:rPr lang="en-US" sz="1200" b="0" kern="1500">
                          <a:solidFill>
                            <a:srgbClr val="0B315E"/>
                          </a:solidFill>
                          <a:effectLst/>
                          <a:latin typeface="+mn-lt"/>
                          <a:ea typeface="+mn-ea"/>
                          <a:cs typeface="+mn-cs"/>
                        </a:rPr>
                        <a:t>End-to-End Modernization Factory Lifecycle (Bronze -&gt; Silver -&gt; Gold)</a:t>
                      </a:r>
                    </a:p>
                    <a:p>
                      <a:pPr marL="342900" indent="-342900">
                        <a:buFont typeface="Arial" panose="020B0604020202020204" pitchFamily="34" charset="0"/>
                        <a:buChar char="•"/>
                      </a:pPr>
                      <a:r>
                        <a:rPr lang="it-IT" sz="1200" b="0" kern="1500">
                          <a:solidFill>
                            <a:srgbClr val="0B315E"/>
                          </a:solidFill>
                          <a:effectLst/>
                          <a:latin typeface="+mn-lt"/>
                          <a:ea typeface="+mn-ea"/>
                          <a:cs typeface="+mn-cs"/>
                        </a:rPr>
                        <a:t>AI Accelerators &amp; Automation Leverage (KPMG Blaze &amp; Claude)</a:t>
                      </a:r>
                      <a:endParaRPr lang="en-US" sz="1200" b="0" kern="1500">
                        <a:solidFill>
                          <a:srgbClr val="0B315E"/>
                        </a:solidFill>
                        <a:effectLst/>
                        <a:latin typeface="+mn-lt"/>
                        <a:ea typeface="+mn-ea"/>
                        <a:cs typeface="+mn-cs"/>
                      </a:endParaRPr>
                    </a:p>
                  </a:txBody>
                  <a:tcPr>
                    <a:lnT w="12700" cap="flat" cmpd="sng" algn="ctr">
                      <a:solidFill>
                        <a:srgbClr val="0B315E"/>
                      </a:solidFill>
                      <a:prstDash val="solid"/>
                      <a:round/>
                      <a:headEnd type="none" w="med" len="med"/>
                      <a:tailEnd type="none" w="med" len="med"/>
                    </a:lnT>
                    <a:lnB w="12700" cap="flat" cmpd="sng" algn="ctr">
                      <a:solidFill>
                        <a:srgbClr val="0B315E"/>
                      </a:solidFill>
                      <a:prstDash val="solid"/>
                      <a:round/>
                      <a:headEnd type="none" w="med" len="med"/>
                      <a:tailEnd type="none" w="med" len="med"/>
                    </a:lnB>
                  </a:tcPr>
                </a:tc>
                <a:extLst>
                  <a:ext uri="{0D108BD9-81ED-4DB2-BD59-A6C34878D82A}">
                    <a16:rowId xmlns:a16="http://schemas.microsoft.com/office/drawing/2014/main" val="1676775229"/>
                  </a:ext>
                </a:extLst>
              </a:tr>
              <a:tr h="365760">
                <a:tc>
                  <a:txBody>
                    <a:bodyPr/>
                    <a:lstStyle/>
                    <a:p>
                      <a:r>
                        <a:rPr lang="en-US" sz="1200" b="1">
                          <a:solidFill>
                            <a:srgbClr val="0B315E"/>
                          </a:solidFill>
                        </a:rPr>
                        <a:t>4</a:t>
                      </a:r>
                    </a:p>
                  </a:txBody>
                  <a:tcPr>
                    <a:lnT w="12700" cap="flat" cmpd="sng" algn="ctr">
                      <a:solidFill>
                        <a:srgbClr val="0B315E"/>
                      </a:solidFill>
                      <a:prstDash val="solid"/>
                      <a:round/>
                      <a:headEnd type="none" w="med" len="med"/>
                      <a:tailEnd type="none" w="med" len="med"/>
                    </a:lnT>
                    <a:lnB w="12700" cap="flat" cmpd="sng" algn="ctr">
                      <a:solidFill>
                        <a:srgbClr val="0B315E"/>
                      </a:solidFill>
                      <a:prstDash val="solid"/>
                      <a:round/>
                      <a:headEnd type="none" w="med" len="med"/>
                      <a:tailEnd type="none" w="med" len="med"/>
                    </a:lnB>
                  </a:tcPr>
                </a:tc>
                <a:tc>
                  <a:txBody>
                    <a:bodyPr/>
                    <a:lstStyle/>
                    <a:p>
                      <a:pPr marL="0" indent="0">
                        <a:buFont typeface="Arial" panose="020B0604020202020204" pitchFamily="34" charset="0"/>
                        <a:buNone/>
                      </a:pPr>
                      <a:r>
                        <a:rPr lang="en-US" sz="1200" b="0" kern="1500">
                          <a:solidFill>
                            <a:srgbClr val="0B315E"/>
                          </a:solidFill>
                          <a:effectLst/>
                          <a:latin typeface="+mn-lt"/>
                          <a:ea typeface="+mn-ea"/>
                          <a:cs typeface="+mn-cs"/>
                        </a:rPr>
                        <a:t>Governance, Commercials &amp; Stakeholders</a:t>
                      </a:r>
                    </a:p>
                    <a:p>
                      <a:pPr marL="342900" indent="-342900">
                        <a:buFont typeface="Arial" panose="020B0604020202020204" pitchFamily="34" charset="0"/>
                        <a:buChar char="•"/>
                      </a:pPr>
                      <a:r>
                        <a:rPr lang="en-US" sz="1200" b="0" kern="1500">
                          <a:solidFill>
                            <a:srgbClr val="0B315E"/>
                          </a:solidFill>
                          <a:effectLst/>
                          <a:latin typeface="+mn-lt"/>
                          <a:ea typeface="+mn-ea"/>
                          <a:cs typeface="+mn-cs"/>
                        </a:rPr>
                        <a:t>Multi-Party Alliance &amp; Hybrid Commercial Model</a:t>
                      </a:r>
                    </a:p>
                    <a:p>
                      <a:pPr marL="342900" indent="-342900">
                        <a:buFont typeface="Arial" panose="020B0604020202020204" pitchFamily="34" charset="0"/>
                        <a:buChar char="•"/>
                      </a:pPr>
                      <a:r>
                        <a:rPr lang="en-US" sz="1200" b="0" kern="1500">
                          <a:solidFill>
                            <a:srgbClr val="0B315E"/>
                          </a:solidFill>
                          <a:effectLst/>
                          <a:latin typeface="+mn-lt"/>
                          <a:ea typeface="+mn-ea"/>
                          <a:cs typeface="+mn-cs"/>
                        </a:rPr>
                        <a:t>Program Governance, Cadences &amp; Tracking</a:t>
                      </a:r>
                    </a:p>
                    <a:p>
                      <a:pPr marL="342900" indent="-342900">
                        <a:buFont typeface="Arial" panose="020B0604020202020204" pitchFamily="34" charset="0"/>
                        <a:buChar char="•"/>
                      </a:pPr>
                      <a:r>
                        <a:rPr lang="en-US" sz="1200" b="0" kern="1500">
                          <a:solidFill>
                            <a:srgbClr val="0B315E"/>
                          </a:solidFill>
                          <a:effectLst/>
                          <a:latin typeface="+mn-lt"/>
                          <a:ea typeface="+mn-ea"/>
                          <a:cs typeface="+mn-cs"/>
                        </a:rPr>
                        <a:t>Integrated Joint Stakeholder Organization &amp; RACI</a:t>
                      </a:r>
                    </a:p>
                  </a:txBody>
                  <a:tcPr>
                    <a:lnT w="12700" cap="flat" cmpd="sng" algn="ctr">
                      <a:solidFill>
                        <a:srgbClr val="0B315E"/>
                      </a:solidFill>
                      <a:prstDash val="solid"/>
                      <a:round/>
                      <a:headEnd type="none" w="med" len="med"/>
                      <a:tailEnd type="none" w="med" len="med"/>
                    </a:lnT>
                    <a:lnB w="12700" cap="flat" cmpd="sng" algn="ctr">
                      <a:solidFill>
                        <a:srgbClr val="0B315E"/>
                      </a:solidFill>
                      <a:prstDash val="solid"/>
                      <a:round/>
                      <a:headEnd type="none" w="med" len="med"/>
                      <a:tailEnd type="none" w="med" len="med"/>
                    </a:lnB>
                  </a:tcPr>
                </a:tc>
                <a:extLst>
                  <a:ext uri="{0D108BD9-81ED-4DB2-BD59-A6C34878D82A}">
                    <a16:rowId xmlns:a16="http://schemas.microsoft.com/office/drawing/2014/main" val="374517190"/>
                  </a:ext>
                </a:extLst>
              </a:tr>
              <a:tr h="365760">
                <a:tc>
                  <a:txBody>
                    <a:bodyPr/>
                    <a:lstStyle/>
                    <a:p>
                      <a:r>
                        <a:rPr lang="en-US" sz="1200" b="1">
                          <a:solidFill>
                            <a:srgbClr val="0B315E"/>
                          </a:solidFill>
                        </a:rPr>
                        <a:t>5</a:t>
                      </a:r>
                    </a:p>
                  </a:txBody>
                  <a:tcPr>
                    <a:lnT w="12700" cap="flat" cmpd="sng" algn="ctr">
                      <a:solidFill>
                        <a:srgbClr val="0B315E"/>
                      </a:solidFill>
                      <a:prstDash val="solid"/>
                      <a:round/>
                      <a:headEnd type="none" w="med" len="med"/>
                      <a:tailEnd type="none" w="med" len="med"/>
                    </a:lnT>
                  </a:tcPr>
                </a:tc>
                <a:tc>
                  <a:txBody>
                    <a:bodyPr/>
                    <a:lstStyle/>
                    <a:p>
                      <a:pPr marL="0" indent="0">
                        <a:buFont typeface="Arial" panose="020B0604020202020204" pitchFamily="34" charset="0"/>
                        <a:buNone/>
                      </a:pPr>
                      <a:r>
                        <a:rPr lang="en-US" sz="1200" b="0" kern="1500">
                          <a:solidFill>
                            <a:srgbClr val="0B315E"/>
                          </a:solidFill>
                          <a:effectLst/>
                          <a:latin typeface="+mn-lt"/>
                          <a:ea typeface="+mn-ea"/>
                          <a:cs typeface="+mn-cs"/>
                        </a:rPr>
                        <a:t>Integrated Roadmap, Change Freeze &amp; Next Steps</a:t>
                      </a:r>
                    </a:p>
                    <a:p>
                      <a:pPr marL="342900" indent="-342900">
                        <a:buFont typeface="Arial" panose="020B0604020202020204" pitchFamily="34" charset="0"/>
                        <a:buChar char="•"/>
                      </a:pPr>
                      <a:r>
                        <a:rPr lang="en-US" sz="1200" b="0" kern="1500">
                          <a:solidFill>
                            <a:srgbClr val="0B315E"/>
                          </a:solidFill>
                          <a:effectLst/>
                          <a:latin typeface="+mn-lt"/>
                          <a:ea typeface="+mn-ea"/>
                          <a:cs typeface="+mn-cs"/>
                        </a:rPr>
                        <a:t>Milestone Delivery Roadmap &amp; The 4–6 Week Scope Lock</a:t>
                      </a:r>
                    </a:p>
                    <a:p>
                      <a:pPr marL="342900" indent="-342900">
                        <a:buFont typeface="Arial" panose="020B0604020202020204" pitchFamily="34" charset="0"/>
                        <a:buChar char="•"/>
                      </a:pPr>
                      <a:r>
                        <a:rPr lang="en-US" sz="1200" b="0" kern="1500">
                          <a:solidFill>
                            <a:srgbClr val="0B315E"/>
                          </a:solidFill>
                          <a:effectLst/>
                          <a:latin typeface="+mn-lt"/>
                          <a:ea typeface="+mn-ea"/>
                          <a:cs typeface="+mn-cs"/>
                        </a:rPr>
                        <a:t>Critical Path &amp; "Welcome Season" Change Freeze Mitigation</a:t>
                      </a:r>
                    </a:p>
                    <a:p>
                      <a:pPr marL="342900" indent="-342900">
                        <a:buFont typeface="Arial" panose="020B0604020202020204" pitchFamily="34" charset="0"/>
                        <a:buChar char="•"/>
                      </a:pPr>
                      <a:r>
                        <a:rPr lang="en-US" sz="1200" b="0" kern="1500">
                          <a:solidFill>
                            <a:srgbClr val="0B315E"/>
                          </a:solidFill>
                          <a:effectLst/>
                          <a:latin typeface="+mn-lt"/>
                          <a:ea typeface="+mn-ea"/>
                          <a:cs typeface="+mn-cs"/>
                        </a:rPr>
                        <a:t>Day 1 Immediate Priorities &amp; Action Items</a:t>
                      </a:r>
                    </a:p>
                  </a:txBody>
                  <a:tcPr>
                    <a:lnT w="12700" cap="flat" cmpd="sng" algn="ctr">
                      <a:solidFill>
                        <a:srgbClr val="0B315E"/>
                      </a:solidFill>
                      <a:prstDash val="solid"/>
                      <a:round/>
                      <a:headEnd type="none" w="med" len="med"/>
                      <a:tailEnd type="none" w="med" len="med"/>
                    </a:lnT>
                  </a:tcPr>
                </a:tc>
                <a:extLst>
                  <a:ext uri="{0D108BD9-81ED-4DB2-BD59-A6C34878D82A}">
                    <a16:rowId xmlns:a16="http://schemas.microsoft.com/office/drawing/2014/main" val="215897530"/>
                  </a:ext>
                </a:extLst>
              </a:tr>
            </a:tbl>
          </a:graphicData>
        </a:graphic>
      </p:graphicFrame>
      <p:sp>
        <p:nvSpPr>
          <p:cNvPr id="6" name="Rectangle 5">
            <a:extLst>
              <a:ext uri="{FF2B5EF4-FFF2-40B4-BE49-F238E27FC236}">
                <a16:creationId xmlns:a16="http://schemas.microsoft.com/office/drawing/2014/main" id="{BC4E9553-5930-5C7C-6778-9878D957F12A}"/>
              </a:ext>
            </a:extLst>
          </p:cNvPr>
          <p:cNvSpPr/>
          <p:nvPr/>
        </p:nvSpPr>
        <p:spPr bwMode="gray">
          <a:xfrm>
            <a:off x="4882101" y="940815"/>
            <a:ext cx="6751968" cy="4670149"/>
          </a:xfrm>
          <a:prstGeom prst="rect">
            <a:avLst/>
          </a:prstGeom>
          <a:solidFill>
            <a:schemeClr val="accent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solidFill>
                  <a:schemeClr val="bg1"/>
                </a:solidFill>
              </a:rPr>
              <a:t>To update</a:t>
            </a:r>
          </a:p>
        </p:txBody>
      </p:sp>
      <p:sp>
        <p:nvSpPr>
          <p:cNvPr id="8" name="Rectangle 7">
            <a:extLst>
              <a:ext uri="{FF2B5EF4-FFF2-40B4-BE49-F238E27FC236}">
                <a16:creationId xmlns:a16="http://schemas.microsoft.com/office/drawing/2014/main" id="{021F93E1-0245-A1B8-3D87-D01070204DFE}"/>
              </a:ext>
            </a:extLst>
          </p:cNvPr>
          <p:cNvSpPr/>
          <p:nvPr/>
        </p:nvSpPr>
        <p:spPr bwMode="gray">
          <a:xfrm>
            <a:off x="1343025" y="4152900"/>
            <a:ext cx="1828800" cy="914400"/>
          </a:xfrm>
          <a:prstGeom prst="rect">
            <a:avLst/>
          </a:prstGeom>
          <a:solidFill>
            <a:schemeClr val="accent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1000">
                <a:solidFill>
                  <a:schemeClr val="bg1"/>
                </a:solidFill>
              </a:rPr>
              <a:t>Ensure incorporation of:</a:t>
            </a:r>
          </a:p>
          <a:p>
            <a:pPr marL="171450" indent="-171450">
              <a:buFont typeface="Arial" panose="020B0604020202020204" pitchFamily="34" charset="0"/>
              <a:buChar char="•"/>
            </a:pPr>
            <a:r>
              <a:rPr lang="en-US" sz="1000">
                <a:solidFill>
                  <a:schemeClr val="bg1"/>
                </a:solidFill>
              </a:rPr>
              <a:t>Deliverables</a:t>
            </a:r>
          </a:p>
        </p:txBody>
      </p:sp>
    </p:spTree>
    <p:extLst>
      <p:ext uri="{BB962C8B-B14F-4D97-AF65-F5344CB8AC3E}">
        <p14:creationId xmlns:p14="http://schemas.microsoft.com/office/powerpoint/2010/main" val="3652795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1D66760-83A5-A83F-5426-8E19705F2987}"/>
              </a:ext>
            </a:extLst>
          </p:cNvPr>
          <p:cNvGraphicFramePr>
            <a:graphicFrameLocks/>
          </p:cNvGraphicFramePr>
          <p:nvPr>
            <p:custDataLst>
              <p:tags r:id="rId1"/>
            </p:custDataLst>
            <p:extLst>
              <p:ext uri="{D42A27DB-BD31-4B8C-83A1-F6EECF244321}">
                <p14:modId xmlns:p14="http://schemas.microsoft.com/office/powerpoint/2010/main" val="39237665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5" name="thinkcell data - do not delete" hidden="1">
                        <a:extLst>
                          <a:ext uri="{FF2B5EF4-FFF2-40B4-BE49-F238E27FC236}">
                            <a16:creationId xmlns:a16="http://schemas.microsoft.com/office/drawing/2014/main" id="{81D66760-83A5-A83F-5426-8E19705F298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aphicFrame>
        <p:nvGraphicFramePr>
          <p:cNvPr id="8" name="Content Placeholder 7">
            <a:extLst>
              <a:ext uri="{FF2B5EF4-FFF2-40B4-BE49-F238E27FC236}">
                <a16:creationId xmlns:a16="http://schemas.microsoft.com/office/drawing/2014/main" id="{2F16388F-E6CD-78AE-3531-DD83488B910A}"/>
              </a:ext>
            </a:extLst>
          </p:cNvPr>
          <p:cNvGraphicFramePr>
            <a:graphicFrameLocks noGrp="1"/>
          </p:cNvGraphicFramePr>
          <p:nvPr>
            <p:ph idx="1"/>
            <p:extLst>
              <p:ext uri="{D42A27DB-BD31-4B8C-83A1-F6EECF244321}">
                <p14:modId xmlns:p14="http://schemas.microsoft.com/office/powerpoint/2010/main" val="31348763"/>
              </p:ext>
            </p:extLst>
          </p:nvPr>
        </p:nvGraphicFramePr>
        <p:xfrm>
          <a:off x="1345033" y="1991574"/>
          <a:ext cx="5865236" cy="3566160"/>
        </p:xfrm>
        <a:graphic>
          <a:graphicData uri="http://schemas.openxmlformats.org/drawingml/2006/table">
            <a:tbl>
              <a:tblPr firstRow="1" bandRow="1">
                <a:tableStyleId>{9D7B26C5-4107-4FEC-AEDC-1716B250A1EF}</a:tableStyleId>
              </a:tblPr>
              <a:tblGrid>
                <a:gridCol w="1955081">
                  <a:extLst>
                    <a:ext uri="{9D8B030D-6E8A-4147-A177-3AD203B41FA5}">
                      <a16:colId xmlns:a16="http://schemas.microsoft.com/office/drawing/2014/main" val="740285423"/>
                    </a:ext>
                  </a:extLst>
                </a:gridCol>
                <a:gridCol w="1303385">
                  <a:extLst>
                    <a:ext uri="{9D8B030D-6E8A-4147-A177-3AD203B41FA5}">
                      <a16:colId xmlns:a16="http://schemas.microsoft.com/office/drawing/2014/main" val="1893205760"/>
                    </a:ext>
                  </a:extLst>
                </a:gridCol>
                <a:gridCol w="1303385">
                  <a:extLst>
                    <a:ext uri="{9D8B030D-6E8A-4147-A177-3AD203B41FA5}">
                      <a16:colId xmlns:a16="http://schemas.microsoft.com/office/drawing/2014/main" val="3100754962"/>
                    </a:ext>
                  </a:extLst>
                </a:gridCol>
                <a:gridCol w="1303385">
                  <a:extLst>
                    <a:ext uri="{9D8B030D-6E8A-4147-A177-3AD203B41FA5}">
                      <a16:colId xmlns:a16="http://schemas.microsoft.com/office/drawing/2014/main" val="4207159839"/>
                    </a:ext>
                  </a:extLst>
                </a:gridCol>
              </a:tblGrid>
              <a:tr h="324565">
                <a:tc>
                  <a:txBody>
                    <a:bodyPr/>
                    <a:lstStyle/>
                    <a:p>
                      <a:pPr algn="l" fontAlgn="b">
                        <a:buNone/>
                      </a:pPr>
                      <a:r>
                        <a:rPr lang="en-US" sz="2000" u="none" strike="noStrike">
                          <a:effectLst/>
                        </a:rPr>
                        <a:t>Workstream</a:t>
                      </a:r>
                      <a:endParaRPr lang="en-US" sz="2000" b="0" i="0" u="none" strike="noStrike">
                        <a:solidFill>
                          <a:srgbClr val="000000"/>
                        </a:solidFill>
                        <a:effectLst/>
                        <a:latin typeface="Calibri" panose="020F0502020204030204" pitchFamily="34" charset="0"/>
                      </a:endParaRPr>
                    </a:p>
                  </a:txBody>
                  <a:tcPr anchor="b"/>
                </a:tc>
                <a:tc>
                  <a:txBody>
                    <a:bodyPr/>
                    <a:lstStyle/>
                    <a:p>
                      <a:pPr algn="l" fontAlgn="b">
                        <a:buNone/>
                      </a:pPr>
                      <a:r>
                        <a:rPr lang="en-US" sz="2000" u="none" strike="noStrike">
                          <a:effectLst/>
                        </a:rPr>
                        <a:t>EP</a:t>
                      </a:r>
                      <a:endParaRPr lang="en-US" sz="2000" b="1" i="0" u="none" strike="noStrike">
                        <a:solidFill>
                          <a:srgbClr val="000000"/>
                        </a:solidFill>
                        <a:effectLst/>
                        <a:latin typeface="Calibri" panose="020F0502020204030204" pitchFamily="34" charset="0"/>
                      </a:endParaRPr>
                    </a:p>
                  </a:txBody>
                  <a:tcPr anchor="b"/>
                </a:tc>
                <a:tc>
                  <a:txBody>
                    <a:bodyPr/>
                    <a:lstStyle/>
                    <a:p>
                      <a:pPr algn="l" fontAlgn="b">
                        <a:buNone/>
                      </a:pPr>
                      <a:r>
                        <a:rPr lang="en-US" sz="2000" u="none" strike="noStrike">
                          <a:effectLst/>
                        </a:rPr>
                        <a:t>EM</a:t>
                      </a:r>
                      <a:endParaRPr lang="en-US" sz="2000" b="1" i="0" u="none" strike="noStrike">
                        <a:solidFill>
                          <a:srgbClr val="000000"/>
                        </a:solidFill>
                        <a:effectLst/>
                        <a:latin typeface="Calibri" panose="020F0502020204030204" pitchFamily="34" charset="0"/>
                      </a:endParaRPr>
                    </a:p>
                  </a:txBody>
                  <a:tcPr anchor="b"/>
                </a:tc>
                <a:tc>
                  <a:txBody>
                    <a:bodyPr/>
                    <a:lstStyle/>
                    <a:p>
                      <a:pPr algn="l" fontAlgn="b">
                        <a:buNone/>
                      </a:pPr>
                      <a:r>
                        <a:rPr lang="en-US" sz="2000" b="1" u="none" strike="noStrike">
                          <a:solidFill>
                            <a:srgbClr val="000000"/>
                          </a:solidFill>
                          <a:effectLst/>
                        </a:rPr>
                        <a:t>Lead</a:t>
                      </a:r>
                      <a:endParaRPr lang="en-US" sz="2000" b="1"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341914981"/>
                  </a:ext>
                </a:extLst>
              </a:tr>
              <a:tr h="324565">
                <a:tc>
                  <a:txBody>
                    <a:bodyPr/>
                    <a:lstStyle/>
                    <a:p>
                      <a:pPr algn="l" fontAlgn="b">
                        <a:buNone/>
                      </a:pPr>
                      <a:r>
                        <a:rPr lang="en-US" sz="2000" u="none" strike="noStrike">
                          <a:effectLst/>
                        </a:rPr>
                        <a:t>0</a:t>
                      </a:r>
                      <a:endParaRPr lang="en-US" sz="2000" b="0" i="0" u="none" strike="noStrike">
                        <a:solidFill>
                          <a:srgbClr val="000000"/>
                        </a:solidFill>
                        <a:effectLst/>
                        <a:latin typeface="Calibri" panose="020F0502020204030204" pitchFamily="34" charset="0"/>
                      </a:endParaRPr>
                    </a:p>
                  </a:txBody>
                  <a:tcPr anchor="b"/>
                </a:tc>
                <a:tc>
                  <a:txBody>
                    <a:bodyPr/>
                    <a:lstStyle/>
                    <a:p>
                      <a:pPr algn="l" fontAlgn="b">
                        <a:buNone/>
                      </a:pPr>
                      <a:r>
                        <a:rPr lang="en-US" sz="2000" u="none" strike="noStrike">
                          <a:effectLst/>
                        </a:rPr>
                        <a:t>TH</a:t>
                      </a:r>
                      <a:endParaRPr lang="en-US" sz="2000" b="0" i="0" u="none" strike="noStrike">
                        <a:solidFill>
                          <a:srgbClr val="000000"/>
                        </a:solidFill>
                        <a:effectLst/>
                        <a:latin typeface="Calibri" panose="020F0502020204030204" pitchFamily="34" charset="0"/>
                      </a:endParaRPr>
                    </a:p>
                  </a:txBody>
                  <a:tcPr anchor="b"/>
                </a:tc>
                <a:tc>
                  <a:txBody>
                    <a:bodyPr/>
                    <a:lstStyle/>
                    <a:p>
                      <a:pPr algn="l" fontAlgn="b">
                        <a:buNone/>
                      </a:pPr>
                      <a:r>
                        <a:rPr lang="en-US" sz="2000" u="none" strike="noStrike">
                          <a:effectLst/>
                        </a:rPr>
                        <a:t>JB</a:t>
                      </a:r>
                      <a:endParaRPr lang="en-US" sz="2000" b="0" i="0" u="none" strike="noStrike">
                        <a:solidFill>
                          <a:srgbClr val="000000"/>
                        </a:solidFill>
                        <a:effectLst/>
                        <a:latin typeface="Calibri" panose="020F0502020204030204" pitchFamily="34" charset="0"/>
                      </a:endParaRPr>
                    </a:p>
                  </a:txBody>
                  <a:tcPr anchor="b"/>
                </a:tc>
                <a:tc>
                  <a:txBody>
                    <a:bodyPr/>
                    <a:lstStyle/>
                    <a:p>
                      <a:pPr algn="l" fontAlgn="b">
                        <a:buNone/>
                      </a:pPr>
                      <a:r>
                        <a:rPr lang="en-US" sz="2000" u="none" strike="noStrike">
                          <a:effectLst/>
                        </a:rPr>
                        <a:t>WW</a:t>
                      </a:r>
                      <a:endParaRPr lang="en-US" sz="20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497305098"/>
                  </a:ext>
                </a:extLst>
              </a:tr>
              <a:tr h="324565">
                <a:tc>
                  <a:txBody>
                    <a:bodyPr/>
                    <a:lstStyle/>
                    <a:p>
                      <a:pPr algn="l" fontAlgn="b">
                        <a:buNone/>
                      </a:pPr>
                      <a:r>
                        <a:rPr lang="en-US" sz="2000" u="none" strike="noStrike">
                          <a:effectLst/>
                        </a:rPr>
                        <a:t>A</a:t>
                      </a:r>
                      <a:endParaRPr lang="en-US" sz="2000" b="0" i="0" u="none" strike="noStrike">
                        <a:solidFill>
                          <a:srgbClr val="000000"/>
                        </a:solidFill>
                        <a:effectLst/>
                        <a:latin typeface="Calibri" panose="020F0502020204030204" pitchFamily="34" charset="0"/>
                      </a:endParaRPr>
                    </a:p>
                  </a:txBody>
                  <a:tcPr anchor="b"/>
                </a:tc>
                <a:tc>
                  <a:txBody>
                    <a:bodyPr/>
                    <a:lstStyle/>
                    <a:p>
                      <a:pPr algn="l" fontAlgn="b">
                        <a:buNone/>
                      </a:pPr>
                      <a:r>
                        <a:rPr lang="en-US" sz="2000" u="none" strike="noStrike">
                          <a:effectLst/>
                        </a:rPr>
                        <a:t>DB/NH</a:t>
                      </a:r>
                      <a:endParaRPr lang="en-US" sz="2000" b="0" i="0" u="none" strike="noStrike">
                        <a:solidFill>
                          <a:srgbClr val="000000"/>
                        </a:solidFill>
                        <a:effectLst/>
                        <a:latin typeface="Calibri" panose="020F0502020204030204" pitchFamily="34" charset="0"/>
                      </a:endParaRPr>
                    </a:p>
                  </a:txBody>
                  <a:tcPr anchor="b"/>
                </a:tc>
                <a:tc>
                  <a:txBody>
                    <a:bodyPr/>
                    <a:lstStyle/>
                    <a:p>
                      <a:pPr algn="l" fontAlgn="b">
                        <a:buNone/>
                      </a:pPr>
                      <a:r>
                        <a:rPr lang="en-US" sz="2000" u="none" strike="noStrike">
                          <a:effectLst/>
                        </a:rPr>
                        <a:t>MK</a:t>
                      </a:r>
                      <a:endParaRPr lang="en-US" sz="2000" b="0" i="0" u="none" strike="noStrike">
                        <a:solidFill>
                          <a:srgbClr val="000000"/>
                        </a:solidFill>
                        <a:effectLst/>
                        <a:latin typeface="Calibri" panose="020F0502020204030204" pitchFamily="34" charset="0"/>
                      </a:endParaRPr>
                    </a:p>
                  </a:txBody>
                  <a:tcPr anchor="b"/>
                </a:tc>
                <a:tc>
                  <a:txBody>
                    <a:bodyPr/>
                    <a:lstStyle/>
                    <a:p>
                      <a:pPr algn="l" fontAlgn="b">
                        <a:buNone/>
                      </a:pPr>
                      <a:r>
                        <a:rPr lang="en-US" sz="2000" b="0" u="none" strike="noStrike">
                          <a:solidFill>
                            <a:srgbClr val="000000"/>
                          </a:solidFill>
                          <a:effectLst/>
                        </a:rPr>
                        <a:t>JV/DM</a:t>
                      </a:r>
                      <a:endParaRPr lang="en-US" sz="20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750048639"/>
                  </a:ext>
                </a:extLst>
              </a:tr>
              <a:tr h="324565">
                <a:tc>
                  <a:txBody>
                    <a:bodyPr/>
                    <a:lstStyle/>
                    <a:p>
                      <a:pPr algn="l" fontAlgn="b">
                        <a:buNone/>
                      </a:pPr>
                      <a:r>
                        <a:rPr lang="en-US" sz="2000" u="none" strike="noStrike">
                          <a:effectLst/>
                        </a:rPr>
                        <a:t>B1</a:t>
                      </a:r>
                      <a:endParaRPr lang="en-US" sz="2000" b="0" i="0" u="none" strike="noStrike">
                        <a:solidFill>
                          <a:srgbClr val="000000"/>
                        </a:solidFill>
                        <a:effectLst/>
                        <a:latin typeface="Calibri" panose="020F0502020204030204" pitchFamily="34" charset="0"/>
                      </a:endParaRPr>
                    </a:p>
                  </a:txBody>
                  <a:tcPr anchor="b"/>
                </a:tc>
                <a:tc>
                  <a:txBody>
                    <a:bodyPr/>
                    <a:lstStyle/>
                    <a:p>
                      <a:pPr algn="l" fontAlgn="b">
                        <a:buNone/>
                      </a:pPr>
                      <a:r>
                        <a:rPr lang="en-US" sz="2000" u="none" strike="noStrike">
                          <a:effectLst/>
                        </a:rPr>
                        <a:t>DB/NH</a:t>
                      </a:r>
                      <a:endParaRPr lang="en-US" sz="2000" b="0" i="0" u="none" strike="noStrike">
                        <a:solidFill>
                          <a:srgbClr val="000000"/>
                        </a:solidFill>
                        <a:effectLst/>
                        <a:latin typeface="Calibri" panose="020F0502020204030204" pitchFamily="34" charset="0"/>
                      </a:endParaRPr>
                    </a:p>
                  </a:txBody>
                  <a:tcPr anchor="b"/>
                </a:tc>
                <a:tc>
                  <a:txBody>
                    <a:bodyPr/>
                    <a:lstStyle/>
                    <a:p>
                      <a:pPr algn="l" fontAlgn="b">
                        <a:buNone/>
                      </a:pPr>
                      <a:r>
                        <a:rPr lang="en-US" sz="2000" u="none" strike="noStrike">
                          <a:effectLst/>
                        </a:rPr>
                        <a:t>MK/AK</a:t>
                      </a:r>
                      <a:endParaRPr lang="en-US" sz="2000" b="0" i="0" u="none" strike="noStrike">
                        <a:solidFill>
                          <a:srgbClr val="000000"/>
                        </a:solidFill>
                        <a:effectLst/>
                        <a:latin typeface="Calibri" panose="020F0502020204030204" pitchFamily="34" charset="0"/>
                      </a:endParaRPr>
                    </a:p>
                  </a:txBody>
                  <a:tcPr anchor="b"/>
                </a:tc>
                <a:tc>
                  <a:txBody>
                    <a:bodyPr/>
                    <a:lstStyle/>
                    <a:p>
                      <a:pPr algn="l" fontAlgn="b">
                        <a:buNone/>
                      </a:pPr>
                      <a:r>
                        <a:rPr kumimoji="0" lang="en-US" sz="2000" b="0" u="none" strike="noStrike" kern="1500" cap="none" spc="0" normalizeH="0" baseline="0" noProof="0">
                          <a:ln>
                            <a:noFill/>
                          </a:ln>
                          <a:solidFill>
                            <a:srgbClr val="000000"/>
                          </a:solidFill>
                          <a:effectLst/>
                          <a:uLnTx/>
                          <a:uFillTx/>
                        </a:rPr>
                        <a:t>JV/DM</a:t>
                      </a:r>
                      <a:endParaRPr lang="en-US" sz="20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462402282"/>
                  </a:ext>
                </a:extLst>
              </a:tr>
              <a:tr h="324565">
                <a:tc>
                  <a:txBody>
                    <a:bodyPr/>
                    <a:lstStyle/>
                    <a:p>
                      <a:pPr algn="l" fontAlgn="b">
                        <a:buNone/>
                      </a:pPr>
                      <a:r>
                        <a:rPr lang="en-US" sz="2000" b="0" u="none" strike="noStrike">
                          <a:solidFill>
                            <a:srgbClr val="000000"/>
                          </a:solidFill>
                          <a:effectLst/>
                        </a:rPr>
                        <a:t>B2</a:t>
                      </a:r>
                      <a:endParaRPr lang="en-US" sz="2000" b="0" i="0" u="none" strike="noStrike">
                        <a:solidFill>
                          <a:srgbClr val="000000"/>
                        </a:solidFill>
                        <a:effectLst/>
                        <a:latin typeface="Calibri" panose="020F0502020204030204" pitchFamily="34" charset="0"/>
                      </a:endParaRPr>
                    </a:p>
                  </a:txBody>
                  <a:tcPr anchor="b"/>
                </a:tc>
                <a:tc>
                  <a:txBody>
                    <a:bodyPr/>
                    <a:lstStyle/>
                    <a:p>
                      <a:pPr algn="l" fontAlgn="b">
                        <a:buNone/>
                      </a:pPr>
                      <a:r>
                        <a:rPr lang="en-US" sz="2000" u="none" strike="noStrike">
                          <a:effectLst/>
                        </a:rPr>
                        <a:t>DB/NH</a:t>
                      </a:r>
                      <a:endParaRPr lang="en-US" sz="2000" b="0" i="0" u="none" strike="noStrike">
                        <a:solidFill>
                          <a:srgbClr val="000000"/>
                        </a:solidFill>
                        <a:effectLst/>
                        <a:latin typeface="Calibri" panose="020F0502020204030204" pitchFamily="34" charset="0"/>
                      </a:endParaRPr>
                    </a:p>
                  </a:txBody>
                  <a:tcPr anchor="b"/>
                </a:tc>
                <a:tc>
                  <a:txBody>
                    <a:bodyPr/>
                    <a:lstStyle/>
                    <a:p>
                      <a:pPr algn="l" fontAlgn="b">
                        <a:buNone/>
                      </a:pPr>
                      <a:r>
                        <a:rPr lang="en-US" sz="2000" u="none" strike="noStrike">
                          <a:effectLst/>
                        </a:rPr>
                        <a:t>MK/AK</a:t>
                      </a:r>
                      <a:endParaRPr lang="en-US" sz="2000" b="0" i="0" u="none" strike="noStrike">
                        <a:solidFill>
                          <a:srgbClr val="000000"/>
                        </a:solidFill>
                        <a:effectLst/>
                        <a:latin typeface="Calibri" panose="020F0502020204030204" pitchFamily="34" charset="0"/>
                      </a:endParaRPr>
                    </a:p>
                  </a:txBody>
                  <a:tcPr anchor="b"/>
                </a:tc>
                <a:tc>
                  <a:txBody>
                    <a:bodyPr/>
                    <a:lstStyle/>
                    <a:p>
                      <a:pPr algn="l" fontAlgn="b">
                        <a:buNone/>
                      </a:pPr>
                      <a:r>
                        <a:rPr kumimoji="0" lang="en-US" sz="2000" b="0" u="none" strike="noStrike" kern="1500" cap="none" spc="0" normalizeH="0" baseline="0" noProof="0">
                          <a:ln>
                            <a:noFill/>
                          </a:ln>
                          <a:solidFill>
                            <a:srgbClr val="000000"/>
                          </a:solidFill>
                          <a:effectLst/>
                          <a:uLnTx/>
                          <a:uFillTx/>
                        </a:rPr>
                        <a:t>JV/DM</a:t>
                      </a:r>
                      <a:endParaRPr lang="en-US" sz="20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1155967360"/>
                  </a:ext>
                </a:extLst>
              </a:tr>
              <a:tr h="324565">
                <a:tc>
                  <a:txBody>
                    <a:bodyPr/>
                    <a:lstStyle/>
                    <a:p>
                      <a:pPr algn="l" fontAlgn="b">
                        <a:buNone/>
                      </a:pPr>
                      <a:r>
                        <a:rPr lang="en-US" sz="2000" u="none" strike="noStrike">
                          <a:effectLst/>
                        </a:rPr>
                        <a:t>C</a:t>
                      </a:r>
                      <a:endParaRPr lang="en-US" sz="2000" b="0" i="0" u="none" strike="noStrike">
                        <a:solidFill>
                          <a:srgbClr val="000000"/>
                        </a:solidFill>
                        <a:effectLst/>
                        <a:latin typeface="Calibri" panose="020F0502020204030204" pitchFamily="34" charset="0"/>
                      </a:endParaRPr>
                    </a:p>
                  </a:txBody>
                  <a:tcPr anchor="b"/>
                </a:tc>
                <a:tc>
                  <a:txBody>
                    <a:bodyPr/>
                    <a:lstStyle/>
                    <a:p>
                      <a:pPr algn="l" fontAlgn="b">
                        <a:buNone/>
                      </a:pPr>
                      <a:r>
                        <a:rPr lang="en-US" sz="2000" u="none" strike="noStrike">
                          <a:effectLst/>
                        </a:rPr>
                        <a:t>DB/NH</a:t>
                      </a:r>
                      <a:endParaRPr lang="en-US" sz="2000" b="0" i="0" u="none" strike="noStrike">
                        <a:solidFill>
                          <a:srgbClr val="000000"/>
                        </a:solidFill>
                        <a:effectLst/>
                        <a:latin typeface="Calibri" panose="020F0502020204030204" pitchFamily="34" charset="0"/>
                      </a:endParaRPr>
                    </a:p>
                  </a:txBody>
                  <a:tcPr anchor="b"/>
                </a:tc>
                <a:tc>
                  <a:txBody>
                    <a:bodyPr/>
                    <a:lstStyle/>
                    <a:p>
                      <a:pPr algn="l" fontAlgn="b">
                        <a:buNone/>
                      </a:pPr>
                      <a:r>
                        <a:rPr lang="en-US" sz="2000" u="none" strike="noStrike">
                          <a:effectLst/>
                        </a:rPr>
                        <a:t>MK/AK</a:t>
                      </a:r>
                      <a:endParaRPr lang="en-US" sz="2000" b="0" i="0" u="none" strike="noStrike">
                        <a:solidFill>
                          <a:srgbClr val="000000"/>
                        </a:solidFill>
                        <a:effectLst/>
                        <a:latin typeface="Calibri" panose="020F0502020204030204" pitchFamily="34" charset="0"/>
                      </a:endParaRPr>
                    </a:p>
                  </a:txBody>
                  <a:tcPr anchor="b"/>
                </a:tc>
                <a:tc>
                  <a:txBody>
                    <a:bodyPr/>
                    <a:lstStyle/>
                    <a:p>
                      <a:pPr algn="l" fontAlgn="b">
                        <a:buNone/>
                      </a:pPr>
                      <a:r>
                        <a:rPr kumimoji="0" lang="en-US" sz="2000" b="0" u="none" strike="noStrike" kern="1500" cap="none" spc="0" normalizeH="0" baseline="0" noProof="0">
                          <a:ln>
                            <a:noFill/>
                          </a:ln>
                          <a:solidFill>
                            <a:srgbClr val="000000"/>
                          </a:solidFill>
                          <a:effectLst/>
                          <a:uLnTx/>
                          <a:uFillTx/>
                        </a:rPr>
                        <a:t>JV/DM</a:t>
                      </a:r>
                      <a:endParaRPr lang="en-US" sz="20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4149636965"/>
                  </a:ext>
                </a:extLst>
              </a:tr>
              <a:tr h="324565">
                <a:tc>
                  <a:txBody>
                    <a:bodyPr/>
                    <a:lstStyle/>
                    <a:p>
                      <a:pPr algn="l" fontAlgn="b">
                        <a:buNone/>
                      </a:pPr>
                      <a:r>
                        <a:rPr lang="en-US" sz="2000" u="none" strike="noStrike">
                          <a:effectLst/>
                        </a:rPr>
                        <a:t>D</a:t>
                      </a:r>
                      <a:endParaRPr lang="en-US" sz="2000" b="0" i="0" u="none" strike="noStrike">
                        <a:solidFill>
                          <a:srgbClr val="000000"/>
                        </a:solidFill>
                        <a:effectLst/>
                        <a:latin typeface="Calibri" panose="020F0502020204030204" pitchFamily="34" charset="0"/>
                      </a:endParaRPr>
                    </a:p>
                  </a:txBody>
                  <a:tcPr anchor="b"/>
                </a:tc>
                <a:tc>
                  <a:txBody>
                    <a:bodyPr/>
                    <a:lstStyle/>
                    <a:p>
                      <a:pPr algn="l" fontAlgn="b">
                        <a:buNone/>
                      </a:pPr>
                      <a:r>
                        <a:rPr lang="en-US" sz="2000" u="none" strike="noStrike">
                          <a:effectLst/>
                        </a:rPr>
                        <a:t>RB</a:t>
                      </a:r>
                      <a:endParaRPr lang="en-US" sz="2000" b="0" i="0" u="none" strike="noStrike">
                        <a:solidFill>
                          <a:srgbClr val="000000"/>
                        </a:solidFill>
                        <a:effectLst/>
                        <a:latin typeface="Calibri" panose="020F0502020204030204" pitchFamily="34" charset="0"/>
                      </a:endParaRPr>
                    </a:p>
                  </a:txBody>
                  <a:tcPr anchor="b"/>
                </a:tc>
                <a:tc>
                  <a:txBody>
                    <a:bodyPr/>
                    <a:lstStyle/>
                    <a:p>
                      <a:pPr algn="l" fontAlgn="b">
                        <a:buNone/>
                      </a:pPr>
                      <a:r>
                        <a:rPr lang="en-US" sz="2000" u="none" strike="noStrike">
                          <a:effectLst/>
                        </a:rPr>
                        <a:t>JM</a:t>
                      </a:r>
                      <a:endParaRPr lang="en-US" sz="2000" b="0" i="0" u="none" strike="noStrike">
                        <a:solidFill>
                          <a:srgbClr val="000000"/>
                        </a:solidFill>
                        <a:effectLst/>
                        <a:latin typeface="Calibri" panose="020F0502020204030204" pitchFamily="34" charset="0"/>
                      </a:endParaRPr>
                    </a:p>
                  </a:txBody>
                  <a:tcPr anchor="b"/>
                </a:tc>
                <a:tc>
                  <a:txBody>
                    <a:bodyPr/>
                    <a:lstStyle/>
                    <a:p>
                      <a:pPr algn="l" fontAlgn="b">
                        <a:buNone/>
                      </a:pPr>
                      <a:r>
                        <a:rPr lang="en-US" sz="2000" u="none" strike="noStrike">
                          <a:effectLst/>
                        </a:rPr>
                        <a:t>DA</a:t>
                      </a:r>
                      <a:endParaRPr lang="en-US" sz="20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1636299430"/>
                  </a:ext>
                </a:extLst>
              </a:tr>
              <a:tr h="324565">
                <a:tc>
                  <a:txBody>
                    <a:bodyPr/>
                    <a:lstStyle/>
                    <a:p>
                      <a:pPr algn="l" fontAlgn="b">
                        <a:buNone/>
                      </a:pPr>
                      <a:r>
                        <a:rPr lang="en-US" sz="2000" u="none" strike="noStrike">
                          <a:effectLst/>
                        </a:rPr>
                        <a:t>E</a:t>
                      </a:r>
                      <a:endParaRPr lang="en-US" sz="2000" b="0" i="0" u="none" strike="noStrike">
                        <a:solidFill>
                          <a:srgbClr val="000000"/>
                        </a:solidFill>
                        <a:effectLst/>
                        <a:latin typeface="Calibri" panose="020F0502020204030204" pitchFamily="34" charset="0"/>
                      </a:endParaRPr>
                    </a:p>
                  </a:txBody>
                  <a:tcPr anchor="b"/>
                </a:tc>
                <a:tc>
                  <a:txBody>
                    <a:bodyPr/>
                    <a:lstStyle/>
                    <a:p>
                      <a:pPr algn="l" fontAlgn="b">
                        <a:buNone/>
                      </a:pPr>
                      <a:r>
                        <a:rPr lang="en-US" sz="2000" u="none" strike="noStrike">
                          <a:effectLst/>
                        </a:rPr>
                        <a:t>TH</a:t>
                      </a:r>
                      <a:endParaRPr lang="en-US" sz="2000" b="0" i="0" u="none" strike="noStrike">
                        <a:solidFill>
                          <a:srgbClr val="000000"/>
                        </a:solidFill>
                        <a:effectLst/>
                        <a:latin typeface="Calibri" panose="020F0502020204030204" pitchFamily="34" charset="0"/>
                      </a:endParaRPr>
                    </a:p>
                  </a:txBody>
                  <a:tcPr anchor="b"/>
                </a:tc>
                <a:tc>
                  <a:txBody>
                    <a:bodyPr/>
                    <a:lstStyle/>
                    <a:p>
                      <a:pPr algn="l" fontAlgn="b">
                        <a:buNone/>
                      </a:pPr>
                      <a:r>
                        <a:rPr lang="en-US" sz="2000" u="none" strike="noStrike">
                          <a:effectLst/>
                        </a:rPr>
                        <a:t>JB</a:t>
                      </a:r>
                      <a:endParaRPr lang="en-US" sz="2000" b="0" i="0" u="none" strike="noStrike">
                        <a:solidFill>
                          <a:srgbClr val="000000"/>
                        </a:solidFill>
                        <a:effectLst/>
                        <a:latin typeface="Calibri" panose="020F0502020204030204" pitchFamily="34" charset="0"/>
                      </a:endParaRPr>
                    </a:p>
                  </a:txBody>
                  <a:tcPr anchor="b"/>
                </a:tc>
                <a:tc>
                  <a:txBody>
                    <a:bodyPr/>
                    <a:lstStyle/>
                    <a:p>
                      <a:pPr algn="l" fontAlgn="b">
                        <a:buNone/>
                      </a:pPr>
                      <a:r>
                        <a:rPr lang="en-US" sz="2000" u="none" strike="noStrike">
                          <a:effectLst/>
                        </a:rPr>
                        <a:t>WW</a:t>
                      </a:r>
                      <a:endParaRPr lang="en-US" sz="20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337439929"/>
                  </a:ext>
                </a:extLst>
              </a:tr>
              <a:tr h="324565">
                <a:tc>
                  <a:txBody>
                    <a:bodyPr/>
                    <a:lstStyle/>
                    <a:p>
                      <a:pPr algn="l" fontAlgn="b">
                        <a:buNone/>
                      </a:pPr>
                      <a:r>
                        <a:rPr lang="en-US" sz="2000" u="none" strike="noStrike">
                          <a:effectLst/>
                        </a:rPr>
                        <a:t>F</a:t>
                      </a:r>
                      <a:endParaRPr lang="en-US" sz="2000" b="0" i="0" u="none" strike="noStrike">
                        <a:solidFill>
                          <a:srgbClr val="000000"/>
                        </a:solidFill>
                        <a:effectLst/>
                        <a:latin typeface="Calibri" panose="020F0502020204030204" pitchFamily="34" charset="0"/>
                      </a:endParaRPr>
                    </a:p>
                  </a:txBody>
                  <a:tcPr anchor="b"/>
                </a:tc>
                <a:tc>
                  <a:txBody>
                    <a:bodyPr/>
                    <a:lstStyle/>
                    <a:p>
                      <a:pPr algn="l" fontAlgn="b">
                        <a:buNone/>
                      </a:pPr>
                      <a:r>
                        <a:rPr kumimoji="0" lang="en-US" sz="2000" b="0" u="none" strike="noStrike" kern="1500" cap="none" spc="0" normalizeH="0" baseline="0" noProof="0">
                          <a:ln>
                            <a:noFill/>
                          </a:ln>
                          <a:solidFill>
                            <a:srgbClr val="000000"/>
                          </a:solidFill>
                          <a:effectLst/>
                          <a:uLnTx/>
                          <a:uFillTx/>
                        </a:rPr>
                        <a:t>Scicom</a:t>
                      </a:r>
                      <a:endParaRPr lang="en-US" sz="2000" b="1" i="0" u="none" strike="noStrike">
                        <a:solidFill>
                          <a:srgbClr val="000000"/>
                        </a:solidFill>
                        <a:effectLst/>
                        <a:latin typeface="Calibri" panose="020F0502020204030204" pitchFamily="34" charset="0"/>
                      </a:endParaRPr>
                    </a:p>
                  </a:txBody>
                  <a:tcPr anchor="b"/>
                </a:tc>
                <a:tc>
                  <a:txBody>
                    <a:bodyPr/>
                    <a:lstStyle/>
                    <a:p>
                      <a:pPr algn="l" fontAlgn="b">
                        <a:buNone/>
                      </a:pPr>
                      <a:r>
                        <a:rPr kumimoji="0" lang="en-US" sz="2000" b="0" u="none" strike="noStrike" kern="1500" cap="none" spc="0" normalizeH="0" baseline="0" noProof="0">
                          <a:ln>
                            <a:noFill/>
                          </a:ln>
                          <a:solidFill>
                            <a:srgbClr val="000000"/>
                          </a:solidFill>
                          <a:effectLst/>
                          <a:uLnTx/>
                          <a:uFillTx/>
                        </a:rPr>
                        <a:t>Scicom</a:t>
                      </a:r>
                      <a:endParaRPr lang="en-US" sz="2000" b="1" i="0" u="none" strike="noStrike">
                        <a:solidFill>
                          <a:srgbClr val="000000"/>
                        </a:solidFill>
                        <a:effectLst/>
                        <a:latin typeface="Calibri" panose="020F0502020204030204" pitchFamily="34" charset="0"/>
                      </a:endParaRPr>
                    </a:p>
                  </a:txBody>
                  <a:tcPr anchor="b"/>
                </a:tc>
                <a:tc>
                  <a:txBody>
                    <a:bodyPr/>
                    <a:lstStyle/>
                    <a:p>
                      <a:pPr algn="l" fontAlgn="b">
                        <a:buNone/>
                      </a:pPr>
                      <a:r>
                        <a:rPr kumimoji="0" lang="en-US" sz="2000" b="0" u="none" strike="noStrike" kern="1500" cap="none" spc="0" normalizeH="0" baseline="0" noProof="0">
                          <a:ln>
                            <a:noFill/>
                          </a:ln>
                          <a:solidFill>
                            <a:srgbClr val="000000"/>
                          </a:solidFill>
                          <a:effectLst/>
                          <a:uLnTx/>
                          <a:uFillTx/>
                        </a:rPr>
                        <a:t>Scicom</a:t>
                      </a:r>
                      <a:endParaRPr lang="en-US" sz="20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1171054486"/>
                  </a:ext>
                </a:extLst>
              </a:tr>
            </a:tbl>
          </a:graphicData>
        </a:graphic>
      </p:graphicFrame>
      <p:sp>
        <p:nvSpPr>
          <p:cNvPr id="3" name="Title 2">
            <a:extLst>
              <a:ext uri="{FF2B5EF4-FFF2-40B4-BE49-F238E27FC236}">
                <a16:creationId xmlns:a16="http://schemas.microsoft.com/office/drawing/2014/main" id="{A19D174F-3501-58D4-5D22-3F6F82D88102}"/>
              </a:ext>
            </a:extLst>
          </p:cNvPr>
          <p:cNvSpPr>
            <a:spLocks noGrp="1"/>
          </p:cNvSpPr>
          <p:nvPr>
            <p:ph type="title"/>
          </p:nvPr>
        </p:nvSpPr>
        <p:spPr/>
        <p:txBody>
          <a:bodyPr vert="horz" rIns="0"/>
          <a:lstStyle/>
          <a:p>
            <a:r>
              <a:rPr lang="en-US"/>
              <a:t>Workstream owners – in the table below, the “Lead”</a:t>
            </a:r>
          </a:p>
        </p:txBody>
      </p:sp>
      <p:sp>
        <p:nvSpPr>
          <p:cNvPr id="10" name="Rectangle 9">
            <a:extLst>
              <a:ext uri="{FF2B5EF4-FFF2-40B4-BE49-F238E27FC236}">
                <a16:creationId xmlns:a16="http://schemas.microsoft.com/office/drawing/2014/main" id="{13390C2C-9673-C067-51EF-6E30CD3F1EAD}"/>
              </a:ext>
            </a:extLst>
          </p:cNvPr>
          <p:cNvSpPr/>
          <p:nvPr/>
        </p:nvSpPr>
        <p:spPr bwMode="gray">
          <a:xfrm>
            <a:off x="7369815" y="1991574"/>
            <a:ext cx="3953109" cy="2921085"/>
          </a:xfrm>
          <a:prstGeom prst="rect">
            <a:avLst/>
          </a:prstGeom>
          <a:solidFill>
            <a:schemeClr val="accent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solidFill>
                  <a:schemeClr val="bg1"/>
                </a:solidFill>
              </a:rPr>
              <a:t>To confirm at 10/6 internal meeting</a:t>
            </a:r>
          </a:p>
        </p:txBody>
      </p:sp>
    </p:spTree>
    <p:extLst>
      <p:ext uri="{BB962C8B-B14F-4D97-AF65-F5344CB8AC3E}">
        <p14:creationId xmlns:p14="http://schemas.microsoft.com/office/powerpoint/2010/main" val="724695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76BF9-8BDB-26A0-FC07-62FF63573812}"/>
            </a:ext>
          </a:extLst>
        </p:cNvPr>
        <p:cNvGrpSpPr/>
        <p:nvPr/>
      </p:nvGrpSpPr>
      <p:grpSpPr>
        <a:xfrm>
          <a:off x="0" y="0"/>
          <a:ext cx="0" cy="0"/>
          <a:chOff x="0" y="0"/>
          <a:chExt cx="0" cy="0"/>
        </a:xfrm>
      </p:grpSpPr>
      <p:sp>
        <p:nvSpPr>
          <p:cNvPr id="11" name="Text Placeholder 10">
            <a:extLst>
              <a:ext uri="{FF2B5EF4-FFF2-40B4-BE49-F238E27FC236}">
                <a16:creationId xmlns:a16="http://schemas.microsoft.com/office/drawing/2014/main" id="{15CFCB14-49B0-1931-9731-F11E1E1C4C2C}"/>
              </a:ext>
            </a:extLst>
          </p:cNvPr>
          <p:cNvSpPr>
            <a:spLocks noGrp="1"/>
          </p:cNvSpPr>
          <p:nvPr>
            <p:ph type="body" sz="quarter" idx="10"/>
          </p:nvPr>
        </p:nvSpPr>
        <p:spPr/>
        <p:txBody>
          <a:bodyPr/>
          <a:lstStyle/>
          <a:p>
            <a:r>
              <a:rPr lang="en-US" kern="0">
                <a:solidFill>
                  <a:srgbClr val="FFFFFF"/>
                </a:solidFill>
                <a:cs typeface="CVS Health Sans"/>
              </a:rPr>
              <a:t>Each</a:t>
            </a:r>
            <a:r>
              <a:rPr lang="en-US" kern="0" spc="-55">
                <a:solidFill>
                  <a:srgbClr val="FFFFFF"/>
                </a:solidFill>
                <a:cs typeface="CVS Health Sans"/>
              </a:rPr>
              <a:t> </a:t>
            </a:r>
            <a:r>
              <a:rPr lang="en-US" kern="0" spc="-10">
                <a:solidFill>
                  <a:srgbClr val="FFFFFF"/>
                </a:solidFill>
                <a:cs typeface="CVS Health Sans"/>
              </a:rPr>
              <a:t>workstream</a:t>
            </a:r>
            <a:r>
              <a:rPr lang="en-US" kern="0" spc="-45">
                <a:solidFill>
                  <a:srgbClr val="FFFFFF"/>
                </a:solidFill>
                <a:cs typeface="CVS Health Sans"/>
              </a:rPr>
              <a:t> </a:t>
            </a:r>
            <a:r>
              <a:rPr lang="en-US" kern="0">
                <a:solidFill>
                  <a:srgbClr val="FFFFFF"/>
                </a:solidFill>
                <a:cs typeface="CVS Health Sans"/>
              </a:rPr>
              <a:t>will</a:t>
            </a:r>
            <a:r>
              <a:rPr lang="en-US" kern="0" spc="-55">
                <a:solidFill>
                  <a:srgbClr val="FFFFFF"/>
                </a:solidFill>
                <a:cs typeface="CVS Health Sans"/>
              </a:rPr>
              <a:t> </a:t>
            </a:r>
            <a:r>
              <a:rPr lang="en-US" kern="0">
                <a:solidFill>
                  <a:srgbClr val="FFFFFF"/>
                </a:solidFill>
                <a:cs typeface="CVS Health Sans"/>
              </a:rPr>
              <a:t>require</a:t>
            </a:r>
            <a:r>
              <a:rPr lang="en-US" kern="0" spc="-35">
                <a:solidFill>
                  <a:srgbClr val="FFFFFF"/>
                </a:solidFill>
                <a:cs typeface="CVS Health Sans"/>
              </a:rPr>
              <a:t> </a:t>
            </a:r>
            <a:r>
              <a:rPr lang="en-US" kern="0">
                <a:solidFill>
                  <a:srgbClr val="FFFFFF"/>
                </a:solidFill>
                <a:cs typeface="CVS Health Sans"/>
              </a:rPr>
              <a:t>a</a:t>
            </a:r>
            <a:r>
              <a:rPr lang="en-US" kern="0" spc="-55">
                <a:solidFill>
                  <a:srgbClr val="FFFFFF"/>
                </a:solidFill>
                <a:cs typeface="CVS Health Sans"/>
              </a:rPr>
              <a:t> </a:t>
            </a:r>
            <a:r>
              <a:rPr lang="en-US" kern="0">
                <a:solidFill>
                  <a:srgbClr val="FFFFFF"/>
                </a:solidFill>
                <a:cs typeface="CVS Health Sans"/>
              </a:rPr>
              <a:t>unique</a:t>
            </a:r>
            <a:r>
              <a:rPr lang="en-US" kern="0" spc="-40">
                <a:solidFill>
                  <a:srgbClr val="FFFFFF"/>
                </a:solidFill>
                <a:cs typeface="CVS Health Sans"/>
              </a:rPr>
              <a:t> </a:t>
            </a:r>
            <a:r>
              <a:rPr lang="en-US" kern="0">
                <a:solidFill>
                  <a:srgbClr val="FFFFFF"/>
                </a:solidFill>
                <a:cs typeface="CVS Health Sans"/>
              </a:rPr>
              <a:t>staffing</a:t>
            </a:r>
            <a:r>
              <a:rPr lang="en-US" kern="0" spc="-60">
                <a:solidFill>
                  <a:srgbClr val="FFFFFF"/>
                </a:solidFill>
                <a:cs typeface="CVS Health Sans"/>
              </a:rPr>
              <a:t> </a:t>
            </a:r>
            <a:r>
              <a:rPr lang="en-US" kern="0">
                <a:solidFill>
                  <a:srgbClr val="FFFFFF"/>
                </a:solidFill>
                <a:cs typeface="CVS Health Sans"/>
              </a:rPr>
              <a:t>structures</a:t>
            </a:r>
            <a:r>
              <a:rPr lang="en-US" kern="0" spc="-40">
                <a:solidFill>
                  <a:srgbClr val="FFFFFF"/>
                </a:solidFill>
                <a:cs typeface="CVS Health Sans"/>
              </a:rPr>
              <a:t> </a:t>
            </a:r>
            <a:r>
              <a:rPr lang="en-US" kern="0">
                <a:solidFill>
                  <a:srgbClr val="FFFFFF"/>
                </a:solidFill>
                <a:cs typeface="CVS Health Sans"/>
              </a:rPr>
              <a:t>to</a:t>
            </a:r>
            <a:r>
              <a:rPr lang="en-US" kern="0" spc="-70">
                <a:solidFill>
                  <a:srgbClr val="FFFFFF"/>
                </a:solidFill>
                <a:cs typeface="CVS Health Sans"/>
              </a:rPr>
              <a:t> </a:t>
            </a:r>
            <a:r>
              <a:rPr lang="en-US" kern="0">
                <a:solidFill>
                  <a:srgbClr val="FFFFFF"/>
                </a:solidFill>
                <a:cs typeface="CVS Health Sans"/>
              </a:rPr>
              <a:t>realize</a:t>
            </a:r>
            <a:r>
              <a:rPr lang="en-US" kern="0" spc="-40">
                <a:solidFill>
                  <a:srgbClr val="FFFFFF"/>
                </a:solidFill>
                <a:cs typeface="CVS Health Sans"/>
              </a:rPr>
              <a:t> </a:t>
            </a:r>
            <a:r>
              <a:rPr lang="en-US" kern="0">
                <a:solidFill>
                  <a:srgbClr val="FFFFFF"/>
                </a:solidFill>
                <a:cs typeface="CVS Health Sans"/>
              </a:rPr>
              <a:t>our</a:t>
            </a:r>
            <a:r>
              <a:rPr lang="en-US" kern="0" spc="-50">
                <a:solidFill>
                  <a:srgbClr val="FFFFFF"/>
                </a:solidFill>
                <a:cs typeface="CVS Health Sans"/>
              </a:rPr>
              <a:t> </a:t>
            </a:r>
            <a:br>
              <a:rPr lang="en-US" kern="0" spc="-50">
                <a:solidFill>
                  <a:srgbClr val="FFFFFF"/>
                </a:solidFill>
                <a:cs typeface="CVS Health Sans"/>
              </a:rPr>
            </a:br>
            <a:r>
              <a:rPr lang="en-US" kern="0" spc="-10">
                <a:solidFill>
                  <a:srgbClr val="FFFFFF"/>
                </a:solidFill>
                <a:cs typeface="CVS Health Sans"/>
              </a:rPr>
              <a:t>expected outcomes</a:t>
            </a:r>
            <a:endParaRPr lang="en-US" b="0" kern="0">
              <a:solidFill>
                <a:sysClr val="windowText" lastClr="000000"/>
              </a:solidFill>
              <a:cs typeface="CVS Health Sans"/>
            </a:endParaRPr>
          </a:p>
        </p:txBody>
      </p:sp>
      <p:grpSp>
        <p:nvGrpSpPr>
          <p:cNvPr id="20" name="object 20">
            <a:extLst>
              <a:ext uri="{FF2B5EF4-FFF2-40B4-BE49-F238E27FC236}">
                <a16:creationId xmlns:a16="http://schemas.microsoft.com/office/drawing/2014/main" id="{35D479A5-D97A-7856-C842-10B8DFD593E5}"/>
              </a:ext>
            </a:extLst>
          </p:cNvPr>
          <p:cNvGrpSpPr/>
          <p:nvPr/>
        </p:nvGrpSpPr>
        <p:grpSpPr>
          <a:xfrm>
            <a:off x="531813" y="2651026"/>
            <a:ext cx="9748520" cy="251460"/>
            <a:chOff x="531813" y="2502407"/>
            <a:chExt cx="9748520" cy="251460"/>
          </a:xfrm>
        </p:grpSpPr>
        <p:sp>
          <p:nvSpPr>
            <p:cNvPr id="21" name="object 21">
              <a:extLst>
                <a:ext uri="{FF2B5EF4-FFF2-40B4-BE49-F238E27FC236}">
                  <a16:creationId xmlns:a16="http://schemas.microsoft.com/office/drawing/2014/main" id="{6522BDCB-BD4B-0E22-FF67-AD0491D1BED7}"/>
                </a:ext>
              </a:extLst>
            </p:cNvPr>
            <p:cNvSpPr/>
            <p:nvPr/>
          </p:nvSpPr>
          <p:spPr>
            <a:xfrm>
              <a:off x="531813" y="2581782"/>
              <a:ext cx="9748520" cy="92710"/>
            </a:xfrm>
            <a:custGeom>
              <a:avLst/>
              <a:gdLst/>
              <a:ahLst/>
              <a:cxnLst/>
              <a:rect l="l" t="t" r="r" b="b"/>
              <a:pathLst>
                <a:path w="9748520" h="92710">
                  <a:moveTo>
                    <a:pt x="887158" y="34925"/>
                  </a:moveTo>
                  <a:lnTo>
                    <a:pt x="76200" y="34925"/>
                  </a:lnTo>
                  <a:lnTo>
                    <a:pt x="76200" y="0"/>
                  </a:lnTo>
                  <a:lnTo>
                    <a:pt x="0" y="38100"/>
                  </a:lnTo>
                  <a:lnTo>
                    <a:pt x="76200" y="76200"/>
                  </a:lnTo>
                  <a:lnTo>
                    <a:pt x="76200" y="41275"/>
                  </a:lnTo>
                  <a:lnTo>
                    <a:pt x="887158" y="41275"/>
                  </a:lnTo>
                  <a:lnTo>
                    <a:pt x="887158" y="34925"/>
                  </a:lnTo>
                  <a:close/>
                </a:path>
                <a:path w="9748520" h="92710">
                  <a:moveTo>
                    <a:pt x="9747948" y="54610"/>
                  </a:moveTo>
                  <a:lnTo>
                    <a:pt x="9741598" y="51435"/>
                  </a:lnTo>
                  <a:lnTo>
                    <a:pt x="9671748" y="16510"/>
                  </a:lnTo>
                  <a:lnTo>
                    <a:pt x="9671748" y="51435"/>
                  </a:lnTo>
                  <a:lnTo>
                    <a:pt x="8774747" y="51435"/>
                  </a:lnTo>
                  <a:lnTo>
                    <a:pt x="8774747" y="57785"/>
                  </a:lnTo>
                  <a:lnTo>
                    <a:pt x="9671748" y="57785"/>
                  </a:lnTo>
                  <a:lnTo>
                    <a:pt x="9671748" y="92710"/>
                  </a:lnTo>
                  <a:lnTo>
                    <a:pt x="9741598" y="57785"/>
                  </a:lnTo>
                  <a:lnTo>
                    <a:pt x="9747948" y="54610"/>
                  </a:lnTo>
                  <a:close/>
                </a:path>
              </a:pathLst>
            </a:custGeom>
            <a:solidFill>
              <a:srgbClr val="858585"/>
            </a:solidFill>
            <a:ln>
              <a:solidFill>
                <a:srgbClr val="868686"/>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2" name="object 22">
              <a:extLst>
                <a:ext uri="{FF2B5EF4-FFF2-40B4-BE49-F238E27FC236}">
                  <a16:creationId xmlns:a16="http://schemas.microsoft.com/office/drawing/2014/main" id="{3BB9EA5D-3AD5-20D5-76A2-E23A908851FC}"/>
                </a:ext>
              </a:extLst>
            </p:cNvPr>
            <p:cNvSpPr/>
            <p:nvPr/>
          </p:nvSpPr>
          <p:spPr>
            <a:xfrm>
              <a:off x="860209" y="2502407"/>
              <a:ext cx="9062720" cy="251460"/>
            </a:xfrm>
            <a:custGeom>
              <a:avLst/>
              <a:gdLst/>
              <a:ahLst/>
              <a:cxnLst/>
              <a:rect l="l" t="t" r="r" b="b"/>
              <a:pathLst>
                <a:path w="9062720" h="251460">
                  <a:moveTo>
                    <a:pt x="9020898" y="0"/>
                  </a:moveTo>
                  <a:lnTo>
                    <a:pt x="41833" y="0"/>
                  </a:lnTo>
                  <a:lnTo>
                    <a:pt x="25551" y="3278"/>
                  </a:lnTo>
                  <a:lnTo>
                    <a:pt x="12253" y="12223"/>
                  </a:lnTo>
                  <a:lnTo>
                    <a:pt x="3287" y="25503"/>
                  </a:lnTo>
                  <a:lnTo>
                    <a:pt x="0" y="41782"/>
                  </a:lnTo>
                  <a:lnTo>
                    <a:pt x="0" y="209168"/>
                  </a:lnTo>
                  <a:lnTo>
                    <a:pt x="3287" y="225395"/>
                  </a:lnTo>
                  <a:lnTo>
                    <a:pt x="12253" y="238680"/>
                  </a:lnTo>
                  <a:lnTo>
                    <a:pt x="25551" y="247655"/>
                  </a:lnTo>
                  <a:lnTo>
                    <a:pt x="41833" y="250951"/>
                  </a:lnTo>
                  <a:lnTo>
                    <a:pt x="9020898" y="250951"/>
                  </a:lnTo>
                  <a:lnTo>
                    <a:pt x="9037178" y="247655"/>
                  </a:lnTo>
                  <a:lnTo>
                    <a:pt x="9050458" y="238680"/>
                  </a:lnTo>
                  <a:lnTo>
                    <a:pt x="9059403" y="225395"/>
                  </a:lnTo>
                  <a:lnTo>
                    <a:pt x="9062681" y="209168"/>
                  </a:lnTo>
                  <a:lnTo>
                    <a:pt x="9062681" y="41782"/>
                  </a:lnTo>
                  <a:lnTo>
                    <a:pt x="9059403" y="25503"/>
                  </a:lnTo>
                  <a:lnTo>
                    <a:pt x="9050458" y="12223"/>
                  </a:lnTo>
                  <a:lnTo>
                    <a:pt x="9037178" y="3278"/>
                  </a:lnTo>
                  <a:lnTo>
                    <a:pt x="9020898" y="0"/>
                  </a:lnTo>
                  <a:close/>
                </a:path>
              </a:pathLst>
            </a:custGeom>
            <a:solidFill>
              <a:srgbClr val="2579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grpSp>
      <p:sp>
        <p:nvSpPr>
          <p:cNvPr id="25" name="object 25">
            <a:extLst>
              <a:ext uri="{FF2B5EF4-FFF2-40B4-BE49-F238E27FC236}">
                <a16:creationId xmlns:a16="http://schemas.microsoft.com/office/drawing/2014/main" id="{D8412ABC-D569-4BFC-C2BA-9F4ACB00DC83}"/>
              </a:ext>
            </a:extLst>
          </p:cNvPr>
          <p:cNvSpPr/>
          <p:nvPr/>
        </p:nvSpPr>
        <p:spPr>
          <a:xfrm>
            <a:off x="527278" y="2961923"/>
            <a:ext cx="2341880" cy="2640965"/>
          </a:xfrm>
          <a:prstGeom prst="roundRect">
            <a:avLst>
              <a:gd name="adj" fmla="val 2838"/>
            </a:avLst>
          </a:prstGeom>
          <a:ln w="9525">
            <a:solidFill>
              <a:srgbClr val="0A4B8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6" name="object 26">
            <a:extLst>
              <a:ext uri="{FF2B5EF4-FFF2-40B4-BE49-F238E27FC236}">
                <a16:creationId xmlns:a16="http://schemas.microsoft.com/office/drawing/2014/main" id="{40FEEC50-EA6D-3B14-ED60-284E69EF0F3F}"/>
              </a:ext>
            </a:extLst>
          </p:cNvPr>
          <p:cNvSpPr txBox="1"/>
          <p:nvPr/>
        </p:nvSpPr>
        <p:spPr>
          <a:xfrm>
            <a:off x="1035202" y="3008658"/>
            <a:ext cx="1488440" cy="427681"/>
          </a:xfrm>
          <a:prstGeom prst="rect">
            <a:avLst/>
          </a:prstGeom>
        </p:spPr>
        <p:txBody>
          <a:bodyPr vert="horz" wrap="square" lIns="0" tIns="12065" rIns="0" bIns="0" rtlCol="0">
            <a:spAutoFit/>
          </a:bodyPr>
          <a:lstStyle/>
          <a:p>
            <a:pPr marL="12700" marR="5080" lvl="0" indent="0" algn="l" defTabSz="914400" rtl="0" eaLnBrk="1" fontAlgn="auto" latinLnBrk="0" hangingPunct="1">
              <a:lnSpc>
                <a:spcPct val="100000"/>
              </a:lnSpc>
              <a:spcBef>
                <a:spcPts val="95"/>
              </a:spcBef>
              <a:spcAft>
                <a:spcPts val="0"/>
              </a:spcAft>
              <a:buClrTx/>
              <a:buSzTx/>
              <a:buFontTx/>
              <a:buNone/>
              <a:tabLst/>
              <a:defRPr/>
            </a:pPr>
            <a:r>
              <a:rPr kumimoji="0" lang="en-US" sz="900" b="1" i="0" u="none" strike="noStrike" kern="0" cap="none" spc="0" normalizeH="0" baseline="0" noProof="0">
                <a:ln>
                  <a:noFill/>
                </a:ln>
                <a:solidFill>
                  <a:srgbClr val="0A4B8C"/>
                </a:solidFill>
                <a:effectLst/>
                <a:uLnTx/>
                <a:uFillTx/>
                <a:latin typeface="CVS Health Sans"/>
                <a:ea typeface="+mn-ea"/>
                <a:cs typeface="CVS Health Sans"/>
              </a:rPr>
              <a:t>A</a:t>
            </a:r>
            <a:r>
              <a:rPr kumimoji="0" sz="900" b="1" i="0" u="none" strike="noStrike" kern="0" cap="none" spc="0" normalizeH="0" baseline="0" noProof="0">
                <a:ln>
                  <a:noFill/>
                </a:ln>
                <a:solidFill>
                  <a:srgbClr val="0A4B8C"/>
                </a:solidFill>
                <a:effectLst/>
                <a:uLnTx/>
                <a:uFillTx/>
                <a:latin typeface="CVS Health Sans"/>
                <a:ea typeface="+mn-ea"/>
                <a:cs typeface="CVS Health Sans"/>
              </a:rPr>
              <a:t>:</a:t>
            </a:r>
            <a:r>
              <a:rPr kumimoji="0" sz="900" b="1" i="0" u="none" strike="noStrike" kern="0" cap="none" spc="-40" normalizeH="0" baseline="0" noProof="0">
                <a:ln>
                  <a:noFill/>
                </a:ln>
                <a:solidFill>
                  <a:srgbClr val="0A4B8C"/>
                </a:solidFill>
                <a:effectLst/>
                <a:uLnTx/>
                <a:uFillTx/>
                <a:latin typeface="CVS Health Sans"/>
                <a:ea typeface="+mn-ea"/>
                <a:cs typeface="CVS Health Sans"/>
              </a:rPr>
              <a:t> </a:t>
            </a:r>
            <a:r>
              <a:rPr kumimoji="0" lang="en-US" sz="900" b="1" i="0" u="none" strike="noStrike" kern="0" cap="none" spc="-40" normalizeH="0" baseline="0" noProof="0">
                <a:ln>
                  <a:noFill/>
                </a:ln>
                <a:solidFill>
                  <a:srgbClr val="0A4B8C"/>
                </a:solidFill>
                <a:effectLst/>
                <a:uLnTx/>
                <a:uFillTx/>
                <a:latin typeface="CVS Health Sans"/>
                <a:ea typeface="+mn-ea"/>
                <a:cs typeface="CVS Health Sans"/>
              </a:rPr>
              <a:t>Architecture </a:t>
            </a:r>
            <a:r>
              <a:rPr kumimoji="0" lang="en-US" sz="900" b="1" i="0" u="none" strike="noStrike" kern="0" cap="none" spc="-10" normalizeH="0" baseline="0" noProof="0">
                <a:ln>
                  <a:noFill/>
                </a:ln>
                <a:solidFill>
                  <a:srgbClr val="0A4B8C"/>
                </a:solidFill>
                <a:effectLst/>
                <a:uLnTx/>
                <a:uFillTx/>
                <a:latin typeface="CVS Health Sans"/>
                <a:ea typeface="+mn-ea"/>
                <a:cs typeface="CVS Health Sans"/>
              </a:rPr>
              <a:t>Review &amp; Remediation</a:t>
            </a:r>
            <a:r>
              <a:rPr kumimoji="0" sz="900" b="1" i="0" u="none" strike="noStrike" kern="0" cap="none" spc="5" normalizeH="0" baseline="0" noProof="0">
                <a:ln>
                  <a:noFill/>
                </a:ln>
                <a:solidFill>
                  <a:srgbClr val="0A4B8C"/>
                </a:solidFill>
                <a:effectLst/>
                <a:uLnTx/>
                <a:uFillTx/>
                <a:latin typeface="CVS Health Sans"/>
                <a:ea typeface="+mn-ea"/>
                <a:cs typeface="CVS Health Sans"/>
              </a:rPr>
              <a:t> </a:t>
            </a:r>
            <a:r>
              <a:rPr kumimoji="0" sz="900" b="1" i="0" u="none" strike="noStrike" kern="0" cap="none" spc="-50" normalizeH="0" baseline="0" noProof="0">
                <a:ln>
                  <a:noFill/>
                </a:ln>
                <a:solidFill>
                  <a:srgbClr val="0A4B8C"/>
                </a:solidFill>
                <a:effectLst/>
                <a:uLnTx/>
                <a:uFillTx/>
                <a:latin typeface="CVS Health Sans"/>
                <a:ea typeface="+mn-ea"/>
                <a:cs typeface="CVS Health Sans"/>
              </a:rPr>
              <a:t>|</a:t>
            </a:r>
            <a:endParaRPr kumimoji="0" lang="en-US" sz="900" b="1" i="0" u="none" strike="noStrike" kern="0" cap="none" spc="-10" normalizeH="0" baseline="0" noProof="0">
              <a:ln>
                <a:noFill/>
              </a:ln>
              <a:solidFill>
                <a:srgbClr val="0A4B8C"/>
              </a:solidFill>
              <a:effectLst/>
              <a:uLnTx/>
              <a:uFillTx/>
              <a:latin typeface="CVS Health Sans"/>
              <a:ea typeface="+mn-ea"/>
              <a:cs typeface="CVS Health Sans"/>
            </a:endParaRPr>
          </a:p>
          <a:p>
            <a:pPr marL="12700" marR="99695"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10" normalizeH="0" baseline="0" noProof="0">
                <a:ln>
                  <a:noFill/>
                </a:ln>
                <a:solidFill>
                  <a:srgbClr val="0A4B8C"/>
                </a:solidFill>
                <a:effectLst/>
                <a:uLnTx/>
                <a:uFillTx/>
                <a:latin typeface="CVS Health Sans"/>
                <a:ea typeface="+mn-ea"/>
                <a:cs typeface="CVS Health Sans"/>
              </a:rPr>
              <a:t>Sept ’26-Oct ’26</a:t>
            </a:r>
            <a:endParaRPr kumimoji="0" sz="900" b="0" i="0" u="none" strike="noStrike" kern="0" cap="none" spc="0" normalizeH="0" baseline="0" noProof="0">
              <a:ln>
                <a:noFill/>
              </a:ln>
              <a:solidFill>
                <a:srgbClr val="0A4B8C"/>
              </a:solidFill>
              <a:effectLst/>
              <a:uLnTx/>
              <a:uFillTx/>
              <a:latin typeface="CVS Health Sans"/>
              <a:ea typeface="+mn-ea"/>
              <a:cs typeface="CVS Health Sans"/>
            </a:endParaRPr>
          </a:p>
        </p:txBody>
      </p:sp>
      <p:sp>
        <p:nvSpPr>
          <p:cNvPr id="27" name="object 27">
            <a:extLst>
              <a:ext uri="{FF2B5EF4-FFF2-40B4-BE49-F238E27FC236}">
                <a16:creationId xmlns:a16="http://schemas.microsoft.com/office/drawing/2014/main" id="{3EBA5412-6AB3-953B-9E25-DDF34A210EEA}"/>
              </a:ext>
            </a:extLst>
          </p:cNvPr>
          <p:cNvSpPr/>
          <p:nvPr/>
        </p:nvSpPr>
        <p:spPr>
          <a:xfrm>
            <a:off x="527278" y="1546635"/>
            <a:ext cx="9748520" cy="471170"/>
          </a:xfrm>
          <a:custGeom>
            <a:avLst/>
            <a:gdLst/>
            <a:ahLst/>
            <a:cxnLst/>
            <a:rect l="l" t="t" r="r" b="b"/>
            <a:pathLst>
              <a:path w="9748520" h="471169">
                <a:moveTo>
                  <a:pt x="0" y="40767"/>
                </a:moveTo>
                <a:lnTo>
                  <a:pt x="3205" y="24913"/>
                </a:lnTo>
                <a:lnTo>
                  <a:pt x="11945" y="11953"/>
                </a:lnTo>
                <a:lnTo>
                  <a:pt x="24908" y="3208"/>
                </a:lnTo>
                <a:lnTo>
                  <a:pt x="40779" y="0"/>
                </a:lnTo>
                <a:lnTo>
                  <a:pt x="9707587" y="0"/>
                </a:lnTo>
                <a:lnTo>
                  <a:pt x="9723441" y="3208"/>
                </a:lnTo>
                <a:lnTo>
                  <a:pt x="9736401" y="11953"/>
                </a:lnTo>
                <a:lnTo>
                  <a:pt x="9745146" y="24913"/>
                </a:lnTo>
                <a:lnTo>
                  <a:pt x="9748354" y="40767"/>
                </a:lnTo>
                <a:lnTo>
                  <a:pt x="9748354" y="430022"/>
                </a:lnTo>
                <a:lnTo>
                  <a:pt x="9745146" y="445875"/>
                </a:lnTo>
                <a:lnTo>
                  <a:pt x="9736401" y="458835"/>
                </a:lnTo>
                <a:lnTo>
                  <a:pt x="9723441" y="467580"/>
                </a:lnTo>
                <a:lnTo>
                  <a:pt x="9707587" y="470788"/>
                </a:lnTo>
                <a:lnTo>
                  <a:pt x="40779" y="470788"/>
                </a:lnTo>
                <a:lnTo>
                  <a:pt x="24908" y="467580"/>
                </a:lnTo>
                <a:lnTo>
                  <a:pt x="11945" y="458835"/>
                </a:lnTo>
                <a:lnTo>
                  <a:pt x="3205" y="445875"/>
                </a:lnTo>
                <a:lnTo>
                  <a:pt x="0" y="430022"/>
                </a:lnTo>
                <a:lnTo>
                  <a:pt x="0" y="40767"/>
                </a:lnTo>
                <a:close/>
              </a:path>
            </a:pathLst>
          </a:custGeom>
          <a:ln w="9525">
            <a:solidFill>
              <a:srgbClr val="0A4B8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8" name="object 28">
            <a:extLst>
              <a:ext uri="{FF2B5EF4-FFF2-40B4-BE49-F238E27FC236}">
                <a16:creationId xmlns:a16="http://schemas.microsoft.com/office/drawing/2014/main" id="{4EBF6D4D-130C-2F5E-2CEE-CB5BFF16FFDE}"/>
              </a:ext>
            </a:extLst>
          </p:cNvPr>
          <p:cNvSpPr txBox="1"/>
          <p:nvPr/>
        </p:nvSpPr>
        <p:spPr>
          <a:xfrm>
            <a:off x="1010107" y="1607848"/>
            <a:ext cx="3719195" cy="339090"/>
          </a:xfrm>
          <a:prstGeom prst="rect">
            <a:avLst/>
          </a:prstGeom>
        </p:spPr>
        <p:txBody>
          <a:bodyPr vert="horz" wrap="square" lIns="0" tIns="13335" rIns="0" bIns="0" rtlCol="0">
            <a:spAutoFit/>
          </a:bodyPr>
          <a:lstStyle/>
          <a:p>
            <a:pPr marL="0" marR="0" lvl="0" indent="0" algn="l" defTabSz="914400" rtl="0" eaLnBrk="1" fontAlgn="auto" latinLnBrk="0" hangingPunct="1">
              <a:lnSpc>
                <a:spcPct val="100000"/>
              </a:lnSpc>
              <a:spcBef>
                <a:spcPts val="105"/>
              </a:spcBef>
              <a:spcAft>
                <a:spcPts val="0"/>
              </a:spcAft>
              <a:buClrTx/>
              <a:buSzTx/>
              <a:buFontTx/>
              <a:buNone/>
              <a:tabLst/>
              <a:defRPr/>
            </a:pPr>
            <a:r>
              <a:rPr kumimoji="0" sz="1050" b="1" i="0" u="none" strike="noStrike" kern="0" cap="none" spc="0" normalizeH="0" baseline="0" noProof="0">
                <a:ln>
                  <a:noFill/>
                </a:ln>
                <a:solidFill>
                  <a:srgbClr val="0A4B8C"/>
                </a:solidFill>
                <a:effectLst/>
                <a:uLnTx/>
                <a:uFillTx/>
                <a:latin typeface="CVS Health Sans"/>
                <a:ea typeface="+mn-ea"/>
                <a:cs typeface="CVS Health Sans"/>
              </a:rPr>
              <a:t>0</a:t>
            </a:r>
            <a:r>
              <a:rPr kumimoji="0" sz="1050" b="1" i="0" u="none" strike="noStrike" kern="0" cap="none" spc="-15" normalizeH="0" baseline="0" noProof="0">
                <a:ln>
                  <a:noFill/>
                </a:ln>
                <a:solidFill>
                  <a:srgbClr val="0A4B8C"/>
                </a:solidFill>
                <a:effectLst/>
                <a:uLnTx/>
                <a:uFillTx/>
                <a:latin typeface="CVS Health Sans"/>
                <a:ea typeface="+mn-ea"/>
                <a:cs typeface="CVS Health Sans"/>
              </a:rPr>
              <a:t> </a:t>
            </a:r>
            <a:r>
              <a:rPr kumimoji="0" sz="1050" b="1" i="0" u="none" strike="noStrike" kern="0" cap="none" spc="0" normalizeH="0" baseline="0" noProof="0">
                <a:ln>
                  <a:noFill/>
                </a:ln>
                <a:solidFill>
                  <a:srgbClr val="0A4B8C"/>
                </a:solidFill>
                <a:effectLst/>
                <a:uLnTx/>
                <a:uFillTx/>
                <a:latin typeface="CVS Health Sans"/>
                <a:ea typeface="+mn-ea"/>
                <a:cs typeface="CVS Health Sans"/>
              </a:rPr>
              <a:t>–</a:t>
            </a:r>
            <a:r>
              <a:rPr kumimoji="0" sz="1050" b="1" i="0" u="none" strike="noStrike" kern="0" cap="none" spc="-15" normalizeH="0" baseline="0" noProof="0">
                <a:ln>
                  <a:noFill/>
                </a:ln>
                <a:solidFill>
                  <a:srgbClr val="0A4B8C"/>
                </a:solidFill>
                <a:effectLst/>
                <a:uLnTx/>
                <a:uFillTx/>
                <a:latin typeface="CVS Health Sans"/>
                <a:ea typeface="+mn-ea"/>
                <a:cs typeface="CVS Health Sans"/>
              </a:rPr>
              <a:t> </a:t>
            </a:r>
            <a:r>
              <a:rPr kumimoji="0" sz="1050" b="1" i="0" u="none" strike="noStrike" kern="0" cap="none" spc="0" normalizeH="0" baseline="0" noProof="0">
                <a:ln>
                  <a:noFill/>
                </a:ln>
                <a:solidFill>
                  <a:srgbClr val="0A4B8C"/>
                </a:solidFill>
                <a:effectLst/>
                <a:uLnTx/>
                <a:uFillTx/>
                <a:latin typeface="CVS Health Sans"/>
                <a:ea typeface="+mn-ea"/>
                <a:cs typeface="CVS Health Sans"/>
              </a:rPr>
              <a:t>Project</a:t>
            </a:r>
            <a:r>
              <a:rPr kumimoji="0" sz="1050" b="1" i="0" u="none" strike="noStrike" kern="0" cap="none" spc="-15" normalizeH="0" baseline="0" noProof="0">
                <a:ln>
                  <a:noFill/>
                </a:ln>
                <a:solidFill>
                  <a:srgbClr val="0A4B8C"/>
                </a:solidFill>
                <a:effectLst/>
                <a:uLnTx/>
                <a:uFillTx/>
                <a:latin typeface="CVS Health Sans"/>
                <a:ea typeface="+mn-ea"/>
                <a:cs typeface="CVS Health Sans"/>
              </a:rPr>
              <a:t> </a:t>
            </a:r>
            <a:r>
              <a:rPr kumimoji="0" sz="1050" b="1" i="0" u="none" strike="noStrike" kern="0" cap="none" spc="-10" normalizeH="0" baseline="0" noProof="0">
                <a:ln>
                  <a:noFill/>
                </a:ln>
                <a:solidFill>
                  <a:srgbClr val="0A4B8C"/>
                </a:solidFill>
                <a:effectLst/>
                <a:uLnTx/>
                <a:uFillTx/>
                <a:latin typeface="CVS Health Sans"/>
                <a:ea typeface="+mn-ea"/>
                <a:cs typeface="CVS Health Sans"/>
              </a:rPr>
              <a:t>Management</a:t>
            </a:r>
            <a:r>
              <a:rPr kumimoji="0" sz="1050" b="1" i="0" u="none" strike="noStrike" kern="0" cap="none" spc="-25" normalizeH="0" baseline="0" noProof="0">
                <a:ln>
                  <a:noFill/>
                </a:ln>
                <a:solidFill>
                  <a:srgbClr val="0A4B8C"/>
                </a:solidFill>
                <a:effectLst/>
                <a:uLnTx/>
                <a:uFillTx/>
                <a:latin typeface="CVS Health Sans"/>
                <a:ea typeface="+mn-ea"/>
                <a:cs typeface="CVS Health Sans"/>
              </a:rPr>
              <a:t> </a:t>
            </a:r>
            <a:r>
              <a:rPr kumimoji="0" sz="1050" b="1" i="0" u="none" strike="noStrike" kern="0" cap="none" spc="0" normalizeH="0" baseline="0" noProof="0">
                <a:ln>
                  <a:noFill/>
                </a:ln>
                <a:solidFill>
                  <a:srgbClr val="0A4B8C"/>
                </a:solidFill>
                <a:effectLst/>
                <a:uLnTx/>
                <a:uFillTx/>
                <a:latin typeface="CVS Health Sans"/>
                <a:ea typeface="+mn-ea"/>
                <a:cs typeface="CVS Health Sans"/>
              </a:rPr>
              <a:t>Office</a:t>
            </a:r>
            <a:r>
              <a:rPr kumimoji="0" sz="1050" b="1" i="0" u="none" strike="noStrike" kern="0" cap="none" spc="-20" normalizeH="0" baseline="0" noProof="0">
                <a:ln>
                  <a:noFill/>
                </a:ln>
                <a:solidFill>
                  <a:srgbClr val="0A4B8C"/>
                </a:solidFill>
                <a:effectLst/>
                <a:uLnTx/>
                <a:uFillTx/>
                <a:latin typeface="CVS Health Sans"/>
                <a:ea typeface="+mn-ea"/>
                <a:cs typeface="CVS Health Sans"/>
              </a:rPr>
              <a:t> </a:t>
            </a:r>
            <a:r>
              <a:rPr kumimoji="0" sz="1050" b="1" i="0" u="none" strike="noStrike" kern="0" cap="none" spc="0" normalizeH="0" baseline="0" noProof="0">
                <a:ln>
                  <a:noFill/>
                </a:ln>
                <a:solidFill>
                  <a:srgbClr val="0A4B8C"/>
                </a:solidFill>
                <a:effectLst/>
                <a:uLnTx/>
                <a:uFillTx/>
                <a:latin typeface="CVS Health Sans"/>
                <a:ea typeface="+mn-ea"/>
                <a:cs typeface="CVS Health Sans"/>
              </a:rPr>
              <a:t>(PMO)</a:t>
            </a:r>
            <a:r>
              <a:rPr kumimoji="0" sz="1050" b="1" i="0" u="none" strike="noStrike" kern="0" cap="none" spc="-5" normalizeH="0" baseline="0" noProof="0">
                <a:ln>
                  <a:noFill/>
                </a:ln>
                <a:solidFill>
                  <a:srgbClr val="0A4B8C"/>
                </a:solidFill>
                <a:effectLst/>
                <a:uLnTx/>
                <a:uFillTx/>
                <a:latin typeface="CVS Health Sans"/>
                <a:ea typeface="+mn-ea"/>
                <a:cs typeface="CVS Health Sans"/>
              </a:rPr>
              <a:t> </a:t>
            </a:r>
            <a:r>
              <a:rPr kumimoji="0" sz="1050" b="1" i="0" u="none" strike="noStrike" kern="0" cap="none" spc="0" normalizeH="0" baseline="0" noProof="0">
                <a:ln>
                  <a:noFill/>
                </a:ln>
                <a:solidFill>
                  <a:srgbClr val="0A4B8C"/>
                </a:solidFill>
                <a:effectLst/>
                <a:uLnTx/>
                <a:uFillTx/>
                <a:latin typeface="CVS Health Sans"/>
                <a:ea typeface="+mn-ea"/>
                <a:cs typeface="CVS Health Sans"/>
              </a:rPr>
              <a:t>|</a:t>
            </a:r>
            <a:r>
              <a:rPr kumimoji="0" sz="1050" b="1" i="0" u="none" strike="noStrike" kern="0" cap="none" spc="-5" normalizeH="0" baseline="0" noProof="0">
                <a:ln>
                  <a:noFill/>
                </a:ln>
                <a:solidFill>
                  <a:srgbClr val="0A4B8C"/>
                </a:solidFill>
                <a:effectLst/>
                <a:uLnTx/>
                <a:uFillTx/>
                <a:latin typeface="CVS Health Sans"/>
                <a:ea typeface="+mn-ea"/>
                <a:cs typeface="CVS Health Sans"/>
              </a:rPr>
              <a:t> </a:t>
            </a:r>
            <a:r>
              <a:rPr kumimoji="0" lang="en-US" sz="1000" b="0" i="0" u="none" strike="noStrike" kern="0" cap="none" spc="0" normalizeH="0" baseline="0" noProof="0">
                <a:ln>
                  <a:noFill/>
                </a:ln>
                <a:solidFill>
                  <a:srgbClr val="0A4B8C"/>
                </a:solidFill>
                <a:effectLst/>
                <a:uLnTx/>
                <a:uFillTx/>
                <a:latin typeface="CVS Health Sans"/>
                <a:ea typeface="+mn-ea"/>
                <a:cs typeface="CVS Health Sans"/>
              </a:rPr>
              <a:t>Sept</a:t>
            </a:r>
            <a:r>
              <a:rPr kumimoji="0" lang="en-US" sz="1000" b="0" i="0" u="none" strike="noStrike" kern="0" cap="none" spc="10" normalizeH="0" baseline="0" noProof="0">
                <a:ln>
                  <a:noFill/>
                </a:ln>
                <a:solidFill>
                  <a:srgbClr val="0A4B8C"/>
                </a:solidFill>
                <a:effectLst/>
                <a:uLnTx/>
                <a:uFillTx/>
                <a:latin typeface="CVS Health Sans"/>
                <a:ea typeface="+mn-ea"/>
                <a:cs typeface="CVS Health Sans"/>
              </a:rPr>
              <a:t> </a:t>
            </a:r>
            <a:r>
              <a:rPr kumimoji="0" sz="1000" b="0" i="0" u="none" strike="noStrike" kern="0" cap="none" spc="0" normalizeH="0" baseline="0" noProof="0">
                <a:ln>
                  <a:noFill/>
                </a:ln>
                <a:solidFill>
                  <a:srgbClr val="0A4B8C"/>
                </a:solidFill>
                <a:effectLst/>
                <a:uLnTx/>
                <a:uFillTx/>
                <a:latin typeface="CVS Health Sans"/>
                <a:ea typeface="+mn-ea"/>
                <a:cs typeface="CVS Health Sans"/>
              </a:rPr>
              <a:t>‘26</a:t>
            </a:r>
            <a:r>
              <a:rPr kumimoji="0" sz="1000" b="0" i="0" u="none" strike="noStrike" kern="0" cap="none" spc="-5" normalizeH="0" baseline="0" noProof="0">
                <a:ln>
                  <a:noFill/>
                </a:ln>
                <a:solidFill>
                  <a:srgbClr val="0A4B8C"/>
                </a:solidFill>
                <a:effectLst/>
                <a:uLnTx/>
                <a:uFillTx/>
                <a:latin typeface="CVS Health Sans"/>
                <a:ea typeface="+mn-ea"/>
                <a:cs typeface="CVS Health Sans"/>
              </a:rPr>
              <a:t> </a:t>
            </a:r>
            <a:r>
              <a:rPr kumimoji="0" sz="1000" b="0" i="0" u="none" strike="noStrike" kern="0" cap="none" spc="0" normalizeH="0" baseline="0" noProof="0">
                <a:ln>
                  <a:noFill/>
                </a:ln>
                <a:solidFill>
                  <a:srgbClr val="0A4B8C"/>
                </a:solidFill>
                <a:effectLst/>
                <a:uLnTx/>
                <a:uFillTx/>
                <a:latin typeface="CVS Health Sans"/>
                <a:ea typeface="+mn-ea"/>
                <a:cs typeface="CVS Health Sans"/>
              </a:rPr>
              <a:t>–</a:t>
            </a:r>
            <a:r>
              <a:rPr kumimoji="0" sz="1000" b="0" i="0" u="none" strike="noStrike" kern="0" cap="none" spc="5" normalizeH="0" baseline="0" noProof="0">
                <a:ln>
                  <a:noFill/>
                </a:ln>
                <a:solidFill>
                  <a:srgbClr val="0A4B8C"/>
                </a:solidFill>
                <a:effectLst/>
                <a:uLnTx/>
                <a:uFillTx/>
                <a:latin typeface="CVS Health Sans"/>
                <a:ea typeface="+mn-ea"/>
                <a:cs typeface="CVS Health Sans"/>
              </a:rPr>
              <a:t> </a:t>
            </a:r>
            <a:r>
              <a:rPr kumimoji="0" lang="en-US" sz="1000" b="0" i="0" u="none" strike="noStrike" kern="0" cap="none" spc="0" normalizeH="0" baseline="0" noProof="0">
                <a:ln>
                  <a:noFill/>
                </a:ln>
                <a:solidFill>
                  <a:srgbClr val="0A4B8C"/>
                </a:solidFill>
                <a:effectLst/>
                <a:uLnTx/>
                <a:uFillTx/>
                <a:latin typeface="CVS Health Sans"/>
                <a:ea typeface="+mn-ea"/>
                <a:cs typeface="CVS Health Sans"/>
              </a:rPr>
              <a:t>Aug</a:t>
            </a:r>
            <a:r>
              <a:rPr kumimoji="0" sz="1000" b="0" i="0" u="none" strike="noStrike" kern="0" cap="none" spc="15" normalizeH="0" baseline="0" noProof="0">
                <a:ln>
                  <a:noFill/>
                </a:ln>
                <a:solidFill>
                  <a:srgbClr val="0A4B8C"/>
                </a:solidFill>
                <a:effectLst/>
                <a:uLnTx/>
                <a:uFillTx/>
                <a:latin typeface="CVS Health Sans"/>
                <a:ea typeface="+mn-ea"/>
                <a:cs typeface="CVS Health Sans"/>
              </a:rPr>
              <a:t> </a:t>
            </a:r>
            <a:r>
              <a:rPr kumimoji="0" sz="1000" b="0" i="0" u="none" strike="noStrike" kern="0" cap="none" spc="-25" normalizeH="0" baseline="0" noProof="0">
                <a:ln>
                  <a:noFill/>
                </a:ln>
                <a:solidFill>
                  <a:srgbClr val="0A4B8C"/>
                </a:solidFill>
                <a:effectLst/>
                <a:uLnTx/>
                <a:uFillTx/>
                <a:latin typeface="CVS Health Sans"/>
                <a:ea typeface="+mn-ea"/>
                <a:cs typeface="CVS Health Sans"/>
              </a:rPr>
              <a:t>‘27</a:t>
            </a:r>
            <a:endParaRPr kumimoji="0" sz="1000" b="0" i="0" u="none" strike="noStrike" kern="0" cap="none" spc="0" normalizeH="0" baseline="0" noProof="0">
              <a:ln>
                <a:noFill/>
              </a:ln>
              <a:solidFill>
                <a:srgbClr val="0A4B8C"/>
              </a:solidFill>
              <a:effectLst/>
              <a:uLnTx/>
              <a:uFillTx/>
              <a:latin typeface="CVS Health Sans"/>
              <a:ea typeface="+mn-ea"/>
              <a:cs typeface="CVS Health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0" i="0" u="none" strike="noStrike" kern="0" cap="none" spc="0" normalizeH="0" baseline="0" noProof="0">
                <a:ln>
                  <a:noFill/>
                </a:ln>
                <a:solidFill>
                  <a:srgbClr val="3F3F3F"/>
                </a:solidFill>
                <a:effectLst/>
                <a:uLnTx/>
                <a:uFillTx/>
                <a:latin typeface="CVS Health Sans"/>
                <a:ea typeface="+mn-ea"/>
                <a:cs typeface="CVS Health Sans"/>
              </a:rPr>
              <a:t>Coordinates</a:t>
            </a:r>
            <a:r>
              <a:rPr kumimoji="0" sz="1000" b="0" i="0" u="none" strike="noStrike" kern="0" cap="none" spc="5" normalizeH="0" baseline="0" noProof="0">
                <a:ln>
                  <a:noFill/>
                </a:ln>
                <a:solidFill>
                  <a:srgbClr val="3F3F3F"/>
                </a:solidFill>
                <a:effectLst/>
                <a:uLnTx/>
                <a:uFillTx/>
                <a:latin typeface="CVS Health Sans"/>
                <a:ea typeface="+mn-ea"/>
                <a:cs typeface="CVS Health Sans"/>
              </a:rPr>
              <a:t> </a:t>
            </a:r>
            <a:r>
              <a:rPr kumimoji="0" sz="1000" b="0" i="0" u="none" strike="noStrike" kern="0" cap="none" spc="0" normalizeH="0" baseline="0" noProof="0">
                <a:ln>
                  <a:noFill/>
                </a:ln>
                <a:solidFill>
                  <a:srgbClr val="3F3F3F"/>
                </a:solidFill>
                <a:effectLst/>
                <a:uLnTx/>
                <a:uFillTx/>
                <a:latin typeface="CVS Health Sans"/>
                <a:ea typeface="+mn-ea"/>
                <a:cs typeface="CVS Health Sans"/>
              </a:rPr>
              <a:t>delivery, </a:t>
            </a:r>
            <a:r>
              <a:rPr kumimoji="0" sz="1000" b="0" i="0" u="none" strike="noStrike" kern="0" cap="none" spc="-10" normalizeH="0" baseline="0" noProof="0">
                <a:ln>
                  <a:noFill/>
                </a:ln>
                <a:solidFill>
                  <a:srgbClr val="3F3F3F"/>
                </a:solidFill>
                <a:effectLst/>
                <a:uLnTx/>
                <a:uFillTx/>
                <a:latin typeface="CVS Health Sans"/>
                <a:ea typeface="+mn-ea"/>
                <a:cs typeface="CVS Health Sans"/>
              </a:rPr>
              <a:t>dependencies,</a:t>
            </a:r>
            <a:r>
              <a:rPr kumimoji="0" sz="1000" b="0" i="0" u="none" strike="noStrike" kern="0" cap="none" spc="10" normalizeH="0" baseline="0" noProof="0">
                <a:ln>
                  <a:noFill/>
                </a:ln>
                <a:solidFill>
                  <a:srgbClr val="3F3F3F"/>
                </a:solidFill>
                <a:effectLst/>
                <a:uLnTx/>
                <a:uFillTx/>
                <a:latin typeface="CVS Health Sans"/>
                <a:ea typeface="+mn-ea"/>
                <a:cs typeface="CVS Health Sans"/>
              </a:rPr>
              <a:t> </a:t>
            </a:r>
            <a:r>
              <a:rPr kumimoji="0" sz="1000" b="0" i="0" u="none" strike="noStrike" kern="0" cap="none" spc="0" normalizeH="0" baseline="0" noProof="0">
                <a:ln>
                  <a:noFill/>
                </a:ln>
                <a:solidFill>
                  <a:srgbClr val="3F3F3F"/>
                </a:solidFill>
                <a:effectLst/>
                <a:uLnTx/>
                <a:uFillTx/>
                <a:latin typeface="CVS Health Sans"/>
                <a:ea typeface="+mn-ea"/>
                <a:cs typeface="CVS Health Sans"/>
              </a:rPr>
              <a:t>risks,</a:t>
            </a:r>
            <a:r>
              <a:rPr kumimoji="0" sz="1000" b="0" i="0" u="none" strike="noStrike" kern="0" cap="none" spc="-35" normalizeH="0" baseline="0" noProof="0">
                <a:ln>
                  <a:noFill/>
                </a:ln>
                <a:solidFill>
                  <a:srgbClr val="3F3F3F"/>
                </a:solidFill>
                <a:effectLst/>
                <a:uLnTx/>
                <a:uFillTx/>
                <a:latin typeface="CVS Health Sans"/>
                <a:ea typeface="+mn-ea"/>
                <a:cs typeface="CVS Health Sans"/>
              </a:rPr>
              <a:t> </a:t>
            </a:r>
            <a:r>
              <a:rPr kumimoji="0" sz="1000" b="0" i="0" u="none" strike="noStrike" kern="0" cap="none" spc="0" normalizeH="0" baseline="0" noProof="0">
                <a:ln>
                  <a:noFill/>
                </a:ln>
                <a:solidFill>
                  <a:srgbClr val="3F3F3F"/>
                </a:solidFill>
                <a:effectLst/>
                <a:uLnTx/>
                <a:uFillTx/>
                <a:latin typeface="CVS Health Sans"/>
                <a:ea typeface="+mn-ea"/>
                <a:cs typeface="CVS Health Sans"/>
              </a:rPr>
              <a:t>and</a:t>
            </a:r>
            <a:r>
              <a:rPr kumimoji="0" sz="1000" b="0" i="0" u="none" strike="noStrike" kern="0" cap="none" spc="-35" normalizeH="0" baseline="0" noProof="0">
                <a:ln>
                  <a:noFill/>
                </a:ln>
                <a:solidFill>
                  <a:srgbClr val="3F3F3F"/>
                </a:solidFill>
                <a:effectLst/>
                <a:uLnTx/>
                <a:uFillTx/>
                <a:latin typeface="CVS Health Sans"/>
                <a:ea typeface="+mn-ea"/>
                <a:cs typeface="CVS Health Sans"/>
              </a:rPr>
              <a:t> </a:t>
            </a:r>
            <a:r>
              <a:rPr kumimoji="0" sz="1000" b="0" i="0" u="none" strike="noStrike" kern="0" cap="none" spc="-10" normalizeH="0" baseline="0" noProof="0">
                <a:ln>
                  <a:noFill/>
                </a:ln>
                <a:solidFill>
                  <a:srgbClr val="3F3F3F"/>
                </a:solidFill>
                <a:effectLst/>
                <a:uLnTx/>
                <a:uFillTx/>
                <a:latin typeface="CVS Health Sans"/>
                <a:ea typeface="+mn-ea"/>
                <a:cs typeface="CVS Health Sans"/>
              </a:rPr>
              <a:t>governance</a:t>
            </a:r>
            <a:r>
              <a:rPr kumimoji="0" lang="en-US" sz="1000" b="0" i="0" u="none" strike="noStrike" kern="0" cap="none" spc="-10" normalizeH="0" baseline="0" noProof="0">
                <a:ln>
                  <a:noFill/>
                </a:ln>
                <a:solidFill>
                  <a:srgbClr val="3F3F3F"/>
                </a:solidFill>
                <a:effectLst/>
                <a:uLnTx/>
                <a:uFillTx/>
                <a:latin typeface="CVS Health Sans"/>
                <a:ea typeface="+mn-ea"/>
                <a:cs typeface="CVS Health Sans"/>
              </a:rPr>
              <a:t>.</a:t>
            </a:r>
            <a:endParaRPr kumimoji="0" sz="1000" b="0" i="0" u="none" strike="noStrike" kern="0" cap="none" spc="0" normalizeH="0" baseline="0" noProof="0">
              <a:ln>
                <a:noFill/>
              </a:ln>
              <a:solidFill>
                <a:srgbClr val="3F3F3F"/>
              </a:solidFill>
              <a:effectLst/>
              <a:uLnTx/>
              <a:uFillTx/>
              <a:latin typeface="CVS Health Sans"/>
              <a:ea typeface="+mn-ea"/>
              <a:cs typeface="CVS Health Sans"/>
            </a:endParaRPr>
          </a:p>
        </p:txBody>
      </p:sp>
      <p:sp>
        <p:nvSpPr>
          <p:cNvPr id="29" name="object 29">
            <a:extLst>
              <a:ext uri="{FF2B5EF4-FFF2-40B4-BE49-F238E27FC236}">
                <a16:creationId xmlns:a16="http://schemas.microsoft.com/office/drawing/2014/main" id="{C5123769-5147-91D0-4B7D-E88185F32DB8}"/>
              </a:ext>
            </a:extLst>
          </p:cNvPr>
          <p:cNvSpPr/>
          <p:nvPr/>
        </p:nvSpPr>
        <p:spPr>
          <a:xfrm>
            <a:off x="8104505" y="1626518"/>
            <a:ext cx="1000125" cy="311150"/>
          </a:xfrm>
          <a:custGeom>
            <a:avLst/>
            <a:gdLst/>
            <a:ahLst/>
            <a:cxnLst/>
            <a:rect l="l" t="t" r="r" b="b"/>
            <a:pathLst>
              <a:path w="1000125" h="311150">
                <a:moveTo>
                  <a:pt x="948181" y="0"/>
                </a:moveTo>
                <a:lnTo>
                  <a:pt x="51816" y="0"/>
                </a:lnTo>
                <a:lnTo>
                  <a:pt x="31611" y="4077"/>
                </a:lnTo>
                <a:lnTo>
                  <a:pt x="15144" y="15192"/>
                </a:lnTo>
                <a:lnTo>
                  <a:pt x="4060" y="31664"/>
                </a:lnTo>
                <a:lnTo>
                  <a:pt x="0" y="51815"/>
                </a:lnTo>
                <a:lnTo>
                  <a:pt x="0" y="259206"/>
                </a:lnTo>
                <a:lnTo>
                  <a:pt x="4060" y="279358"/>
                </a:lnTo>
                <a:lnTo>
                  <a:pt x="15144" y="295830"/>
                </a:lnTo>
                <a:lnTo>
                  <a:pt x="31611" y="306945"/>
                </a:lnTo>
                <a:lnTo>
                  <a:pt x="51816" y="311023"/>
                </a:lnTo>
                <a:lnTo>
                  <a:pt x="948181" y="311023"/>
                </a:lnTo>
                <a:lnTo>
                  <a:pt x="968333" y="306945"/>
                </a:lnTo>
                <a:lnTo>
                  <a:pt x="984805" y="295830"/>
                </a:lnTo>
                <a:lnTo>
                  <a:pt x="995920" y="279358"/>
                </a:lnTo>
                <a:lnTo>
                  <a:pt x="999998" y="259206"/>
                </a:lnTo>
                <a:lnTo>
                  <a:pt x="999998" y="51815"/>
                </a:lnTo>
                <a:lnTo>
                  <a:pt x="995920" y="31664"/>
                </a:lnTo>
                <a:lnTo>
                  <a:pt x="984805" y="15192"/>
                </a:lnTo>
                <a:lnTo>
                  <a:pt x="968333" y="4077"/>
                </a:lnTo>
                <a:lnTo>
                  <a:pt x="948181" y="0"/>
                </a:lnTo>
                <a:close/>
              </a:path>
            </a:pathLst>
          </a:custGeom>
          <a:solidFill>
            <a:srgbClr val="267A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30" name="object 30">
            <a:extLst>
              <a:ext uri="{FF2B5EF4-FFF2-40B4-BE49-F238E27FC236}">
                <a16:creationId xmlns:a16="http://schemas.microsoft.com/office/drawing/2014/main" id="{37F7FEE6-D40B-CB5B-B290-2578BB64CC91}"/>
              </a:ext>
            </a:extLst>
          </p:cNvPr>
          <p:cNvSpPr txBox="1"/>
          <p:nvPr/>
        </p:nvSpPr>
        <p:spPr>
          <a:xfrm>
            <a:off x="8207974" y="1713259"/>
            <a:ext cx="805380" cy="135293"/>
          </a:xfrm>
          <a:prstGeom prst="rect">
            <a:avLst/>
          </a:prstGeom>
        </p:spPr>
        <p:txBody>
          <a:bodyPr vert="horz" wrap="square" lIns="0" tIns="12065" rIns="0" bIns="0" rtlCol="0">
            <a:spAutoFit/>
          </a:bodyPr>
          <a:lstStyle/>
          <a:p>
            <a:pPr marL="0" marR="0" lvl="0" indent="0" algn="ctr" defTabSz="914400" rtl="0" eaLnBrk="1" fontAlgn="auto" latinLnBrk="0" hangingPunct="1">
              <a:lnSpc>
                <a:spcPct val="100000"/>
              </a:lnSpc>
              <a:spcBef>
                <a:spcPts val="95"/>
              </a:spcBef>
              <a:spcAft>
                <a:spcPts val="0"/>
              </a:spcAft>
              <a:buClrTx/>
              <a:buSzTx/>
              <a:buFontTx/>
              <a:buNone/>
              <a:tabLst/>
              <a:defRPr/>
            </a:pPr>
            <a:r>
              <a:rPr kumimoji="0" sz="800" b="0" i="0" u="none" strike="noStrike" kern="0" cap="none" spc="0" normalizeH="0" baseline="0" noProof="0">
                <a:ln>
                  <a:noFill/>
                </a:ln>
                <a:solidFill>
                  <a:srgbClr val="FFFFFF"/>
                </a:solidFill>
                <a:effectLst/>
                <a:uLnTx/>
                <a:uFillTx/>
                <a:latin typeface="CVS Health Sans"/>
                <a:ea typeface="+mn-ea"/>
                <a:cs typeface="CVS Health Sans"/>
              </a:rPr>
              <a:t>1 </a:t>
            </a:r>
            <a:r>
              <a:rPr kumimoji="0" sz="800" b="0" i="0" u="none" strike="noStrike" kern="0" cap="none" spc="-10" normalizeH="0" baseline="0" noProof="0">
                <a:ln>
                  <a:noFill/>
                </a:ln>
                <a:solidFill>
                  <a:srgbClr val="FFFFFF"/>
                </a:solidFill>
                <a:effectLst/>
                <a:uLnTx/>
                <a:uFillTx/>
                <a:latin typeface="CVS Health Sans"/>
                <a:ea typeface="+mn-ea"/>
                <a:cs typeface="CVS Health Sans"/>
              </a:rPr>
              <a:t>Technical</a:t>
            </a:r>
            <a:r>
              <a:rPr kumimoji="0" sz="800" b="0" i="0" u="none" strike="noStrike" kern="0" cap="none" spc="45" normalizeH="0" baseline="0" noProof="0">
                <a:ln>
                  <a:noFill/>
                </a:ln>
                <a:solidFill>
                  <a:srgbClr val="FFFFFF"/>
                </a:solidFill>
                <a:effectLst/>
                <a:uLnTx/>
                <a:uFillTx/>
                <a:latin typeface="CVS Health Sans"/>
                <a:ea typeface="+mn-ea"/>
                <a:cs typeface="CVS Health Sans"/>
              </a:rPr>
              <a:t> </a:t>
            </a:r>
            <a:r>
              <a:rPr kumimoji="0" sz="800" b="0" i="0" u="none" strike="noStrike" kern="0" cap="none" spc="-25" normalizeH="0" baseline="0" noProof="0">
                <a:ln>
                  <a:noFill/>
                </a:ln>
                <a:solidFill>
                  <a:srgbClr val="FFFFFF"/>
                </a:solidFill>
                <a:effectLst/>
                <a:uLnTx/>
                <a:uFillTx/>
                <a:latin typeface="CVS Health Sans"/>
                <a:ea typeface="+mn-ea"/>
                <a:cs typeface="CVS Health Sans"/>
              </a:rPr>
              <a:t>PM</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sp>
        <p:nvSpPr>
          <p:cNvPr id="31" name="object 31">
            <a:extLst>
              <a:ext uri="{FF2B5EF4-FFF2-40B4-BE49-F238E27FC236}">
                <a16:creationId xmlns:a16="http://schemas.microsoft.com/office/drawing/2014/main" id="{EB157149-BAE3-78D7-F4FD-B08DECB7C78A}"/>
              </a:ext>
            </a:extLst>
          </p:cNvPr>
          <p:cNvSpPr/>
          <p:nvPr/>
        </p:nvSpPr>
        <p:spPr>
          <a:xfrm>
            <a:off x="9175368" y="1626518"/>
            <a:ext cx="1000125" cy="311150"/>
          </a:xfrm>
          <a:custGeom>
            <a:avLst/>
            <a:gdLst/>
            <a:ahLst/>
            <a:cxnLst/>
            <a:rect l="l" t="t" r="r" b="b"/>
            <a:pathLst>
              <a:path w="1000125" h="311150">
                <a:moveTo>
                  <a:pt x="948181" y="0"/>
                </a:moveTo>
                <a:lnTo>
                  <a:pt x="51815" y="0"/>
                </a:lnTo>
                <a:lnTo>
                  <a:pt x="31664" y="4077"/>
                </a:lnTo>
                <a:lnTo>
                  <a:pt x="15192" y="15192"/>
                </a:lnTo>
                <a:lnTo>
                  <a:pt x="4077" y="31664"/>
                </a:lnTo>
                <a:lnTo>
                  <a:pt x="0" y="51815"/>
                </a:lnTo>
                <a:lnTo>
                  <a:pt x="0" y="259206"/>
                </a:lnTo>
                <a:lnTo>
                  <a:pt x="4077" y="279358"/>
                </a:lnTo>
                <a:lnTo>
                  <a:pt x="15192" y="295830"/>
                </a:lnTo>
                <a:lnTo>
                  <a:pt x="31664" y="306945"/>
                </a:lnTo>
                <a:lnTo>
                  <a:pt x="51815" y="311023"/>
                </a:lnTo>
                <a:lnTo>
                  <a:pt x="948181" y="311023"/>
                </a:lnTo>
                <a:lnTo>
                  <a:pt x="968386" y="306945"/>
                </a:lnTo>
                <a:lnTo>
                  <a:pt x="984853" y="295830"/>
                </a:lnTo>
                <a:lnTo>
                  <a:pt x="995937" y="279358"/>
                </a:lnTo>
                <a:lnTo>
                  <a:pt x="999998" y="259206"/>
                </a:lnTo>
                <a:lnTo>
                  <a:pt x="999998" y="51815"/>
                </a:lnTo>
                <a:lnTo>
                  <a:pt x="995937" y="31664"/>
                </a:lnTo>
                <a:lnTo>
                  <a:pt x="984853" y="15192"/>
                </a:lnTo>
                <a:lnTo>
                  <a:pt x="968386" y="4077"/>
                </a:lnTo>
                <a:lnTo>
                  <a:pt x="948181" y="0"/>
                </a:lnTo>
                <a:close/>
              </a:path>
            </a:pathLst>
          </a:custGeom>
          <a:solidFill>
            <a:srgbClr val="00A78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32" name="object 32">
            <a:extLst>
              <a:ext uri="{FF2B5EF4-FFF2-40B4-BE49-F238E27FC236}">
                <a16:creationId xmlns:a16="http://schemas.microsoft.com/office/drawing/2014/main" id="{A260D1C1-DE90-78AD-80EB-475630E0F830}"/>
              </a:ext>
            </a:extLst>
          </p:cNvPr>
          <p:cNvSpPr txBox="1"/>
          <p:nvPr/>
        </p:nvSpPr>
        <p:spPr>
          <a:xfrm>
            <a:off x="9341310" y="1713259"/>
            <a:ext cx="683230" cy="135293"/>
          </a:xfrm>
          <a:prstGeom prst="rect">
            <a:avLst/>
          </a:prstGeom>
        </p:spPr>
        <p:txBody>
          <a:bodyPr vert="horz" wrap="square" lIns="0" tIns="12065" rIns="0" bIns="0" rtlCol="0">
            <a:spAutoFit/>
          </a:bodyPr>
          <a:lstStyle/>
          <a:p>
            <a:pPr marL="0" marR="0" lvl="0" indent="0" algn="ctr" defTabSz="914400" rtl="0" eaLnBrk="1" fontAlgn="auto" latinLnBrk="0" hangingPunct="1">
              <a:lnSpc>
                <a:spcPct val="100000"/>
              </a:lnSpc>
              <a:spcBef>
                <a:spcPts val="95"/>
              </a:spcBef>
              <a:spcAft>
                <a:spcPts val="0"/>
              </a:spcAft>
              <a:buClrTx/>
              <a:buSzTx/>
              <a:buFontTx/>
              <a:buNone/>
              <a:tabLst/>
              <a:defRPr/>
            </a:pPr>
            <a:r>
              <a:rPr kumimoji="0" sz="800" b="0" i="0" u="none" strike="noStrike" kern="0" cap="none" spc="0" normalizeH="0" baseline="0" noProof="0">
                <a:ln>
                  <a:noFill/>
                </a:ln>
                <a:solidFill>
                  <a:srgbClr val="FFFFFF"/>
                </a:solidFill>
                <a:effectLst/>
                <a:uLnTx/>
                <a:uFillTx/>
                <a:latin typeface="CVS Health Sans"/>
                <a:ea typeface="+mn-ea"/>
                <a:cs typeface="CVS Health Sans"/>
              </a:rPr>
              <a:t>1</a:t>
            </a:r>
            <a:r>
              <a:rPr kumimoji="0" sz="800" b="0" i="0" u="none" strike="noStrike" kern="0" cap="none" spc="-15" normalizeH="0" baseline="0" noProof="0">
                <a:ln>
                  <a:noFill/>
                </a:ln>
                <a:solidFill>
                  <a:srgbClr val="FFFFFF"/>
                </a:solidFill>
                <a:effectLst/>
                <a:uLnTx/>
                <a:uFillTx/>
                <a:latin typeface="CVS Health Sans"/>
                <a:ea typeface="+mn-ea"/>
                <a:cs typeface="CVS Health Sans"/>
              </a:rPr>
              <a:t> </a:t>
            </a:r>
            <a:r>
              <a:rPr kumimoji="0" sz="800" b="0" i="0" u="none" strike="noStrike" kern="0" cap="none" spc="0" normalizeH="0" baseline="0" noProof="0">
                <a:ln>
                  <a:noFill/>
                </a:ln>
                <a:solidFill>
                  <a:srgbClr val="FFFFFF"/>
                </a:solidFill>
                <a:effectLst/>
                <a:uLnTx/>
                <a:uFillTx/>
                <a:latin typeface="CVS Health Sans"/>
                <a:ea typeface="+mn-ea"/>
                <a:cs typeface="CVS Health Sans"/>
              </a:rPr>
              <a:t>PM </a:t>
            </a:r>
            <a:r>
              <a:rPr kumimoji="0" sz="800" b="0" i="0" u="none" strike="noStrike" kern="0" cap="none" spc="-10" normalizeH="0" baseline="0" noProof="0">
                <a:ln>
                  <a:noFill/>
                </a:ln>
                <a:solidFill>
                  <a:srgbClr val="FFFFFF"/>
                </a:solidFill>
                <a:effectLst/>
                <a:uLnTx/>
                <a:uFillTx/>
                <a:latin typeface="CVS Health Sans"/>
                <a:ea typeface="+mn-ea"/>
                <a:cs typeface="CVS Health Sans"/>
              </a:rPr>
              <a:t>Analyst</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sp>
        <p:nvSpPr>
          <p:cNvPr id="33" name="object 33">
            <a:extLst>
              <a:ext uri="{FF2B5EF4-FFF2-40B4-BE49-F238E27FC236}">
                <a16:creationId xmlns:a16="http://schemas.microsoft.com/office/drawing/2014/main" id="{62AF7413-8BE6-E524-C1EE-A015AAB11876}"/>
              </a:ext>
            </a:extLst>
          </p:cNvPr>
          <p:cNvSpPr/>
          <p:nvPr/>
        </p:nvSpPr>
        <p:spPr>
          <a:xfrm>
            <a:off x="531406" y="2114324"/>
            <a:ext cx="9748520" cy="471170"/>
          </a:xfrm>
          <a:custGeom>
            <a:avLst/>
            <a:gdLst/>
            <a:ahLst/>
            <a:cxnLst/>
            <a:rect l="l" t="t" r="r" b="b"/>
            <a:pathLst>
              <a:path w="9748520" h="471169">
                <a:moveTo>
                  <a:pt x="0" y="40767"/>
                </a:moveTo>
                <a:lnTo>
                  <a:pt x="3205" y="24913"/>
                </a:lnTo>
                <a:lnTo>
                  <a:pt x="11945" y="11953"/>
                </a:lnTo>
                <a:lnTo>
                  <a:pt x="24908" y="3208"/>
                </a:lnTo>
                <a:lnTo>
                  <a:pt x="40779" y="0"/>
                </a:lnTo>
                <a:lnTo>
                  <a:pt x="9707587" y="0"/>
                </a:lnTo>
                <a:lnTo>
                  <a:pt x="9723441" y="3208"/>
                </a:lnTo>
                <a:lnTo>
                  <a:pt x="9736401" y="11953"/>
                </a:lnTo>
                <a:lnTo>
                  <a:pt x="9745146" y="24913"/>
                </a:lnTo>
                <a:lnTo>
                  <a:pt x="9748354" y="40767"/>
                </a:lnTo>
                <a:lnTo>
                  <a:pt x="9748354" y="429895"/>
                </a:lnTo>
                <a:lnTo>
                  <a:pt x="9745146" y="445748"/>
                </a:lnTo>
                <a:lnTo>
                  <a:pt x="9736401" y="458708"/>
                </a:lnTo>
                <a:lnTo>
                  <a:pt x="9723441" y="467453"/>
                </a:lnTo>
                <a:lnTo>
                  <a:pt x="9707587" y="470662"/>
                </a:lnTo>
                <a:lnTo>
                  <a:pt x="40779" y="470662"/>
                </a:lnTo>
                <a:lnTo>
                  <a:pt x="24908" y="467453"/>
                </a:lnTo>
                <a:lnTo>
                  <a:pt x="11945" y="458708"/>
                </a:lnTo>
                <a:lnTo>
                  <a:pt x="3205" y="445748"/>
                </a:lnTo>
                <a:lnTo>
                  <a:pt x="0" y="429895"/>
                </a:lnTo>
                <a:lnTo>
                  <a:pt x="0" y="40767"/>
                </a:lnTo>
                <a:close/>
              </a:path>
            </a:pathLst>
          </a:custGeom>
          <a:ln w="9525">
            <a:solidFill>
              <a:srgbClr val="0A4B8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34" name="object 34">
            <a:extLst>
              <a:ext uri="{FF2B5EF4-FFF2-40B4-BE49-F238E27FC236}">
                <a16:creationId xmlns:a16="http://schemas.microsoft.com/office/drawing/2014/main" id="{22A665B3-682C-CA51-BB77-2080AF961B7A}"/>
              </a:ext>
            </a:extLst>
          </p:cNvPr>
          <p:cNvSpPr txBox="1"/>
          <p:nvPr/>
        </p:nvSpPr>
        <p:spPr>
          <a:xfrm>
            <a:off x="1010107" y="2170459"/>
            <a:ext cx="3764279" cy="339090"/>
          </a:xfrm>
          <a:prstGeom prst="rect">
            <a:avLst/>
          </a:prstGeom>
        </p:spPr>
        <p:txBody>
          <a:bodyPr vert="horz" wrap="square" lIns="0" tIns="13335" rIns="0" bIns="0" rtlCol="0">
            <a:spAutoFit/>
          </a:bodyPr>
          <a:lstStyle/>
          <a:p>
            <a:pPr marL="0" marR="0" lvl="0" indent="0" algn="l" defTabSz="914400" rtl="0" eaLnBrk="1" fontAlgn="auto" latinLnBrk="0" hangingPunct="1">
              <a:lnSpc>
                <a:spcPct val="100000"/>
              </a:lnSpc>
              <a:spcBef>
                <a:spcPts val="105"/>
              </a:spcBef>
              <a:spcAft>
                <a:spcPts val="0"/>
              </a:spcAft>
              <a:buClrTx/>
              <a:buSzTx/>
              <a:buFontTx/>
              <a:buNone/>
              <a:tabLst/>
              <a:defRPr/>
            </a:pPr>
            <a:r>
              <a:rPr kumimoji="0" sz="1050" b="1" i="0" u="none" strike="noStrike" kern="0" cap="none" spc="0" normalizeH="0" baseline="0" noProof="0">
                <a:ln>
                  <a:noFill/>
                </a:ln>
                <a:solidFill>
                  <a:srgbClr val="0A4B8C"/>
                </a:solidFill>
                <a:effectLst/>
                <a:uLnTx/>
                <a:uFillTx/>
                <a:latin typeface="CVS Health Sans"/>
                <a:ea typeface="+mn-ea"/>
                <a:cs typeface="CVS Health Sans"/>
              </a:rPr>
              <a:t>E</a:t>
            </a:r>
            <a:r>
              <a:rPr kumimoji="0" sz="1050" b="1" i="0" u="none" strike="noStrike" kern="0" cap="none" spc="10" normalizeH="0" baseline="0" noProof="0">
                <a:ln>
                  <a:noFill/>
                </a:ln>
                <a:solidFill>
                  <a:srgbClr val="0A4B8C"/>
                </a:solidFill>
                <a:effectLst/>
                <a:uLnTx/>
                <a:uFillTx/>
                <a:latin typeface="CVS Health Sans"/>
                <a:ea typeface="+mn-ea"/>
                <a:cs typeface="CVS Health Sans"/>
              </a:rPr>
              <a:t> </a:t>
            </a:r>
            <a:r>
              <a:rPr kumimoji="0" sz="1050" b="1" i="0" u="none" strike="noStrike" kern="0" cap="none" spc="0" normalizeH="0" baseline="0" noProof="0">
                <a:ln>
                  <a:noFill/>
                </a:ln>
                <a:solidFill>
                  <a:srgbClr val="0A4B8C"/>
                </a:solidFill>
                <a:effectLst/>
                <a:uLnTx/>
                <a:uFillTx/>
                <a:latin typeface="CVS Health Sans"/>
                <a:ea typeface="+mn-ea"/>
                <a:cs typeface="CVS Health Sans"/>
              </a:rPr>
              <a:t>–</a:t>
            </a:r>
            <a:r>
              <a:rPr kumimoji="0" sz="1050" b="1" i="0" u="none" strike="noStrike" kern="0" cap="none" spc="10" normalizeH="0" baseline="0" noProof="0">
                <a:ln>
                  <a:noFill/>
                </a:ln>
                <a:solidFill>
                  <a:srgbClr val="0A4B8C"/>
                </a:solidFill>
                <a:effectLst/>
                <a:uLnTx/>
                <a:uFillTx/>
                <a:latin typeface="CVS Health Sans"/>
                <a:ea typeface="+mn-ea"/>
                <a:cs typeface="CVS Health Sans"/>
              </a:rPr>
              <a:t> </a:t>
            </a:r>
            <a:r>
              <a:rPr kumimoji="0" sz="1050" b="1" i="0" u="none" strike="noStrike" kern="0" cap="none" spc="-10" normalizeH="0" baseline="0" noProof="0">
                <a:ln>
                  <a:noFill/>
                </a:ln>
                <a:solidFill>
                  <a:srgbClr val="0A4B8C"/>
                </a:solidFill>
                <a:effectLst/>
                <a:uLnTx/>
                <a:uFillTx/>
                <a:latin typeface="CVS Health Sans"/>
                <a:ea typeface="+mn-ea"/>
                <a:cs typeface="CVS Health Sans"/>
              </a:rPr>
              <a:t>Organizational</a:t>
            </a:r>
            <a:r>
              <a:rPr kumimoji="0" sz="1050" b="1" i="0" u="none" strike="noStrike" kern="0" cap="none" spc="-25" normalizeH="0" baseline="0" noProof="0">
                <a:ln>
                  <a:noFill/>
                </a:ln>
                <a:solidFill>
                  <a:srgbClr val="0A4B8C"/>
                </a:solidFill>
                <a:effectLst/>
                <a:uLnTx/>
                <a:uFillTx/>
                <a:latin typeface="CVS Health Sans"/>
                <a:ea typeface="+mn-ea"/>
                <a:cs typeface="CVS Health Sans"/>
              </a:rPr>
              <a:t> </a:t>
            </a:r>
            <a:r>
              <a:rPr kumimoji="0" sz="1050" b="1" i="0" u="none" strike="noStrike" kern="0" cap="none" spc="0" normalizeH="0" baseline="0" noProof="0">
                <a:ln>
                  <a:noFill/>
                </a:ln>
                <a:solidFill>
                  <a:srgbClr val="0A4B8C"/>
                </a:solidFill>
                <a:effectLst/>
                <a:uLnTx/>
                <a:uFillTx/>
                <a:latin typeface="CVS Health Sans"/>
                <a:ea typeface="+mn-ea"/>
                <a:cs typeface="CVS Health Sans"/>
              </a:rPr>
              <a:t>Change</a:t>
            </a:r>
            <a:r>
              <a:rPr kumimoji="0" sz="1050" b="1" i="0" u="none" strike="noStrike" kern="0" cap="none" spc="-25" normalizeH="0" baseline="0" noProof="0">
                <a:ln>
                  <a:noFill/>
                </a:ln>
                <a:solidFill>
                  <a:srgbClr val="0A4B8C"/>
                </a:solidFill>
                <a:effectLst/>
                <a:uLnTx/>
                <a:uFillTx/>
                <a:latin typeface="CVS Health Sans"/>
                <a:ea typeface="+mn-ea"/>
                <a:cs typeface="CVS Health Sans"/>
              </a:rPr>
              <a:t> </a:t>
            </a:r>
            <a:r>
              <a:rPr kumimoji="0" sz="1050" b="1" i="0" u="none" strike="noStrike" kern="0" cap="none" spc="0" normalizeH="0" baseline="0" noProof="0">
                <a:ln>
                  <a:noFill/>
                </a:ln>
                <a:solidFill>
                  <a:srgbClr val="0A4B8C"/>
                </a:solidFill>
                <a:effectLst/>
                <a:uLnTx/>
                <a:uFillTx/>
                <a:latin typeface="CVS Health Sans"/>
                <a:ea typeface="+mn-ea"/>
                <a:cs typeface="CVS Health Sans"/>
              </a:rPr>
              <a:t>and</a:t>
            </a:r>
            <a:r>
              <a:rPr kumimoji="0" sz="1050" b="1" i="0" u="none" strike="noStrike" kern="0" cap="none" spc="10" normalizeH="0" baseline="0" noProof="0">
                <a:ln>
                  <a:noFill/>
                </a:ln>
                <a:solidFill>
                  <a:srgbClr val="0A4B8C"/>
                </a:solidFill>
                <a:effectLst/>
                <a:uLnTx/>
                <a:uFillTx/>
                <a:latin typeface="CVS Health Sans"/>
                <a:ea typeface="+mn-ea"/>
                <a:cs typeface="CVS Health Sans"/>
              </a:rPr>
              <a:t> </a:t>
            </a:r>
            <a:r>
              <a:rPr kumimoji="0" sz="1050" b="1" i="0" u="none" strike="noStrike" kern="0" cap="none" spc="0" normalizeH="0" baseline="0" noProof="0">
                <a:ln>
                  <a:noFill/>
                </a:ln>
                <a:solidFill>
                  <a:srgbClr val="0A4B8C"/>
                </a:solidFill>
                <a:effectLst/>
                <a:uLnTx/>
                <a:uFillTx/>
                <a:latin typeface="CVS Health Sans"/>
                <a:ea typeface="+mn-ea"/>
                <a:cs typeface="CVS Health Sans"/>
              </a:rPr>
              <a:t>Adoption</a:t>
            </a:r>
            <a:r>
              <a:rPr kumimoji="0" sz="1050" b="1" i="0" u="none" strike="noStrike" kern="0" cap="none" spc="5" normalizeH="0" baseline="0" noProof="0">
                <a:ln>
                  <a:noFill/>
                </a:ln>
                <a:solidFill>
                  <a:srgbClr val="0A4B8C"/>
                </a:solidFill>
                <a:effectLst/>
                <a:uLnTx/>
                <a:uFillTx/>
                <a:latin typeface="CVS Health Sans"/>
                <a:ea typeface="+mn-ea"/>
                <a:cs typeface="CVS Health Sans"/>
              </a:rPr>
              <a:t> </a:t>
            </a:r>
            <a:r>
              <a:rPr kumimoji="0" sz="1050" b="1" i="0" u="none" strike="noStrike" kern="0" cap="none" spc="0" normalizeH="0" baseline="0" noProof="0">
                <a:ln>
                  <a:noFill/>
                </a:ln>
                <a:solidFill>
                  <a:srgbClr val="0A4B8C"/>
                </a:solidFill>
                <a:effectLst/>
                <a:uLnTx/>
                <a:uFillTx/>
                <a:latin typeface="CVS Health Sans"/>
                <a:ea typeface="+mn-ea"/>
                <a:cs typeface="CVS Health Sans"/>
              </a:rPr>
              <a:t>|</a:t>
            </a:r>
            <a:r>
              <a:rPr kumimoji="0" sz="1050" b="1" i="0" u="none" strike="noStrike" kern="0" cap="none" spc="10" normalizeH="0" baseline="0" noProof="0">
                <a:ln>
                  <a:noFill/>
                </a:ln>
                <a:solidFill>
                  <a:srgbClr val="0A4B8C"/>
                </a:solidFill>
                <a:effectLst/>
                <a:uLnTx/>
                <a:uFillTx/>
                <a:latin typeface="CVS Health Sans"/>
                <a:ea typeface="+mn-ea"/>
                <a:cs typeface="CVS Health Sans"/>
              </a:rPr>
              <a:t> </a:t>
            </a:r>
            <a:r>
              <a:rPr lang="en-US" sz="1000" kern="0" spc="-10">
                <a:solidFill>
                  <a:srgbClr val="0A4B8C"/>
                </a:solidFill>
                <a:latin typeface="CVS Health Sans"/>
                <a:cs typeface="CVS Health Sans"/>
              </a:rPr>
              <a:t>Sep</a:t>
            </a:r>
            <a:r>
              <a:rPr kumimoji="0" lang="en-US" sz="1000" b="0" i="0" u="none" strike="noStrike" kern="0" cap="none" spc="-10" normalizeH="0" baseline="0" noProof="0">
                <a:ln>
                  <a:noFill/>
                </a:ln>
                <a:solidFill>
                  <a:srgbClr val="0A4B8C"/>
                </a:solidFill>
                <a:effectLst/>
                <a:uLnTx/>
                <a:uFillTx/>
                <a:latin typeface="CVS Health Sans"/>
                <a:ea typeface="+mn-ea"/>
                <a:cs typeface="CVS Health Sans"/>
              </a:rPr>
              <a:t>t ’26 - Jul ’27</a:t>
            </a:r>
            <a:endParaRPr kumimoji="0" sz="1000" b="0" i="0" u="none" strike="noStrike" kern="0" cap="none" spc="0" normalizeH="0" baseline="0" noProof="0">
              <a:ln>
                <a:noFill/>
              </a:ln>
              <a:solidFill>
                <a:srgbClr val="0A4B8C"/>
              </a:solidFill>
              <a:effectLst/>
              <a:uLnTx/>
              <a:uFillTx/>
              <a:latin typeface="CVS Health Sans"/>
              <a:ea typeface="+mn-ea"/>
              <a:cs typeface="CVS Health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0" i="0" u="none" strike="noStrike" kern="0" cap="none" spc="0" normalizeH="0" baseline="0" noProof="0">
                <a:ln>
                  <a:noFill/>
                </a:ln>
                <a:solidFill>
                  <a:srgbClr val="3F3F3F"/>
                </a:solidFill>
                <a:effectLst/>
                <a:uLnTx/>
                <a:uFillTx/>
                <a:latin typeface="CVS Health Sans"/>
                <a:ea typeface="+mn-ea"/>
                <a:cs typeface="CVS Health Sans"/>
              </a:rPr>
              <a:t>Drives</a:t>
            </a:r>
            <a:r>
              <a:rPr kumimoji="0" sz="1000" b="0" i="0" u="none" strike="noStrike" kern="0" cap="none" spc="-35" normalizeH="0" baseline="0" noProof="0">
                <a:ln>
                  <a:noFill/>
                </a:ln>
                <a:solidFill>
                  <a:srgbClr val="3F3F3F"/>
                </a:solidFill>
                <a:effectLst/>
                <a:uLnTx/>
                <a:uFillTx/>
                <a:latin typeface="CVS Health Sans"/>
                <a:ea typeface="+mn-ea"/>
                <a:cs typeface="CVS Health Sans"/>
              </a:rPr>
              <a:t> </a:t>
            </a:r>
            <a:r>
              <a:rPr kumimoji="0" sz="1000" b="0" i="0" u="none" strike="noStrike" kern="0" cap="none" spc="0" normalizeH="0" baseline="0" noProof="0">
                <a:ln>
                  <a:noFill/>
                </a:ln>
                <a:solidFill>
                  <a:srgbClr val="3F3F3F"/>
                </a:solidFill>
                <a:effectLst/>
                <a:uLnTx/>
                <a:uFillTx/>
                <a:latin typeface="CVS Health Sans"/>
                <a:ea typeface="+mn-ea"/>
                <a:cs typeface="CVS Health Sans"/>
              </a:rPr>
              <a:t>stakeholder</a:t>
            </a:r>
            <a:r>
              <a:rPr kumimoji="0" sz="1000" b="0" i="0" u="none" strike="noStrike" kern="0" cap="none" spc="-20" normalizeH="0" baseline="0" noProof="0">
                <a:ln>
                  <a:noFill/>
                </a:ln>
                <a:solidFill>
                  <a:srgbClr val="3F3F3F"/>
                </a:solidFill>
                <a:effectLst/>
                <a:uLnTx/>
                <a:uFillTx/>
                <a:latin typeface="CVS Health Sans"/>
                <a:ea typeface="+mn-ea"/>
                <a:cs typeface="CVS Health Sans"/>
              </a:rPr>
              <a:t> </a:t>
            </a:r>
            <a:r>
              <a:rPr kumimoji="0" sz="1000" b="0" i="0" u="none" strike="noStrike" kern="0" cap="none" spc="0" normalizeH="0" baseline="0" noProof="0">
                <a:ln>
                  <a:noFill/>
                </a:ln>
                <a:solidFill>
                  <a:srgbClr val="3F3F3F"/>
                </a:solidFill>
                <a:effectLst/>
                <a:uLnTx/>
                <a:uFillTx/>
                <a:latin typeface="CVS Health Sans"/>
                <a:ea typeface="+mn-ea"/>
                <a:cs typeface="CVS Health Sans"/>
              </a:rPr>
              <a:t>readiness,</a:t>
            </a:r>
            <a:r>
              <a:rPr kumimoji="0" sz="1000" b="0" i="0" u="none" strike="noStrike" kern="0" cap="none" spc="-10" normalizeH="0" baseline="0" noProof="0">
                <a:ln>
                  <a:noFill/>
                </a:ln>
                <a:solidFill>
                  <a:srgbClr val="3F3F3F"/>
                </a:solidFill>
                <a:effectLst/>
                <a:uLnTx/>
                <a:uFillTx/>
                <a:latin typeface="CVS Health Sans"/>
                <a:ea typeface="+mn-ea"/>
                <a:cs typeface="CVS Health Sans"/>
              </a:rPr>
              <a:t> </a:t>
            </a:r>
            <a:r>
              <a:rPr kumimoji="0" sz="1000" b="0" i="0" u="none" strike="noStrike" kern="0" cap="none" spc="0" normalizeH="0" baseline="0" noProof="0">
                <a:ln>
                  <a:noFill/>
                </a:ln>
                <a:solidFill>
                  <a:srgbClr val="3F3F3F"/>
                </a:solidFill>
                <a:effectLst/>
                <a:uLnTx/>
                <a:uFillTx/>
                <a:latin typeface="CVS Health Sans"/>
                <a:ea typeface="+mn-ea"/>
                <a:cs typeface="CVS Health Sans"/>
              </a:rPr>
              <a:t>adoption,</a:t>
            </a:r>
            <a:r>
              <a:rPr kumimoji="0" sz="1000" b="0" i="0" u="none" strike="noStrike" kern="0" cap="none" spc="-30" normalizeH="0" baseline="0" noProof="0">
                <a:ln>
                  <a:noFill/>
                </a:ln>
                <a:solidFill>
                  <a:srgbClr val="3F3F3F"/>
                </a:solidFill>
                <a:effectLst/>
                <a:uLnTx/>
                <a:uFillTx/>
                <a:latin typeface="CVS Health Sans"/>
                <a:ea typeface="+mn-ea"/>
                <a:cs typeface="CVS Health Sans"/>
              </a:rPr>
              <a:t> </a:t>
            </a:r>
            <a:r>
              <a:rPr kumimoji="0" sz="1000" b="0" i="0" u="none" strike="noStrike" kern="0" cap="none" spc="0" normalizeH="0" baseline="0" noProof="0">
                <a:ln>
                  <a:noFill/>
                </a:ln>
                <a:solidFill>
                  <a:srgbClr val="3F3F3F"/>
                </a:solidFill>
                <a:effectLst/>
                <a:uLnTx/>
                <a:uFillTx/>
                <a:latin typeface="CVS Health Sans"/>
                <a:ea typeface="+mn-ea"/>
                <a:cs typeface="CVS Health Sans"/>
              </a:rPr>
              <a:t>and</a:t>
            </a:r>
            <a:r>
              <a:rPr kumimoji="0" sz="1000" b="0" i="0" u="none" strike="noStrike" kern="0" cap="none" spc="-50" normalizeH="0" baseline="0" noProof="0">
                <a:ln>
                  <a:noFill/>
                </a:ln>
                <a:solidFill>
                  <a:srgbClr val="3F3F3F"/>
                </a:solidFill>
                <a:effectLst/>
                <a:uLnTx/>
                <a:uFillTx/>
                <a:latin typeface="CVS Health Sans"/>
                <a:ea typeface="+mn-ea"/>
                <a:cs typeface="CVS Health Sans"/>
              </a:rPr>
              <a:t> </a:t>
            </a:r>
            <a:r>
              <a:rPr kumimoji="0" sz="1000" b="0" i="0" u="none" strike="noStrike" kern="0" cap="none" spc="0" normalizeH="0" baseline="0" noProof="0">
                <a:ln>
                  <a:noFill/>
                </a:ln>
                <a:solidFill>
                  <a:srgbClr val="3F3F3F"/>
                </a:solidFill>
                <a:effectLst/>
                <a:uLnTx/>
                <a:uFillTx/>
                <a:latin typeface="CVS Health Sans"/>
                <a:ea typeface="+mn-ea"/>
                <a:cs typeface="CVS Health Sans"/>
              </a:rPr>
              <a:t>migration</a:t>
            </a:r>
            <a:r>
              <a:rPr kumimoji="0" sz="1000" b="0" i="0" u="none" strike="noStrike" kern="0" cap="none" spc="-40" normalizeH="0" baseline="0" noProof="0">
                <a:ln>
                  <a:noFill/>
                </a:ln>
                <a:solidFill>
                  <a:srgbClr val="3F3F3F"/>
                </a:solidFill>
                <a:effectLst/>
                <a:uLnTx/>
                <a:uFillTx/>
                <a:latin typeface="CVS Health Sans"/>
                <a:ea typeface="+mn-ea"/>
                <a:cs typeface="CVS Health Sans"/>
              </a:rPr>
              <a:t> </a:t>
            </a:r>
            <a:r>
              <a:rPr kumimoji="0" sz="1000" b="0" i="0" u="none" strike="noStrike" kern="0" cap="none" spc="-10" normalizeH="0" baseline="0" noProof="0">
                <a:ln>
                  <a:noFill/>
                </a:ln>
                <a:solidFill>
                  <a:srgbClr val="3F3F3F"/>
                </a:solidFill>
                <a:effectLst/>
                <a:uLnTx/>
                <a:uFillTx/>
                <a:latin typeface="CVS Health Sans"/>
                <a:ea typeface="+mn-ea"/>
                <a:cs typeface="CVS Health Sans"/>
              </a:rPr>
              <a:t>planning.</a:t>
            </a:r>
            <a:endParaRPr kumimoji="0" sz="1000" b="0" i="0" u="none" strike="noStrike" kern="0" cap="none" spc="0" normalizeH="0" baseline="0" noProof="0">
              <a:ln>
                <a:noFill/>
              </a:ln>
              <a:solidFill>
                <a:srgbClr val="3F3F3F"/>
              </a:solidFill>
              <a:effectLst/>
              <a:uLnTx/>
              <a:uFillTx/>
              <a:latin typeface="CVS Health Sans"/>
              <a:ea typeface="+mn-ea"/>
              <a:cs typeface="CVS Health Sans"/>
            </a:endParaRPr>
          </a:p>
        </p:txBody>
      </p:sp>
      <p:sp>
        <p:nvSpPr>
          <p:cNvPr id="35" name="object 35">
            <a:extLst>
              <a:ext uri="{FF2B5EF4-FFF2-40B4-BE49-F238E27FC236}">
                <a16:creationId xmlns:a16="http://schemas.microsoft.com/office/drawing/2014/main" id="{0AAE0E7E-CC6A-832D-85D0-DCD5C83B3C3C}"/>
              </a:ext>
            </a:extLst>
          </p:cNvPr>
          <p:cNvSpPr/>
          <p:nvPr/>
        </p:nvSpPr>
        <p:spPr>
          <a:xfrm>
            <a:off x="7040498" y="2194208"/>
            <a:ext cx="1000125" cy="311150"/>
          </a:xfrm>
          <a:custGeom>
            <a:avLst/>
            <a:gdLst/>
            <a:ahLst/>
            <a:cxnLst/>
            <a:rect l="l" t="t" r="r" b="b"/>
            <a:pathLst>
              <a:path w="1000125" h="311150">
                <a:moveTo>
                  <a:pt x="948181" y="0"/>
                </a:moveTo>
                <a:lnTo>
                  <a:pt x="51816" y="0"/>
                </a:lnTo>
                <a:lnTo>
                  <a:pt x="31664" y="4060"/>
                </a:lnTo>
                <a:lnTo>
                  <a:pt x="15192" y="15144"/>
                </a:lnTo>
                <a:lnTo>
                  <a:pt x="4077" y="31611"/>
                </a:lnTo>
                <a:lnTo>
                  <a:pt x="0" y="51815"/>
                </a:lnTo>
                <a:lnTo>
                  <a:pt x="0" y="259080"/>
                </a:lnTo>
                <a:lnTo>
                  <a:pt x="4077" y="279231"/>
                </a:lnTo>
                <a:lnTo>
                  <a:pt x="15192" y="295703"/>
                </a:lnTo>
                <a:lnTo>
                  <a:pt x="31664" y="306818"/>
                </a:lnTo>
                <a:lnTo>
                  <a:pt x="51816" y="310896"/>
                </a:lnTo>
                <a:lnTo>
                  <a:pt x="948181" y="310896"/>
                </a:lnTo>
                <a:lnTo>
                  <a:pt x="968333" y="306818"/>
                </a:lnTo>
                <a:lnTo>
                  <a:pt x="984805" y="295703"/>
                </a:lnTo>
                <a:lnTo>
                  <a:pt x="995920" y="279231"/>
                </a:lnTo>
                <a:lnTo>
                  <a:pt x="999998" y="259080"/>
                </a:lnTo>
                <a:lnTo>
                  <a:pt x="999998" y="51815"/>
                </a:lnTo>
                <a:lnTo>
                  <a:pt x="995920" y="31611"/>
                </a:lnTo>
                <a:lnTo>
                  <a:pt x="984805" y="15144"/>
                </a:lnTo>
                <a:lnTo>
                  <a:pt x="968333" y="4060"/>
                </a:lnTo>
                <a:lnTo>
                  <a:pt x="948181" y="0"/>
                </a:lnTo>
                <a:close/>
              </a:path>
            </a:pathLst>
          </a:custGeom>
          <a:solidFill>
            <a:srgbClr val="267A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36" name="object 36">
            <a:extLst>
              <a:ext uri="{FF2B5EF4-FFF2-40B4-BE49-F238E27FC236}">
                <a16:creationId xmlns:a16="http://schemas.microsoft.com/office/drawing/2014/main" id="{F6FE8791-7AEF-8556-AF67-2E6F5980A54B}"/>
              </a:ext>
            </a:extLst>
          </p:cNvPr>
          <p:cNvSpPr txBox="1"/>
          <p:nvPr/>
        </p:nvSpPr>
        <p:spPr>
          <a:xfrm>
            <a:off x="7221874" y="2215295"/>
            <a:ext cx="651470" cy="271228"/>
          </a:xfrm>
          <a:prstGeom prst="rect">
            <a:avLst/>
          </a:prstGeom>
        </p:spPr>
        <p:txBody>
          <a:bodyPr vert="horz" wrap="square" lIns="0" tIns="12065" rIns="0" bIns="0" rtlCol="0">
            <a:spAutoFit/>
          </a:bodyPr>
          <a:lstStyle/>
          <a:p>
            <a:pPr marL="0" marR="0" lvl="0" indent="0" algn="ctr" defTabSz="914400" rtl="0" eaLnBrk="1" fontAlgn="auto" latinLnBrk="0" hangingPunct="1">
              <a:lnSpc>
                <a:spcPct val="100000"/>
              </a:lnSpc>
              <a:spcBef>
                <a:spcPts val="95"/>
              </a:spcBef>
              <a:spcAft>
                <a:spcPts val="0"/>
              </a:spcAft>
              <a:buClrTx/>
              <a:buSzTx/>
              <a:buFontTx/>
              <a:buNone/>
              <a:tabLst/>
              <a:defRPr/>
            </a:pPr>
            <a:r>
              <a:rPr kumimoji="0" sz="800" b="0" i="0" u="none" strike="noStrike" kern="0" cap="none" spc="0" normalizeH="0" baseline="0" noProof="0">
                <a:ln>
                  <a:noFill/>
                </a:ln>
                <a:solidFill>
                  <a:srgbClr val="FFFFFF"/>
                </a:solidFill>
                <a:effectLst/>
                <a:uLnTx/>
                <a:uFillTx/>
                <a:latin typeface="CVS Health Sans"/>
                <a:ea typeface="+mn-ea"/>
                <a:cs typeface="CVS Health Sans"/>
              </a:rPr>
              <a:t>1</a:t>
            </a:r>
            <a:r>
              <a:rPr kumimoji="0" sz="800" b="0" i="0" u="none" strike="noStrike" kern="0" cap="none" spc="-20" normalizeH="0" baseline="0" noProof="0">
                <a:ln>
                  <a:noFill/>
                </a:ln>
                <a:solidFill>
                  <a:srgbClr val="FFFFFF"/>
                </a:solidFill>
                <a:effectLst/>
                <a:uLnTx/>
                <a:uFillTx/>
                <a:latin typeface="CVS Health Sans"/>
                <a:ea typeface="+mn-ea"/>
                <a:cs typeface="CVS Health Sans"/>
              </a:rPr>
              <a:t> </a:t>
            </a:r>
            <a:r>
              <a:rPr kumimoji="0" sz="800" b="0" i="0" u="none" strike="noStrike" kern="0" cap="none" spc="0" normalizeH="0" baseline="0" noProof="0">
                <a:ln>
                  <a:noFill/>
                </a:ln>
                <a:solidFill>
                  <a:srgbClr val="FFFFFF"/>
                </a:solidFill>
                <a:effectLst/>
                <a:uLnTx/>
                <a:uFillTx/>
                <a:latin typeface="CVS Health Sans"/>
                <a:ea typeface="+mn-ea"/>
                <a:cs typeface="CVS Health Sans"/>
              </a:rPr>
              <a:t>OCM</a:t>
            </a:r>
            <a:r>
              <a:rPr kumimoji="0" sz="800" b="0" i="0" u="none" strike="noStrike" kern="0" cap="none" spc="5" normalizeH="0" baseline="0" noProof="0">
                <a:ln>
                  <a:noFill/>
                </a:ln>
                <a:solidFill>
                  <a:srgbClr val="FFFFFF"/>
                </a:solidFill>
                <a:effectLst/>
                <a:uLnTx/>
                <a:uFillTx/>
                <a:latin typeface="CVS Health Sans"/>
                <a:ea typeface="+mn-ea"/>
                <a:cs typeface="CVS Health Sans"/>
              </a:rPr>
              <a:t> </a:t>
            </a:r>
            <a:r>
              <a:rPr kumimoji="0" sz="800" b="0" i="0" u="none" strike="noStrike" kern="0" cap="none" spc="-20" normalizeH="0" baseline="0" noProof="0">
                <a:ln>
                  <a:noFill/>
                </a:ln>
                <a:solidFill>
                  <a:srgbClr val="FFFFFF"/>
                </a:solidFill>
                <a:effectLst/>
                <a:uLnTx/>
                <a:uFillTx/>
                <a:latin typeface="CVS Health Sans"/>
                <a:ea typeface="+mn-ea"/>
                <a:cs typeface="CVS Health Sans"/>
              </a:rPr>
              <a:t>Lead</a:t>
            </a:r>
            <a:endParaRPr kumimoji="0" lang="en-US" sz="800" b="0" i="0" u="none" strike="noStrike" kern="0" cap="none" spc="-20" normalizeH="0" baseline="0" noProof="0">
              <a:ln>
                <a:noFill/>
              </a:ln>
              <a:solidFill>
                <a:srgbClr val="FFFFFF"/>
              </a:solidFill>
              <a:effectLst/>
              <a:uLnTx/>
              <a:uFillTx/>
              <a:latin typeface="CVS Health Sans"/>
              <a:ea typeface="+mn-ea"/>
              <a:cs typeface="CVS Health Sans"/>
            </a:endParaRPr>
          </a:p>
          <a:p>
            <a:pPr marL="0" marR="0" lvl="0" indent="0" algn="ctr" defTabSz="914400" rtl="0" eaLnBrk="1" fontAlgn="auto" latinLnBrk="0" hangingPunct="1">
              <a:lnSpc>
                <a:spcPct val="100000"/>
              </a:lnSpc>
              <a:spcBef>
                <a:spcPts val="95"/>
              </a:spcBef>
              <a:spcAft>
                <a:spcPts val="0"/>
              </a:spcAft>
              <a:buClrTx/>
              <a:buSzTx/>
              <a:buFontTx/>
              <a:buNone/>
              <a:tabLst/>
              <a:defRPr/>
            </a:pPr>
            <a:r>
              <a:rPr kumimoji="0" lang="en-US" sz="800" b="0" i="0" u="none" strike="noStrike" kern="0" cap="none" spc="0" normalizeH="0" baseline="0" noProof="0">
                <a:ln>
                  <a:noFill/>
                </a:ln>
                <a:solidFill>
                  <a:schemeClr val="bg1"/>
                </a:solidFill>
                <a:effectLst/>
                <a:uLnTx/>
                <a:uFillTx/>
                <a:latin typeface="CVS Health Sans"/>
                <a:ea typeface="+mn-ea"/>
                <a:cs typeface="CVS Health Sans"/>
              </a:rPr>
              <a:t>Josie Brucker</a:t>
            </a:r>
          </a:p>
        </p:txBody>
      </p:sp>
      <p:sp>
        <p:nvSpPr>
          <p:cNvPr id="37" name="object 37">
            <a:extLst>
              <a:ext uri="{FF2B5EF4-FFF2-40B4-BE49-F238E27FC236}">
                <a16:creationId xmlns:a16="http://schemas.microsoft.com/office/drawing/2014/main" id="{FF04AE27-A65F-2624-661C-04E100C76374}"/>
              </a:ext>
            </a:extLst>
          </p:cNvPr>
          <p:cNvSpPr/>
          <p:nvPr/>
        </p:nvSpPr>
        <p:spPr>
          <a:xfrm>
            <a:off x="8104505" y="2194208"/>
            <a:ext cx="1000125" cy="311150"/>
          </a:xfrm>
          <a:custGeom>
            <a:avLst/>
            <a:gdLst/>
            <a:ahLst/>
            <a:cxnLst/>
            <a:rect l="l" t="t" r="r" b="b"/>
            <a:pathLst>
              <a:path w="1000125" h="311150">
                <a:moveTo>
                  <a:pt x="948181" y="0"/>
                </a:moveTo>
                <a:lnTo>
                  <a:pt x="51816" y="0"/>
                </a:lnTo>
                <a:lnTo>
                  <a:pt x="31611" y="4060"/>
                </a:lnTo>
                <a:lnTo>
                  <a:pt x="15144" y="15144"/>
                </a:lnTo>
                <a:lnTo>
                  <a:pt x="4060" y="31611"/>
                </a:lnTo>
                <a:lnTo>
                  <a:pt x="0" y="51815"/>
                </a:lnTo>
                <a:lnTo>
                  <a:pt x="0" y="259080"/>
                </a:lnTo>
                <a:lnTo>
                  <a:pt x="4060" y="279231"/>
                </a:lnTo>
                <a:lnTo>
                  <a:pt x="15144" y="295703"/>
                </a:lnTo>
                <a:lnTo>
                  <a:pt x="31611" y="306818"/>
                </a:lnTo>
                <a:lnTo>
                  <a:pt x="51816" y="310896"/>
                </a:lnTo>
                <a:lnTo>
                  <a:pt x="948181" y="310896"/>
                </a:lnTo>
                <a:lnTo>
                  <a:pt x="968333" y="306818"/>
                </a:lnTo>
                <a:lnTo>
                  <a:pt x="984805" y="295703"/>
                </a:lnTo>
                <a:lnTo>
                  <a:pt x="995920" y="279231"/>
                </a:lnTo>
                <a:lnTo>
                  <a:pt x="999998" y="259080"/>
                </a:lnTo>
                <a:lnTo>
                  <a:pt x="999998" y="51815"/>
                </a:lnTo>
                <a:lnTo>
                  <a:pt x="995920" y="31611"/>
                </a:lnTo>
                <a:lnTo>
                  <a:pt x="984805" y="15144"/>
                </a:lnTo>
                <a:lnTo>
                  <a:pt x="968333" y="4060"/>
                </a:lnTo>
                <a:lnTo>
                  <a:pt x="948181" y="0"/>
                </a:lnTo>
                <a:close/>
              </a:path>
            </a:pathLst>
          </a:custGeom>
          <a:solidFill>
            <a:srgbClr val="267A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38" name="object 38">
            <a:extLst>
              <a:ext uri="{FF2B5EF4-FFF2-40B4-BE49-F238E27FC236}">
                <a16:creationId xmlns:a16="http://schemas.microsoft.com/office/drawing/2014/main" id="{D5C0E9A8-B7DB-B46C-8F52-9033B22BE402}"/>
              </a:ext>
            </a:extLst>
          </p:cNvPr>
          <p:cNvSpPr txBox="1"/>
          <p:nvPr/>
        </p:nvSpPr>
        <p:spPr>
          <a:xfrm>
            <a:off x="8180450" y="2281075"/>
            <a:ext cx="861568" cy="135293"/>
          </a:xfrm>
          <a:prstGeom prst="rect">
            <a:avLst/>
          </a:prstGeom>
        </p:spPr>
        <p:txBody>
          <a:bodyPr vert="horz" wrap="square" lIns="0" tIns="12065" rIns="0" bIns="0" rtlCol="0">
            <a:spAutoFit/>
          </a:bodyPr>
          <a:lstStyle/>
          <a:p>
            <a:pPr marL="0" marR="0" lvl="0" indent="0" algn="ctr" defTabSz="914400" rtl="0" eaLnBrk="1" fontAlgn="auto" latinLnBrk="0" hangingPunct="1">
              <a:lnSpc>
                <a:spcPct val="100000"/>
              </a:lnSpc>
              <a:spcBef>
                <a:spcPts val="95"/>
              </a:spcBef>
              <a:spcAft>
                <a:spcPts val="0"/>
              </a:spcAft>
              <a:buClrTx/>
              <a:buSzTx/>
              <a:buFontTx/>
              <a:buNone/>
              <a:tabLst/>
              <a:defRPr/>
            </a:pPr>
            <a:r>
              <a:rPr kumimoji="0" sz="800" b="0" i="0" u="none" strike="noStrike" kern="0" cap="none" spc="0" normalizeH="0" baseline="0" noProof="0">
                <a:ln>
                  <a:noFill/>
                </a:ln>
                <a:solidFill>
                  <a:srgbClr val="FFFFFF"/>
                </a:solidFill>
                <a:effectLst/>
                <a:uLnTx/>
                <a:uFillTx/>
                <a:latin typeface="CVS Health Sans"/>
                <a:ea typeface="+mn-ea"/>
                <a:cs typeface="CVS Health Sans"/>
              </a:rPr>
              <a:t>1</a:t>
            </a:r>
            <a:r>
              <a:rPr kumimoji="0" sz="800" b="0" i="0" u="none" strike="noStrike" kern="0" cap="none" spc="-20" normalizeH="0" baseline="0" noProof="0">
                <a:ln>
                  <a:noFill/>
                </a:ln>
                <a:solidFill>
                  <a:srgbClr val="FFFFFF"/>
                </a:solidFill>
                <a:effectLst/>
                <a:uLnTx/>
                <a:uFillTx/>
                <a:latin typeface="CVS Health Sans"/>
                <a:ea typeface="+mn-ea"/>
                <a:cs typeface="CVS Health Sans"/>
              </a:rPr>
              <a:t> </a:t>
            </a:r>
            <a:r>
              <a:rPr kumimoji="0" sz="800" b="0" i="0" u="none" strike="noStrike" kern="0" cap="none" spc="0" normalizeH="0" baseline="0" noProof="0">
                <a:ln>
                  <a:noFill/>
                </a:ln>
                <a:solidFill>
                  <a:srgbClr val="FFFFFF"/>
                </a:solidFill>
                <a:effectLst/>
                <a:uLnTx/>
                <a:uFillTx/>
                <a:latin typeface="CVS Health Sans"/>
                <a:ea typeface="+mn-ea"/>
                <a:cs typeface="CVS Health Sans"/>
              </a:rPr>
              <a:t>OCM</a:t>
            </a:r>
            <a:r>
              <a:rPr kumimoji="0" sz="800" b="0" i="0" u="none" strike="noStrike" kern="0" cap="none" spc="5" normalizeH="0" baseline="0" noProof="0">
                <a:ln>
                  <a:noFill/>
                </a:ln>
                <a:solidFill>
                  <a:srgbClr val="FFFFFF"/>
                </a:solidFill>
                <a:effectLst/>
                <a:uLnTx/>
                <a:uFillTx/>
                <a:latin typeface="CVS Health Sans"/>
                <a:ea typeface="+mn-ea"/>
                <a:cs typeface="CVS Health Sans"/>
              </a:rPr>
              <a:t> </a:t>
            </a:r>
            <a:r>
              <a:rPr kumimoji="0" sz="800" b="0" i="0" u="none" strike="noStrike" kern="0" cap="none" spc="-10" normalizeH="0" baseline="0" noProof="0">
                <a:ln>
                  <a:noFill/>
                </a:ln>
                <a:solidFill>
                  <a:srgbClr val="FFFFFF"/>
                </a:solidFill>
                <a:effectLst/>
                <a:uLnTx/>
                <a:uFillTx/>
                <a:latin typeface="CVS Health Sans"/>
                <a:ea typeface="+mn-ea"/>
                <a:cs typeface="CVS Health Sans"/>
              </a:rPr>
              <a:t>Manager</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sp>
        <p:nvSpPr>
          <p:cNvPr id="39" name="object 39">
            <a:extLst>
              <a:ext uri="{FF2B5EF4-FFF2-40B4-BE49-F238E27FC236}">
                <a16:creationId xmlns:a16="http://schemas.microsoft.com/office/drawing/2014/main" id="{5A1A747F-76D6-CDEE-D282-FFAB28C20216}"/>
              </a:ext>
            </a:extLst>
          </p:cNvPr>
          <p:cNvSpPr/>
          <p:nvPr/>
        </p:nvSpPr>
        <p:spPr>
          <a:xfrm>
            <a:off x="9175368" y="2194208"/>
            <a:ext cx="1000125" cy="311150"/>
          </a:xfrm>
          <a:custGeom>
            <a:avLst/>
            <a:gdLst/>
            <a:ahLst/>
            <a:cxnLst/>
            <a:rect l="l" t="t" r="r" b="b"/>
            <a:pathLst>
              <a:path w="1000125" h="311150">
                <a:moveTo>
                  <a:pt x="948181" y="0"/>
                </a:moveTo>
                <a:lnTo>
                  <a:pt x="51815" y="0"/>
                </a:lnTo>
                <a:lnTo>
                  <a:pt x="31664" y="4060"/>
                </a:lnTo>
                <a:lnTo>
                  <a:pt x="15192" y="15144"/>
                </a:lnTo>
                <a:lnTo>
                  <a:pt x="4077" y="31611"/>
                </a:lnTo>
                <a:lnTo>
                  <a:pt x="0" y="51815"/>
                </a:lnTo>
                <a:lnTo>
                  <a:pt x="0" y="259080"/>
                </a:lnTo>
                <a:lnTo>
                  <a:pt x="4077" y="279231"/>
                </a:lnTo>
                <a:lnTo>
                  <a:pt x="15192" y="295703"/>
                </a:lnTo>
                <a:lnTo>
                  <a:pt x="31664" y="306818"/>
                </a:lnTo>
                <a:lnTo>
                  <a:pt x="51815" y="310896"/>
                </a:lnTo>
                <a:lnTo>
                  <a:pt x="948181" y="310896"/>
                </a:lnTo>
                <a:lnTo>
                  <a:pt x="968386" y="306818"/>
                </a:lnTo>
                <a:lnTo>
                  <a:pt x="984853" y="295703"/>
                </a:lnTo>
                <a:lnTo>
                  <a:pt x="995937" y="279231"/>
                </a:lnTo>
                <a:lnTo>
                  <a:pt x="999998" y="259080"/>
                </a:lnTo>
                <a:lnTo>
                  <a:pt x="999998" y="51815"/>
                </a:lnTo>
                <a:lnTo>
                  <a:pt x="995937" y="31611"/>
                </a:lnTo>
                <a:lnTo>
                  <a:pt x="984853" y="15144"/>
                </a:lnTo>
                <a:lnTo>
                  <a:pt x="968386" y="4060"/>
                </a:lnTo>
                <a:lnTo>
                  <a:pt x="948181" y="0"/>
                </a:lnTo>
                <a:close/>
              </a:path>
            </a:pathLst>
          </a:custGeom>
          <a:solidFill>
            <a:srgbClr val="267A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40" name="object 40">
            <a:extLst>
              <a:ext uri="{FF2B5EF4-FFF2-40B4-BE49-F238E27FC236}">
                <a16:creationId xmlns:a16="http://schemas.microsoft.com/office/drawing/2014/main" id="{C3518D6E-9F77-9AF8-7C33-D35228C16862}"/>
              </a:ext>
            </a:extLst>
          </p:cNvPr>
          <p:cNvSpPr txBox="1"/>
          <p:nvPr/>
        </p:nvSpPr>
        <p:spPr>
          <a:xfrm>
            <a:off x="9292629" y="2281075"/>
            <a:ext cx="779322" cy="135293"/>
          </a:xfrm>
          <a:prstGeom prst="rect">
            <a:avLst/>
          </a:prstGeom>
        </p:spPr>
        <p:txBody>
          <a:bodyPr vert="horz" wrap="square" lIns="0" tIns="12065" rIns="0" bIns="0" rtlCol="0">
            <a:spAutoFit/>
          </a:bodyPr>
          <a:lstStyle/>
          <a:p>
            <a:pPr marL="0" marR="0" lvl="0" indent="0" algn="ctr" defTabSz="914400" rtl="0" eaLnBrk="1" fontAlgn="auto" latinLnBrk="0" hangingPunct="1">
              <a:lnSpc>
                <a:spcPct val="100000"/>
              </a:lnSpc>
              <a:spcBef>
                <a:spcPts val="95"/>
              </a:spcBef>
              <a:spcAft>
                <a:spcPts val="0"/>
              </a:spcAft>
              <a:buClrTx/>
              <a:buSzTx/>
              <a:buFontTx/>
              <a:buNone/>
              <a:tabLst/>
              <a:defRPr/>
            </a:pPr>
            <a:r>
              <a:rPr kumimoji="0" sz="800" b="0" i="0" u="none" strike="noStrike" kern="0" cap="none" spc="0" normalizeH="0" baseline="0" noProof="0">
                <a:ln>
                  <a:noFill/>
                </a:ln>
                <a:solidFill>
                  <a:srgbClr val="FFFFFF"/>
                </a:solidFill>
                <a:effectLst/>
                <a:uLnTx/>
                <a:uFillTx/>
                <a:latin typeface="CVS Health Sans"/>
                <a:ea typeface="+mn-ea"/>
                <a:cs typeface="CVS Health Sans"/>
              </a:rPr>
              <a:t>1</a:t>
            </a:r>
            <a:r>
              <a:rPr kumimoji="0" sz="800" b="0" i="0" u="none" strike="noStrike" kern="0" cap="none" spc="-20" normalizeH="0" baseline="0" noProof="0">
                <a:ln>
                  <a:noFill/>
                </a:ln>
                <a:solidFill>
                  <a:srgbClr val="FFFFFF"/>
                </a:solidFill>
                <a:effectLst/>
                <a:uLnTx/>
                <a:uFillTx/>
                <a:latin typeface="CVS Health Sans"/>
                <a:ea typeface="+mn-ea"/>
                <a:cs typeface="CVS Health Sans"/>
              </a:rPr>
              <a:t> </a:t>
            </a:r>
            <a:r>
              <a:rPr kumimoji="0" sz="800" b="0" i="0" u="none" strike="noStrike" kern="0" cap="none" spc="0" normalizeH="0" baseline="0" noProof="0">
                <a:ln>
                  <a:noFill/>
                </a:ln>
                <a:solidFill>
                  <a:srgbClr val="FFFFFF"/>
                </a:solidFill>
                <a:effectLst/>
                <a:uLnTx/>
                <a:uFillTx/>
                <a:latin typeface="CVS Health Sans"/>
                <a:ea typeface="+mn-ea"/>
                <a:cs typeface="CVS Health Sans"/>
              </a:rPr>
              <a:t>OCM</a:t>
            </a:r>
            <a:r>
              <a:rPr kumimoji="0" sz="800" b="0" i="0" u="none" strike="noStrike" kern="0" cap="none" spc="5" normalizeH="0" baseline="0" noProof="0">
                <a:ln>
                  <a:noFill/>
                </a:ln>
                <a:solidFill>
                  <a:srgbClr val="FFFFFF"/>
                </a:solidFill>
                <a:effectLst/>
                <a:uLnTx/>
                <a:uFillTx/>
                <a:latin typeface="CVS Health Sans"/>
                <a:ea typeface="+mn-ea"/>
                <a:cs typeface="CVS Health Sans"/>
              </a:rPr>
              <a:t> </a:t>
            </a:r>
            <a:r>
              <a:rPr kumimoji="0" sz="800" b="0" i="0" u="none" strike="noStrike" kern="0" cap="none" spc="-10" normalizeH="0" baseline="0" noProof="0">
                <a:ln>
                  <a:noFill/>
                </a:ln>
                <a:solidFill>
                  <a:srgbClr val="FFFFFF"/>
                </a:solidFill>
                <a:effectLst/>
                <a:uLnTx/>
                <a:uFillTx/>
                <a:latin typeface="CVS Health Sans"/>
                <a:ea typeface="+mn-ea"/>
                <a:cs typeface="CVS Health Sans"/>
              </a:rPr>
              <a:t>Analyst</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sp>
        <p:nvSpPr>
          <p:cNvPr id="47" name="object 47">
            <a:extLst>
              <a:ext uri="{FF2B5EF4-FFF2-40B4-BE49-F238E27FC236}">
                <a16:creationId xmlns:a16="http://schemas.microsoft.com/office/drawing/2014/main" id="{46DC4859-92D6-8C43-7361-622121FB5491}"/>
              </a:ext>
            </a:extLst>
          </p:cNvPr>
          <p:cNvSpPr txBox="1"/>
          <p:nvPr/>
        </p:nvSpPr>
        <p:spPr>
          <a:xfrm>
            <a:off x="3206623" y="3355305"/>
            <a:ext cx="1019175" cy="1854200"/>
          </a:xfrm>
          <a:prstGeom prst="rect">
            <a:avLst/>
          </a:prstGeom>
        </p:spPr>
        <p:txBody>
          <a:bodyPr vert="horz" wrap="square" lIns="0" tIns="12065" rIns="0" bIns="0" rtlCol="0">
            <a:spAutoFit/>
          </a:bodyPr>
          <a:lstStyle/>
          <a:p>
            <a:pPr marL="80645" marR="74295" lvl="0" indent="0" algn="ctr" defTabSz="914400" rtl="0" eaLnBrk="1" fontAlgn="auto" latinLnBrk="0" hangingPunct="1">
              <a:lnSpc>
                <a:spcPct val="100000"/>
              </a:lnSpc>
              <a:spcBef>
                <a:spcPts val="95"/>
              </a:spcBef>
              <a:spcAft>
                <a:spcPts val="0"/>
              </a:spcAft>
              <a:buClrTx/>
              <a:buSzTx/>
              <a:buFontTx/>
              <a:buNone/>
              <a:tabLst/>
              <a:defRPr/>
            </a:pPr>
            <a:r>
              <a:rPr kumimoji="0" sz="1000" b="0" i="0" u="none" strike="noStrike" kern="0" cap="none" spc="-10" normalizeH="0" baseline="0" noProof="0">
                <a:ln>
                  <a:noFill/>
                </a:ln>
                <a:solidFill>
                  <a:srgbClr val="3F3F3F"/>
                </a:solidFill>
                <a:effectLst/>
                <a:uLnTx/>
                <a:uFillTx/>
                <a:latin typeface="CVS Health Sans"/>
                <a:ea typeface="+mn-ea"/>
                <a:cs typeface="CVS Health Sans"/>
              </a:rPr>
              <a:t>Architecture assessment </a:t>
            </a:r>
            <a:r>
              <a:rPr kumimoji="0" sz="1000" b="0" i="0" u="none" strike="noStrike" kern="0" cap="none" spc="0" normalizeH="0" baseline="0" noProof="0">
                <a:ln>
                  <a:noFill/>
                </a:ln>
                <a:solidFill>
                  <a:srgbClr val="3F3F3F"/>
                </a:solidFill>
                <a:effectLst/>
                <a:uLnTx/>
                <a:uFillTx/>
                <a:latin typeface="CVS Health Sans"/>
                <a:ea typeface="+mn-ea"/>
                <a:cs typeface="CVS Health Sans"/>
              </a:rPr>
              <a:t>and</a:t>
            </a:r>
            <a:r>
              <a:rPr kumimoji="0" sz="1000" b="0" i="0" u="none" strike="noStrike" kern="0" cap="none" spc="-5" normalizeH="0" baseline="0" noProof="0">
                <a:ln>
                  <a:noFill/>
                </a:ln>
                <a:solidFill>
                  <a:srgbClr val="3F3F3F"/>
                </a:solidFill>
                <a:effectLst/>
                <a:uLnTx/>
                <a:uFillTx/>
                <a:latin typeface="CVS Health Sans"/>
                <a:ea typeface="+mn-ea"/>
                <a:cs typeface="CVS Health Sans"/>
              </a:rPr>
              <a:t> </a:t>
            </a:r>
            <a:r>
              <a:rPr kumimoji="0" sz="1000" b="0" i="0" u="none" strike="noStrike" kern="0" cap="none" spc="-10" normalizeH="0" baseline="0" noProof="0">
                <a:ln>
                  <a:noFill/>
                </a:ln>
                <a:solidFill>
                  <a:srgbClr val="3F3F3F"/>
                </a:solidFill>
                <a:effectLst/>
                <a:uLnTx/>
                <a:uFillTx/>
                <a:latin typeface="CVS Health Sans"/>
                <a:ea typeface="+mn-ea"/>
                <a:cs typeface="CVS Health Sans"/>
              </a:rPr>
              <a:t>pilot outcomes </a:t>
            </a:r>
            <a:r>
              <a:rPr kumimoji="0" sz="1000" b="0" i="0" u="none" strike="noStrike" kern="0" cap="none" spc="0" normalizeH="0" baseline="0" noProof="0">
                <a:ln>
                  <a:noFill/>
                </a:ln>
                <a:solidFill>
                  <a:srgbClr val="3F3F3F"/>
                </a:solidFill>
                <a:effectLst/>
                <a:uLnTx/>
                <a:uFillTx/>
                <a:latin typeface="CVS Health Sans"/>
                <a:ea typeface="+mn-ea"/>
                <a:cs typeface="CVS Health Sans"/>
              </a:rPr>
              <a:t>provide</a:t>
            </a:r>
            <a:r>
              <a:rPr kumimoji="0" sz="1000" b="0" i="0" u="none" strike="noStrike" kern="0" cap="none" spc="-10" normalizeH="0" baseline="0" noProof="0">
                <a:ln>
                  <a:noFill/>
                </a:ln>
                <a:solidFill>
                  <a:srgbClr val="3F3F3F"/>
                </a:solidFill>
                <a:effectLst/>
                <a:uLnTx/>
                <a:uFillTx/>
                <a:latin typeface="CVS Health Sans"/>
                <a:ea typeface="+mn-ea"/>
                <a:cs typeface="CVS Health Sans"/>
              </a:rPr>
              <a:t> </a:t>
            </a:r>
            <a:r>
              <a:rPr kumimoji="0" sz="1000" b="0" i="0" u="none" strike="noStrike" kern="0" cap="none" spc="-25" normalizeH="0" baseline="0" noProof="0">
                <a:ln>
                  <a:noFill/>
                </a:ln>
                <a:solidFill>
                  <a:srgbClr val="3F3F3F"/>
                </a:solidFill>
                <a:effectLst/>
                <a:uLnTx/>
                <a:uFillTx/>
                <a:latin typeface="CVS Health Sans"/>
                <a:ea typeface="+mn-ea"/>
                <a:cs typeface="CVS Health Sans"/>
              </a:rPr>
              <a:t>the </a:t>
            </a:r>
            <a:r>
              <a:rPr kumimoji="0" sz="1000" b="0" i="0" u="none" strike="noStrike" kern="0" cap="none" spc="0" normalizeH="0" baseline="0" noProof="0">
                <a:ln>
                  <a:noFill/>
                </a:ln>
                <a:solidFill>
                  <a:srgbClr val="3F3F3F"/>
                </a:solidFill>
                <a:effectLst/>
                <a:uLnTx/>
                <a:uFillTx/>
                <a:latin typeface="CVS Health Sans"/>
                <a:ea typeface="+mn-ea"/>
                <a:cs typeface="CVS Health Sans"/>
              </a:rPr>
              <a:t>foundation</a:t>
            </a:r>
            <a:r>
              <a:rPr kumimoji="0" sz="1000" b="0" i="0" u="none" strike="noStrike" kern="0" cap="none" spc="-35" normalizeH="0" baseline="0" noProof="0">
                <a:ln>
                  <a:noFill/>
                </a:ln>
                <a:solidFill>
                  <a:srgbClr val="3F3F3F"/>
                </a:solidFill>
                <a:effectLst/>
                <a:uLnTx/>
                <a:uFillTx/>
                <a:latin typeface="CVS Health Sans"/>
                <a:ea typeface="+mn-ea"/>
                <a:cs typeface="CVS Health Sans"/>
              </a:rPr>
              <a:t> </a:t>
            </a:r>
            <a:r>
              <a:rPr kumimoji="0" sz="1000" b="0" i="0" u="none" strike="noStrike" kern="0" cap="none" spc="-25" normalizeH="0" baseline="0" noProof="0">
                <a:ln>
                  <a:noFill/>
                </a:ln>
                <a:solidFill>
                  <a:srgbClr val="3F3F3F"/>
                </a:solidFill>
                <a:effectLst/>
                <a:uLnTx/>
                <a:uFillTx/>
                <a:latin typeface="CVS Health Sans"/>
                <a:ea typeface="+mn-ea"/>
                <a:cs typeface="CVS Health Sans"/>
              </a:rPr>
              <a:t>for </a:t>
            </a:r>
            <a:r>
              <a:rPr kumimoji="0" sz="1000" b="0" i="0" u="none" strike="noStrike" kern="0" cap="none" spc="-10" normalizeH="0" baseline="0" noProof="0">
                <a:ln>
                  <a:noFill/>
                </a:ln>
                <a:solidFill>
                  <a:srgbClr val="3F3F3F"/>
                </a:solidFill>
                <a:effectLst/>
                <a:uLnTx/>
                <a:uFillTx/>
                <a:latin typeface="CVS Health Sans"/>
                <a:ea typeface="+mn-ea"/>
                <a:cs typeface="CVS Health Sans"/>
              </a:rPr>
              <a:t>source rationalization, pipeline</a:t>
            </a:r>
            <a:endParaRPr kumimoji="0" sz="1000" b="0" i="0" u="none" strike="noStrike" kern="0" cap="none" spc="0" normalizeH="0" baseline="0" noProof="0">
              <a:ln>
                <a:noFill/>
              </a:ln>
              <a:solidFill>
                <a:srgbClr val="3F3F3F"/>
              </a:solidFill>
              <a:effectLst/>
              <a:uLnTx/>
              <a:uFillTx/>
              <a:latin typeface="CVS Health Sans"/>
              <a:ea typeface="+mn-ea"/>
              <a:cs typeface="CVS Health Sans"/>
            </a:endParaRPr>
          </a:p>
          <a:p>
            <a:pPr marL="12700" marR="508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0" cap="none" spc="0" normalizeH="0" baseline="0" noProof="0">
                <a:ln>
                  <a:noFill/>
                </a:ln>
                <a:solidFill>
                  <a:srgbClr val="3F3F3F"/>
                </a:solidFill>
                <a:effectLst/>
                <a:uLnTx/>
                <a:uFillTx/>
                <a:latin typeface="CVS Health Sans"/>
                <a:ea typeface="+mn-ea"/>
                <a:cs typeface="CVS Health Sans"/>
              </a:rPr>
              <a:t>enablement,</a:t>
            </a:r>
            <a:r>
              <a:rPr kumimoji="0" sz="1000" b="0" i="0" u="none" strike="noStrike" kern="0" cap="none" spc="-45" normalizeH="0" baseline="0" noProof="0">
                <a:ln>
                  <a:noFill/>
                </a:ln>
                <a:solidFill>
                  <a:srgbClr val="3F3F3F"/>
                </a:solidFill>
                <a:effectLst/>
                <a:uLnTx/>
                <a:uFillTx/>
                <a:latin typeface="CVS Health Sans"/>
                <a:ea typeface="+mn-ea"/>
                <a:cs typeface="CVS Health Sans"/>
              </a:rPr>
              <a:t> </a:t>
            </a:r>
            <a:r>
              <a:rPr kumimoji="0" sz="1000" b="0" i="0" u="none" strike="noStrike" kern="0" cap="none" spc="-25" normalizeH="0" baseline="0" noProof="0">
                <a:ln>
                  <a:noFill/>
                </a:ln>
                <a:solidFill>
                  <a:srgbClr val="3F3F3F"/>
                </a:solidFill>
                <a:effectLst/>
                <a:uLnTx/>
                <a:uFillTx/>
                <a:latin typeface="CVS Health Sans"/>
                <a:ea typeface="+mn-ea"/>
                <a:cs typeface="CVS Health Sans"/>
              </a:rPr>
              <a:t>and </a:t>
            </a:r>
            <a:r>
              <a:rPr kumimoji="0" sz="1000" b="0" i="0" u="none" strike="noStrike" kern="0" cap="none" spc="-10" normalizeH="0" baseline="0" noProof="0">
                <a:ln>
                  <a:noFill/>
                </a:ln>
                <a:solidFill>
                  <a:srgbClr val="3F3F3F"/>
                </a:solidFill>
                <a:effectLst/>
                <a:uLnTx/>
                <a:uFillTx/>
                <a:latin typeface="CVS Health Sans"/>
                <a:ea typeface="+mn-ea"/>
                <a:cs typeface="CVS Health Sans"/>
              </a:rPr>
              <a:t>analytics modernization.</a:t>
            </a:r>
            <a:endParaRPr kumimoji="0" sz="1000" b="0" i="0" u="none" strike="noStrike" kern="0" cap="none" spc="0" normalizeH="0" baseline="0" noProof="0">
              <a:ln>
                <a:noFill/>
              </a:ln>
              <a:solidFill>
                <a:srgbClr val="3F3F3F"/>
              </a:solidFill>
              <a:effectLst/>
              <a:uLnTx/>
              <a:uFillTx/>
              <a:latin typeface="CVS Health Sans"/>
              <a:ea typeface="+mn-ea"/>
              <a:cs typeface="CVS Health Sans"/>
            </a:endParaRPr>
          </a:p>
        </p:txBody>
      </p:sp>
      <p:sp>
        <p:nvSpPr>
          <p:cNvPr id="49" name="object 49">
            <a:extLst>
              <a:ext uri="{FF2B5EF4-FFF2-40B4-BE49-F238E27FC236}">
                <a16:creationId xmlns:a16="http://schemas.microsoft.com/office/drawing/2014/main" id="{932A21A3-6BDB-6829-4719-A0613E91633A}"/>
              </a:ext>
            </a:extLst>
          </p:cNvPr>
          <p:cNvSpPr txBox="1"/>
          <p:nvPr/>
        </p:nvSpPr>
        <p:spPr>
          <a:xfrm>
            <a:off x="988263" y="5747896"/>
            <a:ext cx="5184140" cy="339725"/>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050" b="1" i="0" u="none" strike="noStrike" kern="0" cap="none" spc="0" normalizeH="0" baseline="0" noProof="0">
                <a:ln>
                  <a:noFill/>
                </a:ln>
                <a:solidFill>
                  <a:srgbClr val="0A4B8C"/>
                </a:solidFill>
                <a:effectLst/>
                <a:uLnTx/>
                <a:uFillTx/>
                <a:latin typeface="CVS Health Sans"/>
                <a:ea typeface="+mn-ea"/>
                <a:cs typeface="CVS Health Sans"/>
              </a:rPr>
              <a:t>F: Hypercare</a:t>
            </a:r>
            <a:r>
              <a:rPr kumimoji="0" sz="1050" b="1" i="0" u="none" strike="noStrike" kern="0" cap="none" spc="-10" normalizeH="0" baseline="0" noProof="0">
                <a:ln>
                  <a:noFill/>
                </a:ln>
                <a:solidFill>
                  <a:srgbClr val="0A4B8C"/>
                </a:solidFill>
                <a:effectLst/>
                <a:uLnTx/>
                <a:uFillTx/>
                <a:latin typeface="CVS Health Sans"/>
                <a:ea typeface="+mn-ea"/>
                <a:cs typeface="CVS Health Sans"/>
              </a:rPr>
              <a:t> </a:t>
            </a:r>
            <a:r>
              <a:rPr kumimoji="0" sz="1050" b="1" i="0" u="none" strike="noStrike" kern="0" cap="none" spc="0" normalizeH="0" baseline="0" noProof="0">
                <a:ln>
                  <a:noFill/>
                </a:ln>
                <a:solidFill>
                  <a:srgbClr val="0A4B8C"/>
                </a:solidFill>
                <a:effectLst/>
                <a:uLnTx/>
                <a:uFillTx/>
                <a:latin typeface="CVS Health Sans"/>
                <a:ea typeface="+mn-ea"/>
                <a:cs typeface="CVS Health Sans"/>
              </a:rPr>
              <a:t>|</a:t>
            </a:r>
            <a:r>
              <a:rPr kumimoji="0" sz="1050" b="1" i="0" u="none" strike="noStrike" kern="0" cap="none" spc="-20" normalizeH="0" baseline="0" noProof="0">
                <a:ln>
                  <a:noFill/>
                </a:ln>
                <a:solidFill>
                  <a:srgbClr val="0A4B8C"/>
                </a:solidFill>
                <a:effectLst/>
                <a:uLnTx/>
                <a:uFillTx/>
                <a:latin typeface="CVS Health Sans"/>
                <a:ea typeface="+mn-ea"/>
                <a:cs typeface="CVS Health Sans"/>
              </a:rPr>
              <a:t> </a:t>
            </a:r>
            <a:r>
              <a:rPr kumimoji="0" lang="en-US" sz="1000" b="0" i="0" u="none" strike="noStrike" kern="0" cap="none" spc="-10" normalizeH="0" baseline="0" noProof="0">
                <a:ln>
                  <a:noFill/>
                </a:ln>
                <a:solidFill>
                  <a:srgbClr val="0A4B8C"/>
                </a:solidFill>
                <a:effectLst/>
                <a:uLnTx/>
                <a:uFillTx/>
                <a:latin typeface="CVS Health Sans"/>
                <a:ea typeface="+mn-ea"/>
                <a:cs typeface="CVS Health Sans"/>
              </a:rPr>
              <a:t>Jul ’27 - Aug ’27</a:t>
            </a:r>
            <a:endParaRPr kumimoji="0" sz="1000" b="0" i="0" u="none" strike="noStrike" kern="0" cap="none" spc="0" normalizeH="0" baseline="0" noProof="0">
              <a:ln>
                <a:noFill/>
              </a:ln>
              <a:solidFill>
                <a:srgbClr val="0A4B8C"/>
              </a:solidFill>
              <a:effectLst/>
              <a:uLnTx/>
              <a:uFillTx/>
              <a:latin typeface="CVS Health Sans"/>
              <a:ea typeface="+mn-ea"/>
              <a:cs typeface="CVS Health Sans"/>
            </a:endParaRPr>
          </a:p>
          <a:p>
            <a:pPr marL="12700" marR="0" lvl="0" indent="0" algn="l" defTabSz="914400" rtl="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a:ln>
                  <a:noFill/>
                </a:ln>
                <a:solidFill>
                  <a:srgbClr val="3F3F3F"/>
                </a:solidFill>
                <a:effectLst/>
                <a:uLnTx/>
                <a:uFillTx/>
                <a:latin typeface="CVS Health Sans"/>
                <a:ea typeface="+mn-ea"/>
                <a:cs typeface="CVS Health Sans"/>
              </a:rPr>
              <a:t>Provides</a:t>
            </a:r>
            <a:r>
              <a:rPr kumimoji="0" sz="1000" b="0" i="0" u="none" strike="noStrike" kern="0" cap="none" spc="-15" normalizeH="0" baseline="0" noProof="0">
                <a:ln>
                  <a:noFill/>
                </a:ln>
                <a:solidFill>
                  <a:srgbClr val="3F3F3F"/>
                </a:solidFill>
                <a:effectLst/>
                <a:uLnTx/>
                <a:uFillTx/>
                <a:latin typeface="CVS Health Sans"/>
                <a:ea typeface="+mn-ea"/>
                <a:cs typeface="CVS Health Sans"/>
              </a:rPr>
              <a:t> </a:t>
            </a:r>
            <a:r>
              <a:rPr kumimoji="0" sz="1000" b="0" i="0" u="none" strike="noStrike" kern="0" cap="none" spc="-10" normalizeH="0" baseline="0" noProof="0">
                <a:ln>
                  <a:noFill/>
                </a:ln>
                <a:solidFill>
                  <a:srgbClr val="3F3F3F"/>
                </a:solidFill>
                <a:effectLst/>
                <a:uLnTx/>
                <a:uFillTx/>
                <a:latin typeface="CVS Health Sans"/>
                <a:ea typeface="+mn-ea"/>
                <a:cs typeface="CVS Health Sans"/>
              </a:rPr>
              <a:t>post-</a:t>
            </a:r>
            <a:r>
              <a:rPr kumimoji="0" sz="1000" b="0" i="0" u="none" strike="noStrike" kern="0" cap="none" spc="0" normalizeH="0" baseline="0" noProof="0">
                <a:ln>
                  <a:noFill/>
                </a:ln>
                <a:solidFill>
                  <a:srgbClr val="3F3F3F"/>
                </a:solidFill>
                <a:effectLst/>
                <a:uLnTx/>
                <a:uFillTx/>
                <a:latin typeface="CVS Health Sans"/>
                <a:ea typeface="+mn-ea"/>
                <a:cs typeface="CVS Health Sans"/>
              </a:rPr>
              <a:t>deployment</a:t>
            </a:r>
            <a:r>
              <a:rPr kumimoji="0" sz="1000" b="0" i="0" u="none" strike="noStrike" kern="0" cap="none" spc="-5" normalizeH="0" baseline="0" noProof="0">
                <a:ln>
                  <a:noFill/>
                </a:ln>
                <a:solidFill>
                  <a:srgbClr val="3F3F3F"/>
                </a:solidFill>
                <a:effectLst/>
                <a:uLnTx/>
                <a:uFillTx/>
                <a:latin typeface="CVS Health Sans"/>
                <a:ea typeface="+mn-ea"/>
                <a:cs typeface="CVS Health Sans"/>
              </a:rPr>
              <a:t> </a:t>
            </a:r>
            <a:r>
              <a:rPr kumimoji="0" sz="1000" b="0" i="0" u="none" strike="noStrike" kern="0" cap="none" spc="0" normalizeH="0" baseline="0" noProof="0">
                <a:ln>
                  <a:noFill/>
                </a:ln>
                <a:solidFill>
                  <a:srgbClr val="3F3F3F"/>
                </a:solidFill>
                <a:effectLst/>
                <a:uLnTx/>
                <a:uFillTx/>
                <a:latin typeface="CVS Health Sans"/>
                <a:ea typeface="+mn-ea"/>
                <a:cs typeface="CVS Health Sans"/>
              </a:rPr>
              <a:t>support</a:t>
            </a:r>
            <a:r>
              <a:rPr kumimoji="0" sz="1000" b="0" i="0" u="none" strike="noStrike" kern="0" cap="none" spc="-20" normalizeH="0" baseline="0" noProof="0">
                <a:ln>
                  <a:noFill/>
                </a:ln>
                <a:solidFill>
                  <a:srgbClr val="3F3F3F"/>
                </a:solidFill>
                <a:effectLst/>
                <a:uLnTx/>
                <a:uFillTx/>
                <a:latin typeface="CVS Health Sans"/>
                <a:ea typeface="+mn-ea"/>
                <a:cs typeface="CVS Health Sans"/>
              </a:rPr>
              <a:t> </a:t>
            </a:r>
            <a:r>
              <a:rPr kumimoji="0" sz="1000" b="0" i="0" u="none" strike="noStrike" kern="0" cap="none" spc="0" normalizeH="0" baseline="0" noProof="0">
                <a:ln>
                  <a:noFill/>
                </a:ln>
                <a:solidFill>
                  <a:srgbClr val="3F3F3F"/>
                </a:solidFill>
                <a:effectLst/>
                <a:uLnTx/>
                <a:uFillTx/>
                <a:latin typeface="CVS Health Sans"/>
                <a:ea typeface="+mn-ea"/>
                <a:cs typeface="CVS Health Sans"/>
              </a:rPr>
              <a:t>to</a:t>
            </a:r>
            <a:r>
              <a:rPr kumimoji="0" sz="1000" b="0" i="0" u="none" strike="noStrike" kern="0" cap="none" spc="-45" normalizeH="0" baseline="0" noProof="0">
                <a:ln>
                  <a:noFill/>
                </a:ln>
                <a:solidFill>
                  <a:srgbClr val="3F3F3F"/>
                </a:solidFill>
                <a:effectLst/>
                <a:uLnTx/>
                <a:uFillTx/>
                <a:latin typeface="CVS Health Sans"/>
                <a:ea typeface="+mn-ea"/>
                <a:cs typeface="CVS Health Sans"/>
              </a:rPr>
              <a:t> </a:t>
            </a:r>
            <a:r>
              <a:rPr kumimoji="0" sz="1000" b="0" i="0" u="none" strike="noStrike" kern="0" cap="none" spc="0" normalizeH="0" baseline="0" noProof="0">
                <a:ln>
                  <a:noFill/>
                </a:ln>
                <a:solidFill>
                  <a:srgbClr val="3F3F3F"/>
                </a:solidFill>
                <a:effectLst/>
                <a:uLnTx/>
                <a:uFillTx/>
                <a:latin typeface="CVS Health Sans"/>
                <a:ea typeface="+mn-ea"/>
                <a:cs typeface="CVS Health Sans"/>
              </a:rPr>
              <a:t>stabilize</a:t>
            </a:r>
            <a:r>
              <a:rPr kumimoji="0" sz="1000" b="0" i="0" u="none" strike="noStrike" kern="0" cap="none" spc="-35" normalizeH="0" baseline="0" noProof="0">
                <a:ln>
                  <a:noFill/>
                </a:ln>
                <a:solidFill>
                  <a:srgbClr val="3F3F3F"/>
                </a:solidFill>
                <a:effectLst/>
                <a:uLnTx/>
                <a:uFillTx/>
                <a:latin typeface="CVS Health Sans"/>
                <a:ea typeface="+mn-ea"/>
                <a:cs typeface="CVS Health Sans"/>
              </a:rPr>
              <a:t> </a:t>
            </a:r>
            <a:r>
              <a:rPr kumimoji="0" sz="1000" b="0" i="0" u="none" strike="noStrike" kern="0" cap="none" spc="0" normalizeH="0" baseline="0" noProof="0">
                <a:ln>
                  <a:noFill/>
                </a:ln>
                <a:solidFill>
                  <a:srgbClr val="3F3F3F"/>
                </a:solidFill>
                <a:effectLst/>
                <a:uLnTx/>
                <a:uFillTx/>
                <a:latin typeface="CVS Health Sans"/>
                <a:ea typeface="+mn-ea"/>
                <a:cs typeface="CVS Health Sans"/>
              </a:rPr>
              <a:t>operations</a:t>
            </a:r>
            <a:r>
              <a:rPr kumimoji="0" sz="1000" b="0" i="0" u="none" strike="noStrike" kern="0" cap="none" spc="-10" normalizeH="0" baseline="0" noProof="0">
                <a:ln>
                  <a:noFill/>
                </a:ln>
                <a:solidFill>
                  <a:srgbClr val="3F3F3F"/>
                </a:solidFill>
                <a:effectLst/>
                <a:uLnTx/>
                <a:uFillTx/>
                <a:latin typeface="CVS Health Sans"/>
                <a:ea typeface="+mn-ea"/>
                <a:cs typeface="CVS Health Sans"/>
              </a:rPr>
              <a:t> </a:t>
            </a:r>
            <a:r>
              <a:rPr kumimoji="0" sz="1000" b="0" i="0" u="none" strike="noStrike" kern="0" cap="none" spc="0" normalizeH="0" baseline="0" noProof="0">
                <a:ln>
                  <a:noFill/>
                </a:ln>
                <a:solidFill>
                  <a:srgbClr val="3F3F3F"/>
                </a:solidFill>
                <a:effectLst/>
                <a:uLnTx/>
                <a:uFillTx/>
                <a:latin typeface="CVS Health Sans"/>
                <a:ea typeface="+mn-ea"/>
                <a:cs typeface="CVS Health Sans"/>
              </a:rPr>
              <a:t>and</a:t>
            </a:r>
            <a:r>
              <a:rPr kumimoji="0" sz="1000" b="0" i="0" u="none" strike="noStrike" kern="0" cap="none" spc="-45" normalizeH="0" baseline="0" noProof="0">
                <a:ln>
                  <a:noFill/>
                </a:ln>
                <a:solidFill>
                  <a:srgbClr val="3F3F3F"/>
                </a:solidFill>
                <a:effectLst/>
                <a:uLnTx/>
                <a:uFillTx/>
                <a:latin typeface="CVS Health Sans"/>
                <a:ea typeface="+mn-ea"/>
                <a:cs typeface="CVS Health Sans"/>
              </a:rPr>
              <a:t> </a:t>
            </a:r>
            <a:r>
              <a:rPr kumimoji="0" sz="1000" b="0" i="0" u="none" strike="noStrike" kern="0" cap="none" spc="0" normalizeH="0" baseline="0" noProof="0">
                <a:ln>
                  <a:noFill/>
                </a:ln>
                <a:solidFill>
                  <a:srgbClr val="3F3F3F"/>
                </a:solidFill>
                <a:effectLst/>
                <a:uLnTx/>
                <a:uFillTx/>
                <a:latin typeface="CVS Health Sans"/>
                <a:ea typeface="+mn-ea"/>
                <a:cs typeface="CVS Health Sans"/>
              </a:rPr>
              <a:t>accelerate</a:t>
            </a:r>
            <a:r>
              <a:rPr kumimoji="0" sz="1000" b="0" i="0" u="none" strike="noStrike" kern="0" cap="none" spc="-20" normalizeH="0" baseline="0" noProof="0">
                <a:ln>
                  <a:noFill/>
                </a:ln>
                <a:solidFill>
                  <a:srgbClr val="3F3F3F"/>
                </a:solidFill>
                <a:effectLst/>
                <a:uLnTx/>
                <a:uFillTx/>
                <a:latin typeface="CVS Health Sans"/>
                <a:ea typeface="+mn-ea"/>
                <a:cs typeface="CVS Health Sans"/>
              </a:rPr>
              <a:t> </a:t>
            </a:r>
            <a:r>
              <a:rPr kumimoji="0" sz="1000" b="0" i="0" u="none" strike="noStrike" kern="0" cap="none" spc="0" normalizeH="0" baseline="0" noProof="0">
                <a:ln>
                  <a:noFill/>
                </a:ln>
                <a:solidFill>
                  <a:srgbClr val="3F3F3F"/>
                </a:solidFill>
                <a:effectLst/>
                <a:uLnTx/>
                <a:uFillTx/>
                <a:latin typeface="CVS Health Sans"/>
                <a:ea typeface="+mn-ea"/>
                <a:cs typeface="CVS Health Sans"/>
              </a:rPr>
              <a:t>user</a:t>
            </a:r>
            <a:r>
              <a:rPr kumimoji="0" sz="1000" b="0" i="0" u="none" strike="noStrike" kern="0" cap="none" spc="-25" normalizeH="0" baseline="0" noProof="0">
                <a:ln>
                  <a:noFill/>
                </a:ln>
                <a:solidFill>
                  <a:srgbClr val="3F3F3F"/>
                </a:solidFill>
                <a:effectLst/>
                <a:uLnTx/>
                <a:uFillTx/>
                <a:latin typeface="CVS Health Sans"/>
                <a:ea typeface="+mn-ea"/>
                <a:cs typeface="CVS Health Sans"/>
              </a:rPr>
              <a:t> </a:t>
            </a:r>
            <a:r>
              <a:rPr kumimoji="0" sz="1000" b="0" i="0" u="none" strike="noStrike" kern="0" cap="none" spc="-10" normalizeH="0" baseline="0" noProof="0">
                <a:ln>
                  <a:noFill/>
                </a:ln>
                <a:solidFill>
                  <a:srgbClr val="3F3F3F"/>
                </a:solidFill>
                <a:effectLst/>
                <a:uLnTx/>
                <a:uFillTx/>
                <a:latin typeface="CVS Health Sans"/>
                <a:ea typeface="+mn-ea"/>
                <a:cs typeface="CVS Health Sans"/>
              </a:rPr>
              <a:t>adoption.</a:t>
            </a:r>
            <a:endParaRPr kumimoji="0" sz="1000" b="0" i="0" u="none" strike="noStrike" kern="0" cap="none" spc="0" normalizeH="0" baseline="0" noProof="0">
              <a:ln>
                <a:noFill/>
              </a:ln>
              <a:solidFill>
                <a:srgbClr val="3F3F3F"/>
              </a:solidFill>
              <a:effectLst/>
              <a:uLnTx/>
              <a:uFillTx/>
              <a:latin typeface="CVS Health Sans"/>
              <a:ea typeface="+mn-ea"/>
              <a:cs typeface="CVS Health Sans"/>
            </a:endParaRPr>
          </a:p>
        </p:txBody>
      </p:sp>
      <p:sp>
        <p:nvSpPr>
          <p:cNvPr id="48" name="object 48">
            <a:extLst>
              <a:ext uri="{FF2B5EF4-FFF2-40B4-BE49-F238E27FC236}">
                <a16:creationId xmlns:a16="http://schemas.microsoft.com/office/drawing/2014/main" id="{014012ED-55C7-FD6E-843E-B4DBB1280B01}"/>
              </a:ext>
            </a:extLst>
          </p:cNvPr>
          <p:cNvSpPr/>
          <p:nvPr/>
        </p:nvSpPr>
        <p:spPr>
          <a:xfrm>
            <a:off x="531406" y="5683914"/>
            <a:ext cx="9748520" cy="471170"/>
          </a:xfrm>
          <a:prstGeom prst="roundRect">
            <a:avLst/>
          </a:prstGeom>
          <a:ln w="9525">
            <a:solidFill>
              <a:srgbClr val="0A4B8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grpSp>
        <p:nvGrpSpPr>
          <p:cNvPr id="269" name="Group 268">
            <a:extLst>
              <a:ext uri="{FF2B5EF4-FFF2-40B4-BE49-F238E27FC236}">
                <a16:creationId xmlns:a16="http://schemas.microsoft.com/office/drawing/2014/main" id="{922123B9-C586-A60F-632A-6980DD8F098C}"/>
              </a:ext>
            </a:extLst>
          </p:cNvPr>
          <p:cNvGrpSpPr/>
          <p:nvPr/>
        </p:nvGrpSpPr>
        <p:grpSpPr>
          <a:xfrm>
            <a:off x="7963627" y="5762183"/>
            <a:ext cx="2247711" cy="311150"/>
            <a:chOff x="8003857" y="5771264"/>
            <a:chExt cx="2071941" cy="311150"/>
          </a:xfrm>
        </p:grpSpPr>
        <p:grpSp>
          <p:nvGrpSpPr>
            <p:cNvPr id="267" name="Group 266">
              <a:extLst>
                <a:ext uri="{FF2B5EF4-FFF2-40B4-BE49-F238E27FC236}">
                  <a16:creationId xmlns:a16="http://schemas.microsoft.com/office/drawing/2014/main" id="{1D137A70-9F7D-46CB-79BC-B4ACCFD0A668}"/>
                </a:ext>
              </a:extLst>
            </p:cNvPr>
            <p:cNvGrpSpPr/>
            <p:nvPr/>
          </p:nvGrpSpPr>
          <p:grpSpPr>
            <a:xfrm>
              <a:off x="8003857" y="5771264"/>
              <a:ext cx="1000125" cy="311150"/>
              <a:chOff x="8003857" y="5771264"/>
              <a:chExt cx="1000125" cy="311150"/>
            </a:xfrm>
          </p:grpSpPr>
          <p:sp>
            <p:nvSpPr>
              <p:cNvPr id="50" name="object 50">
                <a:extLst>
                  <a:ext uri="{FF2B5EF4-FFF2-40B4-BE49-F238E27FC236}">
                    <a16:creationId xmlns:a16="http://schemas.microsoft.com/office/drawing/2014/main" id="{833D531C-097F-4569-F386-8D74CC195208}"/>
                  </a:ext>
                </a:extLst>
              </p:cNvPr>
              <p:cNvSpPr/>
              <p:nvPr/>
            </p:nvSpPr>
            <p:spPr>
              <a:xfrm>
                <a:off x="8003857" y="5771264"/>
                <a:ext cx="1000125" cy="311150"/>
              </a:xfrm>
              <a:custGeom>
                <a:avLst/>
                <a:gdLst/>
                <a:ahLst/>
                <a:cxnLst/>
                <a:rect l="l" t="t" r="r" b="b"/>
                <a:pathLst>
                  <a:path w="1000125" h="311150">
                    <a:moveTo>
                      <a:pt x="948181" y="0"/>
                    </a:moveTo>
                    <a:lnTo>
                      <a:pt x="51816" y="0"/>
                    </a:lnTo>
                    <a:lnTo>
                      <a:pt x="31664" y="4072"/>
                    </a:lnTo>
                    <a:lnTo>
                      <a:pt x="15192" y="15179"/>
                    </a:lnTo>
                    <a:lnTo>
                      <a:pt x="4077" y="31653"/>
                    </a:lnTo>
                    <a:lnTo>
                      <a:pt x="0" y="51828"/>
                    </a:lnTo>
                    <a:lnTo>
                      <a:pt x="0" y="259130"/>
                    </a:lnTo>
                    <a:lnTo>
                      <a:pt x="4077" y="279305"/>
                    </a:lnTo>
                    <a:lnTo>
                      <a:pt x="15192" y="295779"/>
                    </a:lnTo>
                    <a:lnTo>
                      <a:pt x="31664" y="306886"/>
                    </a:lnTo>
                    <a:lnTo>
                      <a:pt x="51816" y="310959"/>
                    </a:lnTo>
                    <a:lnTo>
                      <a:pt x="948181" y="310959"/>
                    </a:lnTo>
                    <a:lnTo>
                      <a:pt x="968406" y="306886"/>
                    </a:lnTo>
                    <a:lnTo>
                      <a:pt x="984916" y="295779"/>
                    </a:lnTo>
                    <a:lnTo>
                      <a:pt x="996045" y="279305"/>
                    </a:lnTo>
                    <a:lnTo>
                      <a:pt x="1000125" y="259130"/>
                    </a:lnTo>
                    <a:lnTo>
                      <a:pt x="1000125" y="51828"/>
                    </a:lnTo>
                    <a:lnTo>
                      <a:pt x="996045" y="31653"/>
                    </a:lnTo>
                    <a:lnTo>
                      <a:pt x="984916" y="15179"/>
                    </a:lnTo>
                    <a:lnTo>
                      <a:pt x="968406" y="4072"/>
                    </a:lnTo>
                    <a:lnTo>
                      <a:pt x="948181" y="0"/>
                    </a:lnTo>
                    <a:close/>
                  </a:path>
                </a:pathLst>
              </a:custGeom>
              <a:solidFill>
                <a:srgbClr val="267A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51" name="object 51">
                <a:extLst>
                  <a:ext uri="{FF2B5EF4-FFF2-40B4-BE49-F238E27FC236}">
                    <a16:creationId xmlns:a16="http://schemas.microsoft.com/office/drawing/2014/main" id="{A09C3FD8-805B-8C59-7A43-B5CAEDBE76EF}"/>
                  </a:ext>
                </a:extLst>
              </p:cNvPr>
              <p:cNvSpPr txBox="1"/>
              <p:nvPr/>
            </p:nvSpPr>
            <p:spPr>
              <a:xfrm>
                <a:off x="8003857" y="5859193"/>
                <a:ext cx="1000124" cy="135293"/>
              </a:xfrm>
              <a:prstGeom prst="rect">
                <a:avLst/>
              </a:prstGeom>
            </p:spPr>
            <p:txBody>
              <a:bodyPr vert="horz" wrap="square" lIns="0" tIns="12065" rIns="0" bIns="0" rtlCol="0">
                <a:sp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sz="800" b="0" i="0" u="none" strike="noStrike" kern="0" cap="none" spc="0" normalizeH="0" baseline="0" noProof="0">
                    <a:ln>
                      <a:noFill/>
                    </a:ln>
                    <a:solidFill>
                      <a:srgbClr val="FFFFFF"/>
                    </a:solidFill>
                    <a:effectLst/>
                    <a:uLnTx/>
                    <a:uFillTx/>
                    <a:latin typeface="CVS Health Sans"/>
                    <a:ea typeface="+mn-ea"/>
                    <a:cs typeface="CVS Health Sans"/>
                  </a:rPr>
                  <a:t>1</a:t>
                </a:r>
                <a:r>
                  <a:rPr kumimoji="0" sz="800" b="0" i="0" u="none" strike="noStrike" kern="0" cap="none" spc="-30" normalizeH="0" baseline="0" noProof="0">
                    <a:ln>
                      <a:noFill/>
                    </a:ln>
                    <a:solidFill>
                      <a:srgbClr val="FFFFFF"/>
                    </a:solidFill>
                    <a:effectLst/>
                    <a:uLnTx/>
                    <a:uFillTx/>
                    <a:latin typeface="CVS Health Sans"/>
                    <a:ea typeface="+mn-ea"/>
                    <a:cs typeface="CVS Health Sans"/>
                  </a:rPr>
                  <a:t> </a:t>
                </a:r>
                <a:r>
                  <a:rPr kumimoji="0" sz="800" b="0" i="0" u="none" strike="noStrike" kern="0" cap="none" spc="0" normalizeH="0" baseline="0" noProof="0">
                    <a:ln>
                      <a:noFill/>
                    </a:ln>
                    <a:solidFill>
                      <a:srgbClr val="FFFFFF"/>
                    </a:solidFill>
                    <a:effectLst/>
                    <a:uLnTx/>
                    <a:uFillTx/>
                    <a:latin typeface="CVS Health Sans"/>
                    <a:ea typeface="+mn-ea"/>
                    <a:cs typeface="CVS Health Sans"/>
                  </a:rPr>
                  <a:t>Lead</a:t>
                </a:r>
                <a:r>
                  <a:rPr kumimoji="0" sz="800" b="0" i="0" u="none" strike="noStrike" kern="0" cap="none" spc="-15" normalizeH="0" baseline="0" noProof="0">
                    <a:ln>
                      <a:noFill/>
                    </a:ln>
                    <a:solidFill>
                      <a:srgbClr val="FFFFFF"/>
                    </a:solidFill>
                    <a:effectLst/>
                    <a:uLnTx/>
                    <a:uFillTx/>
                    <a:latin typeface="CVS Health Sans"/>
                    <a:ea typeface="+mn-ea"/>
                    <a:cs typeface="CVS Health Sans"/>
                  </a:rPr>
                  <a:t> </a:t>
                </a:r>
                <a:r>
                  <a:rPr kumimoji="0" sz="800" b="0" i="0" u="none" strike="noStrike" kern="0" cap="none" spc="0" normalizeH="0" baseline="0" noProof="0">
                    <a:ln>
                      <a:noFill/>
                    </a:ln>
                    <a:solidFill>
                      <a:srgbClr val="FFFFFF"/>
                    </a:solidFill>
                    <a:effectLst/>
                    <a:uLnTx/>
                    <a:uFillTx/>
                    <a:latin typeface="CVS Health Sans"/>
                    <a:ea typeface="+mn-ea"/>
                    <a:cs typeface="CVS Health Sans"/>
                  </a:rPr>
                  <a:t>Data</a:t>
                </a:r>
                <a:r>
                  <a:rPr kumimoji="0" sz="800" b="0" i="0" u="none" strike="noStrike" kern="0" cap="none" spc="-10" normalizeH="0" baseline="0" noProof="0">
                    <a:ln>
                      <a:noFill/>
                    </a:ln>
                    <a:solidFill>
                      <a:srgbClr val="FFFFFF"/>
                    </a:solidFill>
                    <a:effectLst/>
                    <a:uLnTx/>
                    <a:uFillTx/>
                    <a:latin typeface="CVS Health Sans"/>
                    <a:ea typeface="+mn-ea"/>
                    <a:cs typeface="CVS Health Sans"/>
                  </a:rPr>
                  <a:t> Engineer</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grpSp>
          <p:nvGrpSpPr>
            <p:cNvPr id="268" name="Group 267">
              <a:extLst>
                <a:ext uri="{FF2B5EF4-FFF2-40B4-BE49-F238E27FC236}">
                  <a16:creationId xmlns:a16="http://schemas.microsoft.com/office/drawing/2014/main" id="{B1449779-E8C3-5E28-30A5-83DDF8F4FEB6}"/>
                </a:ext>
              </a:extLst>
            </p:cNvPr>
            <p:cNvGrpSpPr/>
            <p:nvPr/>
          </p:nvGrpSpPr>
          <p:grpSpPr>
            <a:xfrm>
              <a:off x="9075673" y="5771264"/>
              <a:ext cx="1000125" cy="311150"/>
              <a:chOff x="9075673" y="5771264"/>
              <a:chExt cx="1000125" cy="311150"/>
            </a:xfrm>
          </p:grpSpPr>
          <p:sp>
            <p:nvSpPr>
              <p:cNvPr id="52" name="object 52">
                <a:extLst>
                  <a:ext uri="{FF2B5EF4-FFF2-40B4-BE49-F238E27FC236}">
                    <a16:creationId xmlns:a16="http://schemas.microsoft.com/office/drawing/2014/main" id="{83CC1376-F071-24DE-0F7D-F2474DF58AFF}"/>
                  </a:ext>
                </a:extLst>
              </p:cNvPr>
              <p:cNvSpPr/>
              <p:nvPr/>
            </p:nvSpPr>
            <p:spPr>
              <a:xfrm>
                <a:off x="9075673" y="5771264"/>
                <a:ext cx="1000125" cy="311150"/>
              </a:xfrm>
              <a:custGeom>
                <a:avLst/>
                <a:gdLst/>
                <a:ahLst/>
                <a:cxnLst/>
                <a:rect l="l" t="t" r="r" b="b"/>
                <a:pathLst>
                  <a:path w="1000125" h="311150">
                    <a:moveTo>
                      <a:pt x="948181" y="0"/>
                    </a:moveTo>
                    <a:lnTo>
                      <a:pt x="51816" y="0"/>
                    </a:lnTo>
                    <a:lnTo>
                      <a:pt x="31664" y="4072"/>
                    </a:lnTo>
                    <a:lnTo>
                      <a:pt x="15192" y="15179"/>
                    </a:lnTo>
                    <a:lnTo>
                      <a:pt x="4077" y="31653"/>
                    </a:lnTo>
                    <a:lnTo>
                      <a:pt x="0" y="51828"/>
                    </a:lnTo>
                    <a:lnTo>
                      <a:pt x="0" y="259130"/>
                    </a:lnTo>
                    <a:lnTo>
                      <a:pt x="4077" y="279305"/>
                    </a:lnTo>
                    <a:lnTo>
                      <a:pt x="15192" y="295779"/>
                    </a:lnTo>
                    <a:lnTo>
                      <a:pt x="31664" y="306886"/>
                    </a:lnTo>
                    <a:lnTo>
                      <a:pt x="51816" y="310959"/>
                    </a:lnTo>
                    <a:lnTo>
                      <a:pt x="948181" y="310959"/>
                    </a:lnTo>
                    <a:lnTo>
                      <a:pt x="968406" y="306886"/>
                    </a:lnTo>
                    <a:lnTo>
                      <a:pt x="984916" y="295779"/>
                    </a:lnTo>
                    <a:lnTo>
                      <a:pt x="996045" y="279305"/>
                    </a:lnTo>
                    <a:lnTo>
                      <a:pt x="1000125" y="259130"/>
                    </a:lnTo>
                    <a:lnTo>
                      <a:pt x="1000125" y="51828"/>
                    </a:lnTo>
                    <a:lnTo>
                      <a:pt x="996045" y="31653"/>
                    </a:lnTo>
                    <a:lnTo>
                      <a:pt x="984916" y="15179"/>
                    </a:lnTo>
                    <a:lnTo>
                      <a:pt x="968406" y="4072"/>
                    </a:lnTo>
                    <a:lnTo>
                      <a:pt x="948181" y="0"/>
                    </a:lnTo>
                    <a:close/>
                  </a:path>
                </a:pathLst>
              </a:custGeom>
              <a:solidFill>
                <a:srgbClr val="00A78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53" name="object 53">
                <a:extLst>
                  <a:ext uri="{FF2B5EF4-FFF2-40B4-BE49-F238E27FC236}">
                    <a16:creationId xmlns:a16="http://schemas.microsoft.com/office/drawing/2014/main" id="{70498509-CD26-2CA2-FDE9-2B63507E38A0}"/>
                  </a:ext>
                </a:extLst>
              </p:cNvPr>
              <p:cNvSpPr txBox="1"/>
              <p:nvPr/>
            </p:nvSpPr>
            <p:spPr>
              <a:xfrm>
                <a:off x="9075673" y="5859193"/>
                <a:ext cx="1000125" cy="135293"/>
              </a:xfrm>
              <a:prstGeom prst="rect">
                <a:avLst/>
              </a:prstGeom>
            </p:spPr>
            <p:txBody>
              <a:bodyPr vert="horz" wrap="square" lIns="0" tIns="12065" rIns="0" bIns="0" rtlCol="0">
                <a:sp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sz="800" b="0" i="0" u="none" strike="noStrike" kern="0" cap="none" spc="0" normalizeH="0" baseline="0" noProof="0">
                    <a:ln>
                      <a:noFill/>
                    </a:ln>
                    <a:solidFill>
                      <a:srgbClr val="FFFFFF"/>
                    </a:solidFill>
                    <a:effectLst/>
                    <a:uLnTx/>
                    <a:uFillTx/>
                    <a:latin typeface="CVS Health Sans"/>
                    <a:ea typeface="+mn-ea"/>
                    <a:cs typeface="CVS Health Sans"/>
                  </a:rPr>
                  <a:t>2</a:t>
                </a:r>
                <a:r>
                  <a:rPr kumimoji="0" sz="800" b="0" i="0" u="none" strike="noStrike" kern="0" cap="none" spc="-20" normalizeH="0" baseline="0" noProof="0">
                    <a:ln>
                      <a:noFill/>
                    </a:ln>
                    <a:solidFill>
                      <a:srgbClr val="FFFFFF"/>
                    </a:solidFill>
                    <a:effectLst/>
                    <a:uLnTx/>
                    <a:uFillTx/>
                    <a:latin typeface="CVS Health Sans"/>
                    <a:ea typeface="+mn-ea"/>
                    <a:cs typeface="CVS Health Sans"/>
                  </a:rPr>
                  <a:t> </a:t>
                </a:r>
                <a:r>
                  <a:rPr kumimoji="0" sz="800" b="0" i="0" u="none" strike="noStrike" kern="0" cap="none" spc="0" normalizeH="0" baseline="0" noProof="0">
                    <a:ln>
                      <a:noFill/>
                    </a:ln>
                    <a:solidFill>
                      <a:srgbClr val="FFFFFF"/>
                    </a:solidFill>
                    <a:effectLst/>
                    <a:uLnTx/>
                    <a:uFillTx/>
                    <a:latin typeface="CVS Health Sans"/>
                    <a:ea typeface="+mn-ea"/>
                    <a:cs typeface="CVS Health Sans"/>
                  </a:rPr>
                  <a:t>Data</a:t>
                </a:r>
                <a:r>
                  <a:rPr kumimoji="0" sz="800" b="0" i="0" u="none" strike="noStrike" kern="0" cap="none" spc="-5" normalizeH="0" baseline="0" noProof="0">
                    <a:ln>
                      <a:noFill/>
                    </a:ln>
                    <a:solidFill>
                      <a:srgbClr val="FFFFFF"/>
                    </a:solidFill>
                    <a:effectLst/>
                    <a:uLnTx/>
                    <a:uFillTx/>
                    <a:latin typeface="CVS Health Sans"/>
                    <a:ea typeface="+mn-ea"/>
                    <a:cs typeface="CVS Health Sans"/>
                  </a:rPr>
                  <a:t> </a:t>
                </a:r>
                <a:r>
                  <a:rPr kumimoji="0" sz="800" b="0" i="0" u="none" strike="noStrike" kern="0" cap="none" spc="-10" normalizeH="0" baseline="0" noProof="0">
                    <a:ln>
                      <a:noFill/>
                    </a:ln>
                    <a:solidFill>
                      <a:srgbClr val="FFFFFF"/>
                    </a:solidFill>
                    <a:effectLst/>
                    <a:uLnTx/>
                    <a:uFillTx/>
                    <a:latin typeface="CVS Health Sans"/>
                    <a:ea typeface="+mn-ea"/>
                    <a:cs typeface="CVS Health Sans"/>
                  </a:rPr>
                  <a:t>Engineers</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grpSp>
      <p:sp>
        <p:nvSpPr>
          <p:cNvPr id="58" name="object 58">
            <a:extLst>
              <a:ext uri="{FF2B5EF4-FFF2-40B4-BE49-F238E27FC236}">
                <a16:creationId xmlns:a16="http://schemas.microsoft.com/office/drawing/2014/main" id="{F248CBC0-91E8-01C0-7959-FD9DB4957702}"/>
              </a:ext>
            </a:extLst>
          </p:cNvPr>
          <p:cNvSpPr/>
          <p:nvPr/>
        </p:nvSpPr>
        <p:spPr>
          <a:xfrm>
            <a:off x="2919476" y="4142388"/>
            <a:ext cx="262890" cy="280035"/>
          </a:xfrm>
          <a:custGeom>
            <a:avLst/>
            <a:gdLst/>
            <a:ahLst/>
            <a:cxnLst/>
            <a:rect l="l" t="t" r="r" b="b"/>
            <a:pathLst>
              <a:path w="262889" h="280035">
                <a:moveTo>
                  <a:pt x="131191" y="0"/>
                </a:moveTo>
                <a:lnTo>
                  <a:pt x="0" y="0"/>
                </a:lnTo>
                <a:lnTo>
                  <a:pt x="131191" y="139827"/>
                </a:lnTo>
                <a:lnTo>
                  <a:pt x="0" y="279654"/>
                </a:lnTo>
                <a:lnTo>
                  <a:pt x="131191" y="279654"/>
                </a:lnTo>
                <a:lnTo>
                  <a:pt x="262381" y="139827"/>
                </a:lnTo>
                <a:lnTo>
                  <a:pt x="131191" y="0"/>
                </a:lnTo>
                <a:close/>
              </a:path>
            </a:pathLst>
          </a:custGeom>
          <a:solidFill>
            <a:srgbClr val="0A4B8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59" name="object 59">
            <a:extLst>
              <a:ext uri="{FF2B5EF4-FFF2-40B4-BE49-F238E27FC236}">
                <a16:creationId xmlns:a16="http://schemas.microsoft.com/office/drawing/2014/main" id="{AE6E7321-181B-C769-1B97-9A0153E1A69D}"/>
              </a:ext>
            </a:extLst>
          </p:cNvPr>
          <p:cNvSpPr/>
          <p:nvPr/>
        </p:nvSpPr>
        <p:spPr>
          <a:xfrm>
            <a:off x="7040498" y="1626518"/>
            <a:ext cx="1000125" cy="311150"/>
          </a:xfrm>
          <a:custGeom>
            <a:avLst/>
            <a:gdLst/>
            <a:ahLst/>
            <a:cxnLst/>
            <a:rect l="l" t="t" r="r" b="b"/>
            <a:pathLst>
              <a:path w="1000125" h="311150">
                <a:moveTo>
                  <a:pt x="948181" y="0"/>
                </a:moveTo>
                <a:lnTo>
                  <a:pt x="51816" y="0"/>
                </a:lnTo>
                <a:lnTo>
                  <a:pt x="31664" y="4077"/>
                </a:lnTo>
                <a:lnTo>
                  <a:pt x="15192" y="15192"/>
                </a:lnTo>
                <a:lnTo>
                  <a:pt x="4077" y="31664"/>
                </a:lnTo>
                <a:lnTo>
                  <a:pt x="0" y="51815"/>
                </a:lnTo>
                <a:lnTo>
                  <a:pt x="0" y="259206"/>
                </a:lnTo>
                <a:lnTo>
                  <a:pt x="4077" y="279358"/>
                </a:lnTo>
                <a:lnTo>
                  <a:pt x="15192" y="295830"/>
                </a:lnTo>
                <a:lnTo>
                  <a:pt x="31664" y="306945"/>
                </a:lnTo>
                <a:lnTo>
                  <a:pt x="51816" y="311023"/>
                </a:lnTo>
                <a:lnTo>
                  <a:pt x="948181" y="311023"/>
                </a:lnTo>
                <a:lnTo>
                  <a:pt x="968333" y="306945"/>
                </a:lnTo>
                <a:lnTo>
                  <a:pt x="984805" y="295830"/>
                </a:lnTo>
                <a:lnTo>
                  <a:pt x="995920" y="279358"/>
                </a:lnTo>
                <a:lnTo>
                  <a:pt x="999998" y="259206"/>
                </a:lnTo>
                <a:lnTo>
                  <a:pt x="999998" y="51815"/>
                </a:lnTo>
                <a:lnTo>
                  <a:pt x="995920" y="31664"/>
                </a:lnTo>
                <a:lnTo>
                  <a:pt x="984805" y="15192"/>
                </a:lnTo>
                <a:lnTo>
                  <a:pt x="968333" y="4077"/>
                </a:lnTo>
                <a:lnTo>
                  <a:pt x="948181" y="0"/>
                </a:lnTo>
                <a:close/>
              </a:path>
            </a:pathLst>
          </a:custGeom>
          <a:solidFill>
            <a:srgbClr val="267A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60" name="object 60">
            <a:extLst>
              <a:ext uri="{FF2B5EF4-FFF2-40B4-BE49-F238E27FC236}">
                <a16:creationId xmlns:a16="http://schemas.microsoft.com/office/drawing/2014/main" id="{7F3AC42C-3A8A-8F54-4DB3-4EEA47B920EA}"/>
              </a:ext>
            </a:extLst>
          </p:cNvPr>
          <p:cNvSpPr txBox="1"/>
          <p:nvPr/>
        </p:nvSpPr>
        <p:spPr>
          <a:xfrm>
            <a:off x="7147732" y="1659918"/>
            <a:ext cx="798866" cy="258404"/>
          </a:xfrm>
          <a:prstGeom prst="rect">
            <a:avLst/>
          </a:prstGeom>
        </p:spPr>
        <p:txBody>
          <a:bodyPr vert="horz" wrap="square" lIns="0" tIns="12065" rIns="0" bIns="0" rtlCol="0">
            <a:spAutoFit/>
          </a:bodyPr>
          <a:lstStyle/>
          <a:p>
            <a:pPr marL="0" marR="0" lvl="0" indent="0" algn="ctr" defTabSz="914400" rtl="0" eaLnBrk="1" fontAlgn="auto" latinLnBrk="0" hangingPunct="1">
              <a:lnSpc>
                <a:spcPct val="100000"/>
              </a:lnSpc>
              <a:spcBef>
                <a:spcPts val="95"/>
              </a:spcBef>
              <a:spcAft>
                <a:spcPts val="0"/>
              </a:spcAft>
              <a:buClrTx/>
              <a:buSzTx/>
              <a:buFontTx/>
              <a:buNone/>
              <a:tabLst/>
              <a:defRPr/>
            </a:pPr>
            <a:r>
              <a:rPr kumimoji="0" sz="800" b="1" i="0" u="none" strike="noStrike" kern="0" cap="none" spc="0" normalizeH="0" baseline="0" noProof="0">
                <a:ln>
                  <a:noFill/>
                </a:ln>
                <a:solidFill>
                  <a:srgbClr val="FFFFFF"/>
                </a:solidFill>
                <a:effectLst/>
                <a:uLnTx/>
                <a:uFillTx/>
                <a:latin typeface="CVS Health Sans"/>
                <a:ea typeface="+mn-ea"/>
                <a:cs typeface="CVS Health Sans"/>
              </a:rPr>
              <a:t>Program</a:t>
            </a:r>
            <a:r>
              <a:rPr kumimoji="0" sz="800" b="1" i="0" u="none" strike="noStrike" kern="0" cap="none" spc="-15" normalizeH="0" baseline="0" noProof="0">
                <a:ln>
                  <a:noFill/>
                </a:ln>
                <a:solidFill>
                  <a:srgbClr val="FFFFFF"/>
                </a:solidFill>
                <a:effectLst/>
                <a:uLnTx/>
                <a:uFillTx/>
                <a:latin typeface="CVS Health Sans"/>
                <a:ea typeface="+mn-ea"/>
                <a:cs typeface="CVS Health Sans"/>
              </a:rPr>
              <a:t> </a:t>
            </a:r>
            <a:r>
              <a:rPr kumimoji="0" sz="800" b="1" i="0" u="none" strike="noStrike" kern="0" cap="none" spc="-20" normalizeH="0" baseline="0" noProof="0">
                <a:ln>
                  <a:noFill/>
                </a:ln>
                <a:solidFill>
                  <a:srgbClr val="FFFFFF"/>
                </a:solidFill>
                <a:effectLst/>
                <a:uLnTx/>
                <a:uFillTx/>
                <a:latin typeface="CVS Health Sans"/>
                <a:ea typeface="+mn-ea"/>
                <a:cs typeface="CVS Health Sans"/>
              </a:rPr>
              <a:t>Lead</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a:p>
            <a:pPr marL="45720" marR="0" lvl="0" indent="0" algn="ctr" defTabSz="914400" rtl="0" eaLnBrk="1" fontAlgn="auto" latinLnBrk="0" hangingPunct="1">
              <a:lnSpc>
                <a:spcPct val="100000"/>
              </a:lnSpc>
              <a:spcBef>
                <a:spcPts val="0"/>
              </a:spcBef>
              <a:spcAft>
                <a:spcPts val="0"/>
              </a:spcAft>
              <a:buClrTx/>
              <a:buSzTx/>
              <a:buFontTx/>
              <a:buNone/>
              <a:tabLst/>
              <a:defRPr/>
            </a:pPr>
            <a:r>
              <a:rPr kumimoji="0" sz="800" b="0" i="0" u="none" strike="noStrike" kern="0" cap="none" spc="0" normalizeH="0" baseline="0" noProof="0">
                <a:ln>
                  <a:noFill/>
                </a:ln>
                <a:solidFill>
                  <a:srgbClr val="FFFFFF"/>
                </a:solidFill>
                <a:effectLst/>
                <a:uLnTx/>
                <a:uFillTx/>
                <a:latin typeface="CVS Health Sans"/>
                <a:ea typeface="+mn-ea"/>
                <a:cs typeface="CVS Health Sans"/>
              </a:rPr>
              <a:t>Tom</a:t>
            </a:r>
            <a:r>
              <a:rPr kumimoji="0" sz="800" b="0" i="0" u="none" strike="noStrike" kern="0" cap="none" spc="-20" normalizeH="0" baseline="0" noProof="0">
                <a:ln>
                  <a:noFill/>
                </a:ln>
                <a:solidFill>
                  <a:srgbClr val="FFFFFF"/>
                </a:solidFill>
                <a:effectLst/>
                <a:uLnTx/>
                <a:uFillTx/>
                <a:latin typeface="CVS Health Sans"/>
                <a:ea typeface="+mn-ea"/>
                <a:cs typeface="CVS Health Sans"/>
              </a:rPr>
              <a:t> </a:t>
            </a:r>
            <a:r>
              <a:rPr kumimoji="0" sz="800" b="0" i="0" u="none" strike="noStrike" kern="0" cap="none" spc="-10" normalizeH="0" baseline="0" noProof="0">
                <a:ln>
                  <a:noFill/>
                </a:ln>
                <a:solidFill>
                  <a:srgbClr val="FFFFFF"/>
                </a:solidFill>
                <a:effectLst/>
                <a:uLnTx/>
                <a:uFillTx/>
                <a:latin typeface="CVS Health Sans"/>
                <a:ea typeface="+mn-ea"/>
                <a:cs typeface="CVS Health Sans"/>
              </a:rPr>
              <a:t>Haslam</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sp>
        <p:nvSpPr>
          <p:cNvPr id="61" name="object 61">
            <a:extLst>
              <a:ext uri="{FF2B5EF4-FFF2-40B4-BE49-F238E27FC236}">
                <a16:creationId xmlns:a16="http://schemas.microsoft.com/office/drawing/2014/main" id="{020A19C2-DB54-058D-7000-C78A4193C85E}"/>
              </a:ext>
            </a:extLst>
          </p:cNvPr>
          <p:cNvSpPr/>
          <p:nvPr/>
        </p:nvSpPr>
        <p:spPr>
          <a:xfrm>
            <a:off x="10397997" y="3755755"/>
            <a:ext cx="1266825" cy="2398821"/>
          </a:xfrm>
          <a:custGeom>
            <a:avLst/>
            <a:gdLst/>
            <a:ahLst/>
            <a:cxnLst/>
            <a:rect l="l" t="t" r="r" b="b"/>
            <a:pathLst>
              <a:path w="1266825" h="2775585">
                <a:moveTo>
                  <a:pt x="0" y="71627"/>
                </a:moveTo>
                <a:lnTo>
                  <a:pt x="5637" y="43719"/>
                </a:lnTo>
                <a:lnTo>
                  <a:pt x="21002" y="20954"/>
                </a:lnTo>
                <a:lnTo>
                  <a:pt x="43773" y="5619"/>
                </a:lnTo>
                <a:lnTo>
                  <a:pt x="71627" y="0"/>
                </a:lnTo>
                <a:lnTo>
                  <a:pt x="1195070" y="0"/>
                </a:lnTo>
                <a:lnTo>
                  <a:pt x="1222978" y="5619"/>
                </a:lnTo>
                <a:lnTo>
                  <a:pt x="1245743" y="20954"/>
                </a:lnTo>
                <a:lnTo>
                  <a:pt x="1261078" y="43719"/>
                </a:lnTo>
                <a:lnTo>
                  <a:pt x="1266698" y="71627"/>
                </a:lnTo>
                <a:lnTo>
                  <a:pt x="1266698" y="2703931"/>
                </a:lnTo>
                <a:lnTo>
                  <a:pt x="1261078" y="2731820"/>
                </a:lnTo>
                <a:lnTo>
                  <a:pt x="1245743" y="2754591"/>
                </a:lnTo>
                <a:lnTo>
                  <a:pt x="1222978" y="2769943"/>
                </a:lnTo>
                <a:lnTo>
                  <a:pt x="1195070" y="2775572"/>
                </a:lnTo>
                <a:lnTo>
                  <a:pt x="71627" y="2775572"/>
                </a:lnTo>
                <a:lnTo>
                  <a:pt x="43773" y="2769943"/>
                </a:lnTo>
                <a:lnTo>
                  <a:pt x="21002" y="2754591"/>
                </a:lnTo>
                <a:lnTo>
                  <a:pt x="5637" y="2731820"/>
                </a:lnTo>
                <a:lnTo>
                  <a:pt x="0" y="2703931"/>
                </a:lnTo>
                <a:lnTo>
                  <a:pt x="0" y="71627"/>
                </a:lnTo>
                <a:close/>
              </a:path>
            </a:pathLst>
          </a:custGeom>
          <a:ln w="9525">
            <a:solidFill>
              <a:srgbClr val="0A4B8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62" name="object 62">
            <a:extLst>
              <a:ext uri="{FF2B5EF4-FFF2-40B4-BE49-F238E27FC236}">
                <a16:creationId xmlns:a16="http://schemas.microsoft.com/office/drawing/2014/main" id="{70F283DA-D078-E124-8D4D-6D4BD614F3CD}"/>
              </a:ext>
            </a:extLst>
          </p:cNvPr>
          <p:cNvSpPr txBox="1"/>
          <p:nvPr/>
        </p:nvSpPr>
        <p:spPr>
          <a:xfrm>
            <a:off x="10534204" y="3837079"/>
            <a:ext cx="994410" cy="321242"/>
          </a:xfrm>
          <a:prstGeom prst="rect">
            <a:avLst/>
          </a:prstGeom>
        </p:spPr>
        <p:txBody>
          <a:bodyPr vert="horz" wrap="square" lIns="0" tIns="13335" rIns="0" bIns="0" rtlCol="0">
            <a:spAutoFit/>
          </a:bodyPr>
          <a:lstStyle/>
          <a:p>
            <a:pPr marL="245745" marR="5080" lvl="0" indent="-233679" algn="l" defTabSz="914400" rtl="0" eaLnBrk="1" fontAlgn="auto" latinLnBrk="0" hangingPunct="1">
              <a:lnSpc>
                <a:spcPct val="100000"/>
              </a:lnSpc>
              <a:spcBef>
                <a:spcPts val="105"/>
              </a:spcBef>
              <a:spcAft>
                <a:spcPts val="0"/>
              </a:spcAft>
              <a:buClrTx/>
              <a:buSzTx/>
              <a:buFontTx/>
              <a:buNone/>
              <a:tabLst/>
              <a:defRPr/>
            </a:pPr>
            <a:r>
              <a:rPr kumimoji="0" sz="1000" b="1" i="0" u="none" strike="noStrike" kern="0" cap="none" spc="0" normalizeH="0" baseline="0" noProof="0">
                <a:ln>
                  <a:noFill/>
                </a:ln>
                <a:solidFill>
                  <a:srgbClr val="0A305E"/>
                </a:solidFill>
                <a:effectLst/>
                <a:uLnTx/>
                <a:uFillTx/>
                <a:latin typeface="CVS Health Sans"/>
                <a:ea typeface="+mn-ea"/>
                <a:cs typeface="CVS Health Sans"/>
              </a:rPr>
              <a:t>Subject</a:t>
            </a:r>
            <a:r>
              <a:rPr kumimoji="0" sz="1000" b="1" i="0" u="none" strike="noStrike" kern="0" cap="none" spc="-25" normalizeH="0" baseline="0" noProof="0">
                <a:ln>
                  <a:noFill/>
                </a:ln>
                <a:solidFill>
                  <a:srgbClr val="0A305E"/>
                </a:solidFill>
                <a:effectLst/>
                <a:uLnTx/>
                <a:uFillTx/>
                <a:latin typeface="CVS Health Sans"/>
                <a:ea typeface="+mn-ea"/>
                <a:cs typeface="CVS Health Sans"/>
              </a:rPr>
              <a:t> </a:t>
            </a:r>
            <a:r>
              <a:rPr kumimoji="0" sz="1000" b="1" i="0" u="none" strike="noStrike" kern="0" cap="none" spc="-10" normalizeH="0" baseline="0" noProof="0">
                <a:ln>
                  <a:noFill/>
                </a:ln>
                <a:solidFill>
                  <a:srgbClr val="0A305E"/>
                </a:solidFill>
                <a:effectLst/>
                <a:uLnTx/>
                <a:uFillTx/>
                <a:latin typeface="CVS Health Sans"/>
                <a:ea typeface="+mn-ea"/>
                <a:cs typeface="CVS Health Sans"/>
              </a:rPr>
              <a:t>Matter Experts</a:t>
            </a:r>
            <a:endParaRPr kumimoji="0" sz="10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nvGrpSpPr>
          <p:cNvPr id="6" name="Group 5">
            <a:extLst>
              <a:ext uri="{FF2B5EF4-FFF2-40B4-BE49-F238E27FC236}">
                <a16:creationId xmlns:a16="http://schemas.microsoft.com/office/drawing/2014/main" id="{1017660E-16E6-474F-B68A-2EA141D0266B}"/>
              </a:ext>
            </a:extLst>
          </p:cNvPr>
          <p:cNvGrpSpPr/>
          <p:nvPr/>
        </p:nvGrpSpPr>
        <p:grpSpPr>
          <a:xfrm>
            <a:off x="10470893" y="4187853"/>
            <a:ext cx="1121032" cy="311150"/>
            <a:chOff x="10470893" y="3892578"/>
            <a:chExt cx="1121032" cy="311150"/>
          </a:xfrm>
        </p:grpSpPr>
        <p:sp>
          <p:nvSpPr>
            <p:cNvPr id="63" name="object 63">
              <a:extLst>
                <a:ext uri="{FF2B5EF4-FFF2-40B4-BE49-F238E27FC236}">
                  <a16:creationId xmlns:a16="http://schemas.microsoft.com/office/drawing/2014/main" id="{49F8CFA5-16E3-49C0-4F63-61131659A800}"/>
                </a:ext>
              </a:extLst>
            </p:cNvPr>
            <p:cNvSpPr/>
            <p:nvPr/>
          </p:nvSpPr>
          <p:spPr>
            <a:xfrm>
              <a:off x="10470893" y="3892578"/>
              <a:ext cx="1121032" cy="311150"/>
            </a:xfrm>
            <a:prstGeom prst="roundRect">
              <a:avLst/>
            </a:prstGeom>
            <a:solidFill>
              <a:srgbClr val="2579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64" name="object 64">
              <a:extLst>
                <a:ext uri="{FF2B5EF4-FFF2-40B4-BE49-F238E27FC236}">
                  <a16:creationId xmlns:a16="http://schemas.microsoft.com/office/drawing/2014/main" id="{1E3E9B57-3F1C-90A2-8AAC-170865E0D3CB}"/>
                </a:ext>
              </a:extLst>
            </p:cNvPr>
            <p:cNvSpPr txBox="1"/>
            <p:nvPr/>
          </p:nvSpPr>
          <p:spPr>
            <a:xfrm>
              <a:off x="10513028" y="3926360"/>
              <a:ext cx="1038416" cy="258404"/>
            </a:xfrm>
            <a:prstGeom prst="rect">
              <a:avLst/>
            </a:prstGeom>
          </p:spPr>
          <p:txBody>
            <a:bodyPr vert="horz" wrap="square" lIns="0" tIns="12065" rIns="0" bIns="0" rtlCol="0">
              <a:spAutoFit/>
            </a:bodyPr>
            <a:lstStyle/>
            <a:p>
              <a:pPr marL="0" marR="0" lvl="0" indent="0" algn="ctr" defTabSz="914400" rtl="0" eaLnBrk="1" fontAlgn="auto" latinLnBrk="0" hangingPunct="1">
                <a:lnSpc>
                  <a:spcPct val="100000"/>
                </a:lnSpc>
                <a:spcBef>
                  <a:spcPts val="95"/>
                </a:spcBef>
                <a:spcAft>
                  <a:spcPts val="0"/>
                </a:spcAft>
                <a:buClrTx/>
                <a:buSzTx/>
                <a:buFontTx/>
                <a:buNone/>
                <a:tabLst/>
                <a:defRPr/>
              </a:pPr>
              <a:r>
                <a:rPr kumimoji="0" sz="800" b="1" i="0" u="none" strike="noStrike" kern="0" cap="none" spc="-10" normalizeH="0" baseline="0" noProof="0">
                  <a:ln>
                    <a:noFill/>
                  </a:ln>
                  <a:solidFill>
                    <a:srgbClr val="FFFFFF"/>
                  </a:solidFill>
                  <a:effectLst/>
                  <a:uLnTx/>
                  <a:uFillTx/>
                  <a:latin typeface="CVS Health Sans"/>
                  <a:ea typeface="+mn-ea"/>
                  <a:cs typeface="CVS Health Sans"/>
                </a:rPr>
                <a:t>Architecture</a:t>
              </a:r>
              <a:r>
                <a:rPr kumimoji="0" sz="800" b="1" i="0" u="none" strike="noStrike" kern="0" cap="none" spc="70" normalizeH="0" baseline="0" noProof="0">
                  <a:ln>
                    <a:noFill/>
                  </a:ln>
                  <a:solidFill>
                    <a:srgbClr val="FFFFFF"/>
                  </a:solidFill>
                  <a:effectLst/>
                  <a:uLnTx/>
                  <a:uFillTx/>
                  <a:latin typeface="CVS Health Sans"/>
                  <a:ea typeface="+mn-ea"/>
                  <a:cs typeface="CVS Health Sans"/>
                </a:rPr>
                <a:t> </a:t>
              </a:r>
              <a:r>
                <a:rPr kumimoji="0" sz="800" b="1" i="0" u="none" strike="noStrike" kern="0" cap="none" spc="-25" normalizeH="0" baseline="0" noProof="0">
                  <a:ln>
                    <a:noFill/>
                  </a:ln>
                  <a:solidFill>
                    <a:srgbClr val="FFFFFF"/>
                  </a:solidFill>
                  <a:effectLst/>
                  <a:uLnTx/>
                  <a:uFillTx/>
                  <a:latin typeface="CVS Health Sans"/>
                  <a:ea typeface="+mn-ea"/>
                  <a:cs typeface="CVS Health Sans"/>
                </a:rPr>
                <a:t>SME</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sz="800" b="0" i="0" u="none" strike="noStrike" kern="0" cap="none" spc="0" normalizeH="0" baseline="0" noProof="0">
                  <a:ln>
                    <a:noFill/>
                  </a:ln>
                  <a:solidFill>
                    <a:srgbClr val="FFFFFF"/>
                  </a:solidFill>
                  <a:effectLst/>
                  <a:uLnTx/>
                  <a:uFillTx/>
                  <a:latin typeface="CVS Health Sans"/>
                  <a:ea typeface="+mn-ea"/>
                  <a:cs typeface="CVS Health Sans"/>
                </a:rPr>
                <a:t>Niels</a:t>
              </a:r>
              <a:r>
                <a:rPr kumimoji="0" sz="800" b="0" i="0" u="none" strike="noStrike" kern="0" cap="none" spc="-25" normalizeH="0" baseline="0" noProof="0">
                  <a:ln>
                    <a:noFill/>
                  </a:ln>
                  <a:solidFill>
                    <a:srgbClr val="FFFFFF"/>
                  </a:solidFill>
                  <a:effectLst/>
                  <a:uLnTx/>
                  <a:uFillTx/>
                  <a:latin typeface="CVS Health Sans"/>
                  <a:ea typeface="+mn-ea"/>
                  <a:cs typeface="CVS Health Sans"/>
                </a:rPr>
                <a:t> </a:t>
              </a:r>
              <a:r>
                <a:rPr kumimoji="0" sz="800" b="0" i="0" u="none" strike="noStrike" kern="0" cap="none" spc="-10" normalizeH="0" baseline="0" noProof="0">
                  <a:ln>
                    <a:noFill/>
                  </a:ln>
                  <a:solidFill>
                    <a:srgbClr val="FFFFFF"/>
                  </a:solidFill>
                  <a:effectLst/>
                  <a:uLnTx/>
                  <a:uFillTx/>
                  <a:latin typeface="CVS Health Sans"/>
                  <a:ea typeface="+mn-ea"/>
                  <a:cs typeface="CVS Health Sans"/>
                </a:rPr>
                <a:t>Hanson</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grpSp>
        <p:nvGrpSpPr>
          <p:cNvPr id="5" name="Group 4">
            <a:extLst>
              <a:ext uri="{FF2B5EF4-FFF2-40B4-BE49-F238E27FC236}">
                <a16:creationId xmlns:a16="http://schemas.microsoft.com/office/drawing/2014/main" id="{54196C8C-DD22-E37C-E0C8-3D6EB31F6538}"/>
              </a:ext>
            </a:extLst>
          </p:cNvPr>
          <p:cNvGrpSpPr/>
          <p:nvPr/>
        </p:nvGrpSpPr>
        <p:grpSpPr>
          <a:xfrm>
            <a:off x="10470893" y="4581080"/>
            <a:ext cx="1121032" cy="311150"/>
            <a:chOff x="10470893" y="4359558"/>
            <a:chExt cx="1121032" cy="311150"/>
          </a:xfrm>
        </p:grpSpPr>
        <p:sp>
          <p:nvSpPr>
            <p:cNvPr id="65" name="object 65">
              <a:extLst>
                <a:ext uri="{FF2B5EF4-FFF2-40B4-BE49-F238E27FC236}">
                  <a16:creationId xmlns:a16="http://schemas.microsoft.com/office/drawing/2014/main" id="{BA2820BF-F2CA-7898-5652-57CDDA710C98}"/>
                </a:ext>
              </a:extLst>
            </p:cNvPr>
            <p:cNvSpPr/>
            <p:nvPr/>
          </p:nvSpPr>
          <p:spPr>
            <a:xfrm>
              <a:off x="10470893" y="4359558"/>
              <a:ext cx="1121032" cy="311150"/>
            </a:xfrm>
            <a:prstGeom prst="roundRect">
              <a:avLst/>
            </a:prstGeom>
            <a:solidFill>
              <a:srgbClr val="2579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66" name="object 66">
              <a:extLst>
                <a:ext uri="{FF2B5EF4-FFF2-40B4-BE49-F238E27FC236}">
                  <a16:creationId xmlns:a16="http://schemas.microsoft.com/office/drawing/2014/main" id="{0104EEE2-FE05-AEB6-E3C0-53198E3923F9}"/>
                </a:ext>
              </a:extLst>
            </p:cNvPr>
            <p:cNvSpPr txBox="1"/>
            <p:nvPr/>
          </p:nvSpPr>
          <p:spPr>
            <a:xfrm>
              <a:off x="10513028" y="4393721"/>
              <a:ext cx="1038416" cy="258404"/>
            </a:xfrm>
            <a:prstGeom prst="rect">
              <a:avLst/>
            </a:prstGeom>
          </p:spPr>
          <p:txBody>
            <a:bodyPr vert="horz" wrap="square" lIns="0" tIns="12065" rIns="0" bIns="0" rtlCol="0">
              <a:sp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sz="800" b="1" i="0" u="none" strike="noStrike" kern="0" cap="none" spc="-10" normalizeH="0" baseline="0" noProof="0">
                  <a:ln>
                    <a:noFill/>
                  </a:ln>
                  <a:solidFill>
                    <a:srgbClr val="FFFFFF"/>
                  </a:solidFill>
                  <a:effectLst/>
                  <a:uLnTx/>
                  <a:uFillTx/>
                  <a:latin typeface="CVS Health Sans"/>
                  <a:ea typeface="+mn-ea"/>
                  <a:cs typeface="CVS Health Sans"/>
                </a:rPr>
                <a:t>Architecture</a:t>
              </a:r>
              <a:r>
                <a:rPr kumimoji="0" sz="800" b="1" i="0" u="none" strike="noStrike" kern="0" cap="none" spc="70" normalizeH="0" baseline="0" noProof="0">
                  <a:ln>
                    <a:noFill/>
                  </a:ln>
                  <a:solidFill>
                    <a:srgbClr val="FFFFFF"/>
                  </a:solidFill>
                  <a:effectLst/>
                  <a:uLnTx/>
                  <a:uFillTx/>
                  <a:latin typeface="CVS Health Sans"/>
                  <a:ea typeface="+mn-ea"/>
                  <a:cs typeface="CVS Health Sans"/>
                </a:rPr>
                <a:t> </a:t>
              </a:r>
              <a:r>
                <a:rPr kumimoji="0" sz="800" b="1" i="0" u="none" strike="noStrike" kern="0" cap="none" spc="-25" normalizeH="0" baseline="0" noProof="0">
                  <a:ln>
                    <a:noFill/>
                  </a:ln>
                  <a:solidFill>
                    <a:srgbClr val="FFFFFF"/>
                  </a:solidFill>
                  <a:effectLst/>
                  <a:uLnTx/>
                  <a:uFillTx/>
                  <a:latin typeface="CVS Health Sans"/>
                  <a:ea typeface="+mn-ea"/>
                  <a:cs typeface="CVS Health Sans"/>
                </a:rPr>
                <a:t>SME</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a:p>
              <a:pPr marL="32384" marR="0" lvl="0" indent="0" algn="ctr" defTabSz="914400" rtl="0" eaLnBrk="1" fontAlgn="auto" latinLnBrk="0" hangingPunct="1">
                <a:lnSpc>
                  <a:spcPct val="100000"/>
                </a:lnSpc>
                <a:spcBef>
                  <a:spcPts val="0"/>
                </a:spcBef>
                <a:spcAft>
                  <a:spcPts val="0"/>
                </a:spcAft>
                <a:buClrTx/>
                <a:buSzTx/>
                <a:buFontTx/>
                <a:buNone/>
                <a:tabLst/>
                <a:defRPr/>
              </a:pPr>
              <a:r>
                <a:rPr kumimoji="0" sz="800" b="0" i="0" u="none" strike="noStrike" kern="0" cap="none" spc="0" normalizeH="0" baseline="0" noProof="0">
                  <a:ln>
                    <a:noFill/>
                  </a:ln>
                  <a:solidFill>
                    <a:srgbClr val="FFFFFF"/>
                  </a:solidFill>
                  <a:effectLst/>
                  <a:uLnTx/>
                  <a:uFillTx/>
                  <a:latin typeface="CVS Health Sans"/>
                  <a:ea typeface="+mn-ea"/>
                  <a:cs typeface="CVS Health Sans"/>
                </a:rPr>
                <a:t>Deepak</a:t>
              </a:r>
              <a:r>
                <a:rPr kumimoji="0" sz="800" b="0" i="0" u="none" strike="noStrike" kern="0" cap="none" spc="-30" normalizeH="0" baseline="0" noProof="0">
                  <a:ln>
                    <a:noFill/>
                  </a:ln>
                  <a:solidFill>
                    <a:srgbClr val="FFFFFF"/>
                  </a:solidFill>
                  <a:effectLst/>
                  <a:uLnTx/>
                  <a:uFillTx/>
                  <a:latin typeface="CVS Health Sans"/>
                  <a:ea typeface="+mn-ea"/>
                  <a:cs typeface="CVS Health Sans"/>
                </a:rPr>
                <a:t> </a:t>
              </a:r>
              <a:r>
                <a:rPr kumimoji="0" sz="800" b="0" i="0" u="none" strike="noStrike" kern="0" cap="none" spc="-10" normalizeH="0" baseline="0" noProof="0">
                  <a:ln>
                    <a:noFill/>
                  </a:ln>
                  <a:solidFill>
                    <a:srgbClr val="FFFFFF"/>
                  </a:solidFill>
                  <a:effectLst/>
                  <a:uLnTx/>
                  <a:uFillTx/>
                  <a:latin typeface="CVS Health Sans"/>
                  <a:ea typeface="+mn-ea"/>
                  <a:cs typeface="CVS Health Sans"/>
                </a:rPr>
                <a:t>Benjamin</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grpSp>
        <p:nvGrpSpPr>
          <p:cNvPr id="4" name="Group 3">
            <a:extLst>
              <a:ext uri="{FF2B5EF4-FFF2-40B4-BE49-F238E27FC236}">
                <a16:creationId xmlns:a16="http://schemas.microsoft.com/office/drawing/2014/main" id="{DA44A20A-A8E3-1A83-1E26-0D1751321ED7}"/>
              </a:ext>
            </a:extLst>
          </p:cNvPr>
          <p:cNvGrpSpPr/>
          <p:nvPr/>
        </p:nvGrpSpPr>
        <p:grpSpPr>
          <a:xfrm>
            <a:off x="10470893" y="4974307"/>
            <a:ext cx="1121032" cy="311150"/>
            <a:chOff x="10470893" y="4826664"/>
            <a:chExt cx="1121032" cy="311150"/>
          </a:xfrm>
        </p:grpSpPr>
        <p:sp>
          <p:nvSpPr>
            <p:cNvPr id="67" name="object 67">
              <a:extLst>
                <a:ext uri="{FF2B5EF4-FFF2-40B4-BE49-F238E27FC236}">
                  <a16:creationId xmlns:a16="http://schemas.microsoft.com/office/drawing/2014/main" id="{92424406-F6E2-499A-4F68-A6FDDCBD994F}"/>
                </a:ext>
              </a:extLst>
            </p:cNvPr>
            <p:cNvSpPr/>
            <p:nvPr/>
          </p:nvSpPr>
          <p:spPr>
            <a:xfrm>
              <a:off x="10470893" y="4826664"/>
              <a:ext cx="1121032" cy="311150"/>
            </a:xfrm>
            <a:prstGeom prst="roundRect">
              <a:avLst/>
            </a:prstGeom>
            <a:solidFill>
              <a:srgbClr val="2579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68" name="object 68">
              <a:extLst>
                <a:ext uri="{FF2B5EF4-FFF2-40B4-BE49-F238E27FC236}">
                  <a16:creationId xmlns:a16="http://schemas.microsoft.com/office/drawing/2014/main" id="{1ABED1BE-3518-F3CC-CEC7-19F749499CDB}"/>
                </a:ext>
              </a:extLst>
            </p:cNvPr>
            <p:cNvSpPr txBox="1"/>
            <p:nvPr/>
          </p:nvSpPr>
          <p:spPr>
            <a:xfrm>
              <a:off x="10721794" y="4860572"/>
              <a:ext cx="620374" cy="258404"/>
            </a:xfrm>
            <a:prstGeom prst="rect">
              <a:avLst/>
            </a:prstGeom>
          </p:spPr>
          <p:txBody>
            <a:bodyPr vert="horz" wrap="square" lIns="0" tIns="12065" rIns="0" bIns="0" rtlCol="0">
              <a:spAutoFit/>
            </a:bodyPr>
            <a:lstStyle/>
            <a:p>
              <a:pPr marL="30480" marR="0" lvl="0" indent="0" algn="ctr" defTabSz="914400" rtl="0" eaLnBrk="1" fontAlgn="auto" latinLnBrk="0" hangingPunct="1">
                <a:lnSpc>
                  <a:spcPct val="100000"/>
                </a:lnSpc>
                <a:spcBef>
                  <a:spcPts val="95"/>
                </a:spcBef>
                <a:spcAft>
                  <a:spcPts val="0"/>
                </a:spcAft>
                <a:buClrTx/>
                <a:buSzTx/>
                <a:buFontTx/>
                <a:buNone/>
                <a:tabLst/>
                <a:defRPr/>
              </a:pPr>
              <a:r>
                <a:rPr kumimoji="0" sz="800" b="1" i="0" u="none" strike="noStrike" kern="0" cap="none" spc="0" normalizeH="0" baseline="0" noProof="0">
                  <a:ln>
                    <a:noFill/>
                  </a:ln>
                  <a:solidFill>
                    <a:srgbClr val="FFFFFF"/>
                  </a:solidFill>
                  <a:effectLst/>
                  <a:uLnTx/>
                  <a:uFillTx/>
                  <a:latin typeface="CVS Health Sans"/>
                  <a:ea typeface="+mn-ea"/>
                  <a:cs typeface="CVS Health Sans"/>
                </a:rPr>
                <a:t>ISTS</a:t>
              </a:r>
              <a:r>
                <a:rPr kumimoji="0" sz="800" b="1" i="0" u="none" strike="noStrike" kern="0" cap="none" spc="-20" normalizeH="0" baseline="0" noProof="0">
                  <a:ln>
                    <a:noFill/>
                  </a:ln>
                  <a:solidFill>
                    <a:srgbClr val="FFFFFF"/>
                  </a:solidFill>
                  <a:effectLst/>
                  <a:uLnTx/>
                  <a:uFillTx/>
                  <a:latin typeface="CVS Health Sans"/>
                  <a:ea typeface="+mn-ea"/>
                  <a:cs typeface="CVS Health Sans"/>
                </a:rPr>
                <a:t> </a:t>
              </a:r>
              <a:r>
                <a:rPr kumimoji="0" sz="800" b="1" i="0" u="none" strike="noStrike" kern="0" cap="none" spc="-25" normalizeH="0" baseline="0" noProof="0">
                  <a:ln>
                    <a:noFill/>
                  </a:ln>
                  <a:solidFill>
                    <a:srgbClr val="FFFFFF"/>
                  </a:solidFill>
                  <a:effectLst/>
                  <a:uLnTx/>
                  <a:uFillTx/>
                  <a:latin typeface="CVS Health Sans"/>
                  <a:ea typeface="+mn-ea"/>
                  <a:cs typeface="CVS Health Sans"/>
                </a:rPr>
                <a:t>SME</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a:p>
              <a:pPr marL="12700" marR="0" lvl="0" indent="0" algn="ctr" defTabSz="914400" rtl="0" eaLnBrk="1" fontAlgn="auto" latinLnBrk="0" hangingPunct="1">
                <a:lnSpc>
                  <a:spcPct val="100000"/>
                </a:lnSpc>
                <a:spcBef>
                  <a:spcPts val="0"/>
                </a:spcBef>
                <a:spcAft>
                  <a:spcPts val="0"/>
                </a:spcAft>
                <a:buClrTx/>
                <a:buSzTx/>
                <a:buFontTx/>
                <a:buNone/>
                <a:tabLst/>
                <a:defRPr/>
              </a:pPr>
              <a:r>
                <a:rPr kumimoji="0" sz="800" b="0" i="0" u="none" strike="noStrike" kern="0" cap="none" spc="0" normalizeH="0" baseline="0" noProof="0">
                  <a:ln>
                    <a:noFill/>
                  </a:ln>
                  <a:solidFill>
                    <a:srgbClr val="FFFFFF"/>
                  </a:solidFill>
                  <a:effectLst/>
                  <a:uLnTx/>
                  <a:uFillTx/>
                  <a:latin typeface="CVS Health Sans"/>
                  <a:ea typeface="+mn-ea"/>
                  <a:cs typeface="CVS Health Sans"/>
                </a:rPr>
                <a:t>David</a:t>
              </a:r>
              <a:r>
                <a:rPr kumimoji="0" sz="800" b="0" i="0" u="none" strike="noStrike" kern="0" cap="none" spc="-35" normalizeH="0" baseline="0" noProof="0">
                  <a:ln>
                    <a:noFill/>
                  </a:ln>
                  <a:solidFill>
                    <a:srgbClr val="FFFFFF"/>
                  </a:solidFill>
                  <a:effectLst/>
                  <a:uLnTx/>
                  <a:uFillTx/>
                  <a:latin typeface="CVS Health Sans"/>
                  <a:ea typeface="+mn-ea"/>
                  <a:cs typeface="CVS Health Sans"/>
                </a:rPr>
                <a:t> </a:t>
              </a:r>
              <a:r>
                <a:rPr kumimoji="0" sz="800" b="0" i="0" u="none" strike="noStrike" kern="0" cap="none" spc="-20" normalizeH="0" baseline="0" noProof="0">
                  <a:ln>
                    <a:noFill/>
                  </a:ln>
                  <a:solidFill>
                    <a:srgbClr val="FFFFFF"/>
                  </a:solidFill>
                  <a:effectLst/>
                  <a:uLnTx/>
                  <a:uFillTx/>
                  <a:latin typeface="CVS Health Sans"/>
                  <a:ea typeface="+mn-ea"/>
                  <a:cs typeface="CVS Health Sans"/>
                </a:rPr>
                <a:t>Muir</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grpSp>
        <p:nvGrpSpPr>
          <p:cNvPr id="2" name="Group 1">
            <a:extLst>
              <a:ext uri="{FF2B5EF4-FFF2-40B4-BE49-F238E27FC236}">
                <a16:creationId xmlns:a16="http://schemas.microsoft.com/office/drawing/2014/main" id="{42545424-8FB8-D7C3-FA78-271CD3DD2567}"/>
              </a:ext>
            </a:extLst>
          </p:cNvPr>
          <p:cNvGrpSpPr/>
          <p:nvPr/>
        </p:nvGrpSpPr>
        <p:grpSpPr>
          <a:xfrm>
            <a:off x="10470893" y="5367534"/>
            <a:ext cx="1121032" cy="311150"/>
            <a:chOff x="10470893" y="5293770"/>
            <a:chExt cx="1121032" cy="311150"/>
          </a:xfrm>
        </p:grpSpPr>
        <p:sp>
          <p:nvSpPr>
            <p:cNvPr id="69" name="object 69">
              <a:extLst>
                <a:ext uri="{FF2B5EF4-FFF2-40B4-BE49-F238E27FC236}">
                  <a16:creationId xmlns:a16="http://schemas.microsoft.com/office/drawing/2014/main" id="{79CF8B03-815A-FD5D-35F5-DDA68FFC505C}"/>
                </a:ext>
              </a:extLst>
            </p:cNvPr>
            <p:cNvSpPr/>
            <p:nvPr/>
          </p:nvSpPr>
          <p:spPr>
            <a:xfrm>
              <a:off x="10470893" y="5293770"/>
              <a:ext cx="1121032" cy="311150"/>
            </a:xfrm>
            <a:prstGeom prst="roundRect">
              <a:avLst/>
            </a:prstGeom>
            <a:solidFill>
              <a:srgbClr val="2579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70" name="object 70">
              <a:extLst>
                <a:ext uri="{FF2B5EF4-FFF2-40B4-BE49-F238E27FC236}">
                  <a16:creationId xmlns:a16="http://schemas.microsoft.com/office/drawing/2014/main" id="{795EAA4F-2AB9-CFEE-2B66-101EF8355463}"/>
                </a:ext>
              </a:extLst>
            </p:cNvPr>
            <p:cNvSpPr txBox="1"/>
            <p:nvPr/>
          </p:nvSpPr>
          <p:spPr>
            <a:xfrm>
              <a:off x="10532363" y="5327933"/>
              <a:ext cx="997840" cy="258404"/>
            </a:xfrm>
            <a:prstGeom prst="rect">
              <a:avLst/>
            </a:prstGeom>
          </p:spPr>
          <p:txBody>
            <a:bodyPr vert="horz" wrap="square" lIns="0" tIns="12065" rIns="0" bIns="0" rtlCol="0">
              <a:sp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sz="800" b="1" i="0" u="none" strike="noStrike" kern="0" cap="none" spc="-10" normalizeH="0" baseline="0" noProof="0">
                  <a:ln>
                    <a:noFill/>
                  </a:ln>
                  <a:solidFill>
                    <a:srgbClr val="FFFFFF"/>
                  </a:solidFill>
                  <a:effectLst/>
                  <a:uLnTx/>
                  <a:uFillTx/>
                  <a:latin typeface="CVS Health Sans"/>
                  <a:ea typeface="+mn-ea"/>
                  <a:cs typeface="CVS Health Sans"/>
                </a:rPr>
                <a:t>Infrastructure</a:t>
              </a:r>
              <a:r>
                <a:rPr kumimoji="0" sz="800" b="1" i="0" u="none" strike="noStrike" kern="0" cap="none" spc="85" normalizeH="0" baseline="0" noProof="0">
                  <a:ln>
                    <a:noFill/>
                  </a:ln>
                  <a:solidFill>
                    <a:srgbClr val="FFFFFF"/>
                  </a:solidFill>
                  <a:effectLst/>
                  <a:uLnTx/>
                  <a:uFillTx/>
                  <a:latin typeface="CVS Health Sans"/>
                  <a:ea typeface="+mn-ea"/>
                  <a:cs typeface="CVS Health Sans"/>
                </a:rPr>
                <a:t> </a:t>
              </a:r>
              <a:r>
                <a:rPr kumimoji="0" sz="800" b="1" i="0" u="none" strike="noStrike" kern="0" cap="none" spc="-25" normalizeH="0" baseline="0" noProof="0">
                  <a:ln>
                    <a:noFill/>
                  </a:ln>
                  <a:solidFill>
                    <a:srgbClr val="FFFFFF"/>
                  </a:solidFill>
                  <a:effectLst/>
                  <a:uLnTx/>
                  <a:uFillTx/>
                  <a:latin typeface="CVS Health Sans"/>
                  <a:ea typeface="+mn-ea"/>
                  <a:cs typeface="CVS Health Sans"/>
                </a:rPr>
                <a:t>SME</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a:p>
              <a:pPr marL="24765" marR="0" lvl="0" indent="0" algn="ctr" defTabSz="914400" rtl="0" eaLnBrk="1" fontAlgn="auto" latinLnBrk="0" hangingPunct="1">
                <a:lnSpc>
                  <a:spcPct val="100000"/>
                </a:lnSpc>
                <a:spcBef>
                  <a:spcPts val="0"/>
                </a:spcBef>
                <a:spcAft>
                  <a:spcPts val="0"/>
                </a:spcAft>
                <a:buClrTx/>
                <a:buSzTx/>
                <a:buFontTx/>
                <a:buNone/>
                <a:tabLst/>
                <a:defRPr/>
              </a:pPr>
              <a:r>
                <a:rPr kumimoji="0" sz="800" b="0" i="0" u="none" strike="noStrike" kern="0" cap="none" spc="0" normalizeH="0" baseline="0" noProof="0">
                  <a:ln>
                    <a:noFill/>
                  </a:ln>
                  <a:solidFill>
                    <a:srgbClr val="FFFFFF"/>
                  </a:solidFill>
                  <a:effectLst/>
                  <a:uLnTx/>
                  <a:uFillTx/>
                  <a:latin typeface="CVS Health Sans"/>
                  <a:ea typeface="+mn-ea"/>
                  <a:cs typeface="CVS Health Sans"/>
                </a:rPr>
                <a:t>Marcus</a:t>
              </a:r>
              <a:r>
                <a:rPr kumimoji="0" sz="800" b="0" i="0" u="none" strike="noStrike" kern="0" cap="none" spc="-35" normalizeH="0" baseline="0" noProof="0">
                  <a:ln>
                    <a:noFill/>
                  </a:ln>
                  <a:solidFill>
                    <a:srgbClr val="FFFFFF"/>
                  </a:solidFill>
                  <a:effectLst/>
                  <a:uLnTx/>
                  <a:uFillTx/>
                  <a:latin typeface="CVS Health Sans"/>
                  <a:ea typeface="+mn-ea"/>
                  <a:cs typeface="CVS Health Sans"/>
                </a:rPr>
                <a:t> </a:t>
              </a:r>
              <a:r>
                <a:rPr kumimoji="0" sz="800" b="0" i="0" u="none" strike="noStrike" kern="0" cap="none" spc="-10" normalizeH="0" baseline="0" noProof="0">
                  <a:ln>
                    <a:noFill/>
                  </a:ln>
                  <a:solidFill>
                    <a:srgbClr val="FFFFFF"/>
                  </a:solidFill>
                  <a:effectLst/>
                  <a:uLnTx/>
                  <a:uFillTx/>
                  <a:latin typeface="CVS Health Sans"/>
                  <a:ea typeface="+mn-ea"/>
                  <a:cs typeface="CVS Health Sans"/>
                </a:rPr>
                <a:t>Brakewood</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grpSp>
        <p:nvGrpSpPr>
          <p:cNvPr id="3" name="Group 2">
            <a:extLst>
              <a:ext uri="{FF2B5EF4-FFF2-40B4-BE49-F238E27FC236}">
                <a16:creationId xmlns:a16="http://schemas.microsoft.com/office/drawing/2014/main" id="{57E185FB-B131-67F5-17AA-82AA045645DA}"/>
              </a:ext>
            </a:extLst>
          </p:cNvPr>
          <p:cNvGrpSpPr/>
          <p:nvPr/>
        </p:nvGrpSpPr>
        <p:grpSpPr>
          <a:xfrm>
            <a:off x="10470893" y="5760761"/>
            <a:ext cx="1121032" cy="311150"/>
            <a:chOff x="10470893" y="5760761"/>
            <a:chExt cx="1121032" cy="311150"/>
          </a:xfrm>
        </p:grpSpPr>
        <p:sp>
          <p:nvSpPr>
            <p:cNvPr id="71" name="object 71">
              <a:extLst>
                <a:ext uri="{FF2B5EF4-FFF2-40B4-BE49-F238E27FC236}">
                  <a16:creationId xmlns:a16="http://schemas.microsoft.com/office/drawing/2014/main" id="{A092FD29-B66A-1BCA-7660-A10AAB25F1EE}"/>
                </a:ext>
              </a:extLst>
            </p:cNvPr>
            <p:cNvSpPr/>
            <p:nvPr/>
          </p:nvSpPr>
          <p:spPr>
            <a:xfrm>
              <a:off x="10470893" y="5760761"/>
              <a:ext cx="1121032" cy="311150"/>
            </a:xfrm>
            <a:prstGeom prst="roundRect">
              <a:avLst/>
            </a:prstGeom>
            <a:solidFill>
              <a:srgbClr val="2579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72" name="object 72">
              <a:extLst>
                <a:ext uri="{FF2B5EF4-FFF2-40B4-BE49-F238E27FC236}">
                  <a16:creationId xmlns:a16="http://schemas.microsoft.com/office/drawing/2014/main" id="{A9979936-D58C-FB56-C60A-66EEFECF7EA2}"/>
                </a:ext>
              </a:extLst>
            </p:cNvPr>
            <p:cNvSpPr txBox="1"/>
            <p:nvPr/>
          </p:nvSpPr>
          <p:spPr>
            <a:xfrm>
              <a:off x="10532235" y="5794835"/>
              <a:ext cx="997968" cy="258404"/>
            </a:xfrm>
            <a:prstGeom prst="rect">
              <a:avLst/>
            </a:prstGeom>
          </p:spPr>
          <p:txBody>
            <a:bodyPr vert="horz" wrap="square" lIns="0" tIns="12065" rIns="0" bIns="0" rtlCol="0">
              <a:spAutoFit/>
            </a:bodyPr>
            <a:lstStyle/>
            <a:p>
              <a:pPr marL="0" marR="0" lvl="0" indent="0" algn="ctr" defTabSz="914400" rtl="0" eaLnBrk="1" fontAlgn="auto" latinLnBrk="0" hangingPunct="1">
                <a:lnSpc>
                  <a:spcPct val="100000"/>
                </a:lnSpc>
                <a:spcBef>
                  <a:spcPts val="95"/>
                </a:spcBef>
                <a:spcAft>
                  <a:spcPts val="0"/>
                </a:spcAft>
                <a:buClrTx/>
                <a:buSzTx/>
                <a:buFontTx/>
                <a:buNone/>
                <a:tabLst/>
                <a:defRPr/>
              </a:pPr>
              <a:r>
                <a:rPr kumimoji="0" lang="en-US" sz="800" b="1" i="0" u="none" strike="noStrike" kern="0" cap="none" spc="-25" normalizeH="0" baseline="0" noProof="0">
                  <a:ln>
                    <a:noFill/>
                  </a:ln>
                  <a:solidFill>
                    <a:srgbClr val="FFFFFF"/>
                  </a:solidFill>
                  <a:effectLst/>
                  <a:uLnTx/>
                  <a:uFillTx/>
                  <a:latin typeface="CVS Health Sans"/>
                  <a:ea typeface="+mn-ea"/>
                  <a:cs typeface="CVS Health Sans"/>
                </a:rPr>
                <a:t>AI </a:t>
              </a:r>
              <a:r>
                <a:rPr kumimoji="0" sz="800" b="1" i="0" u="none" strike="noStrike" kern="0" cap="none" spc="-25" normalizeH="0" baseline="0" noProof="0">
                  <a:ln>
                    <a:noFill/>
                  </a:ln>
                  <a:solidFill>
                    <a:srgbClr val="FFFFFF"/>
                  </a:solidFill>
                  <a:effectLst/>
                  <a:uLnTx/>
                  <a:uFillTx/>
                  <a:latin typeface="CVS Health Sans"/>
                  <a:ea typeface="+mn-ea"/>
                  <a:cs typeface="CVS Health Sans"/>
                </a:rPr>
                <a:t>SME</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sz="800" b="0" i="0" u="none" strike="noStrike" kern="0" cap="none" spc="0" normalizeH="0" baseline="0" noProof="0">
                  <a:ln>
                    <a:noFill/>
                  </a:ln>
                  <a:solidFill>
                    <a:srgbClr val="FFFFFF"/>
                  </a:solidFill>
                  <a:effectLst/>
                  <a:uLnTx/>
                  <a:uFillTx/>
                  <a:latin typeface="CVS Health Sans"/>
                  <a:ea typeface="+mn-ea"/>
                  <a:cs typeface="CVS Health Sans"/>
                </a:rPr>
                <a:t>Danish</a:t>
              </a:r>
              <a:r>
                <a:rPr kumimoji="0" sz="800" b="0" i="0" u="none" strike="noStrike" kern="0" cap="none" spc="-35" normalizeH="0" baseline="0" noProof="0">
                  <a:ln>
                    <a:noFill/>
                  </a:ln>
                  <a:solidFill>
                    <a:srgbClr val="FFFFFF"/>
                  </a:solidFill>
                  <a:effectLst/>
                  <a:uLnTx/>
                  <a:uFillTx/>
                  <a:latin typeface="CVS Health Sans"/>
                  <a:ea typeface="+mn-ea"/>
                  <a:cs typeface="CVS Health Sans"/>
                </a:rPr>
                <a:t> </a:t>
              </a:r>
              <a:r>
                <a:rPr kumimoji="0" sz="800" b="0" i="0" u="none" strike="noStrike" kern="0" cap="none" spc="-10" normalizeH="0" baseline="0" noProof="0">
                  <a:ln>
                    <a:noFill/>
                  </a:ln>
                  <a:solidFill>
                    <a:srgbClr val="FFFFFF"/>
                  </a:solidFill>
                  <a:effectLst/>
                  <a:uLnTx/>
                  <a:uFillTx/>
                  <a:latin typeface="CVS Health Sans"/>
                  <a:ea typeface="+mn-ea"/>
                  <a:cs typeface="CVS Health Sans"/>
                </a:rPr>
                <a:t>Markatia</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grpSp>
        <p:nvGrpSpPr>
          <p:cNvPr id="97" name="object 97">
            <a:extLst>
              <a:ext uri="{FF2B5EF4-FFF2-40B4-BE49-F238E27FC236}">
                <a16:creationId xmlns:a16="http://schemas.microsoft.com/office/drawing/2014/main" id="{7FFB3542-3FD4-8821-6333-0342340EEAF2}"/>
              </a:ext>
            </a:extLst>
          </p:cNvPr>
          <p:cNvGrpSpPr/>
          <p:nvPr/>
        </p:nvGrpSpPr>
        <p:grpSpPr>
          <a:xfrm>
            <a:off x="601218" y="5786593"/>
            <a:ext cx="313055" cy="255904"/>
            <a:chOff x="601218" y="5637974"/>
            <a:chExt cx="313055" cy="255904"/>
          </a:xfrm>
        </p:grpSpPr>
        <p:pic>
          <p:nvPicPr>
            <p:cNvPr id="98" name="object 98">
              <a:extLst>
                <a:ext uri="{FF2B5EF4-FFF2-40B4-BE49-F238E27FC236}">
                  <a16:creationId xmlns:a16="http://schemas.microsoft.com/office/drawing/2014/main" id="{5D8DB8F2-DF85-816F-0830-E7FA7DB00BDF}"/>
                </a:ext>
              </a:extLst>
            </p:cNvPr>
            <p:cNvPicPr/>
            <p:nvPr/>
          </p:nvPicPr>
          <p:blipFill>
            <a:blip r:embed="rId3" cstate="print"/>
            <a:stretch>
              <a:fillRect/>
            </a:stretch>
          </p:blipFill>
          <p:spPr>
            <a:xfrm>
              <a:off x="641565" y="5637974"/>
              <a:ext cx="217385" cy="191122"/>
            </a:xfrm>
            <a:prstGeom prst="rect">
              <a:avLst/>
            </a:prstGeom>
          </p:spPr>
        </p:pic>
        <p:sp>
          <p:nvSpPr>
            <p:cNvPr id="99" name="object 99">
              <a:extLst>
                <a:ext uri="{FF2B5EF4-FFF2-40B4-BE49-F238E27FC236}">
                  <a16:creationId xmlns:a16="http://schemas.microsoft.com/office/drawing/2014/main" id="{7D88576E-4A60-6ABA-C5C6-04A43AFC511F}"/>
                </a:ext>
              </a:extLst>
            </p:cNvPr>
            <p:cNvSpPr/>
            <p:nvPr/>
          </p:nvSpPr>
          <p:spPr>
            <a:xfrm>
              <a:off x="604393" y="5770295"/>
              <a:ext cx="306705" cy="120650"/>
            </a:xfrm>
            <a:custGeom>
              <a:avLst/>
              <a:gdLst/>
              <a:ahLst/>
              <a:cxnLst/>
              <a:rect l="l" t="t" r="r" b="b"/>
              <a:pathLst>
                <a:path w="306705" h="120650">
                  <a:moveTo>
                    <a:pt x="187070" y="47891"/>
                  </a:moveTo>
                  <a:lnTo>
                    <a:pt x="206146" y="39354"/>
                  </a:lnTo>
                  <a:lnTo>
                    <a:pt x="227857" y="29981"/>
                  </a:lnTo>
                  <a:lnTo>
                    <a:pt x="249568" y="20613"/>
                  </a:lnTo>
                  <a:lnTo>
                    <a:pt x="268643" y="12090"/>
                  </a:lnTo>
                  <a:lnTo>
                    <a:pt x="275209" y="9869"/>
                  </a:lnTo>
                  <a:lnTo>
                    <a:pt x="281730" y="9299"/>
                  </a:lnTo>
                  <a:lnTo>
                    <a:pt x="288156" y="10372"/>
                  </a:lnTo>
                  <a:lnTo>
                    <a:pt x="294436" y="13081"/>
                  </a:lnTo>
                  <a:lnTo>
                    <a:pt x="302374" y="17602"/>
                  </a:lnTo>
                  <a:lnTo>
                    <a:pt x="306158" y="24244"/>
                  </a:lnTo>
                  <a:lnTo>
                    <a:pt x="305562" y="32486"/>
                  </a:lnTo>
                  <a:lnTo>
                    <a:pt x="305015" y="40132"/>
                  </a:lnTo>
                  <a:lnTo>
                    <a:pt x="300469" y="45758"/>
                  </a:lnTo>
                  <a:lnTo>
                    <a:pt x="293179" y="49936"/>
                  </a:lnTo>
                  <a:lnTo>
                    <a:pt x="274490" y="60653"/>
                  </a:lnTo>
                  <a:lnTo>
                    <a:pt x="237151" y="82129"/>
                  </a:lnTo>
                  <a:lnTo>
                    <a:pt x="197177" y="105223"/>
                  </a:lnTo>
                  <a:lnTo>
                    <a:pt x="190093" y="109359"/>
                  </a:lnTo>
                  <a:lnTo>
                    <a:pt x="175521" y="116093"/>
                  </a:lnTo>
                  <a:lnTo>
                    <a:pt x="160378" y="119660"/>
                  </a:lnTo>
                  <a:lnTo>
                    <a:pt x="144716" y="120144"/>
                  </a:lnTo>
                  <a:lnTo>
                    <a:pt x="128587" y="117627"/>
                  </a:lnTo>
                  <a:lnTo>
                    <a:pt x="115074" y="114226"/>
                  </a:lnTo>
                  <a:lnTo>
                    <a:pt x="101615" y="110659"/>
                  </a:lnTo>
                  <a:lnTo>
                    <a:pt x="88200" y="106967"/>
                  </a:lnTo>
                  <a:lnTo>
                    <a:pt x="74815" y="103187"/>
                  </a:lnTo>
                  <a:lnTo>
                    <a:pt x="67524" y="102172"/>
                  </a:lnTo>
                  <a:lnTo>
                    <a:pt x="57586" y="101811"/>
                  </a:lnTo>
                  <a:lnTo>
                    <a:pt x="47646" y="101814"/>
                  </a:lnTo>
                  <a:lnTo>
                    <a:pt x="40347" y="101892"/>
                  </a:lnTo>
                </a:path>
                <a:path w="306705" h="120650">
                  <a:moveTo>
                    <a:pt x="63" y="55600"/>
                  </a:moveTo>
                  <a:lnTo>
                    <a:pt x="69" y="42398"/>
                  </a:lnTo>
                  <a:lnTo>
                    <a:pt x="76" y="29197"/>
                  </a:lnTo>
                  <a:lnTo>
                    <a:pt x="63" y="15995"/>
                  </a:lnTo>
                  <a:lnTo>
                    <a:pt x="12" y="2794"/>
                  </a:lnTo>
                  <a:lnTo>
                    <a:pt x="0" y="711"/>
                  </a:lnTo>
                  <a:lnTo>
                    <a:pt x="419" y="0"/>
                  </a:lnTo>
                  <a:lnTo>
                    <a:pt x="3009" y="88"/>
                  </a:lnTo>
                  <a:lnTo>
                    <a:pt x="8637" y="179"/>
                  </a:lnTo>
                  <a:lnTo>
                    <a:pt x="15749" y="184"/>
                  </a:lnTo>
                  <a:lnTo>
                    <a:pt x="22864" y="160"/>
                  </a:lnTo>
                  <a:lnTo>
                    <a:pt x="28498" y="165"/>
                  </a:lnTo>
                  <a:lnTo>
                    <a:pt x="39862" y="55575"/>
                  </a:lnTo>
                  <a:lnTo>
                    <a:pt x="39859" y="78301"/>
                  </a:lnTo>
                  <a:lnTo>
                    <a:pt x="39852" y="101028"/>
                  </a:lnTo>
                  <a:lnTo>
                    <a:pt x="39852" y="107149"/>
                  </a:lnTo>
                  <a:lnTo>
                    <a:pt x="35483" y="110972"/>
                  </a:lnTo>
                  <a:lnTo>
                    <a:pt x="28536" y="111023"/>
                  </a:lnTo>
                  <a:lnTo>
                    <a:pt x="22818" y="111027"/>
                  </a:lnTo>
                  <a:lnTo>
                    <a:pt x="15622" y="111010"/>
                  </a:lnTo>
                  <a:lnTo>
                    <a:pt x="8429" y="111012"/>
                  </a:lnTo>
                  <a:lnTo>
                    <a:pt x="2717" y="111074"/>
                  </a:lnTo>
                  <a:lnTo>
                    <a:pt x="507" y="111125"/>
                  </a:lnTo>
                  <a:lnTo>
                    <a:pt x="12" y="110553"/>
                  </a:lnTo>
                  <a:lnTo>
                    <a:pt x="25" y="108699"/>
                  </a:lnTo>
                  <a:lnTo>
                    <a:pt x="65" y="95423"/>
                  </a:lnTo>
                  <a:lnTo>
                    <a:pt x="79" y="82149"/>
                  </a:lnTo>
                  <a:lnTo>
                    <a:pt x="78" y="68876"/>
                  </a:lnTo>
                  <a:lnTo>
                    <a:pt x="76" y="55600"/>
                  </a:lnTo>
                  <a:close/>
                </a:path>
              </a:pathLst>
            </a:custGeom>
            <a:ln w="6350">
              <a:solidFill>
                <a:srgbClr val="0A305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grpSp>
      <p:sp>
        <p:nvSpPr>
          <p:cNvPr id="107" name="object 107">
            <a:extLst>
              <a:ext uri="{FF2B5EF4-FFF2-40B4-BE49-F238E27FC236}">
                <a16:creationId xmlns:a16="http://schemas.microsoft.com/office/drawing/2014/main" id="{A772088A-0790-BE8B-69FD-224C95F3070F}"/>
              </a:ext>
            </a:extLst>
          </p:cNvPr>
          <p:cNvSpPr txBox="1"/>
          <p:nvPr/>
        </p:nvSpPr>
        <p:spPr>
          <a:xfrm>
            <a:off x="3672850" y="2701415"/>
            <a:ext cx="3466444" cy="150682"/>
          </a:xfrm>
          <a:prstGeom prst="rect">
            <a:avLst/>
          </a:prstGeom>
        </p:spPr>
        <p:txBody>
          <a:bodyPr vert="horz" wrap="square" lIns="0" tIns="12065" rIns="0" bIns="0" rtlCol="0">
            <a:spAutoFit/>
          </a:bodyPr>
          <a:lstStyle/>
          <a:p>
            <a:pPr marL="0" marR="0" lvl="0" indent="0" algn="ctr" defTabSz="914400" rtl="0" eaLnBrk="1" fontAlgn="auto" latinLnBrk="0" hangingPunct="1">
              <a:lnSpc>
                <a:spcPct val="100000"/>
              </a:lnSpc>
              <a:spcBef>
                <a:spcPts val="95"/>
              </a:spcBef>
              <a:spcAft>
                <a:spcPts val="0"/>
              </a:spcAft>
              <a:buClrTx/>
              <a:buSzTx/>
              <a:buFontTx/>
              <a:buNone/>
              <a:tabLst/>
              <a:defRPr/>
            </a:pPr>
            <a:r>
              <a:rPr kumimoji="0" sz="900" b="1" i="0" u="none" strike="noStrike" kern="0" cap="none" spc="0" normalizeH="0" baseline="0" noProof="0">
                <a:ln>
                  <a:noFill/>
                </a:ln>
                <a:solidFill>
                  <a:srgbClr val="FFFFFF"/>
                </a:solidFill>
                <a:effectLst/>
                <a:uLnTx/>
                <a:uFillTx/>
                <a:latin typeface="CVS Health Sans"/>
                <a:ea typeface="+mn-ea"/>
                <a:cs typeface="CVS Health Sans"/>
              </a:rPr>
              <a:t>1</a:t>
            </a:r>
            <a:r>
              <a:rPr kumimoji="0" sz="900" b="1" i="0" u="none" strike="noStrike" kern="0" cap="none" spc="-25" normalizeH="0" baseline="0" noProof="0">
                <a:ln>
                  <a:noFill/>
                </a:ln>
                <a:solidFill>
                  <a:srgbClr val="FFFFFF"/>
                </a:solidFill>
                <a:effectLst/>
                <a:uLnTx/>
                <a:uFillTx/>
                <a:latin typeface="CVS Health Sans"/>
                <a:ea typeface="+mn-ea"/>
                <a:cs typeface="CVS Health Sans"/>
              </a:rPr>
              <a:t> </a:t>
            </a:r>
            <a:r>
              <a:rPr kumimoji="0" sz="900" b="1" i="0" u="none" strike="noStrike" kern="0" cap="none" spc="0" normalizeH="0" baseline="0" noProof="0">
                <a:ln>
                  <a:noFill/>
                </a:ln>
                <a:solidFill>
                  <a:srgbClr val="FFFFFF"/>
                </a:solidFill>
                <a:effectLst/>
                <a:uLnTx/>
                <a:uFillTx/>
                <a:latin typeface="CVS Health Sans"/>
                <a:ea typeface="+mn-ea"/>
                <a:cs typeface="CVS Health Sans"/>
              </a:rPr>
              <a:t>Lead</a:t>
            </a:r>
            <a:r>
              <a:rPr kumimoji="0" sz="900" b="1" i="0" u="none" strike="noStrike" kern="0" cap="none" spc="-10" normalizeH="0" baseline="0" noProof="0">
                <a:ln>
                  <a:noFill/>
                </a:ln>
                <a:solidFill>
                  <a:srgbClr val="FFFFFF"/>
                </a:solidFill>
                <a:effectLst/>
                <a:uLnTx/>
                <a:uFillTx/>
                <a:latin typeface="CVS Health Sans"/>
                <a:ea typeface="+mn-ea"/>
                <a:cs typeface="CVS Health Sans"/>
              </a:rPr>
              <a:t> Architect</a:t>
            </a:r>
            <a:r>
              <a:rPr kumimoji="0" lang="en-US" sz="900" b="1" i="0" u="none" strike="noStrike" kern="0" cap="none" spc="-10" normalizeH="0" baseline="0" noProof="0">
                <a:ln>
                  <a:noFill/>
                </a:ln>
                <a:solidFill>
                  <a:srgbClr val="FFFFFF"/>
                </a:solidFill>
                <a:effectLst/>
                <a:uLnTx/>
                <a:uFillTx/>
                <a:latin typeface="CVS Health Sans"/>
                <a:ea typeface="+mn-ea"/>
                <a:cs typeface="CVS Health Sans"/>
              </a:rPr>
              <a:t> </a:t>
            </a:r>
            <a:r>
              <a:rPr kumimoji="0" sz="800" b="0" i="0" u="none" strike="noStrike" kern="0" cap="none" spc="0" normalizeH="0" baseline="0" noProof="0">
                <a:ln>
                  <a:noFill/>
                </a:ln>
                <a:solidFill>
                  <a:srgbClr val="FFFFFF"/>
                </a:solidFill>
                <a:effectLst/>
                <a:uLnTx/>
                <a:uFillTx/>
                <a:latin typeface="CVS Health Sans"/>
                <a:ea typeface="+mn-ea"/>
                <a:cs typeface="CVS Health Sans"/>
              </a:rPr>
              <a:t>Contributes</a:t>
            </a:r>
            <a:r>
              <a:rPr kumimoji="0" sz="800" b="0" i="0" u="none" strike="noStrike" kern="0" cap="none" spc="-10" normalizeH="0" baseline="0" noProof="0">
                <a:ln>
                  <a:noFill/>
                </a:ln>
                <a:solidFill>
                  <a:srgbClr val="FFFFFF"/>
                </a:solidFill>
                <a:effectLst/>
                <a:uLnTx/>
                <a:uFillTx/>
                <a:latin typeface="CVS Health Sans"/>
                <a:ea typeface="+mn-ea"/>
                <a:cs typeface="CVS Health Sans"/>
              </a:rPr>
              <a:t> </a:t>
            </a:r>
            <a:r>
              <a:rPr kumimoji="0" sz="800" b="0" i="0" u="none" strike="noStrike" kern="0" cap="none" spc="0" normalizeH="0" baseline="0" noProof="0">
                <a:ln>
                  <a:noFill/>
                </a:ln>
                <a:solidFill>
                  <a:srgbClr val="FFFFFF"/>
                </a:solidFill>
                <a:effectLst/>
                <a:uLnTx/>
                <a:uFillTx/>
                <a:latin typeface="CVS Health Sans"/>
                <a:ea typeface="+mn-ea"/>
                <a:cs typeface="CVS Health Sans"/>
              </a:rPr>
              <a:t>across </a:t>
            </a:r>
            <a:r>
              <a:rPr kumimoji="0" sz="800" b="0" i="0" u="none" strike="noStrike" kern="0" cap="none" spc="-10" normalizeH="0" baseline="0" noProof="0">
                <a:ln>
                  <a:noFill/>
                </a:ln>
                <a:solidFill>
                  <a:srgbClr val="FFFFFF"/>
                </a:solidFill>
                <a:effectLst/>
                <a:uLnTx/>
                <a:uFillTx/>
                <a:latin typeface="CVS Health Sans"/>
                <a:ea typeface="+mn-ea"/>
                <a:cs typeface="CVS Health Sans"/>
              </a:rPr>
              <a:t>workstreams</a:t>
            </a:r>
            <a:r>
              <a:rPr kumimoji="0" sz="800" b="0" i="0" u="none" strike="noStrike" kern="0" cap="none" spc="5" normalizeH="0" baseline="0" noProof="0">
                <a:ln>
                  <a:noFill/>
                </a:ln>
                <a:solidFill>
                  <a:srgbClr val="FFFFFF"/>
                </a:solidFill>
                <a:effectLst/>
                <a:uLnTx/>
                <a:uFillTx/>
                <a:latin typeface="CVS Health Sans"/>
                <a:ea typeface="+mn-ea"/>
                <a:cs typeface="CVS Health Sans"/>
              </a:rPr>
              <a:t> </a:t>
            </a:r>
            <a:r>
              <a:rPr kumimoji="0" sz="800" b="0" i="0" u="none" strike="noStrike" kern="0" cap="none" spc="0" normalizeH="0" baseline="0" noProof="0">
                <a:ln>
                  <a:noFill/>
                </a:ln>
                <a:solidFill>
                  <a:srgbClr val="FFFFFF"/>
                </a:solidFill>
                <a:effectLst/>
                <a:uLnTx/>
                <a:uFillTx/>
                <a:latin typeface="CVS Health Sans"/>
                <a:ea typeface="+mn-ea"/>
                <a:cs typeface="CVS Health Sans"/>
              </a:rPr>
              <a:t>A-</a:t>
            </a:r>
            <a:r>
              <a:rPr kumimoji="0" sz="800" b="0" i="0" u="none" strike="noStrike" kern="0" cap="none" spc="-50" normalizeH="0" baseline="0" noProof="0">
                <a:ln>
                  <a:noFill/>
                </a:ln>
                <a:solidFill>
                  <a:srgbClr val="FFFFFF"/>
                </a:solidFill>
                <a:effectLst/>
                <a:uLnTx/>
                <a:uFillTx/>
                <a:latin typeface="CVS Health Sans"/>
                <a:ea typeface="+mn-ea"/>
                <a:cs typeface="CVS Health Sans"/>
              </a:rPr>
              <a:t>D</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sp>
        <p:nvSpPr>
          <p:cNvPr id="114" name="object 114">
            <a:extLst>
              <a:ext uri="{FF2B5EF4-FFF2-40B4-BE49-F238E27FC236}">
                <a16:creationId xmlns:a16="http://schemas.microsoft.com/office/drawing/2014/main" id="{48C1C602-CE2E-70D9-61D5-9AF06303FE83}"/>
              </a:ext>
            </a:extLst>
          </p:cNvPr>
          <p:cNvSpPr/>
          <p:nvPr/>
        </p:nvSpPr>
        <p:spPr>
          <a:xfrm>
            <a:off x="10397997" y="1546635"/>
            <a:ext cx="1266825" cy="2143854"/>
          </a:xfrm>
          <a:custGeom>
            <a:avLst/>
            <a:gdLst/>
            <a:ahLst/>
            <a:cxnLst/>
            <a:rect l="l" t="t" r="r" b="b"/>
            <a:pathLst>
              <a:path w="1266825" h="1714500">
                <a:moveTo>
                  <a:pt x="0" y="46228"/>
                </a:moveTo>
                <a:lnTo>
                  <a:pt x="3633" y="28235"/>
                </a:lnTo>
                <a:lnTo>
                  <a:pt x="13541" y="13541"/>
                </a:lnTo>
                <a:lnTo>
                  <a:pt x="28235" y="3633"/>
                </a:lnTo>
                <a:lnTo>
                  <a:pt x="46227" y="0"/>
                </a:lnTo>
                <a:lnTo>
                  <a:pt x="1220470" y="0"/>
                </a:lnTo>
                <a:lnTo>
                  <a:pt x="1238462" y="3633"/>
                </a:lnTo>
                <a:lnTo>
                  <a:pt x="1253156" y="13541"/>
                </a:lnTo>
                <a:lnTo>
                  <a:pt x="1263064" y="28235"/>
                </a:lnTo>
                <a:lnTo>
                  <a:pt x="1266698" y="46228"/>
                </a:lnTo>
                <a:lnTo>
                  <a:pt x="1266698" y="1667764"/>
                </a:lnTo>
                <a:lnTo>
                  <a:pt x="1263064" y="1685829"/>
                </a:lnTo>
                <a:lnTo>
                  <a:pt x="1253156" y="1700561"/>
                </a:lnTo>
                <a:lnTo>
                  <a:pt x="1238462" y="1710483"/>
                </a:lnTo>
                <a:lnTo>
                  <a:pt x="1220470" y="1714119"/>
                </a:lnTo>
                <a:lnTo>
                  <a:pt x="46227" y="1714119"/>
                </a:lnTo>
                <a:lnTo>
                  <a:pt x="28235" y="1710483"/>
                </a:lnTo>
                <a:lnTo>
                  <a:pt x="13541" y="1700561"/>
                </a:lnTo>
                <a:lnTo>
                  <a:pt x="3633" y="1685829"/>
                </a:lnTo>
                <a:lnTo>
                  <a:pt x="0" y="1667764"/>
                </a:lnTo>
                <a:lnTo>
                  <a:pt x="0" y="46228"/>
                </a:lnTo>
                <a:close/>
              </a:path>
            </a:pathLst>
          </a:custGeom>
          <a:ln w="9525">
            <a:solidFill>
              <a:srgbClr val="0A4B8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grpSp>
        <p:nvGrpSpPr>
          <p:cNvPr id="12" name="Group 11">
            <a:extLst>
              <a:ext uri="{FF2B5EF4-FFF2-40B4-BE49-F238E27FC236}">
                <a16:creationId xmlns:a16="http://schemas.microsoft.com/office/drawing/2014/main" id="{388F54A1-668C-76E6-983C-9C13FD578987}"/>
              </a:ext>
            </a:extLst>
          </p:cNvPr>
          <p:cNvGrpSpPr/>
          <p:nvPr/>
        </p:nvGrpSpPr>
        <p:grpSpPr>
          <a:xfrm>
            <a:off x="10512363" y="2446091"/>
            <a:ext cx="1038092" cy="311150"/>
            <a:chOff x="10512237" y="2153949"/>
            <a:chExt cx="1038092" cy="311150"/>
          </a:xfrm>
        </p:grpSpPr>
        <p:sp>
          <p:nvSpPr>
            <p:cNvPr id="115" name="object 115">
              <a:extLst>
                <a:ext uri="{FF2B5EF4-FFF2-40B4-BE49-F238E27FC236}">
                  <a16:creationId xmlns:a16="http://schemas.microsoft.com/office/drawing/2014/main" id="{7476F61C-4304-C06D-D41E-4FD5D24B2CE4}"/>
                </a:ext>
              </a:extLst>
            </p:cNvPr>
            <p:cNvSpPr/>
            <p:nvPr/>
          </p:nvSpPr>
          <p:spPr>
            <a:xfrm>
              <a:off x="10531347" y="2153949"/>
              <a:ext cx="1000125" cy="311150"/>
            </a:xfrm>
            <a:prstGeom prst="roundRect">
              <a:avLst/>
            </a:prstGeom>
            <a:solidFill>
              <a:srgbClr val="E9E9E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116" name="object 116">
              <a:extLst>
                <a:ext uri="{FF2B5EF4-FFF2-40B4-BE49-F238E27FC236}">
                  <a16:creationId xmlns:a16="http://schemas.microsoft.com/office/drawing/2014/main" id="{CAD65090-32E9-C69E-AFB0-6B6ADD414D52}"/>
                </a:ext>
              </a:extLst>
            </p:cNvPr>
            <p:cNvSpPr txBox="1"/>
            <p:nvPr/>
          </p:nvSpPr>
          <p:spPr>
            <a:xfrm>
              <a:off x="10512237" y="2180322"/>
              <a:ext cx="1038092" cy="258404"/>
            </a:xfrm>
            <a:prstGeom prst="rect">
              <a:avLst/>
            </a:prstGeom>
          </p:spPr>
          <p:txBody>
            <a:bodyPr vert="horz" wrap="square" lIns="0" tIns="12065" rIns="0" bIns="0" rtlCol="0">
              <a:spAutoFit/>
            </a:bodyPr>
            <a:lstStyle/>
            <a:p>
              <a:pPr marL="0" marR="0" lvl="0" indent="0" algn="ctr" defTabSz="914400" rtl="0" eaLnBrk="1" fontAlgn="auto" latinLnBrk="0" hangingPunct="1">
                <a:lnSpc>
                  <a:spcPct val="100000"/>
                </a:lnSpc>
                <a:spcBef>
                  <a:spcPts val="95"/>
                </a:spcBef>
                <a:spcAft>
                  <a:spcPts val="0"/>
                </a:spcAft>
                <a:buClrTx/>
                <a:buSzTx/>
                <a:buFontTx/>
                <a:buNone/>
                <a:tabLst/>
                <a:defRPr/>
              </a:pPr>
              <a:r>
                <a:rPr kumimoji="0" sz="800" b="1" i="0" u="none" strike="noStrike" kern="0" cap="none" spc="0" normalizeH="0" baseline="0" noProof="0">
                  <a:ln>
                    <a:noFill/>
                  </a:ln>
                  <a:solidFill>
                    <a:srgbClr val="3F3F3F"/>
                  </a:solidFill>
                  <a:effectLst/>
                  <a:uLnTx/>
                  <a:uFillTx/>
                  <a:latin typeface="CVS Health Sans"/>
                  <a:ea typeface="+mn-ea"/>
                  <a:cs typeface="CVS Health Sans"/>
                </a:rPr>
                <a:t>Cyber</a:t>
              </a:r>
              <a:r>
                <a:rPr kumimoji="0" sz="800" b="1" i="0" u="none" strike="noStrike" kern="0" cap="none" spc="-30" normalizeH="0" baseline="0" noProof="0">
                  <a:ln>
                    <a:noFill/>
                  </a:ln>
                  <a:solidFill>
                    <a:srgbClr val="3F3F3F"/>
                  </a:solidFill>
                  <a:effectLst/>
                  <a:uLnTx/>
                  <a:uFillTx/>
                  <a:latin typeface="CVS Health Sans"/>
                  <a:ea typeface="+mn-ea"/>
                  <a:cs typeface="CVS Health Sans"/>
                </a:rPr>
                <a:t> </a:t>
              </a:r>
              <a:r>
                <a:rPr kumimoji="0" sz="800" b="1" i="0" u="none" strike="noStrike" kern="0" cap="none" spc="-10" normalizeH="0" baseline="0" noProof="0">
                  <a:ln>
                    <a:noFill/>
                  </a:ln>
                  <a:solidFill>
                    <a:srgbClr val="3F3F3F"/>
                  </a:solidFill>
                  <a:effectLst/>
                  <a:uLnTx/>
                  <a:uFillTx/>
                  <a:latin typeface="CVS Health Sans"/>
                  <a:ea typeface="+mn-ea"/>
                  <a:cs typeface="CVS Health Sans"/>
                </a:rPr>
                <a:t>Defense</a:t>
              </a:r>
              <a:endParaRPr kumimoji="0" sz="800" b="0" i="0" u="none" strike="noStrike" kern="0" cap="none" spc="0" normalizeH="0" baseline="0" noProof="0">
                <a:ln>
                  <a:noFill/>
                </a:ln>
                <a:solidFill>
                  <a:srgbClr val="3F3F3F"/>
                </a:solidFill>
                <a:effectLst/>
                <a:uLnTx/>
                <a:uFillTx/>
                <a:latin typeface="CVS Health Sans"/>
                <a:ea typeface="+mn-ea"/>
                <a:cs typeface="CVS Health San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3F3F3F"/>
                  </a:solidFill>
                  <a:effectLst/>
                  <a:uLnTx/>
                  <a:uFillTx/>
                  <a:latin typeface="CVS Health Sans"/>
                  <a:ea typeface="+mn-ea"/>
                  <a:cs typeface="CVS Health Sans"/>
                </a:rPr>
                <a:t>John Haley</a:t>
              </a:r>
              <a:endParaRPr kumimoji="0" sz="800" b="0" i="0" u="none" strike="noStrike" kern="0" cap="none" spc="0" normalizeH="0" baseline="0" noProof="0">
                <a:ln>
                  <a:noFill/>
                </a:ln>
                <a:solidFill>
                  <a:srgbClr val="3F3F3F"/>
                </a:solidFill>
                <a:effectLst/>
                <a:uLnTx/>
                <a:uFillTx/>
                <a:latin typeface="CVS Health Sans"/>
                <a:ea typeface="+mn-ea"/>
                <a:cs typeface="CVS Health Sans"/>
              </a:endParaRPr>
            </a:p>
          </p:txBody>
        </p:sp>
      </p:grpSp>
      <p:grpSp>
        <p:nvGrpSpPr>
          <p:cNvPr id="9" name="Group 8">
            <a:extLst>
              <a:ext uri="{FF2B5EF4-FFF2-40B4-BE49-F238E27FC236}">
                <a16:creationId xmlns:a16="http://schemas.microsoft.com/office/drawing/2014/main" id="{3E6EDCFA-11FD-5540-7D47-E8BFD3926D0D}"/>
              </a:ext>
            </a:extLst>
          </p:cNvPr>
          <p:cNvGrpSpPr/>
          <p:nvPr/>
        </p:nvGrpSpPr>
        <p:grpSpPr>
          <a:xfrm>
            <a:off x="10500465" y="2865868"/>
            <a:ext cx="1061888" cy="311150"/>
            <a:chOff x="10500340" y="2519836"/>
            <a:chExt cx="1061888" cy="311150"/>
          </a:xfrm>
        </p:grpSpPr>
        <p:sp>
          <p:nvSpPr>
            <p:cNvPr id="117" name="object 117">
              <a:extLst>
                <a:ext uri="{FF2B5EF4-FFF2-40B4-BE49-F238E27FC236}">
                  <a16:creationId xmlns:a16="http://schemas.microsoft.com/office/drawing/2014/main" id="{9FA0D53B-A8CE-C435-D3D9-4151B2CB4DA4}"/>
                </a:ext>
              </a:extLst>
            </p:cNvPr>
            <p:cNvSpPr/>
            <p:nvPr/>
          </p:nvSpPr>
          <p:spPr>
            <a:xfrm>
              <a:off x="10531347" y="2519836"/>
              <a:ext cx="1000125" cy="311150"/>
            </a:xfrm>
            <a:prstGeom prst="roundRect">
              <a:avLst/>
            </a:prstGeom>
            <a:solidFill>
              <a:srgbClr val="E9E9E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118" name="object 118">
              <a:extLst>
                <a:ext uri="{FF2B5EF4-FFF2-40B4-BE49-F238E27FC236}">
                  <a16:creationId xmlns:a16="http://schemas.microsoft.com/office/drawing/2014/main" id="{D6955159-40CA-AF48-3010-CBC55E7924A3}"/>
                </a:ext>
              </a:extLst>
            </p:cNvPr>
            <p:cNvSpPr txBox="1"/>
            <p:nvPr/>
          </p:nvSpPr>
          <p:spPr>
            <a:xfrm>
              <a:off x="10500340" y="2546209"/>
              <a:ext cx="1061888" cy="258404"/>
            </a:xfrm>
            <a:prstGeom prst="rect">
              <a:avLst/>
            </a:prstGeom>
          </p:spPr>
          <p:txBody>
            <a:bodyPr vert="horz" wrap="square" lIns="0" tIns="12065" rIns="0" bIns="0" rtlCol="0">
              <a:spAutoFit/>
            </a:bodyPr>
            <a:lstStyle/>
            <a:p>
              <a:pPr marL="1905" marR="0" lvl="0" indent="0" algn="ctr" defTabSz="914400" rtl="0" eaLnBrk="1" fontAlgn="auto" latinLnBrk="0" hangingPunct="1">
                <a:lnSpc>
                  <a:spcPct val="100000"/>
                </a:lnSpc>
                <a:spcBef>
                  <a:spcPts val="95"/>
                </a:spcBef>
                <a:spcAft>
                  <a:spcPts val="0"/>
                </a:spcAft>
                <a:buClrTx/>
                <a:buSzTx/>
                <a:buFontTx/>
                <a:buNone/>
                <a:tabLst/>
                <a:defRPr/>
              </a:pPr>
              <a:r>
                <a:rPr kumimoji="0" sz="800" b="1" i="0" u="none" strike="noStrike" kern="0" cap="none" spc="-10" normalizeH="0" baseline="0" noProof="0">
                  <a:ln>
                    <a:noFill/>
                  </a:ln>
                  <a:solidFill>
                    <a:srgbClr val="3F3F3F"/>
                  </a:solidFill>
                  <a:effectLst/>
                  <a:uLnTx/>
                  <a:uFillTx/>
                  <a:latin typeface="CVS Health Sans"/>
                  <a:ea typeface="+mn-ea"/>
                  <a:cs typeface="CVS Health Sans"/>
                </a:rPr>
                <a:t>Network</a:t>
              </a:r>
              <a:endParaRPr kumimoji="0" sz="800" b="0" i="0" u="none" strike="noStrike" kern="0" cap="none" spc="0" normalizeH="0" baseline="0" noProof="0">
                <a:ln>
                  <a:noFill/>
                </a:ln>
                <a:solidFill>
                  <a:srgbClr val="3F3F3F"/>
                </a:solidFill>
                <a:effectLst/>
                <a:uLnTx/>
                <a:uFillTx/>
                <a:latin typeface="CVS Health Sans"/>
                <a:ea typeface="+mn-ea"/>
                <a:cs typeface="CVS Health San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sz="800" b="0" i="0" u="none" strike="noStrike" kern="0" cap="none" spc="0" normalizeH="0" baseline="0" noProof="0">
                  <a:ln>
                    <a:noFill/>
                  </a:ln>
                  <a:solidFill>
                    <a:srgbClr val="3F3F3F"/>
                  </a:solidFill>
                  <a:effectLst/>
                  <a:uLnTx/>
                  <a:uFillTx/>
                  <a:latin typeface="CVS Health Sans"/>
                  <a:ea typeface="+mn-ea"/>
                  <a:cs typeface="CVS Health Sans"/>
                </a:rPr>
                <a:t>Lenny</a:t>
              </a:r>
              <a:r>
                <a:rPr kumimoji="0" sz="800" b="0" i="0" u="none" strike="noStrike" kern="0" cap="none" spc="-30" normalizeH="0" baseline="0" noProof="0">
                  <a:ln>
                    <a:noFill/>
                  </a:ln>
                  <a:solidFill>
                    <a:srgbClr val="3F3F3F"/>
                  </a:solidFill>
                  <a:effectLst/>
                  <a:uLnTx/>
                  <a:uFillTx/>
                  <a:latin typeface="CVS Health Sans"/>
                  <a:ea typeface="+mn-ea"/>
                  <a:cs typeface="CVS Health Sans"/>
                </a:rPr>
                <a:t> </a:t>
              </a:r>
              <a:r>
                <a:rPr kumimoji="0" sz="800" b="0" i="0" u="none" strike="noStrike" kern="0" cap="none" spc="-10" normalizeH="0" baseline="0" noProof="0">
                  <a:ln>
                    <a:noFill/>
                  </a:ln>
                  <a:solidFill>
                    <a:srgbClr val="3F3F3F"/>
                  </a:solidFill>
                  <a:effectLst/>
                  <a:uLnTx/>
                  <a:uFillTx/>
                  <a:latin typeface="CVS Health Sans"/>
                  <a:ea typeface="+mn-ea"/>
                  <a:cs typeface="CVS Health Sans"/>
                </a:rPr>
                <a:t>Guardino</a:t>
              </a:r>
              <a:endParaRPr kumimoji="0" sz="800" b="0" i="0" u="none" strike="noStrike" kern="0" cap="none" spc="0" normalizeH="0" baseline="0" noProof="0">
                <a:ln>
                  <a:noFill/>
                </a:ln>
                <a:solidFill>
                  <a:srgbClr val="3F3F3F"/>
                </a:solidFill>
                <a:effectLst/>
                <a:uLnTx/>
                <a:uFillTx/>
                <a:latin typeface="CVS Health Sans"/>
                <a:ea typeface="+mn-ea"/>
                <a:cs typeface="CVS Health Sans"/>
              </a:endParaRPr>
            </a:p>
          </p:txBody>
        </p:sp>
      </p:grpSp>
      <p:grpSp>
        <p:nvGrpSpPr>
          <p:cNvPr id="7" name="Group 6">
            <a:extLst>
              <a:ext uri="{FF2B5EF4-FFF2-40B4-BE49-F238E27FC236}">
                <a16:creationId xmlns:a16="http://schemas.microsoft.com/office/drawing/2014/main" id="{EC25F2F4-5F02-2BBB-02D9-7886BCBF838F}"/>
              </a:ext>
            </a:extLst>
          </p:cNvPr>
          <p:cNvGrpSpPr/>
          <p:nvPr/>
        </p:nvGrpSpPr>
        <p:grpSpPr>
          <a:xfrm>
            <a:off x="10531347" y="3285645"/>
            <a:ext cx="1000125" cy="311150"/>
            <a:chOff x="10531347" y="2885595"/>
            <a:chExt cx="1000125" cy="311150"/>
          </a:xfrm>
        </p:grpSpPr>
        <p:sp>
          <p:nvSpPr>
            <p:cNvPr id="119" name="object 119">
              <a:extLst>
                <a:ext uri="{FF2B5EF4-FFF2-40B4-BE49-F238E27FC236}">
                  <a16:creationId xmlns:a16="http://schemas.microsoft.com/office/drawing/2014/main" id="{CF4B5CCE-9C33-779E-5667-CB12D7233915}"/>
                </a:ext>
              </a:extLst>
            </p:cNvPr>
            <p:cNvSpPr/>
            <p:nvPr/>
          </p:nvSpPr>
          <p:spPr>
            <a:xfrm>
              <a:off x="10531347" y="2885595"/>
              <a:ext cx="1000125" cy="311150"/>
            </a:xfrm>
            <a:prstGeom prst="roundRect">
              <a:avLst/>
            </a:prstGeom>
            <a:solidFill>
              <a:srgbClr val="E9E9E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120" name="object 120">
              <a:extLst>
                <a:ext uri="{FF2B5EF4-FFF2-40B4-BE49-F238E27FC236}">
                  <a16:creationId xmlns:a16="http://schemas.microsoft.com/office/drawing/2014/main" id="{10DB2336-3783-6488-FA66-2824E1E35603}"/>
                </a:ext>
              </a:extLst>
            </p:cNvPr>
            <p:cNvSpPr txBox="1"/>
            <p:nvPr/>
          </p:nvSpPr>
          <p:spPr>
            <a:xfrm>
              <a:off x="10538271" y="2911968"/>
              <a:ext cx="986534" cy="258404"/>
            </a:xfrm>
            <a:prstGeom prst="rect">
              <a:avLst/>
            </a:prstGeom>
          </p:spPr>
          <p:txBody>
            <a:bodyPr vert="horz" wrap="square" lIns="0" tIns="12065" rIns="0" bIns="0" rtlCol="0">
              <a:sp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sz="800" b="1" i="0" u="none" strike="noStrike" kern="0" cap="none" spc="-10" normalizeH="0" baseline="0" noProof="0">
                  <a:ln>
                    <a:noFill/>
                  </a:ln>
                  <a:solidFill>
                    <a:srgbClr val="3F3F3F"/>
                  </a:solidFill>
                  <a:effectLst/>
                  <a:uLnTx/>
                  <a:uFillTx/>
                  <a:latin typeface="CVS Health Sans"/>
                  <a:ea typeface="+mn-ea"/>
                  <a:cs typeface="CVS Health Sans"/>
                </a:rPr>
                <a:t>Infrastructure</a:t>
              </a:r>
              <a:endParaRPr kumimoji="0" sz="800" b="0" i="0" u="none" strike="noStrike" kern="0" cap="none" spc="0" normalizeH="0" baseline="0" noProof="0">
                <a:ln>
                  <a:noFill/>
                </a:ln>
                <a:solidFill>
                  <a:srgbClr val="3F3F3F"/>
                </a:solidFill>
                <a:effectLst/>
                <a:uLnTx/>
                <a:uFillTx/>
                <a:latin typeface="CVS Health Sans"/>
                <a:ea typeface="+mn-ea"/>
                <a:cs typeface="CVS Health Sans"/>
              </a:endParaRPr>
            </a:p>
            <a:p>
              <a:pPr marL="53340" marR="0" lvl="0" indent="0" algn="ctr" defTabSz="914400" rtl="0" eaLnBrk="1" fontAlgn="auto" latinLnBrk="0" hangingPunct="1">
                <a:lnSpc>
                  <a:spcPct val="100000"/>
                </a:lnSpc>
                <a:spcBef>
                  <a:spcPts val="0"/>
                </a:spcBef>
                <a:spcAft>
                  <a:spcPts val="0"/>
                </a:spcAft>
                <a:buClrTx/>
                <a:buSzTx/>
                <a:buFontTx/>
                <a:buNone/>
                <a:tabLst/>
                <a:defRPr/>
              </a:pPr>
              <a:r>
                <a:rPr kumimoji="0" sz="800" b="0" i="0" u="none" strike="noStrike" kern="0" cap="none" spc="0" normalizeH="0" baseline="0" noProof="0">
                  <a:ln>
                    <a:noFill/>
                  </a:ln>
                  <a:solidFill>
                    <a:srgbClr val="3F3F3F"/>
                  </a:solidFill>
                  <a:effectLst/>
                  <a:uLnTx/>
                  <a:uFillTx/>
                  <a:latin typeface="CVS Health Sans"/>
                  <a:ea typeface="+mn-ea"/>
                  <a:cs typeface="CVS Health Sans"/>
                </a:rPr>
                <a:t>Saul</a:t>
              </a:r>
              <a:r>
                <a:rPr kumimoji="0" sz="800" b="0" i="0" u="none" strike="noStrike" kern="0" cap="none" spc="-30" normalizeH="0" baseline="0" noProof="0">
                  <a:ln>
                    <a:noFill/>
                  </a:ln>
                  <a:solidFill>
                    <a:srgbClr val="3F3F3F"/>
                  </a:solidFill>
                  <a:effectLst/>
                  <a:uLnTx/>
                  <a:uFillTx/>
                  <a:latin typeface="CVS Health Sans"/>
                  <a:ea typeface="+mn-ea"/>
                  <a:cs typeface="CVS Health Sans"/>
                </a:rPr>
                <a:t> </a:t>
              </a:r>
              <a:r>
                <a:rPr kumimoji="0" sz="800" b="0" i="0" u="none" strike="noStrike" kern="0" cap="none" spc="-10" normalizeH="0" baseline="0" noProof="0">
                  <a:ln>
                    <a:noFill/>
                  </a:ln>
                  <a:solidFill>
                    <a:srgbClr val="3F3F3F"/>
                  </a:solidFill>
                  <a:effectLst/>
                  <a:uLnTx/>
                  <a:uFillTx/>
                  <a:latin typeface="CVS Health Sans"/>
                  <a:ea typeface="+mn-ea"/>
                  <a:cs typeface="CVS Health Sans"/>
                </a:rPr>
                <a:t>Menkes</a:t>
              </a:r>
              <a:endParaRPr kumimoji="0" sz="800" b="0" i="0" u="none" strike="noStrike" kern="0" cap="none" spc="0" normalizeH="0" baseline="0" noProof="0">
                <a:ln>
                  <a:noFill/>
                </a:ln>
                <a:solidFill>
                  <a:srgbClr val="3F3F3F"/>
                </a:solidFill>
                <a:effectLst/>
                <a:uLnTx/>
                <a:uFillTx/>
                <a:latin typeface="CVS Health Sans"/>
                <a:ea typeface="+mn-ea"/>
                <a:cs typeface="CVS Health Sans"/>
              </a:endParaRPr>
            </a:p>
          </p:txBody>
        </p:sp>
      </p:grpSp>
      <p:sp>
        <p:nvSpPr>
          <p:cNvPr id="122" name="object 122">
            <a:extLst>
              <a:ext uri="{FF2B5EF4-FFF2-40B4-BE49-F238E27FC236}">
                <a16:creationId xmlns:a16="http://schemas.microsoft.com/office/drawing/2014/main" id="{975E90A2-EB15-18D3-4B74-1F46258D312D}"/>
              </a:ext>
            </a:extLst>
          </p:cNvPr>
          <p:cNvSpPr txBox="1"/>
          <p:nvPr/>
        </p:nvSpPr>
        <p:spPr>
          <a:xfrm>
            <a:off x="10601514" y="1587402"/>
            <a:ext cx="859790" cy="334066"/>
          </a:xfrm>
          <a:prstGeom prst="rect">
            <a:avLst/>
          </a:prstGeom>
        </p:spPr>
        <p:txBody>
          <a:bodyPr vert="horz" wrap="square" lIns="0" tIns="13335" rIns="0" bIns="0" rtlCol="0">
            <a:spAutoFit/>
          </a:bodyPr>
          <a:lstStyle/>
          <a:p>
            <a:pPr marL="0" marR="0" lvl="0" indent="0" algn="ctr" defTabSz="914400" rtl="0" eaLnBrk="1" fontAlgn="auto" latinLnBrk="0" hangingPunct="1">
              <a:lnSpc>
                <a:spcPct val="100000"/>
              </a:lnSpc>
              <a:spcBef>
                <a:spcPts val="105"/>
              </a:spcBef>
              <a:spcAft>
                <a:spcPts val="0"/>
              </a:spcAft>
              <a:buClrTx/>
              <a:buSzTx/>
              <a:buFontTx/>
              <a:buNone/>
              <a:tabLst/>
              <a:defRPr/>
            </a:pPr>
            <a:r>
              <a:rPr kumimoji="0" sz="1000" b="1" i="0" u="none" strike="noStrike" kern="0" cap="none" spc="0" normalizeH="0" baseline="0" noProof="0">
                <a:ln>
                  <a:noFill/>
                </a:ln>
                <a:solidFill>
                  <a:srgbClr val="0A305E"/>
                </a:solidFill>
                <a:effectLst/>
                <a:uLnTx/>
                <a:uFillTx/>
                <a:latin typeface="CVS Health Sans"/>
                <a:ea typeface="+mn-ea"/>
                <a:cs typeface="CVS Health Sans"/>
              </a:rPr>
              <a:t>CVS</a:t>
            </a:r>
            <a:endParaRPr lang="en-US" sz="1000" b="1" kern="0" spc="-10">
              <a:solidFill>
                <a:srgbClr val="0A305E"/>
              </a:solidFill>
              <a:latin typeface="CVS Health Sans"/>
              <a:cs typeface="CVS Health Sans"/>
            </a:endParaRPr>
          </a:p>
          <a:p>
            <a:pPr marL="0" marR="0" lvl="0" indent="0" algn="ctr" defTabSz="914400" rtl="0" eaLnBrk="1" fontAlgn="auto" latinLnBrk="0" hangingPunct="1">
              <a:lnSpc>
                <a:spcPct val="100000"/>
              </a:lnSpc>
              <a:spcBef>
                <a:spcPts val="105"/>
              </a:spcBef>
              <a:spcAft>
                <a:spcPts val="0"/>
              </a:spcAft>
              <a:buClrTx/>
              <a:buSzTx/>
              <a:buFontTx/>
              <a:buNone/>
              <a:tabLst/>
              <a:defRPr/>
            </a:pPr>
            <a:r>
              <a:rPr kumimoji="0" sz="1000" b="1" i="0" u="none" strike="noStrike" kern="0" cap="none" spc="-10" normalizeH="0" baseline="0" noProof="0">
                <a:ln>
                  <a:noFill/>
                </a:ln>
                <a:solidFill>
                  <a:srgbClr val="0A305E"/>
                </a:solidFill>
                <a:effectLst/>
                <a:uLnTx/>
                <a:uFillTx/>
                <a:latin typeface="CVS Health Sans"/>
                <a:ea typeface="+mn-ea"/>
                <a:cs typeface="CVS Health Sans"/>
              </a:rPr>
              <a:t>Leaders</a:t>
            </a:r>
            <a:endParaRPr kumimoji="0" lang="en-US" sz="10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nvGrpSpPr>
          <p:cNvPr id="265" name="Group 264">
            <a:extLst>
              <a:ext uri="{FF2B5EF4-FFF2-40B4-BE49-F238E27FC236}">
                <a16:creationId xmlns:a16="http://schemas.microsoft.com/office/drawing/2014/main" id="{2624E80D-3CD3-96F0-C46F-BD9BBF6DC347}"/>
              </a:ext>
            </a:extLst>
          </p:cNvPr>
          <p:cNvGrpSpPr/>
          <p:nvPr/>
        </p:nvGrpSpPr>
        <p:grpSpPr>
          <a:xfrm>
            <a:off x="671424" y="3798852"/>
            <a:ext cx="2053589" cy="1721003"/>
            <a:chOff x="663661" y="3798852"/>
            <a:chExt cx="2053589" cy="1721003"/>
          </a:xfrm>
        </p:grpSpPr>
        <p:grpSp>
          <p:nvGrpSpPr>
            <p:cNvPr id="261" name="Group 260">
              <a:extLst>
                <a:ext uri="{FF2B5EF4-FFF2-40B4-BE49-F238E27FC236}">
                  <a16:creationId xmlns:a16="http://schemas.microsoft.com/office/drawing/2014/main" id="{8388FF3E-91CA-F7C1-8BAB-0E79D440B1C7}"/>
                </a:ext>
              </a:extLst>
            </p:cNvPr>
            <p:cNvGrpSpPr/>
            <p:nvPr/>
          </p:nvGrpSpPr>
          <p:grpSpPr>
            <a:xfrm>
              <a:off x="663661" y="4380193"/>
              <a:ext cx="2053589" cy="262890"/>
              <a:chOff x="663661" y="4446378"/>
              <a:chExt cx="2053589" cy="262890"/>
            </a:xfrm>
          </p:grpSpPr>
          <p:sp>
            <p:nvSpPr>
              <p:cNvPr id="41" name="object 41">
                <a:extLst>
                  <a:ext uri="{FF2B5EF4-FFF2-40B4-BE49-F238E27FC236}">
                    <a16:creationId xmlns:a16="http://schemas.microsoft.com/office/drawing/2014/main" id="{9C9A1CD8-2FF7-69F7-3063-74D76E836862}"/>
                  </a:ext>
                </a:extLst>
              </p:cNvPr>
              <p:cNvSpPr/>
              <p:nvPr/>
            </p:nvSpPr>
            <p:spPr>
              <a:xfrm>
                <a:off x="663661" y="4446378"/>
                <a:ext cx="2053589" cy="262890"/>
              </a:xfrm>
              <a:custGeom>
                <a:avLst/>
                <a:gdLst/>
                <a:ahLst/>
                <a:cxnLst/>
                <a:rect l="l" t="t" r="r" b="b"/>
                <a:pathLst>
                  <a:path w="2053589" h="262889">
                    <a:moveTo>
                      <a:pt x="2009584" y="0"/>
                    </a:moveTo>
                    <a:lnTo>
                      <a:pt x="43713" y="0"/>
                    </a:lnTo>
                    <a:lnTo>
                      <a:pt x="26697" y="3452"/>
                    </a:lnTo>
                    <a:lnTo>
                      <a:pt x="12803" y="12858"/>
                    </a:lnTo>
                    <a:lnTo>
                      <a:pt x="3435" y="26789"/>
                    </a:lnTo>
                    <a:lnTo>
                      <a:pt x="0" y="43814"/>
                    </a:lnTo>
                    <a:lnTo>
                      <a:pt x="0" y="218694"/>
                    </a:lnTo>
                    <a:lnTo>
                      <a:pt x="3435" y="235700"/>
                    </a:lnTo>
                    <a:lnTo>
                      <a:pt x="12803" y="249586"/>
                    </a:lnTo>
                    <a:lnTo>
                      <a:pt x="26697" y="258949"/>
                    </a:lnTo>
                    <a:lnTo>
                      <a:pt x="43713" y="262381"/>
                    </a:lnTo>
                    <a:lnTo>
                      <a:pt x="2009584" y="262381"/>
                    </a:lnTo>
                    <a:lnTo>
                      <a:pt x="2026610" y="258949"/>
                    </a:lnTo>
                    <a:lnTo>
                      <a:pt x="2040540" y="249586"/>
                    </a:lnTo>
                    <a:lnTo>
                      <a:pt x="2049946" y="235700"/>
                    </a:lnTo>
                    <a:lnTo>
                      <a:pt x="2053399" y="218694"/>
                    </a:lnTo>
                    <a:lnTo>
                      <a:pt x="2053399" y="43814"/>
                    </a:lnTo>
                    <a:lnTo>
                      <a:pt x="2049946" y="26789"/>
                    </a:lnTo>
                    <a:lnTo>
                      <a:pt x="2040540" y="12858"/>
                    </a:lnTo>
                    <a:lnTo>
                      <a:pt x="2026610" y="3452"/>
                    </a:lnTo>
                    <a:lnTo>
                      <a:pt x="2009584" y="0"/>
                    </a:lnTo>
                    <a:close/>
                  </a:path>
                </a:pathLst>
              </a:custGeom>
              <a:solidFill>
                <a:srgbClr val="00A78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42" name="object 42">
                <a:extLst>
                  <a:ext uri="{FF2B5EF4-FFF2-40B4-BE49-F238E27FC236}">
                    <a16:creationId xmlns:a16="http://schemas.microsoft.com/office/drawing/2014/main" id="{076EEA8B-7307-4330-2607-8F3B41081C29}"/>
                  </a:ext>
                </a:extLst>
              </p:cNvPr>
              <p:cNvSpPr txBox="1"/>
              <p:nvPr/>
            </p:nvSpPr>
            <p:spPr>
              <a:xfrm>
                <a:off x="1048470" y="4518480"/>
                <a:ext cx="1283970" cy="135293"/>
              </a:xfrm>
              <a:prstGeom prst="rect">
                <a:avLst/>
              </a:prstGeom>
            </p:spPr>
            <p:txBody>
              <a:bodyPr vert="horz" wrap="square" lIns="0" tIns="12065" rIns="0" bIns="0" rtlCol="0">
                <a:sp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sz="800" b="0" i="0" u="none" strike="noStrike" kern="0" cap="none" spc="0" normalizeH="0" baseline="0" noProof="0">
                    <a:ln>
                      <a:noFill/>
                    </a:ln>
                    <a:solidFill>
                      <a:srgbClr val="FFFFFF"/>
                    </a:solidFill>
                    <a:effectLst/>
                    <a:uLnTx/>
                    <a:uFillTx/>
                    <a:latin typeface="CVS Health Sans"/>
                    <a:ea typeface="+mn-ea"/>
                    <a:cs typeface="CVS Health Sans"/>
                  </a:rPr>
                  <a:t>1</a:t>
                </a:r>
                <a:r>
                  <a:rPr kumimoji="0" sz="800" b="0" i="0" u="none" strike="noStrike" kern="0" cap="none" spc="-15" normalizeH="0" baseline="0" noProof="0">
                    <a:ln>
                      <a:noFill/>
                    </a:ln>
                    <a:solidFill>
                      <a:srgbClr val="FFFFFF"/>
                    </a:solidFill>
                    <a:effectLst/>
                    <a:uLnTx/>
                    <a:uFillTx/>
                    <a:latin typeface="CVS Health Sans"/>
                    <a:ea typeface="+mn-ea"/>
                    <a:cs typeface="CVS Health Sans"/>
                  </a:rPr>
                  <a:t> </a:t>
                </a:r>
                <a:r>
                  <a:rPr kumimoji="0" lang="en-US" sz="800" b="0" i="0" u="none" strike="noStrike" kern="0" cap="none" spc="0" normalizeH="0" baseline="0" noProof="0">
                    <a:ln>
                      <a:noFill/>
                    </a:ln>
                    <a:solidFill>
                      <a:srgbClr val="FFFFFF"/>
                    </a:solidFill>
                    <a:effectLst/>
                    <a:uLnTx/>
                    <a:uFillTx/>
                    <a:latin typeface="CVS Health Sans"/>
                    <a:ea typeface="+mn-ea"/>
                    <a:cs typeface="CVS Health Sans"/>
                  </a:rPr>
                  <a:t>Data Engineer</a:t>
                </a:r>
                <a:endParaRPr kumimoji="0" lang="en-US"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grpSp>
          <p:nvGrpSpPr>
            <p:cNvPr id="263" name="Group 262">
              <a:extLst>
                <a:ext uri="{FF2B5EF4-FFF2-40B4-BE49-F238E27FC236}">
                  <a16:creationId xmlns:a16="http://schemas.microsoft.com/office/drawing/2014/main" id="{53F671BC-3FE9-6E17-9CA8-7F182E454AA1}"/>
                </a:ext>
              </a:extLst>
            </p:cNvPr>
            <p:cNvGrpSpPr/>
            <p:nvPr/>
          </p:nvGrpSpPr>
          <p:grpSpPr>
            <a:xfrm>
              <a:off x="663661" y="4089840"/>
              <a:ext cx="2053589" cy="262255"/>
              <a:chOff x="663661" y="4156025"/>
              <a:chExt cx="2053589" cy="262255"/>
            </a:xfrm>
          </p:grpSpPr>
          <p:sp>
            <p:nvSpPr>
              <p:cNvPr id="43" name="object 43">
                <a:extLst>
                  <a:ext uri="{FF2B5EF4-FFF2-40B4-BE49-F238E27FC236}">
                    <a16:creationId xmlns:a16="http://schemas.microsoft.com/office/drawing/2014/main" id="{0EA04BA9-087E-0021-4AAD-83AEBA29FF69}"/>
                  </a:ext>
                </a:extLst>
              </p:cNvPr>
              <p:cNvSpPr/>
              <p:nvPr/>
            </p:nvSpPr>
            <p:spPr>
              <a:xfrm>
                <a:off x="663661" y="4156025"/>
                <a:ext cx="2053589" cy="262255"/>
              </a:xfrm>
              <a:custGeom>
                <a:avLst/>
                <a:gdLst/>
                <a:ahLst/>
                <a:cxnLst/>
                <a:rect l="l" t="t" r="r" b="b"/>
                <a:pathLst>
                  <a:path w="2053589" h="262254">
                    <a:moveTo>
                      <a:pt x="2009584" y="0"/>
                    </a:moveTo>
                    <a:lnTo>
                      <a:pt x="43713" y="0"/>
                    </a:lnTo>
                    <a:lnTo>
                      <a:pt x="26697" y="3432"/>
                    </a:lnTo>
                    <a:lnTo>
                      <a:pt x="12803" y="12795"/>
                    </a:lnTo>
                    <a:lnTo>
                      <a:pt x="3435" y="26681"/>
                    </a:lnTo>
                    <a:lnTo>
                      <a:pt x="0" y="43687"/>
                    </a:lnTo>
                    <a:lnTo>
                      <a:pt x="0" y="218566"/>
                    </a:lnTo>
                    <a:lnTo>
                      <a:pt x="3435" y="235573"/>
                    </a:lnTo>
                    <a:lnTo>
                      <a:pt x="12803" y="249459"/>
                    </a:lnTo>
                    <a:lnTo>
                      <a:pt x="26697" y="258822"/>
                    </a:lnTo>
                    <a:lnTo>
                      <a:pt x="43713" y="262254"/>
                    </a:lnTo>
                    <a:lnTo>
                      <a:pt x="2009584" y="262254"/>
                    </a:lnTo>
                    <a:lnTo>
                      <a:pt x="2026610" y="258822"/>
                    </a:lnTo>
                    <a:lnTo>
                      <a:pt x="2040540" y="249459"/>
                    </a:lnTo>
                    <a:lnTo>
                      <a:pt x="2049946" y="235573"/>
                    </a:lnTo>
                    <a:lnTo>
                      <a:pt x="2053399" y="218566"/>
                    </a:lnTo>
                    <a:lnTo>
                      <a:pt x="2053399" y="43687"/>
                    </a:lnTo>
                    <a:lnTo>
                      <a:pt x="2049946" y="26681"/>
                    </a:lnTo>
                    <a:lnTo>
                      <a:pt x="2040540" y="12795"/>
                    </a:lnTo>
                    <a:lnTo>
                      <a:pt x="2026610" y="3432"/>
                    </a:lnTo>
                    <a:lnTo>
                      <a:pt x="2009584" y="0"/>
                    </a:lnTo>
                    <a:close/>
                  </a:path>
                </a:pathLst>
              </a:custGeom>
              <a:solidFill>
                <a:srgbClr val="267A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44" name="object 44">
                <a:extLst>
                  <a:ext uri="{FF2B5EF4-FFF2-40B4-BE49-F238E27FC236}">
                    <a16:creationId xmlns:a16="http://schemas.microsoft.com/office/drawing/2014/main" id="{D6D37DD9-BC3E-6340-0423-B3E31D4993F6}"/>
                  </a:ext>
                </a:extLst>
              </p:cNvPr>
              <p:cNvSpPr txBox="1"/>
              <p:nvPr/>
            </p:nvSpPr>
            <p:spPr>
              <a:xfrm>
                <a:off x="1048470" y="4223657"/>
                <a:ext cx="1283970" cy="135293"/>
              </a:xfrm>
              <a:prstGeom prst="rect">
                <a:avLst/>
              </a:prstGeom>
            </p:spPr>
            <p:txBody>
              <a:bodyPr vert="horz" wrap="square" lIns="0" tIns="12065" rIns="0" bIns="0" rtlCol="0">
                <a:sp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sz="800" b="0" i="0" u="none" strike="noStrike" kern="0" cap="none" spc="0" normalizeH="0" baseline="0" noProof="0">
                    <a:ln>
                      <a:noFill/>
                    </a:ln>
                    <a:solidFill>
                      <a:srgbClr val="FFFFFF"/>
                    </a:solidFill>
                    <a:effectLst/>
                    <a:uLnTx/>
                    <a:uFillTx/>
                    <a:latin typeface="CVS Health Sans"/>
                    <a:ea typeface="+mn-ea"/>
                    <a:cs typeface="CVS Health Sans"/>
                  </a:rPr>
                  <a:t>1</a:t>
                </a:r>
                <a:r>
                  <a:rPr kumimoji="0" sz="800" b="0" i="0" u="none" strike="noStrike" kern="0" cap="none" spc="-25" normalizeH="0" baseline="0" noProof="0">
                    <a:ln>
                      <a:noFill/>
                    </a:ln>
                    <a:solidFill>
                      <a:srgbClr val="FFFFFF"/>
                    </a:solidFill>
                    <a:effectLst/>
                    <a:uLnTx/>
                    <a:uFillTx/>
                    <a:latin typeface="CVS Health Sans"/>
                    <a:ea typeface="+mn-ea"/>
                    <a:cs typeface="CVS Health Sans"/>
                  </a:rPr>
                  <a:t> </a:t>
                </a:r>
                <a:r>
                  <a:rPr kumimoji="0" lang="en-US" sz="800" b="0" i="0" u="none" strike="noStrike" kern="0" cap="none" spc="0" normalizeH="0" baseline="0" noProof="0">
                    <a:ln>
                      <a:noFill/>
                    </a:ln>
                    <a:solidFill>
                      <a:srgbClr val="FFFFFF"/>
                    </a:solidFill>
                    <a:effectLst/>
                    <a:uLnTx/>
                    <a:uFillTx/>
                    <a:latin typeface="CVS Health Sans"/>
                    <a:ea typeface="+mn-ea"/>
                    <a:cs typeface="CVS Health Sans"/>
                  </a:rPr>
                  <a:t>Platform Engineer</a:t>
                </a:r>
                <a:endParaRPr kumimoji="0" lang="en-US"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grpSp>
          <p:nvGrpSpPr>
            <p:cNvPr id="264" name="Group 263">
              <a:extLst>
                <a:ext uri="{FF2B5EF4-FFF2-40B4-BE49-F238E27FC236}">
                  <a16:creationId xmlns:a16="http://schemas.microsoft.com/office/drawing/2014/main" id="{AB77D923-F938-882E-7954-BF7678BBED97}"/>
                </a:ext>
              </a:extLst>
            </p:cNvPr>
            <p:cNvGrpSpPr/>
            <p:nvPr/>
          </p:nvGrpSpPr>
          <p:grpSpPr>
            <a:xfrm>
              <a:off x="663661" y="3798852"/>
              <a:ext cx="2053589" cy="262890"/>
              <a:chOff x="663661" y="3865037"/>
              <a:chExt cx="2053589" cy="262890"/>
            </a:xfrm>
          </p:grpSpPr>
          <p:sp>
            <p:nvSpPr>
              <p:cNvPr id="45" name="object 45">
                <a:extLst>
                  <a:ext uri="{FF2B5EF4-FFF2-40B4-BE49-F238E27FC236}">
                    <a16:creationId xmlns:a16="http://schemas.microsoft.com/office/drawing/2014/main" id="{0352388C-45A3-29B2-F163-458671C11434}"/>
                  </a:ext>
                </a:extLst>
              </p:cNvPr>
              <p:cNvSpPr/>
              <p:nvPr/>
            </p:nvSpPr>
            <p:spPr>
              <a:xfrm>
                <a:off x="663661" y="3865037"/>
                <a:ext cx="2053589" cy="262890"/>
              </a:xfrm>
              <a:custGeom>
                <a:avLst/>
                <a:gdLst/>
                <a:ahLst/>
                <a:cxnLst/>
                <a:rect l="l" t="t" r="r" b="b"/>
                <a:pathLst>
                  <a:path w="2053589" h="262889">
                    <a:moveTo>
                      <a:pt x="2009597" y="0"/>
                    </a:moveTo>
                    <a:lnTo>
                      <a:pt x="43713" y="0"/>
                    </a:lnTo>
                    <a:lnTo>
                      <a:pt x="26697" y="3452"/>
                    </a:lnTo>
                    <a:lnTo>
                      <a:pt x="12803" y="12858"/>
                    </a:lnTo>
                    <a:lnTo>
                      <a:pt x="3435" y="26789"/>
                    </a:lnTo>
                    <a:lnTo>
                      <a:pt x="0" y="43814"/>
                    </a:lnTo>
                    <a:lnTo>
                      <a:pt x="0" y="218694"/>
                    </a:lnTo>
                    <a:lnTo>
                      <a:pt x="3435" y="235700"/>
                    </a:lnTo>
                    <a:lnTo>
                      <a:pt x="12803" y="249586"/>
                    </a:lnTo>
                    <a:lnTo>
                      <a:pt x="26697" y="258949"/>
                    </a:lnTo>
                    <a:lnTo>
                      <a:pt x="43713" y="262381"/>
                    </a:lnTo>
                    <a:lnTo>
                      <a:pt x="2009597" y="262381"/>
                    </a:lnTo>
                    <a:lnTo>
                      <a:pt x="2026603" y="258949"/>
                    </a:lnTo>
                    <a:lnTo>
                      <a:pt x="2040489" y="249586"/>
                    </a:lnTo>
                    <a:lnTo>
                      <a:pt x="2049852" y="235700"/>
                    </a:lnTo>
                    <a:lnTo>
                      <a:pt x="2053285" y="218694"/>
                    </a:lnTo>
                    <a:lnTo>
                      <a:pt x="2053285" y="43814"/>
                    </a:lnTo>
                    <a:lnTo>
                      <a:pt x="2049852" y="26789"/>
                    </a:lnTo>
                    <a:lnTo>
                      <a:pt x="2040489" y="12858"/>
                    </a:lnTo>
                    <a:lnTo>
                      <a:pt x="2026603" y="3452"/>
                    </a:lnTo>
                    <a:lnTo>
                      <a:pt x="2009597" y="0"/>
                    </a:lnTo>
                    <a:close/>
                  </a:path>
                </a:pathLst>
              </a:custGeom>
              <a:solidFill>
                <a:srgbClr val="267A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46" name="object 46">
                <a:extLst>
                  <a:ext uri="{FF2B5EF4-FFF2-40B4-BE49-F238E27FC236}">
                    <a16:creationId xmlns:a16="http://schemas.microsoft.com/office/drawing/2014/main" id="{6D1D1DEF-E5ED-61C3-C7BB-6376D04BC7CE}"/>
                  </a:ext>
                </a:extLst>
              </p:cNvPr>
              <p:cNvSpPr txBox="1"/>
              <p:nvPr/>
            </p:nvSpPr>
            <p:spPr>
              <a:xfrm>
                <a:off x="1179630" y="3928836"/>
                <a:ext cx="1021650" cy="135293"/>
              </a:xfrm>
              <a:prstGeom prst="rect">
                <a:avLst/>
              </a:prstGeom>
            </p:spPr>
            <p:txBody>
              <a:bodyPr vert="horz" wrap="square" lIns="0" tIns="12065" rIns="0" bIns="0" rtlCol="0">
                <a:sp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CVS Health Sans"/>
                    <a:ea typeface="+mn-ea"/>
                    <a:cs typeface="CVS Health Sans"/>
                  </a:rPr>
                  <a:t>1</a:t>
                </a:r>
                <a:r>
                  <a:rPr kumimoji="0" sz="800" b="0" i="0" u="none" strike="noStrike" kern="0" cap="none" spc="-25" normalizeH="0" baseline="0" noProof="0">
                    <a:ln>
                      <a:noFill/>
                    </a:ln>
                    <a:solidFill>
                      <a:srgbClr val="FFFFFF"/>
                    </a:solidFill>
                    <a:effectLst/>
                    <a:uLnTx/>
                    <a:uFillTx/>
                    <a:latin typeface="CVS Health Sans"/>
                    <a:ea typeface="+mn-ea"/>
                    <a:cs typeface="CVS Health Sans"/>
                  </a:rPr>
                  <a:t> </a:t>
                </a:r>
                <a:r>
                  <a:rPr kumimoji="0" lang="en-US" sz="800" b="0" i="0" u="none" strike="noStrike" kern="0" cap="none" spc="0" normalizeH="0" baseline="0" noProof="0">
                    <a:ln>
                      <a:noFill/>
                    </a:ln>
                    <a:solidFill>
                      <a:srgbClr val="FFFFFF"/>
                    </a:solidFill>
                    <a:effectLst/>
                    <a:uLnTx/>
                    <a:uFillTx/>
                    <a:latin typeface="CVS Health Sans"/>
                    <a:ea typeface="+mn-ea"/>
                    <a:cs typeface="CVS Health Sans"/>
                  </a:rPr>
                  <a:t>Lead Architect</a:t>
                </a:r>
                <a:endParaRPr kumimoji="0" lang="en-US"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grpSp>
          <p:nvGrpSpPr>
            <p:cNvPr id="259" name="Group 258">
              <a:extLst>
                <a:ext uri="{FF2B5EF4-FFF2-40B4-BE49-F238E27FC236}">
                  <a16:creationId xmlns:a16="http://schemas.microsoft.com/office/drawing/2014/main" id="{AFF9CE0A-1429-A604-821D-DFD3CE34F5FB}"/>
                </a:ext>
              </a:extLst>
            </p:cNvPr>
            <p:cNvGrpSpPr/>
            <p:nvPr/>
          </p:nvGrpSpPr>
          <p:grpSpPr>
            <a:xfrm>
              <a:off x="663661" y="5253155"/>
              <a:ext cx="2053589" cy="266700"/>
              <a:chOff x="663661" y="5319340"/>
              <a:chExt cx="2053589" cy="266700"/>
            </a:xfrm>
          </p:grpSpPr>
          <p:sp>
            <p:nvSpPr>
              <p:cNvPr id="96" name="object 96">
                <a:extLst>
                  <a:ext uri="{FF2B5EF4-FFF2-40B4-BE49-F238E27FC236}">
                    <a16:creationId xmlns:a16="http://schemas.microsoft.com/office/drawing/2014/main" id="{E0943121-3BE3-5AA6-CF9C-883DF8D0C79C}"/>
                  </a:ext>
                </a:extLst>
              </p:cNvPr>
              <p:cNvSpPr/>
              <p:nvPr/>
            </p:nvSpPr>
            <p:spPr>
              <a:xfrm>
                <a:off x="663661" y="5319340"/>
                <a:ext cx="2053589" cy="266700"/>
              </a:xfrm>
              <a:custGeom>
                <a:avLst/>
                <a:gdLst/>
                <a:ahLst/>
                <a:cxnLst/>
                <a:rect l="l" t="t" r="r" b="b"/>
                <a:pathLst>
                  <a:path w="2053589" h="266700">
                    <a:moveTo>
                      <a:pt x="2008949" y="0"/>
                    </a:moveTo>
                    <a:lnTo>
                      <a:pt x="44424" y="0"/>
                    </a:lnTo>
                    <a:lnTo>
                      <a:pt x="27131" y="3478"/>
                    </a:lnTo>
                    <a:lnTo>
                      <a:pt x="13011" y="12969"/>
                    </a:lnTo>
                    <a:lnTo>
                      <a:pt x="3490" y="27056"/>
                    </a:lnTo>
                    <a:lnTo>
                      <a:pt x="0" y="44323"/>
                    </a:lnTo>
                    <a:lnTo>
                      <a:pt x="0" y="222122"/>
                    </a:lnTo>
                    <a:lnTo>
                      <a:pt x="3490" y="239389"/>
                    </a:lnTo>
                    <a:lnTo>
                      <a:pt x="13011" y="253476"/>
                    </a:lnTo>
                    <a:lnTo>
                      <a:pt x="27131" y="262967"/>
                    </a:lnTo>
                    <a:lnTo>
                      <a:pt x="44424" y="266446"/>
                    </a:lnTo>
                    <a:lnTo>
                      <a:pt x="2008949" y="266446"/>
                    </a:lnTo>
                    <a:lnTo>
                      <a:pt x="2026235" y="262967"/>
                    </a:lnTo>
                    <a:lnTo>
                      <a:pt x="2040366" y="253476"/>
                    </a:lnTo>
                    <a:lnTo>
                      <a:pt x="2049901" y="239389"/>
                    </a:lnTo>
                    <a:lnTo>
                      <a:pt x="2053399" y="222122"/>
                    </a:lnTo>
                    <a:lnTo>
                      <a:pt x="2053399" y="44323"/>
                    </a:lnTo>
                    <a:lnTo>
                      <a:pt x="2049901" y="27056"/>
                    </a:lnTo>
                    <a:lnTo>
                      <a:pt x="2040366" y="12969"/>
                    </a:lnTo>
                    <a:lnTo>
                      <a:pt x="2026235" y="3478"/>
                    </a:lnTo>
                    <a:lnTo>
                      <a:pt x="2008949" y="0"/>
                    </a:lnTo>
                    <a:close/>
                  </a:path>
                </a:pathLst>
              </a:custGeom>
              <a:solidFill>
                <a:srgbClr val="E9E9E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109" name="object 109">
                <a:extLst>
                  <a:ext uri="{FF2B5EF4-FFF2-40B4-BE49-F238E27FC236}">
                    <a16:creationId xmlns:a16="http://schemas.microsoft.com/office/drawing/2014/main" id="{94CFDAD4-BAC6-38AD-2707-7EA81242DDCF}"/>
                  </a:ext>
                </a:extLst>
              </p:cNvPr>
              <p:cNvSpPr txBox="1"/>
              <p:nvPr/>
            </p:nvSpPr>
            <p:spPr>
              <a:xfrm>
                <a:off x="1052565" y="5323488"/>
                <a:ext cx="1275780" cy="258404"/>
              </a:xfrm>
              <a:prstGeom prst="rect">
                <a:avLst/>
              </a:prstGeom>
            </p:spPr>
            <p:txBody>
              <a:bodyPr vert="horz" wrap="square" lIns="0" tIns="12065" rIns="0" bIns="0" rtlCol="0">
                <a:spAutoFit/>
              </a:bodyPr>
              <a:lstStyle/>
              <a:p>
                <a:pPr marL="0" marR="0" lvl="0" indent="0" algn="ctr" defTabSz="914400" rtl="0" eaLnBrk="1" fontAlgn="auto" latinLnBrk="0" hangingPunct="1">
                  <a:lnSpc>
                    <a:spcPct val="100000"/>
                  </a:lnSpc>
                  <a:spcBef>
                    <a:spcPts val="95"/>
                  </a:spcBef>
                  <a:spcAft>
                    <a:spcPts val="0"/>
                  </a:spcAft>
                  <a:buClrTx/>
                  <a:buSzTx/>
                  <a:buFontTx/>
                  <a:buNone/>
                  <a:tabLst/>
                  <a:defRPr/>
                </a:pPr>
                <a:r>
                  <a:rPr kumimoji="0" sz="800" b="1" i="0" u="none" strike="noStrike" kern="0" cap="none" spc="-10" normalizeH="0" baseline="0" noProof="0">
                    <a:ln>
                      <a:noFill/>
                    </a:ln>
                    <a:solidFill>
                      <a:srgbClr val="3F3F3F"/>
                    </a:solidFill>
                    <a:effectLst/>
                    <a:uLnTx/>
                    <a:uFillTx/>
                    <a:latin typeface="CVS Health Sans"/>
                    <a:ea typeface="+mn-ea"/>
                    <a:cs typeface="CVS Health Sans"/>
                  </a:rPr>
                  <a:t>Architect</a:t>
                </a:r>
                <a:endParaRPr kumimoji="0" sz="800" b="0" i="0" u="none" strike="noStrike" kern="0" cap="none" spc="0" normalizeH="0" baseline="0" noProof="0">
                  <a:ln>
                    <a:noFill/>
                  </a:ln>
                  <a:solidFill>
                    <a:srgbClr val="3F3F3F"/>
                  </a:solidFill>
                  <a:effectLst/>
                  <a:uLnTx/>
                  <a:uFillTx/>
                  <a:latin typeface="CVS Health Sans"/>
                  <a:ea typeface="+mn-ea"/>
                  <a:cs typeface="CVS Health San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sz="800" b="0" i="0" u="none" strike="noStrike" kern="0" cap="none" spc="-10" normalizeH="0" baseline="0" noProof="0" err="1">
                    <a:ln>
                      <a:noFill/>
                    </a:ln>
                    <a:solidFill>
                      <a:srgbClr val="3F3F3F"/>
                    </a:solidFill>
                    <a:effectLst/>
                    <a:uLnTx/>
                    <a:uFillTx/>
                    <a:latin typeface="CVS Health Sans"/>
                    <a:ea typeface="+mn-ea"/>
                    <a:cs typeface="CVS Health Sans"/>
                  </a:rPr>
                  <a:t>Shivpratap</a:t>
                </a:r>
                <a:r>
                  <a:rPr kumimoji="0" sz="800" b="0" i="0" u="none" strike="noStrike" kern="0" cap="none" spc="40" normalizeH="0" baseline="0" noProof="0">
                    <a:ln>
                      <a:noFill/>
                    </a:ln>
                    <a:solidFill>
                      <a:srgbClr val="3F3F3F"/>
                    </a:solidFill>
                    <a:effectLst/>
                    <a:uLnTx/>
                    <a:uFillTx/>
                    <a:latin typeface="CVS Health Sans"/>
                    <a:ea typeface="+mn-ea"/>
                    <a:cs typeface="CVS Health Sans"/>
                  </a:rPr>
                  <a:t> </a:t>
                </a:r>
                <a:r>
                  <a:rPr kumimoji="0" sz="800" b="0" i="0" u="none" strike="noStrike" kern="0" cap="none" spc="-10" normalizeH="0" baseline="0" noProof="0">
                    <a:ln>
                      <a:noFill/>
                    </a:ln>
                    <a:solidFill>
                      <a:srgbClr val="3F3F3F"/>
                    </a:solidFill>
                    <a:effectLst/>
                    <a:uLnTx/>
                    <a:uFillTx/>
                    <a:latin typeface="CVS Health Sans"/>
                    <a:ea typeface="+mn-ea"/>
                    <a:cs typeface="CVS Health Sans"/>
                  </a:rPr>
                  <a:t>Singh</a:t>
                </a:r>
                <a:endParaRPr kumimoji="0" sz="800" b="0" i="0" u="none" strike="noStrike" kern="0" cap="none" spc="0" normalizeH="0" baseline="0" noProof="0">
                  <a:ln>
                    <a:noFill/>
                  </a:ln>
                  <a:solidFill>
                    <a:srgbClr val="3F3F3F"/>
                  </a:solidFill>
                  <a:effectLst/>
                  <a:uLnTx/>
                  <a:uFillTx/>
                  <a:latin typeface="CVS Health Sans"/>
                  <a:ea typeface="+mn-ea"/>
                  <a:cs typeface="CVS Health Sans"/>
                </a:endParaRPr>
              </a:p>
            </p:txBody>
          </p:sp>
        </p:grpSp>
        <p:grpSp>
          <p:nvGrpSpPr>
            <p:cNvPr id="260" name="Group 259">
              <a:extLst>
                <a:ext uri="{FF2B5EF4-FFF2-40B4-BE49-F238E27FC236}">
                  <a16:creationId xmlns:a16="http://schemas.microsoft.com/office/drawing/2014/main" id="{CCEA0F5F-8B0F-46DD-84EC-9DC0AB9D7B86}"/>
                </a:ext>
              </a:extLst>
            </p:cNvPr>
            <p:cNvGrpSpPr/>
            <p:nvPr/>
          </p:nvGrpSpPr>
          <p:grpSpPr>
            <a:xfrm>
              <a:off x="663661" y="4962169"/>
              <a:ext cx="2053589" cy="262890"/>
              <a:chOff x="663661" y="5028354"/>
              <a:chExt cx="2053589" cy="262890"/>
            </a:xfrm>
          </p:grpSpPr>
          <p:sp>
            <p:nvSpPr>
              <p:cNvPr id="123" name="object 123">
                <a:extLst>
                  <a:ext uri="{FF2B5EF4-FFF2-40B4-BE49-F238E27FC236}">
                    <a16:creationId xmlns:a16="http://schemas.microsoft.com/office/drawing/2014/main" id="{94365005-86A1-408C-AA55-72CAEA5C7274}"/>
                  </a:ext>
                </a:extLst>
              </p:cNvPr>
              <p:cNvSpPr/>
              <p:nvPr/>
            </p:nvSpPr>
            <p:spPr>
              <a:xfrm>
                <a:off x="663661" y="5028354"/>
                <a:ext cx="2053589" cy="262890"/>
              </a:xfrm>
              <a:custGeom>
                <a:avLst/>
                <a:gdLst/>
                <a:ahLst/>
                <a:cxnLst/>
                <a:rect l="l" t="t" r="r" b="b"/>
                <a:pathLst>
                  <a:path w="2053589" h="262889">
                    <a:moveTo>
                      <a:pt x="2009584" y="0"/>
                    </a:moveTo>
                    <a:lnTo>
                      <a:pt x="43713" y="0"/>
                    </a:lnTo>
                    <a:lnTo>
                      <a:pt x="26697" y="3434"/>
                    </a:lnTo>
                    <a:lnTo>
                      <a:pt x="12803" y="12811"/>
                    </a:lnTo>
                    <a:lnTo>
                      <a:pt x="3435" y="26735"/>
                    </a:lnTo>
                    <a:lnTo>
                      <a:pt x="0" y="43815"/>
                    </a:lnTo>
                    <a:lnTo>
                      <a:pt x="0" y="218567"/>
                    </a:lnTo>
                    <a:lnTo>
                      <a:pt x="3435" y="235646"/>
                    </a:lnTo>
                    <a:lnTo>
                      <a:pt x="12803" y="249570"/>
                    </a:lnTo>
                    <a:lnTo>
                      <a:pt x="26697" y="258947"/>
                    </a:lnTo>
                    <a:lnTo>
                      <a:pt x="43713" y="262382"/>
                    </a:lnTo>
                    <a:lnTo>
                      <a:pt x="2009584" y="262382"/>
                    </a:lnTo>
                    <a:lnTo>
                      <a:pt x="2026610" y="258947"/>
                    </a:lnTo>
                    <a:lnTo>
                      <a:pt x="2040540" y="249570"/>
                    </a:lnTo>
                    <a:lnTo>
                      <a:pt x="2049946" y="235646"/>
                    </a:lnTo>
                    <a:lnTo>
                      <a:pt x="2053399" y="218567"/>
                    </a:lnTo>
                    <a:lnTo>
                      <a:pt x="2053399" y="43815"/>
                    </a:lnTo>
                    <a:lnTo>
                      <a:pt x="2049946" y="26735"/>
                    </a:lnTo>
                    <a:lnTo>
                      <a:pt x="2040540" y="12811"/>
                    </a:lnTo>
                    <a:lnTo>
                      <a:pt x="2026610" y="3434"/>
                    </a:lnTo>
                    <a:lnTo>
                      <a:pt x="2009584" y="0"/>
                    </a:lnTo>
                    <a:close/>
                  </a:path>
                </a:pathLst>
              </a:custGeom>
              <a:solidFill>
                <a:srgbClr val="00A78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124" name="object 124">
                <a:extLst>
                  <a:ext uri="{FF2B5EF4-FFF2-40B4-BE49-F238E27FC236}">
                    <a16:creationId xmlns:a16="http://schemas.microsoft.com/office/drawing/2014/main" id="{A9D2350E-5455-A95B-F9DC-3283B35BABD5}"/>
                  </a:ext>
                </a:extLst>
              </p:cNvPr>
              <p:cNvSpPr txBox="1"/>
              <p:nvPr/>
            </p:nvSpPr>
            <p:spPr>
              <a:xfrm>
                <a:off x="1179630" y="5090693"/>
                <a:ext cx="1021650" cy="135293"/>
              </a:xfrm>
              <a:prstGeom prst="rect">
                <a:avLst/>
              </a:prstGeom>
            </p:spPr>
            <p:txBody>
              <a:bodyPr vert="horz" wrap="square" lIns="0" tIns="12065" rIns="0" bIns="0" rtlCol="0">
                <a:sp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CVS Health Sans"/>
                    <a:ea typeface="+mn-ea"/>
                    <a:cs typeface="CVS Health Sans"/>
                  </a:rPr>
                  <a:t>1</a:t>
                </a:r>
                <a:r>
                  <a:rPr kumimoji="0" lang="en-US" sz="800" b="0" i="0" u="none" strike="noStrike" kern="0" cap="none" spc="-20" normalizeH="0" baseline="0" noProof="0">
                    <a:ln>
                      <a:noFill/>
                    </a:ln>
                    <a:solidFill>
                      <a:srgbClr val="FFFFFF"/>
                    </a:solidFill>
                    <a:effectLst/>
                    <a:uLnTx/>
                    <a:uFillTx/>
                    <a:latin typeface="CVS Health Sans"/>
                    <a:ea typeface="+mn-ea"/>
                    <a:cs typeface="CVS Health Sans"/>
                  </a:rPr>
                  <a:t> </a:t>
                </a:r>
                <a:r>
                  <a:rPr kumimoji="0" sz="800" b="0" i="0" u="none" strike="noStrike" kern="0" cap="none" spc="0" normalizeH="0" baseline="0" noProof="0">
                    <a:ln>
                      <a:noFill/>
                    </a:ln>
                    <a:solidFill>
                      <a:srgbClr val="FFFFFF"/>
                    </a:solidFill>
                    <a:effectLst/>
                    <a:uLnTx/>
                    <a:uFillTx/>
                    <a:latin typeface="CVS Health Sans"/>
                    <a:ea typeface="+mn-ea"/>
                    <a:cs typeface="CVS Health Sans"/>
                  </a:rPr>
                  <a:t>Team</a:t>
                </a:r>
                <a:r>
                  <a:rPr kumimoji="0" lang="en-US" sz="800" b="0" i="0" u="none" strike="noStrike" kern="0" cap="none" spc="0" normalizeH="0" baseline="0" noProof="0">
                    <a:ln>
                      <a:noFill/>
                    </a:ln>
                    <a:solidFill>
                      <a:srgbClr val="FFFFFF"/>
                    </a:solidFill>
                    <a:effectLst/>
                    <a:uLnTx/>
                    <a:uFillTx/>
                    <a:latin typeface="CVS Health Sans"/>
                    <a:ea typeface="+mn-ea"/>
                    <a:cs typeface="CVS Health Sans"/>
                  </a:rPr>
                  <a:t> </a:t>
                </a:r>
                <a:r>
                  <a:rPr kumimoji="0" lang="en-US" sz="800" b="0" i="0" u="none" strike="noStrike" kern="0" cap="none" spc="-10" normalizeH="0" baseline="0" noProof="0">
                    <a:ln>
                      <a:noFill/>
                    </a:ln>
                    <a:solidFill>
                      <a:srgbClr val="FFFFFF"/>
                    </a:solidFill>
                    <a:effectLst/>
                    <a:uLnTx/>
                    <a:uFillTx/>
                    <a:latin typeface="CVS Health Sans"/>
                    <a:ea typeface="+mn-ea"/>
                    <a:cs typeface="CVS Health Sans"/>
                  </a:rPr>
                  <a:t>Member</a:t>
                </a:r>
                <a:endParaRPr kumimoji="0" lang="en-US"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grpSp>
          <p:nvGrpSpPr>
            <p:cNvPr id="262" name="Group 261">
              <a:extLst>
                <a:ext uri="{FF2B5EF4-FFF2-40B4-BE49-F238E27FC236}">
                  <a16:creationId xmlns:a16="http://schemas.microsoft.com/office/drawing/2014/main" id="{EEC931D5-F4B8-24FC-7828-4E78DC8708F0}"/>
                </a:ext>
              </a:extLst>
            </p:cNvPr>
            <p:cNvGrpSpPr/>
            <p:nvPr/>
          </p:nvGrpSpPr>
          <p:grpSpPr>
            <a:xfrm>
              <a:off x="663661" y="4671181"/>
              <a:ext cx="2053589" cy="262890"/>
              <a:chOff x="663661" y="4737366"/>
              <a:chExt cx="2053589" cy="262890"/>
            </a:xfrm>
          </p:grpSpPr>
          <p:sp>
            <p:nvSpPr>
              <p:cNvPr id="8" name="object 123">
                <a:extLst>
                  <a:ext uri="{FF2B5EF4-FFF2-40B4-BE49-F238E27FC236}">
                    <a16:creationId xmlns:a16="http://schemas.microsoft.com/office/drawing/2014/main" id="{BAB5B4C7-0328-CDD6-7BA4-12AF0C4A035C}"/>
                  </a:ext>
                </a:extLst>
              </p:cNvPr>
              <p:cNvSpPr/>
              <p:nvPr/>
            </p:nvSpPr>
            <p:spPr>
              <a:xfrm>
                <a:off x="663661" y="4737366"/>
                <a:ext cx="2053589" cy="262890"/>
              </a:xfrm>
              <a:custGeom>
                <a:avLst/>
                <a:gdLst/>
                <a:ahLst/>
                <a:cxnLst/>
                <a:rect l="l" t="t" r="r" b="b"/>
                <a:pathLst>
                  <a:path w="2053589" h="262889">
                    <a:moveTo>
                      <a:pt x="2009584" y="0"/>
                    </a:moveTo>
                    <a:lnTo>
                      <a:pt x="43713" y="0"/>
                    </a:lnTo>
                    <a:lnTo>
                      <a:pt x="26697" y="3434"/>
                    </a:lnTo>
                    <a:lnTo>
                      <a:pt x="12803" y="12811"/>
                    </a:lnTo>
                    <a:lnTo>
                      <a:pt x="3435" y="26735"/>
                    </a:lnTo>
                    <a:lnTo>
                      <a:pt x="0" y="43815"/>
                    </a:lnTo>
                    <a:lnTo>
                      <a:pt x="0" y="218567"/>
                    </a:lnTo>
                    <a:lnTo>
                      <a:pt x="3435" y="235646"/>
                    </a:lnTo>
                    <a:lnTo>
                      <a:pt x="12803" y="249570"/>
                    </a:lnTo>
                    <a:lnTo>
                      <a:pt x="26697" y="258947"/>
                    </a:lnTo>
                    <a:lnTo>
                      <a:pt x="43713" y="262382"/>
                    </a:lnTo>
                    <a:lnTo>
                      <a:pt x="2009584" y="262382"/>
                    </a:lnTo>
                    <a:lnTo>
                      <a:pt x="2026610" y="258947"/>
                    </a:lnTo>
                    <a:lnTo>
                      <a:pt x="2040540" y="249570"/>
                    </a:lnTo>
                    <a:lnTo>
                      <a:pt x="2049946" y="235646"/>
                    </a:lnTo>
                    <a:lnTo>
                      <a:pt x="2053399" y="218567"/>
                    </a:lnTo>
                    <a:lnTo>
                      <a:pt x="2053399" y="43815"/>
                    </a:lnTo>
                    <a:lnTo>
                      <a:pt x="2049946" y="26735"/>
                    </a:lnTo>
                    <a:lnTo>
                      <a:pt x="2040540" y="12811"/>
                    </a:lnTo>
                    <a:lnTo>
                      <a:pt x="2026610" y="3434"/>
                    </a:lnTo>
                    <a:lnTo>
                      <a:pt x="2009584" y="0"/>
                    </a:lnTo>
                    <a:close/>
                  </a:path>
                </a:pathLst>
              </a:custGeom>
              <a:solidFill>
                <a:srgbClr val="267A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10" name="object 124">
                <a:extLst>
                  <a:ext uri="{FF2B5EF4-FFF2-40B4-BE49-F238E27FC236}">
                    <a16:creationId xmlns:a16="http://schemas.microsoft.com/office/drawing/2014/main" id="{9684F13A-603A-6D0D-D0C8-A3031295DC73}"/>
                  </a:ext>
                </a:extLst>
              </p:cNvPr>
              <p:cNvSpPr txBox="1"/>
              <p:nvPr/>
            </p:nvSpPr>
            <p:spPr>
              <a:xfrm>
                <a:off x="1316758" y="4800374"/>
                <a:ext cx="747395" cy="135293"/>
              </a:xfrm>
              <a:prstGeom prst="rect">
                <a:avLst/>
              </a:prstGeom>
            </p:spPr>
            <p:txBody>
              <a:bodyPr vert="horz" wrap="square" lIns="0" tIns="12065" rIns="0" bIns="0" rtlCol="0">
                <a:sp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CVS Health Sans"/>
                    <a:ea typeface="+mn-ea"/>
                    <a:cs typeface="CVS Health Sans"/>
                  </a:rPr>
                  <a:t>1</a:t>
                </a:r>
                <a:r>
                  <a:rPr kumimoji="0" sz="800" b="0" i="0" u="none" strike="noStrike" kern="0" cap="none" spc="-20" normalizeH="0" baseline="0" noProof="0">
                    <a:ln>
                      <a:noFill/>
                    </a:ln>
                    <a:solidFill>
                      <a:srgbClr val="FFFFFF"/>
                    </a:solidFill>
                    <a:effectLst/>
                    <a:uLnTx/>
                    <a:uFillTx/>
                    <a:latin typeface="CVS Health Sans"/>
                    <a:ea typeface="+mn-ea"/>
                    <a:cs typeface="CVS Health Sans"/>
                  </a:rPr>
                  <a:t> </a:t>
                </a:r>
                <a:r>
                  <a:rPr kumimoji="0" lang="en-US" sz="800" b="0" i="0" u="none" strike="noStrike" kern="0" cap="none" spc="0" normalizeH="0" baseline="0" noProof="0">
                    <a:ln>
                      <a:noFill/>
                    </a:ln>
                    <a:solidFill>
                      <a:srgbClr val="FFFFFF"/>
                    </a:solidFill>
                    <a:effectLst/>
                    <a:uLnTx/>
                    <a:uFillTx/>
                    <a:latin typeface="CVS Health Sans"/>
                    <a:ea typeface="+mn-ea"/>
                    <a:cs typeface="CVS Health Sans"/>
                  </a:rPr>
                  <a:t>Security SME</a:t>
                </a:r>
                <a:endParaRPr kumimoji="0" lang="en-US"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grpSp>
      <p:grpSp>
        <p:nvGrpSpPr>
          <p:cNvPr id="13" name="Group 12">
            <a:extLst>
              <a:ext uri="{FF2B5EF4-FFF2-40B4-BE49-F238E27FC236}">
                <a16:creationId xmlns:a16="http://schemas.microsoft.com/office/drawing/2014/main" id="{F7151364-E95E-5904-9F80-FE506BDF7B36}"/>
              </a:ext>
            </a:extLst>
          </p:cNvPr>
          <p:cNvGrpSpPr/>
          <p:nvPr/>
        </p:nvGrpSpPr>
        <p:grpSpPr>
          <a:xfrm>
            <a:off x="10512363" y="2026314"/>
            <a:ext cx="1038092" cy="311150"/>
            <a:chOff x="10512364" y="1788189"/>
            <a:chExt cx="1038092" cy="311150"/>
          </a:xfrm>
        </p:grpSpPr>
        <p:sp>
          <p:nvSpPr>
            <p:cNvPr id="121" name="object 121">
              <a:extLst>
                <a:ext uri="{FF2B5EF4-FFF2-40B4-BE49-F238E27FC236}">
                  <a16:creationId xmlns:a16="http://schemas.microsoft.com/office/drawing/2014/main" id="{3B87E282-AA42-2FA7-C977-ACC530C44678}"/>
                </a:ext>
              </a:extLst>
            </p:cNvPr>
            <p:cNvSpPr/>
            <p:nvPr/>
          </p:nvSpPr>
          <p:spPr>
            <a:xfrm>
              <a:off x="10531347" y="1788189"/>
              <a:ext cx="1000125" cy="311150"/>
            </a:xfrm>
            <a:prstGeom prst="roundRect">
              <a:avLst/>
            </a:prstGeom>
            <a:solidFill>
              <a:srgbClr val="E9E9E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145" name="object 116">
              <a:extLst>
                <a:ext uri="{FF2B5EF4-FFF2-40B4-BE49-F238E27FC236}">
                  <a16:creationId xmlns:a16="http://schemas.microsoft.com/office/drawing/2014/main" id="{8022F3C9-1039-186F-7EBE-6D7361F3BA65}"/>
                </a:ext>
              </a:extLst>
            </p:cNvPr>
            <p:cNvSpPr txBox="1"/>
            <p:nvPr/>
          </p:nvSpPr>
          <p:spPr>
            <a:xfrm>
              <a:off x="10512364" y="1814562"/>
              <a:ext cx="1038092" cy="258404"/>
            </a:xfrm>
            <a:prstGeom prst="rect">
              <a:avLst/>
            </a:prstGeom>
          </p:spPr>
          <p:txBody>
            <a:bodyPr vert="horz" wrap="square" lIns="0" tIns="12065" rIns="0" bIns="0" rtlCol="0">
              <a:spAutoFit/>
            </a:bodyPr>
            <a:lstStyle/>
            <a:p>
              <a:pPr marL="0" marR="0" lvl="0" indent="0" algn="ctr" defTabSz="914400" rtl="0" eaLnBrk="1" fontAlgn="auto" latinLnBrk="0" hangingPunct="1">
                <a:lnSpc>
                  <a:spcPct val="100000"/>
                </a:lnSpc>
                <a:spcBef>
                  <a:spcPts val="570"/>
                </a:spcBef>
                <a:spcAft>
                  <a:spcPts val="0"/>
                </a:spcAft>
                <a:buClrTx/>
                <a:buSzTx/>
                <a:buFontTx/>
                <a:buNone/>
                <a:tabLst/>
                <a:defRPr/>
              </a:pPr>
              <a:r>
                <a:rPr kumimoji="0" lang="en-US" sz="800" b="1" i="0" u="none" strike="noStrike" kern="0" cap="none" spc="-10" normalizeH="0" baseline="0" noProof="0">
                  <a:ln>
                    <a:noFill/>
                  </a:ln>
                  <a:solidFill>
                    <a:srgbClr val="3F3F3F"/>
                  </a:solidFill>
                  <a:effectLst/>
                  <a:uLnTx/>
                  <a:uFillTx/>
                  <a:latin typeface="CVS Health Sans"/>
                  <a:ea typeface="+mn-ea"/>
                  <a:cs typeface="CVS Health Sans"/>
                </a:rPr>
                <a:t>Platforms</a:t>
              </a:r>
              <a:endParaRPr kumimoji="0" lang="en-US" sz="800" b="0" i="0" u="none" strike="noStrike" kern="0" cap="none" spc="0" normalizeH="0" baseline="0" noProof="0">
                <a:ln>
                  <a:noFill/>
                </a:ln>
                <a:solidFill>
                  <a:srgbClr val="3F3F3F"/>
                </a:solidFill>
                <a:effectLst/>
                <a:uLnTx/>
                <a:uFillTx/>
                <a:latin typeface="CVS Health Sans"/>
                <a:ea typeface="+mn-ea"/>
                <a:cs typeface="CVS Health San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3F3F3F"/>
                  </a:solidFill>
                  <a:effectLst/>
                  <a:uLnTx/>
                  <a:uFillTx/>
                  <a:latin typeface="CVS Health Sans"/>
                  <a:ea typeface="+mn-ea"/>
                  <a:cs typeface="CVS Health Sans"/>
                </a:rPr>
                <a:t>Ken</a:t>
              </a:r>
              <a:r>
                <a:rPr kumimoji="0" lang="en-US" sz="800" b="0" i="0" u="none" strike="noStrike" kern="0" cap="none" spc="-10" normalizeH="0" baseline="0" noProof="0">
                  <a:ln>
                    <a:noFill/>
                  </a:ln>
                  <a:solidFill>
                    <a:srgbClr val="3F3F3F"/>
                  </a:solidFill>
                  <a:effectLst/>
                  <a:uLnTx/>
                  <a:uFillTx/>
                  <a:latin typeface="CVS Health Sans"/>
                  <a:ea typeface="+mn-ea"/>
                  <a:cs typeface="CVS Health Sans"/>
                </a:rPr>
                <a:t> O’Connor</a:t>
              </a:r>
              <a:endParaRPr kumimoji="0" lang="en-US" sz="800" b="0" i="0" u="none" strike="noStrike" kern="0" cap="none" spc="0" normalizeH="0" baseline="0" noProof="0">
                <a:ln>
                  <a:noFill/>
                </a:ln>
                <a:solidFill>
                  <a:srgbClr val="3F3F3F"/>
                </a:solidFill>
                <a:effectLst/>
                <a:uLnTx/>
                <a:uFillTx/>
                <a:latin typeface="CVS Health Sans"/>
                <a:ea typeface="+mn-ea"/>
                <a:cs typeface="CVS Health Sans"/>
              </a:endParaRPr>
            </a:p>
          </p:txBody>
        </p:sp>
      </p:grpSp>
      <p:grpSp>
        <p:nvGrpSpPr>
          <p:cNvPr id="417" name="Group 416">
            <a:extLst>
              <a:ext uri="{FF2B5EF4-FFF2-40B4-BE49-F238E27FC236}">
                <a16:creationId xmlns:a16="http://schemas.microsoft.com/office/drawing/2014/main" id="{08B90D3D-8BCC-A14D-982F-74B150727FB1}"/>
              </a:ext>
            </a:extLst>
          </p:cNvPr>
          <p:cNvGrpSpPr/>
          <p:nvPr/>
        </p:nvGrpSpPr>
        <p:grpSpPr>
          <a:xfrm>
            <a:off x="4681538" y="1621438"/>
            <a:ext cx="2335131" cy="304054"/>
            <a:chOff x="4866258" y="1621438"/>
            <a:chExt cx="2150411" cy="304054"/>
          </a:xfrm>
        </p:grpSpPr>
        <p:grpSp>
          <p:nvGrpSpPr>
            <p:cNvPr id="153" name="Group 152">
              <a:extLst>
                <a:ext uri="{FF2B5EF4-FFF2-40B4-BE49-F238E27FC236}">
                  <a16:creationId xmlns:a16="http://schemas.microsoft.com/office/drawing/2014/main" id="{861A9039-7627-87DD-1C71-7DFD16DC8C49}"/>
                </a:ext>
              </a:extLst>
            </p:cNvPr>
            <p:cNvGrpSpPr/>
            <p:nvPr/>
          </p:nvGrpSpPr>
          <p:grpSpPr>
            <a:xfrm>
              <a:off x="4866258" y="1621438"/>
              <a:ext cx="1030478" cy="304054"/>
              <a:chOff x="4866258" y="1621438"/>
              <a:chExt cx="1030478" cy="304054"/>
            </a:xfrm>
          </p:grpSpPr>
          <p:sp>
            <p:nvSpPr>
              <p:cNvPr id="150" name="Rectangle: Rounded Corners 149">
                <a:extLst>
                  <a:ext uri="{FF2B5EF4-FFF2-40B4-BE49-F238E27FC236}">
                    <a16:creationId xmlns:a16="http://schemas.microsoft.com/office/drawing/2014/main" id="{97F43EBA-9AF3-AE59-C005-CBBB7A54476B}"/>
                  </a:ext>
                </a:extLst>
              </p:cNvPr>
              <p:cNvSpPr/>
              <p:nvPr/>
            </p:nvSpPr>
            <p:spPr bwMode="gray">
              <a:xfrm>
                <a:off x="4866258" y="1621438"/>
                <a:ext cx="1030478" cy="304054"/>
              </a:xfrm>
              <a:prstGeom prst="roundRect">
                <a:avLst/>
              </a:prstGeom>
              <a:solidFill>
                <a:srgbClr val="E9E9E9"/>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48" name="TextBox 147">
                <a:extLst>
                  <a:ext uri="{FF2B5EF4-FFF2-40B4-BE49-F238E27FC236}">
                    <a16:creationId xmlns:a16="http://schemas.microsoft.com/office/drawing/2014/main" id="{175CC08D-DB44-A018-C796-DD9296F847C0}"/>
                  </a:ext>
                </a:extLst>
              </p:cNvPr>
              <p:cNvSpPr txBox="1"/>
              <p:nvPr/>
            </p:nvSpPr>
            <p:spPr>
              <a:xfrm>
                <a:off x="4890427" y="1647519"/>
                <a:ext cx="982140" cy="251892"/>
              </a:xfrm>
              <a:prstGeom prst="rect">
                <a:avLst/>
              </a:prstGeom>
              <a:noFill/>
            </p:spPr>
            <p:txBody>
              <a:bodyPr wrap="square" lIns="0" tIns="0" rIns="0" bIns="0" rtlCol="0">
                <a:noAutofit/>
              </a:bodyPr>
              <a:lstStyle/>
              <a:p>
                <a:pPr marL="0" marR="5080" lvl="0" indent="0" algn="ctr" defTabSz="914400" rtl="0" eaLnBrk="1" fontAlgn="auto" latinLnBrk="0" hangingPunct="1">
                  <a:lnSpc>
                    <a:spcPct val="100000"/>
                  </a:lnSpc>
                  <a:spcBef>
                    <a:spcPts val="95"/>
                  </a:spcBef>
                  <a:spcAft>
                    <a:spcPts val="0"/>
                  </a:spcAft>
                  <a:buClrTx/>
                  <a:buSzTx/>
                  <a:buFontTx/>
                  <a:buNone/>
                  <a:tabLst>
                    <a:tab pos="1032510" algn="l"/>
                  </a:tabLst>
                  <a:defRPr/>
                </a:pPr>
                <a:r>
                  <a:rPr kumimoji="0" lang="en-US" sz="800" b="1" i="0" u="none" strike="noStrike" kern="0" cap="none" spc="-10" normalizeH="0" baseline="0" noProof="0">
                    <a:ln>
                      <a:noFill/>
                    </a:ln>
                    <a:solidFill>
                      <a:srgbClr val="3F3F3F"/>
                    </a:solidFill>
                    <a:effectLst/>
                    <a:uLnTx/>
                    <a:uFillTx/>
                    <a:latin typeface="CVS Health Sans"/>
                    <a:ea typeface="+mn-ea"/>
                    <a:cs typeface="CVS Health Sans"/>
                  </a:rPr>
                  <a:t>Observability</a:t>
                </a:r>
                <a:r>
                  <a:rPr kumimoji="0" lang="en-US" sz="800" b="1" i="0" u="none" strike="noStrike" kern="0" cap="none" spc="70" normalizeH="0" baseline="0" noProof="0">
                    <a:ln>
                      <a:noFill/>
                    </a:ln>
                    <a:solidFill>
                      <a:srgbClr val="3F3F3F"/>
                    </a:solidFill>
                    <a:effectLst/>
                    <a:uLnTx/>
                    <a:uFillTx/>
                    <a:latin typeface="CVS Health Sans"/>
                    <a:ea typeface="+mn-ea"/>
                    <a:cs typeface="CVS Health Sans"/>
                  </a:rPr>
                  <a:t> </a:t>
                </a:r>
                <a:r>
                  <a:rPr kumimoji="0" lang="en-US" sz="800" b="1" i="0" u="none" strike="noStrike" kern="0" cap="none" spc="-20" normalizeH="0" baseline="0" noProof="0">
                    <a:ln>
                      <a:noFill/>
                    </a:ln>
                    <a:solidFill>
                      <a:srgbClr val="3F3F3F"/>
                    </a:solidFill>
                    <a:effectLst/>
                    <a:uLnTx/>
                    <a:uFillTx/>
                    <a:latin typeface="CVS Health Sans"/>
                    <a:ea typeface="+mn-ea"/>
                    <a:cs typeface="CVS Health Sans"/>
                  </a:rPr>
                  <a:t>Lead</a:t>
                </a:r>
              </a:p>
              <a:p>
                <a:pPr marL="0" marR="5080" lvl="0" indent="0" algn="ctr" defTabSz="914400" rtl="0" eaLnBrk="1" fontAlgn="auto" latinLnBrk="0" hangingPunct="1">
                  <a:lnSpc>
                    <a:spcPct val="100000"/>
                  </a:lnSpc>
                  <a:spcBef>
                    <a:spcPts val="95"/>
                  </a:spcBef>
                  <a:spcAft>
                    <a:spcPts val="0"/>
                  </a:spcAft>
                  <a:buClrTx/>
                  <a:buSzTx/>
                  <a:buFontTx/>
                  <a:buNone/>
                  <a:tabLst>
                    <a:tab pos="1032510" algn="l"/>
                  </a:tabLst>
                  <a:defRPr/>
                </a:pPr>
                <a:r>
                  <a:rPr kumimoji="0" lang="en-US" sz="800" b="0" i="0" u="none" strike="noStrike" kern="0" cap="none" spc="0" normalizeH="0" baseline="0" noProof="0">
                    <a:ln>
                      <a:noFill/>
                    </a:ln>
                    <a:solidFill>
                      <a:srgbClr val="3F3F3F"/>
                    </a:solidFill>
                    <a:effectLst/>
                    <a:uLnTx/>
                    <a:uFillTx/>
                    <a:latin typeface="CVS Health Sans"/>
                    <a:ea typeface="+mn-ea"/>
                    <a:cs typeface="CVS Health Sans"/>
                  </a:rPr>
                  <a:t>Josh</a:t>
                </a:r>
                <a:r>
                  <a:rPr kumimoji="0" lang="en-US" sz="800" b="0" i="0" u="none" strike="noStrike" kern="0" cap="none" spc="-15" normalizeH="0" baseline="0" noProof="0">
                    <a:ln>
                      <a:noFill/>
                    </a:ln>
                    <a:solidFill>
                      <a:srgbClr val="3F3F3F"/>
                    </a:solidFill>
                    <a:effectLst/>
                    <a:uLnTx/>
                    <a:uFillTx/>
                    <a:latin typeface="CVS Health Sans"/>
                    <a:ea typeface="+mn-ea"/>
                    <a:cs typeface="CVS Health Sans"/>
                  </a:rPr>
                  <a:t> </a:t>
                </a:r>
                <a:r>
                  <a:rPr kumimoji="0" lang="en-US" sz="800" b="0" i="0" u="none" strike="noStrike" kern="0" cap="none" spc="-10" normalizeH="0" baseline="0" noProof="0">
                    <a:ln>
                      <a:noFill/>
                    </a:ln>
                    <a:solidFill>
                      <a:srgbClr val="3F3F3F"/>
                    </a:solidFill>
                    <a:effectLst/>
                    <a:uLnTx/>
                    <a:uFillTx/>
                    <a:latin typeface="CVS Health Sans"/>
                    <a:ea typeface="+mn-ea"/>
                    <a:cs typeface="CVS Health Sans"/>
                  </a:rPr>
                  <a:t>Sparaga</a:t>
                </a:r>
                <a:endParaRPr kumimoji="0" lang="en-US" sz="800" b="0" i="0" u="none" strike="noStrike" kern="0" cap="none" spc="0" normalizeH="0" baseline="0" noProof="0">
                  <a:ln>
                    <a:noFill/>
                  </a:ln>
                  <a:solidFill>
                    <a:srgbClr val="3F3F3F"/>
                  </a:solidFill>
                  <a:effectLst/>
                  <a:uLnTx/>
                  <a:uFillTx/>
                  <a:latin typeface="CVS Health Sans"/>
                  <a:ea typeface="+mn-ea"/>
                  <a:cs typeface="CVS Health Sans"/>
                </a:endParaRPr>
              </a:p>
            </p:txBody>
          </p:sp>
        </p:grpSp>
        <p:grpSp>
          <p:nvGrpSpPr>
            <p:cNvPr id="152" name="Group 151">
              <a:extLst>
                <a:ext uri="{FF2B5EF4-FFF2-40B4-BE49-F238E27FC236}">
                  <a16:creationId xmlns:a16="http://schemas.microsoft.com/office/drawing/2014/main" id="{30C89F3D-7D0B-55C0-5E1D-54EBF9CFE2C8}"/>
                </a:ext>
              </a:extLst>
            </p:cNvPr>
            <p:cNvGrpSpPr/>
            <p:nvPr/>
          </p:nvGrpSpPr>
          <p:grpSpPr>
            <a:xfrm>
              <a:off x="5922169" y="1621438"/>
              <a:ext cx="1094500" cy="304054"/>
              <a:chOff x="5922169" y="1621438"/>
              <a:chExt cx="1094500" cy="304054"/>
            </a:xfrm>
          </p:grpSpPr>
          <p:sp>
            <p:nvSpPr>
              <p:cNvPr id="151" name="Rectangle: Rounded Corners 150">
                <a:extLst>
                  <a:ext uri="{FF2B5EF4-FFF2-40B4-BE49-F238E27FC236}">
                    <a16:creationId xmlns:a16="http://schemas.microsoft.com/office/drawing/2014/main" id="{057E8CD0-3FB6-CCFA-36CE-F683140A813D}"/>
                  </a:ext>
                </a:extLst>
              </p:cNvPr>
              <p:cNvSpPr/>
              <p:nvPr/>
            </p:nvSpPr>
            <p:spPr bwMode="gray">
              <a:xfrm>
                <a:off x="5954180" y="1621438"/>
                <a:ext cx="1030478" cy="304054"/>
              </a:xfrm>
              <a:prstGeom prst="roundRect">
                <a:avLst/>
              </a:prstGeom>
              <a:solidFill>
                <a:srgbClr val="E9E9E9"/>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49" name="TextBox 148">
                <a:extLst>
                  <a:ext uri="{FF2B5EF4-FFF2-40B4-BE49-F238E27FC236}">
                    <a16:creationId xmlns:a16="http://schemas.microsoft.com/office/drawing/2014/main" id="{E57B9F57-5FE4-D217-8FA6-77F3F83E88A5}"/>
                  </a:ext>
                </a:extLst>
              </p:cNvPr>
              <p:cNvSpPr txBox="1"/>
              <p:nvPr/>
            </p:nvSpPr>
            <p:spPr>
              <a:xfrm>
                <a:off x="5922169" y="1647519"/>
                <a:ext cx="1094500" cy="251892"/>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3F3F3F"/>
                    </a:solidFill>
                    <a:effectLst/>
                    <a:uLnTx/>
                    <a:uFillTx/>
                    <a:latin typeface="CVS Health Sans"/>
                    <a:ea typeface="+mn-ea"/>
                    <a:cs typeface="CVS Health Sans"/>
                  </a:rPr>
                  <a:t>Data</a:t>
                </a:r>
                <a:r>
                  <a:rPr kumimoji="0" lang="en-US" sz="800" b="1" i="0" u="none" strike="noStrike" kern="0" cap="none" spc="-20" normalizeH="0" baseline="0" noProof="0">
                    <a:ln>
                      <a:noFill/>
                    </a:ln>
                    <a:solidFill>
                      <a:srgbClr val="3F3F3F"/>
                    </a:solidFill>
                    <a:effectLst/>
                    <a:uLnTx/>
                    <a:uFillTx/>
                    <a:latin typeface="CVS Health Sans"/>
                    <a:ea typeface="+mn-ea"/>
                    <a:cs typeface="CVS Health Sans"/>
                  </a:rPr>
                  <a:t> </a:t>
                </a:r>
                <a:r>
                  <a:rPr kumimoji="0" lang="en-US" sz="800" b="1" i="0" u="none" strike="noStrike" kern="0" cap="none" spc="0" normalizeH="0" baseline="0" noProof="0">
                    <a:ln>
                      <a:noFill/>
                    </a:ln>
                    <a:solidFill>
                      <a:srgbClr val="3F3F3F"/>
                    </a:solidFill>
                    <a:effectLst/>
                    <a:uLnTx/>
                    <a:uFillTx/>
                    <a:latin typeface="CVS Health Sans"/>
                    <a:ea typeface="+mn-ea"/>
                    <a:cs typeface="CVS Health Sans"/>
                  </a:rPr>
                  <a:t>Platforms</a:t>
                </a:r>
                <a:r>
                  <a:rPr kumimoji="0" lang="en-US" sz="800" b="1" i="0" u="none" strike="noStrike" kern="0" cap="none" spc="-20" normalizeH="0" baseline="0" noProof="0">
                    <a:ln>
                      <a:noFill/>
                    </a:ln>
                    <a:solidFill>
                      <a:srgbClr val="3F3F3F"/>
                    </a:solidFill>
                    <a:effectLst/>
                    <a:uLnTx/>
                    <a:uFillTx/>
                    <a:latin typeface="CVS Health Sans"/>
                    <a:ea typeface="+mn-ea"/>
                    <a:cs typeface="CVS Health Sans"/>
                  </a:rPr>
                  <a:t> Lead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3F3F3F"/>
                    </a:solidFill>
                    <a:effectLst/>
                    <a:uLnTx/>
                    <a:uFillTx/>
                    <a:latin typeface="CVS Health Sans"/>
                    <a:ea typeface="+mn-ea"/>
                    <a:cs typeface="CVS Health Sans"/>
                  </a:rPr>
                  <a:t>Chris</a:t>
                </a:r>
                <a:r>
                  <a:rPr kumimoji="0" lang="en-US" sz="800" b="0" i="0" u="none" strike="noStrike" kern="0" cap="none" spc="-30" normalizeH="0" baseline="0" noProof="0">
                    <a:ln>
                      <a:noFill/>
                    </a:ln>
                    <a:solidFill>
                      <a:srgbClr val="3F3F3F"/>
                    </a:solidFill>
                    <a:effectLst/>
                    <a:uLnTx/>
                    <a:uFillTx/>
                    <a:latin typeface="CVS Health Sans"/>
                    <a:ea typeface="+mn-ea"/>
                    <a:cs typeface="CVS Health Sans"/>
                  </a:rPr>
                  <a:t> </a:t>
                </a:r>
                <a:r>
                  <a:rPr kumimoji="0" lang="en-US" sz="800" b="0" i="0" u="none" strike="noStrike" kern="0" cap="none" spc="-10" normalizeH="0" baseline="0" noProof="0">
                    <a:ln>
                      <a:noFill/>
                    </a:ln>
                    <a:solidFill>
                      <a:srgbClr val="3F3F3F"/>
                    </a:solidFill>
                    <a:effectLst/>
                    <a:uLnTx/>
                    <a:uFillTx/>
                    <a:latin typeface="CVS Health Sans"/>
                    <a:ea typeface="+mn-ea"/>
                    <a:cs typeface="CVS Health Sans"/>
                  </a:rPr>
                  <a:t>Robinson</a:t>
                </a:r>
                <a:endParaRPr kumimoji="0" lang="en-US" sz="1500" b="0" i="0" u="none" strike="noStrike" kern="1200" cap="none" spc="0" normalizeH="0" baseline="0" noProof="0">
                  <a:ln>
                    <a:noFill/>
                  </a:ln>
                  <a:solidFill>
                    <a:srgbClr val="3F3F3F"/>
                  </a:solidFill>
                  <a:effectLst/>
                  <a:uLnTx/>
                  <a:uFillTx/>
                  <a:latin typeface="CVS Health Sans"/>
                  <a:ea typeface="+mn-ea"/>
                  <a:cs typeface="+mn-cs"/>
                </a:endParaRPr>
              </a:p>
            </p:txBody>
          </p:sp>
        </p:grpSp>
      </p:grpSp>
      <p:grpSp>
        <p:nvGrpSpPr>
          <p:cNvPr id="201" name="Group 200">
            <a:extLst>
              <a:ext uri="{FF2B5EF4-FFF2-40B4-BE49-F238E27FC236}">
                <a16:creationId xmlns:a16="http://schemas.microsoft.com/office/drawing/2014/main" id="{BFA0FCA5-116D-C421-9C88-BA3B697575E2}"/>
              </a:ext>
            </a:extLst>
          </p:cNvPr>
          <p:cNvGrpSpPr/>
          <p:nvPr/>
        </p:nvGrpSpPr>
        <p:grpSpPr>
          <a:xfrm>
            <a:off x="8477463" y="4456232"/>
            <a:ext cx="1721382" cy="776605"/>
            <a:chOff x="8550227" y="4374134"/>
            <a:chExt cx="1651889" cy="776605"/>
          </a:xfrm>
        </p:grpSpPr>
        <p:sp>
          <p:nvSpPr>
            <p:cNvPr id="202" name="object 77">
              <a:extLst>
                <a:ext uri="{FF2B5EF4-FFF2-40B4-BE49-F238E27FC236}">
                  <a16:creationId xmlns:a16="http://schemas.microsoft.com/office/drawing/2014/main" id="{BFF4D909-5C2B-BACC-801A-EA5AEFE53D7F}"/>
                </a:ext>
              </a:extLst>
            </p:cNvPr>
            <p:cNvSpPr/>
            <p:nvPr/>
          </p:nvSpPr>
          <p:spPr>
            <a:xfrm>
              <a:off x="8612446" y="4374134"/>
              <a:ext cx="1589670" cy="717550"/>
            </a:xfrm>
            <a:custGeom>
              <a:avLst/>
              <a:gdLst/>
              <a:ahLst/>
              <a:cxnLst/>
              <a:rect l="l" t="t" r="r" b="b"/>
              <a:pathLst>
                <a:path w="1609090" h="717550">
                  <a:moveTo>
                    <a:pt x="0" y="65024"/>
                  </a:moveTo>
                  <a:lnTo>
                    <a:pt x="5105" y="39701"/>
                  </a:lnTo>
                  <a:lnTo>
                    <a:pt x="19034" y="19034"/>
                  </a:lnTo>
                  <a:lnTo>
                    <a:pt x="39701" y="5105"/>
                  </a:lnTo>
                  <a:lnTo>
                    <a:pt x="65024" y="0"/>
                  </a:lnTo>
                  <a:lnTo>
                    <a:pt x="1543811" y="0"/>
                  </a:lnTo>
                  <a:lnTo>
                    <a:pt x="1569134" y="5105"/>
                  </a:lnTo>
                  <a:lnTo>
                    <a:pt x="1589801" y="19034"/>
                  </a:lnTo>
                  <a:lnTo>
                    <a:pt x="1603730" y="39701"/>
                  </a:lnTo>
                  <a:lnTo>
                    <a:pt x="1608835" y="65024"/>
                  </a:lnTo>
                  <a:lnTo>
                    <a:pt x="1608835" y="652399"/>
                  </a:lnTo>
                  <a:lnTo>
                    <a:pt x="1603730" y="677648"/>
                  </a:lnTo>
                  <a:lnTo>
                    <a:pt x="1589801" y="698277"/>
                  </a:lnTo>
                  <a:lnTo>
                    <a:pt x="1569134" y="712192"/>
                  </a:lnTo>
                  <a:lnTo>
                    <a:pt x="1543811" y="717296"/>
                  </a:lnTo>
                  <a:lnTo>
                    <a:pt x="65024" y="717296"/>
                  </a:lnTo>
                  <a:lnTo>
                    <a:pt x="39701" y="712192"/>
                  </a:lnTo>
                  <a:lnTo>
                    <a:pt x="19034" y="698277"/>
                  </a:lnTo>
                  <a:lnTo>
                    <a:pt x="5105" y="677648"/>
                  </a:lnTo>
                  <a:lnTo>
                    <a:pt x="0" y="652399"/>
                  </a:lnTo>
                  <a:lnTo>
                    <a:pt x="0" y="65024"/>
                  </a:lnTo>
                  <a:close/>
                </a:path>
              </a:pathLst>
            </a:custGeom>
            <a:ln w="3175">
              <a:solidFill>
                <a:srgbClr val="868686"/>
              </a:solidFill>
              <a:prstDash val="lg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03" name="object 79">
              <a:extLst>
                <a:ext uri="{FF2B5EF4-FFF2-40B4-BE49-F238E27FC236}">
                  <a16:creationId xmlns:a16="http://schemas.microsoft.com/office/drawing/2014/main" id="{F65DB889-BB8B-D5D1-6F6F-394094D5C65F}"/>
                </a:ext>
              </a:extLst>
            </p:cNvPr>
            <p:cNvSpPr/>
            <p:nvPr/>
          </p:nvSpPr>
          <p:spPr>
            <a:xfrm>
              <a:off x="8571865" y="4403661"/>
              <a:ext cx="1606098" cy="717550"/>
            </a:xfrm>
            <a:custGeom>
              <a:avLst/>
              <a:gdLst/>
              <a:ahLst/>
              <a:cxnLst/>
              <a:rect l="l" t="t" r="r" b="b"/>
              <a:pathLst>
                <a:path w="1609090" h="717550">
                  <a:moveTo>
                    <a:pt x="0" y="65024"/>
                  </a:moveTo>
                  <a:lnTo>
                    <a:pt x="5123" y="39701"/>
                  </a:lnTo>
                  <a:lnTo>
                    <a:pt x="19081" y="19034"/>
                  </a:lnTo>
                  <a:lnTo>
                    <a:pt x="39754" y="5105"/>
                  </a:lnTo>
                  <a:lnTo>
                    <a:pt x="65024" y="0"/>
                  </a:lnTo>
                  <a:lnTo>
                    <a:pt x="1543939" y="0"/>
                  </a:lnTo>
                  <a:lnTo>
                    <a:pt x="1569208" y="5105"/>
                  </a:lnTo>
                  <a:lnTo>
                    <a:pt x="1589881" y="19034"/>
                  </a:lnTo>
                  <a:lnTo>
                    <a:pt x="1603839" y="39701"/>
                  </a:lnTo>
                  <a:lnTo>
                    <a:pt x="1608963" y="65024"/>
                  </a:lnTo>
                  <a:lnTo>
                    <a:pt x="1608963" y="652399"/>
                  </a:lnTo>
                  <a:lnTo>
                    <a:pt x="1603839" y="677648"/>
                  </a:lnTo>
                  <a:lnTo>
                    <a:pt x="1589881" y="698277"/>
                  </a:lnTo>
                  <a:lnTo>
                    <a:pt x="1569208" y="712192"/>
                  </a:lnTo>
                  <a:lnTo>
                    <a:pt x="1543939" y="717296"/>
                  </a:lnTo>
                  <a:lnTo>
                    <a:pt x="65024" y="717296"/>
                  </a:lnTo>
                  <a:lnTo>
                    <a:pt x="39754" y="712192"/>
                  </a:lnTo>
                  <a:lnTo>
                    <a:pt x="19081" y="698277"/>
                  </a:lnTo>
                  <a:lnTo>
                    <a:pt x="5123" y="677648"/>
                  </a:lnTo>
                  <a:lnTo>
                    <a:pt x="0" y="652399"/>
                  </a:lnTo>
                  <a:lnTo>
                    <a:pt x="0" y="65024"/>
                  </a:lnTo>
                  <a:close/>
                </a:path>
              </a:pathLst>
            </a:custGeom>
            <a:solidFill>
              <a:schemeClr val="bg1"/>
            </a:solidFill>
            <a:ln w="3175">
              <a:solidFill>
                <a:srgbClr val="868686"/>
              </a:solidFill>
              <a:prstDash val="lg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04" name="object 80">
              <a:extLst>
                <a:ext uri="{FF2B5EF4-FFF2-40B4-BE49-F238E27FC236}">
                  <a16:creationId xmlns:a16="http://schemas.microsoft.com/office/drawing/2014/main" id="{0572C22B-4069-207D-83B9-AD00F11697F6}"/>
                </a:ext>
              </a:extLst>
            </p:cNvPr>
            <p:cNvSpPr/>
            <p:nvPr/>
          </p:nvSpPr>
          <p:spPr>
            <a:xfrm>
              <a:off x="8550227" y="4433189"/>
              <a:ext cx="1609090" cy="717550"/>
            </a:xfrm>
            <a:custGeom>
              <a:avLst/>
              <a:gdLst/>
              <a:ahLst/>
              <a:cxnLst/>
              <a:rect l="l" t="t" r="r" b="b"/>
              <a:pathLst>
                <a:path w="1609090" h="717550">
                  <a:moveTo>
                    <a:pt x="1549273" y="0"/>
                  </a:moveTo>
                  <a:lnTo>
                    <a:pt x="59562" y="0"/>
                  </a:lnTo>
                  <a:lnTo>
                    <a:pt x="36379" y="4681"/>
                  </a:lnTo>
                  <a:lnTo>
                    <a:pt x="17446" y="17446"/>
                  </a:lnTo>
                  <a:lnTo>
                    <a:pt x="4681" y="36379"/>
                  </a:lnTo>
                  <a:lnTo>
                    <a:pt x="0" y="59563"/>
                  </a:lnTo>
                  <a:lnTo>
                    <a:pt x="0" y="657733"/>
                  </a:lnTo>
                  <a:lnTo>
                    <a:pt x="4681" y="680916"/>
                  </a:lnTo>
                  <a:lnTo>
                    <a:pt x="17446" y="699849"/>
                  </a:lnTo>
                  <a:lnTo>
                    <a:pt x="36379" y="712614"/>
                  </a:lnTo>
                  <a:lnTo>
                    <a:pt x="59562" y="717296"/>
                  </a:lnTo>
                  <a:lnTo>
                    <a:pt x="1549273" y="717296"/>
                  </a:lnTo>
                  <a:lnTo>
                    <a:pt x="1572456" y="712614"/>
                  </a:lnTo>
                  <a:lnTo>
                    <a:pt x="1591389" y="699849"/>
                  </a:lnTo>
                  <a:lnTo>
                    <a:pt x="1604154" y="680916"/>
                  </a:lnTo>
                  <a:lnTo>
                    <a:pt x="1608835" y="657733"/>
                  </a:lnTo>
                  <a:lnTo>
                    <a:pt x="1608835" y="59563"/>
                  </a:lnTo>
                  <a:lnTo>
                    <a:pt x="1604154" y="36379"/>
                  </a:lnTo>
                  <a:lnTo>
                    <a:pt x="1591389" y="17446"/>
                  </a:lnTo>
                  <a:lnTo>
                    <a:pt x="1572456" y="4681"/>
                  </a:lnTo>
                  <a:lnTo>
                    <a:pt x="1549273"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05" name="object 81">
              <a:extLst>
                <a:ext uri="{FF2B5EF4-FFF2-40B4-BE49-F238E27FC236}">
                  <a16:creationId xmlns:a16="http://schemas.microsoft.com/office/drawing/2014/main" id="{6A9E12D2-24A6-064C-74EA-90E084BAA271}"/>
                </a:ext>
              </a:extLst>
            </p:cNvPr>
            <p:cNvSpPr/>
            <p:nvPr/>
          </p:nvSpPr>
          <p:spPr>
            <a:xfrm>
              <a:off x="8550227" y="4433189"/>
              <a:ext cx="1609090" cy="717550"/>
            </a:xfrm>
            <a:custGeom>
              <a:avLst/>
              <a:gdLst/>
              <a:ahLst/>
              <a:cxnLst/>
              <a:rect l="l" t="t" r="r" b="b"/>
              <a:pathLst>
                <a:path w="1609090" h="717550">
                  <a:moveTo>
                    <a:pt x="0" y="59563"/>
                  </a:moveTo>
                  <a:lnTo>
                    <a:pt x="4681" y="36379"/>
                  </a:lnTo>
                  <a:lnTo>
                    <a:pt x="17446" y="17446"/>
                  </a:lnTo>
                  <a:lnTo>
                    <a:pt x="36379" y="4681"/>
                  </a:lnTo>
                  <a:lnTo>
                    <a:pt x="59562" y="0"/>
                  </a:lnTo>
                  <a:lnTo>
                    <a:pt x="1549273" y="0"/>
                  </a:lnTo>
                  <a:lnTo>
                    <a:pt x="1572456" y="4681"/>
                  </a:lnTo>
                  <a:lnTo>
                    <a:pt x="1591389" y="17446"/>
                  </a:lnTo>
                  <a:lnTo>
                    <a:pt x="1604154" y="36379"/>
                  </a:lnTo>
                  <a:lnTo>
                    <a:pt x="1608835" y="59563"/>
                  </a:lnTo>
                  <a:lnTo>
                    <a:pt x="1608835" y="657733"/>
                  </a:lnTo>
                  <a:lnTo>
                    <a:pt x="1604154" y="680916"/>
                  </a:lnTo>
                  <a:lnTo>
                    <a:pt x="1591389" y="699849"/>
                  </a:lnTo>
                  <a:lnTo>
                    <a:pt x="1572456" y="712614"/>
                  </a:lnTo>
                  <a:lnTo>
                    <a:pt x="1549273" y="717296"/>
                  </a:lnTo>
                  <a:lnTo>
                    <a:pt x="59562" y="717296"/>
                  </a:lnTo>
                  <a:lnTo>
                    <a:pt x="36379" y="712614"/>
                  </a:lnTo>
                  <a:lnTo>
                    <a:pt x="17446" y="699849"/>
                  </a:lnTo>
                  <a:lnTo>
                    <a:pt x="4681" y="680916"/>
                  </a:lnTo>
                  <a:lnTo>
                    <a:pt x="0" y="657733"/>
                  </a:lnTo>
                  <a:lnTo>
                    <a:pt x="0" y="59563"/>
                  </a:lnTo>
                  <a:close/>
                </a:path>
              </a:pathLst>
            </a:custGeom>
            <a:ln w="3175">
              <a:solidFill>
                <a:srgbClr val="868686"/>
              </a:solidFill>
              <a:prstDash val="lg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grpSp>
      <p:sp>
        <p:nvSpPr>
          <p:cNvPr id="85" name="object 85">
            <a:extLst>
              <a:ext uri="{FF2B5EF4-FFF2-40B4-BE49-F238E27FC236}">
                <a16:creationId xmlns:a16="http://schemas.microsoft.com/office/drawing/2014/main" id="{593D4430-5728-2D30-C0AF-9830AD900ED2}"/>
              </a:ext>
            </a:extLst>
          </p:cNvPr>
          <p:cNvSpPr/>
          <p:nvPr/>
        </p:nvSpPr>
        <p:spPr>
          <a:xfrm>
            <a:off x="8579550" y="5292119"/>
            <a:ext cx="1475622" cy="266700"/>
          </a:xfrm>
          <a:custGeom>
            <a:avLst/>
            <a:gdLst/>
            <a:ahLst/>
            <a:cxnLst/>
            <a:rect l="l" t="t" r="r" b="b"/>
            <a:pathLst>
              <a:path w="1416050" h="266700">
                <a:moveTo>
                  <a:pt x="1371600" y="0"/>
                </a:moveTo>
                <a:lnTo>
                  <a:pt x="44450" y="0"/>
                </a:lnTo>
                <a:lnTo>
                  <a:pt x="27164" y="3478"/>
                </a:lnTo>
                <a:lnTo>
                  <a:pt x="13033" y="12969"/>
                </a:lnTo>
                <a:lnTo>
                  <a:pt x="3498" y="27056"/>
                </a:lnTo>
                <a:lnTo>
                  <a:pt x="0" y="44323"/>
                </a:lnTo>
                <a:lnTo>
                  <a:pt x="0" y="222122"/>
                </a:lnTo>
                <a:lnTo>
                  <a:pt x="3498" y="239389"/>
                </a:lnTo>
                <a:lnTo>
                  <a:pt x="13033" y="253476"/>
                </a:lnTo>
                <a:lnTo>
                  <a:pt x="27164" y="262967"/>
                </a:lnTo>
                <a:lnTo>
                  <a:pt x="44450" y="266446"/>
                </a:lnTo>
                <a:lnTo>
                  <a:pt x="1371600" y="266446"/>
                </a:lnTo>
                <a:lnTo>
                  <a:pt x="1388885" y="262967"/>
                </a:lnTo>
                <a:lnTo>
                  <a:pt x="1403016" y="253476"/>
                </a:lnTo>
                <a:lnTo>
                  <a:pt x="1412551" y="239389"/>
                </a:lnTo>
                <a:lnTo>
                  <a:pt x="1416050" y="222122"/>
                </a:lnTo>
                <a:lnTo>
                  <a:pt x="1416050" y="44323"/>
                </a:lnTo>
                <a:lnTo>
                  <a:pt x="1412551" y="27056"/>
                </a:lnTo>
                <a:lnTo>
                  <a:pt x="1403016" y="12969"/>
                </a:lnTo>
                <a:lnTo>
                  <a:pt x="1388885" y="3478"/>
                </a:lnTo>
                <a:lnTo>
                  <a:pt x="1371600" y="0"/>
                </a:lnTo>
                <a:close/>
              </a:path>
            </a:pathLst>
          </a:custGeom>
          <a:solidFill>
            <a:srgbClr val="E9E9E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75" name="object 75">
            <a:extLst>
              <a:ext uri="{FF2B5EF4-FFF2-40B4-BE49-F238E27FC236}">
                <a16:creationId xmlns:a16="http://schemas.microsoft.com/office/drawing/2014/main" id="{486D4AC6-337B-A969-AF0D-99690A3B2F90}"/>
              </a:ext>
            </a:extLst>
          </p:cNvPr>
          <p:cNvSpPr/>
          <p:nvPr/>
        </p:nvSpPr>
        <p:spPr>
          <a:xfrm>
            <a:off x="8386726" y="2961923"/>
            <a:ext cx="1893163" cy="2642235"/>
          </a:xfrm>
          <a:prstGeom prst="roundRect">
            <a:avLst>
              <a:gd name="adj" fmla="val 3334"/>
            </a:avLst>
          </a:prstGeom>
          <a:ln w="9525">
            <a:solidFill>
              <a:srgbClr val="0A4B8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grpSp>
        <p:nvGrpSpPr>
          <p:cNvPr id="139" name="Group 138">
            <a:extLst>
              <a:ext uri="{FF2B5EF4-FFF2-40B4-BE49-F238E27FC236}">
                <a16:creationId xmlns:a16="http://schemas.microsoft.com/office/drawing/2014/main" id="{A3439C3F-F6EB-98CF-99FD-5F7F8198CD9F}"/>
              </a:ext>
            </a:extLst>
          </p:cNvPr>
          <p:cNvGrpSpPr/>
          <p:nvPr/>
        </p:nvGrpSpPr>
        <p:grpSpPr>
          <a:xfrm>
            <a:off x="8471007" y="3917271"/>
            <a:ext cx="1679818" cy="215582"/>
            <a:chOff x="8544031" y="3935672"/>
            <a:chExt cx="1612003" cy="215582"/>
          </a:xfrm>
        </p:grpSpPr>
        <p:sp>
          <p:nvSpPr>
            <p:cNvPr id="132" name="object 50">
              <a:extLst>
                <a:ext uri="{FF2B5EF4-FFF2-40B4-BE49-F238E27FC236}">
                  <a16:creationId xmlns:a16="http://schemas.microsoft.com/office/drawing/2014/main" id="{CA026B85-8B79-2B93-4447-6F7094D91F11}"/>
                </a:ext>
              </a:extLst>
            </p:cNvPr>
            <p:cNvSpPr/>
            <p:nvPr/>
          </p:nvSpPr>
          <p:spPr>
            <a:xfrm>
              <a:off x="8544031" y="3935672"/>
              <a:ext cx="1612003" cy="215582"/>
            </a:xfrm>
            <a:prstGeom prst="roundRect">
              <a:avLst/>
            </a:prstGeom>
            <a:solidFill>
              <a:srgbClr val="267A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129" name="TextBox 128">
              <a:extLst>
                <a:ext uri="{FF2B5EF4-FFF2-40B4-BE49-F238E27FC236}">
                  <a16:creationId xmlns:a16="http://schemas.microsoft.com/office/drawing/2014/main" id="{53450848-15BD-0F24-BC30-63AB38052130}"/>
                </a:ext>
              </a:extLst>
            </p:cNvPr>
            <p:cNvSpPr txBox="1"/>
            <p:nvPr/>
          </p:nvSpPr>
          <p:spPr>
            <a:xfrm>
              <a:off x="8684687" y="3981457"/>
              <a:ext cx="1337998" cy="124012"/>
            </a:xfrm>
            <a:prstGeom prst="rect">
              <a:avLst/>
            </a:prstGeom>
            <a:noFill/>
          </p:spPr>
          <p:txBody>
            <a:bodyPr wrap="square" lIns="0" tIns="0" rIns="0" bIns="0" anchor="ctr">
              <a:noAutofit/>
            </a:bodyPr>
            <a:lstStyle/>
            <a:p>
              <a:pPr marL="0" marR="20955" lvl="0" indent="0" algn="ctr" defTabSz="914400" rtl="0" eaLnBrk="1" fontAlgn="auto" latinLnBrk="0" hangingPunct="1">
                <a:lnSpc>
                  <a:spcPts val="84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latin typeface="CVS Health Sans"/>
                  <a:ea typeface="+mn-ea"/>
                  <a:cs typeface="CVS Health Sans"/>
                </a:rPr>
                <a:t>1 Splunk</a:t>
              </a:r>
              <a:r>
                <a:rPr kumimoji="0" lang="en-US" sz="800" b="1" i="0" u="none" strike="noStrike" kern="0" cap="none" spc="-35" normalizeH="0" baseline="0" noProof="0">
                  <a:ln>
                    <a:noFill/>
                  </a:ln>
                  <a:solidFill>
                    <a:srgbClr val="FFFFFF"/>
                  </a:solidFill>
                  <a:effectLst/>
                  <a:uLnTx/>
                  <a:uFillTx/>
                  <a:latin typeface="CVS Health Sans"/>
                  <a:ea typeface="+mn-ea"/>
                  <a:cs typeface="CVS Health Sans"/>
                </a:rPr>
                <a:t> </a:t>
              </a:r>
              <a:r>
                <a:rPr kumimoji="0" lang="en-US" sz="800" b="1" i="0" u="none" strike="noStrike" kern="0" cap="none" spc="-20" normalizeH="0" baseline="0" noProof="0">
                  <a:ln>
                    <a:noFill/>
                  </a:ln>
                  <a:solidFill>
                    <a:srgbClr val="FFFFFF"/>
                  </a:solidFill>
                  <a:effectLst/>
                  <a:uLnTx/>
                  <a:uFillTx/>
                  <a:latin typeface="CVS Health Sans"/>
                  <a:ea typeface="+mn-ea"/>
                  <a:cs typeface="CVS Health Sans"/>
                </a:rPr>
                <a:t>Lead </a:t>
              </a:r>
              <a:r>
                <a:rPr kumimoji="0" lang="en-US" sz="800" b="0" i="0" u="none" strike="noStrike" kern="0" cap="none" spc="0" normalizeH="0" baseline="0" noProof="0">
                  <a:ln>
                    <a:noFill/>
                  </a:ln>
                  <a:solidFill>
                    <a:srgbClr val="FFFFFF"/>
                  </a:solidFill>
                  <a:effectLst/>
                  <a:uLnTx/>
                  <a:uFillTx/>
                  <a:latin typeface="CVS Health Sans"/>
                  <a:ea typeface="+mn-ea"/>
                  <a:cs typeface="CVS Health Sans"/>
                </a:rPr>
                <a:t>Ryan</a:t>
              </a:r>
              <a:r>
                <a:rPr kumimoji="0" lang="en-US" sz="800" b="0" i="0" u="none" strike="noStrike" kern="0" cap="none" spc="-20" normalizeH="0" baseline="0" noProof="0">
                  <a:ln>
                    <a:noFill/>
                  </a:ln>
                  <a:solidFill>
                    <a:srgbClr val="FFFFFF"/>
                  </a:solidFill>
                  <a:effectLst/>
                  <a:uLnTx/>
                  <a:uFillTx/>
                  <a:latin typeface="CVS Health Sans"/>
                  <a:ea typeface="+mn-ea"/>
                  <a:cs typeface="CVS Health Sans"/>
                </a:rPr>
                <a:t> </a:t>
              </a:r>
              <a:r>
                <a:rPr kumimoji="0" lang="en-US" sz="800" b="0" i="0" u="none" strike="noStrike" kern="0" cap="none" spc="-10" normalizeH="0" baseline="0" noProof="0">
                  <a:ln>
                    <a:noFill/>
                  </a:ln>
                  <a:solidFill>
                    <a:srgbClr val="FFFFFF"/>
                  </a:solidFill>
                  <a:effectLst/>
                  <a:uLnTx/>
                  <a:uFillTx/>
                  <a:latin typeface="CVS Health Sans"/>
                  <a:ea typeface="+mn-ea"/>
                  <a:cs typeface="CVS Health Sans"/>
                </a:rPr>
                <a:t>Budnik</a:t>
              </a:r>
              <a:endParaRPr kumimoji="0" lang="en-US"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grpSp>
        <p:nvGrpSpPr>
          <p:cNvPr id="140" name="Group 139">
            <a:extLst>
              <a:ext uri="{FF2B5EF4-FFF2-40B4-BE49-F238E27FC236}">
                <a16:creationId xmlns:a16="http://schemas.microsoft.com/office/drawing/2014/main" id="{D730F854-E8E2-D9C6-D18E-5F5E1FCAB823}"/>
              </a:ext>
            </a:extLst>
          </p:cNvPr>
          <p:cNvGrpSpPr/>
          <p:nvPr/>
        </p:nvGrpSpPr>
        <p:grpSpPr>
          <a:xfrm>
            <a:off x="8470900" y="4178139"/>
            <a:ext cx="1683829" cy="215582"/>
            <a:chOff x="8543929" y="4178139"/>
            <a:chExt cx="1615852" cy="215582"/>
          </a:xfrm>
        </p:grpSpPr>
        <p:sp>
          <p:nvSpPr>
            <p:cNvPr id="134" name="object 50">
              <a:extLst>
                <a:ext uri="{FF2B5EF4-FFF2-40B4-BE49-F238E27FC236}">
                  <a16:creationId xmlns:a16="http://schemas.microsoft.com/office/drawing/2014/main" id="{447DB264-C2F8-CFB0-C850-8F78407B58F1}"/>
                </a:ext>
              </a:extLst>
            </p:cNvPr>
            <p:cNvSpPr/>
            <p:nvPr/>
          </p:nvSpPr>
          <p:spPr>
            <a:xfrm>
              <a:off x="8543929" y="4178139"/>
              <a:ext cx="1615852" cy="215582"/>
            </a:xfrm>
            <a:prstGeom prst="roundRect">
              <a:avLst/>
            </a:prstGeom>
            <a:solidFill>
              <a:srgbClr val="267A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131" name="TextBox 130">
              <a:extLst>
                <a:ext uri="{FF2B5EF4-FFF2-40B4-BE49-F238E27FC236}">
                  <a16:creationId xmlns:a16="http://schemas.microsoft.com/office/drawing/2014/main" id="{D5B6B8AE-BA94-2E66-B8E2-CD3A1279E506}"/>
                </a:ext>
              </a:extLst>
            </p:cNvPr>
            <p:cNvSpPr txBox="1"/>
            <p:nvPr/>
          </p:nvSpPr>
          <p:spPr>
            <a:xfrm>
              <a:off x="8644703" y="4238718"/>
              <a:ext cx="1419540" cy="94424"/>
            </a:xfrm>
            <a:prstGeom prst="rect">
              <a:avLst/>
            </a:prstGeom>
            <a:noFill/>
          </p:spPr>
          <p:txBody>
            <a:bodyPr wrap="square" lIns="0" tIns="0" rIns="0" bIns="0" anchor="ctr">
              <a:noAutofit/>
            </a:bodyPr>
            <a:lstStyle/>
            <a:p>
              <a:pPr marL="0" marR="20955" lvl="0" indent="0" algn="ctr" defTabSz="914400" rtl="0" eaLnBrk="1" fontAlgn="auto" latinLnBrk="0" hangingPunct="1">
                <a:lnSpc>
                  <a:spcPts val="84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CVS Health Sans"/>
                  <a:ea typeface="+mn-ea"/>
                  <a:cs typeface="CVS Health Sans"/>
                </a:rPr>
                <a:t>1 Lead Databricks Engineer </a:t>
              </a:r>
              <a:endParaRPr kumimoji="0" lang="en-US"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grpSp>
        <p:nvGrpSpPr>
          <p:cNvPr id="143" name="Group 142">
            <a:extLst>
              <a:ext uri="{FF2B5EF4-FFF2-40B4-BE49-F238E27FC236}">
                <a16:creationId xmlns:a16="http://schemas.microsoft.com/office/drawing/2014/main" id="{7112C656-989C-93F8-D6B7-0D8E25238C14}"/>
              </a:ext>
            </a:extLst>
          </p:cNvPr>
          <p:cNvGrpSpPr/>
          <p:nvPr/>
        </p:nvGrpSpPr>
        <p:grpSpPr>
          <a:xfrm>
            <a:off x="8589541" y="4673355"/>
            <a:ext cx="1476945" cy="232410"/>
            <a:chOff x="8657780" y="4617268"/>
            <a:chExt cx="1417320" cy="232410"/>
          </a:xfrm>
        </p:grpSpPr>
        <p:sp>
          <p:nvSpPr>
            <p:cNvPr id="82" name="object 82">
              <a:extLst>
                <a:ext uri="{FF2B5EF4-FFF2-40B4-BE49-F238E27FC236}">
                  <a16:creationId xmlns:a16="http://schemas.microsoft.com/office/drawing/2014/main" id="{BC4BECDA-893D-7377-7BD4-D39D434F92F5}"/>
                </a:ext>
              </a:extLst>
            </p:cNvPr>
            <p:cNvSpPr/>
            <p:nvPr/>
          </p:nvSpPr>
          <p:spPr>
            <a:xfrm>
              <a:off x="8657780" y="4617268"/>
              <a:ext cx="1417320" cy="232410"/>
            </a:xfrm>
            <a:custGeom>
              <a:avLst/>
              <a:gdLst/>
              <a:ahLst/>
              <a:cxnLst/>
              <a:rect l="l" t="t" r="r" b="b"/>
              <a:pathLst>
                <a:path w="1417320" h="232410">
                  <a:moveTo>
                    <a:pt x="1378712" y="0"/>
                  </a:moveTo>
                  <a:lnTo>
                    <a:pt x="38735" y="0"/>
                  </a:lnTo>
                  <a:lnTo>
                    <a:pt x="23627" y="3051"/>
                  </a:lnTo>
                  <a:lnTo>
                    <a:pt x="11318" y="11366"/>
                  </a:lnTo>
                  <a:lnTo>
                    <a:pt x="3034" y="23681"/>
                  </a:lnTo>
                  <a:lnTo>
                    <a:pt x="0" y="38735"/>
                  </a:lnTo>
                  <a:lnTo>
                    <a:pt x="0" y="193421"/>
                  </a:lnTo>
                  <a:lnTo>
                    <a:pt x="3034" y="208474"/>
                  </a:lnTo>
                  <a:lnTo>
                    <a:pt x="11318" y="220789"/>
                  </a:lnTo>
                  <a:lnTo>
                    <a:pt x="23627" y="229104"/>
                  </a:lnTo>
                  <a:lnTo>
                    <a:pt x="38735" y="232156"/>
                  </a:lnTo>
                  <a:lnTo>
                    <a:pt x="1378712" y="232156"/>
                  </a:lnTo>
                  <a:lnTo>
                    <a:pt x="1393745" y="229104"/>
                  </a:lnTo>
                  <a:lnTo>
                    <a:pt x="1406017" y="220789"/>
                  </a:lnTo>
                  <a:lnTo>
                    <a:pt x="1414287" y="208474"/>
                  </a:lnTo>
                  <a:lnTo>
                    <a:pt x="1417320" y="193421"/>
                  </a:lnTo>
                  <a:lnTo>
                    <a:pt x="1417320" y="38735"/>
                  </a:lnTo>
                  <a:lnTo>
                    <a:pt x="1414287" y="23681"/>
                  </a:lnTo>
                  <a:lnTo>
                    <a:pt x="1406016" y="11366"/>
                  </a:lnTo>
                  <a:lnTo>
                    <a:pt x="1393745" y="3051"/>
                  </a:lnTo>
                  <a:lnTo>
                    <a:pt x="1378712" y="0"/>
                  </a:lnTo>
                  <a:close/>
                </a:path>
              </a:pathLst>
            </a:custGeom>
            <a:solidFill>
              <a:srgbClr val="267A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133" name="TextBox 132">
              <a:extLst>
                <a:ext uri="{FF2B5EF4-FFF2-40B4-BE49-F238E27FC236}">
                  <a16:creationId xmlns:a16="http://schemas.microsoft.com/office/drawing/2014/main" id="{59C35185-4C0D-846D-BDF3-F426DE501F48}"/>
                </a:ext>
              </a:extLst>
            </p:cNvPr>
            <p:cNvSpPr txBox="1"/>
            <p:nvPr/>
          </p:nvSpPr>
          <p:spPr>
            <a:xfrm>
              <a:off x="8715279" y="4671467"/>
              <a:ext cx="1302322" cy="124012"/>
            </a:xfrm>
            <a:prstGeom prst="rect">
              <a:avLst/>
            </a:prstGeom>
            <a:noFill/>
          </p:spPr>
          <p:txBody>
            <a:bodyPr wrap="square" lIns="0" tIns="0" rIns="0" bIns="0" anchor="ctr">
              <a:noAutofit/>
            </a:bodyPr>
            <a:lstStyle/>
            <a:p>
              <a:pPr marL="0" marR="20955" lvl="0" indent="0" algn="ctr" defTabSz="914400" rtl="0" eaLnBrk="1" fontAlgn="auto" latinLnBrk="0" hangingPunct="1">
                <a:lnSpc>
                  <a:spcPts val="84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CVS Health Sans"/>
                  <a:ea typeface="+mn-ea"/>
                  <a:cs typeface="CVS Health Sans"/>
                </a:rPr>
                <a:t>7 Data Engineers (1/Pod)</a:t>
              </a:r>
            </a:p>
          </p:txBody>
        </p:sp>
      </p:grpSp>
      <p:grpSp>
        <p:nvGrpSpPr>
          <p:cNvPr id="144" name="Group 143">
            <a:extLst>
              <a:ext uri="{FF2B5EF4-FFF2-40B4-BE49-F238E27FC236}">
                <a16:creationId xmlns:a16="http://schemas.microsoft.com/office/drawing/2014/main" id="{C55095C3-5306-E5AC-76E4-9A1777BDF097}"/>
              </a:ext>
            </a:extLst>
          </p:cNvPr>
          <p:cNvGrpSpPr/>
          <p:nvPr/>
        </p:nvGrpSpPr>
        <p:grpSpPr>
          <a:xfrm>
            <a:off x="8589541" y="4928573"/>
            <a:ext cx="1476945" cy="232410"/>
            <a:chOff x="8657780" y="4899969"/>
            <a:chExt cx="1417320" cy="232410"/>
          </a:xfrm>
        </p:grpSpPr>
        <p:sp>
          <p:nvSpPr>
            <p:cNvPr id="83" name="object 83">
              <a:extLst>
                <a:ext uri="{FF2B5EF4-FFF2-40B4-BE49-F238E27FC236}">
                  <a16:creationId xmlns:a16="http://schemas.microsoft.com/office/drawing/2014/main" id="{DE3D6AA1-5D35-3FFB-742C-491069672BA0}"/>
                </a:ext>
              </a:extLst>
            </p:cNvPr>
            <p:cNvSpPr/>
            <p:nvPr/>
          </p:nvSpPr>
          <p:spPr>
            <a:xfrm>
              <a:off x="8657780" y="4899969"/>
              <a:ext cx="1417320" cy="232410"/>
            </a:xfrm>
            <a:custGeom>
              <a:avLst/>
              <a:gdLst/>
              <a:ahLst/>
              <a:cxnLst/>
              <a:rect l="l" t="t" r="r" b="b"/>
              <a:pathLst>
                <a:path w="1417320" h="232410">
                  <a:moveTo>
                    <a:pt x="1378712" y="0"/>
                  </a:moveTo>
                  <a:lnTo>
                    <a:pt x="38735" y="0"/>
                  </a:lnTo>
                  <a:lnTo>
                    <a:pt x="23627" y="3051"/>
                  </a:lnTo>
                  <a:lnTo>
                    <a:pt x="11318" y="11366"/>
                  </a:lnTo>
                  <a:lnTo>
                    <a:pt x="3034" y="23681"/>
                  </a:lnTo>
                  <a:lnTo>
                    <a:pt x="0" y="38735"/>
                  </a:lnTo>
                  <a:lnTo>
                    <a:pt x="0" y="193421"/>
                  </a:lnTo>
                  <a:lnTo>
                    <a:pt x="3034" y="208474"/>
                  </a:lnTo>
                  <a:lnTo>
                    <a:pt x="11318" y="220789"/>
                  </a:lnTo>
                  <a:lnTo>
                    <a:pt x="23627" y="229104"/>
                  </a:lnTo>
                  <a:lnTo>
                    <a:pt x="38735" y="232156"/>
                  </a:lnTo>
                  <a:lnTo>
                    <a:pt x="1378712" y="232156"/>
                  </a:lnTo>
                  <a:lnTo>
                    <a:pt x="1393745" y="229104"/>
                  </a:lnTo>
                  <a:lnTo>
                    <a:pt x="1406017" y="220789"/>
                  </a:lnTo>
                  <a:lnTo>
                    <a:pt x="1414287" y="208474"/>
                  </a:lnTo>
                  <a:lnTo>
                    <a:pt x="1417320" y="193421"/>
                  </a:lnTo>
                  <a:lnTo>
                    <a:pt x="1417320" y="38735"/>
                  </a:lnTo>
                  <a:lnTo>
                    <a:pt x="1414287" y="23681"/>
                  </a:lnTo>
                  <a:lnTo>
                    <a:pt x="1406016" y="11366"/>
                  </a:lnTo>
                  <a:lnTo>
                    <a:pt x="1393745" y="3051"/>
                  </a:lnTo>
                  <a:lnTo>
                    <a:pt x="1378712" y="0"/>
                  </a:lnTo>
                  <a:close/>
                </a:path>
              </a:pathLst>
            </a:custGeom>
            <a:solidFill>
              <a:srgbClr val="00A78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135" name="TextBox 134">
              <a:extLst>
                <a:ext uri="{FF2B5EF4-FFF2-40B4-BE49-F238E27FC236}">
                  <a16:creationId xmlns:a16="http://schemas.microsoft.com/office/drawing/2014/main" id="{3DF5A0B0-69FF-FA71-C336-C35EE01FAF14}"/>
                </a:ext>
              </a:extLst>
            </p:cNvPr>
            <p:cNvSpPr txBox="1"/>
            <p:nvPr/>
          </p:nvSpPr>
          <p:spPr>
            <a:xfrm>
              <a:off x="8715279" y="4954168"/>
              <a:ext cx="1302322" cy="124012"/>
            </a:xfrm>
            <a:prstGeom prst="rect">
              <a:avLst/>
            </a:prstGeom>
            <a:noFill/>
          </p:spPr>
          <p:txBody>
            <a:bodyPr wrap="square" lIns="0" tIns="0" rIns="0" bIns="0" anchor="ctr">
              <a:noAutofit/>
            </a:bodyPr>
            <a:lstStyle/>
            <a:p>
              <a:pPr marL="0" marR="20955" lvl="0" indent="0" algn="ctr" defTabSz="914400" rtl="0" eaLnBrk="1" fontAlgn="auto" latinLnBrk="0" hangingPunct="1">
                <a:lnSpc>
                  <a:spcPts val="84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CVS Health Sans"/>
                  <a:ea typeface="+mn-ea"/>
                  <a:cs typeface="CVS Health Sans"/>
                </a:rPr>
                <a:t>14 Data Engineers (2/Pod)</a:t>
              </a:r>
            </a:p>
          </p:txBody>
        </p:sp>
      </p:grpSp>
      <p:sp>
        <p:nvSpPr>
          <p:cNvPr id="136" name="TextBox 135">
            <a:extLst>
              <a:ext uri="{FF2B5EF4-FFF2-40B4-BE49-F238E27FC236}">
                <a16:creationId xmlns:a16="http://schemas.microsoft.com/office/drawing/2014/main" id="{8C86625B-94DB-62EB-FF02-0851DEACF231}"/>
              </a:ext>
            </a:extLst>
          </p:cNvPr>
          <p:cNvSpPr txBox="1"/>
          <p:nvPr/>
        </p:nvSpPr>
        <p:spPr>
          <a:xfrm>
            <a:off x="8638806" y="5363463"/>
            <a:ext cx="1357109" cy="124012"/>
          </a:xfrm>
          <a:prstGeom prst="rect">
            <a:avLst/>
          </a:prstGeom>
          <a:noFill/>
        </p:spPr>
        <p:txBody>
          <a:bodyPr wrap="square" lIns="0" tIns="0" rIns="0" bIns="0" anchor="ctr">
            <a:noAutofit/>
          </a:bodyPr>
          <a:lstStyle/>
          <a:p>
            <a:pPr marL="0" marR="20955" lvl="0" indent="0" algn="ctr" defTabSz="914400" rtl="0" eaLnBrk="1" fontAlgn="auto" latinLnBrk="0" hangingPunct="1">
              <a:lnSpc>
                <a:spcPts val="840"/>
              </a:lnSpc>
              <a:spcBef>
                <a:spcPts val="0"/>
              </a:spcBef>
              <a:spcAft>
                <a:spcPts val="0"/>
              </a:spcAft>
              <a:buClrTx/>
              <a:buSzTx/>
              <a:buFontTx/>
              <a:buNone/>
              <a:tabLst/>
              <a:defRPr/>
            </a:pPr>
            <a:r>
              <a:rPr kumimoji="0" lang="en-US" sz="800" b="0" i="0" u="none" strike="noStrike" kern="0" cap="none" spc="0" normalizeH="0" baseline="0" noProof="0">
                <a:ln>
                  <a:noFill/>
                </a:ln>
                <a:solidFill>
                  <a:srgbClr val="3F3F3F"/>
                </a:solidFill>
                <a:effectLst/>
                <a:uLnTx/>
                <a:uFillTx/>
                <a:latin typeface="CVS Health Sans"/>
                <a:ea typeface="+mn-ea"/>
                <a:cs typeface="CVS Health Sans"/>
              </a:rPr>
              <a:t>Splunk Enterprise</a:t>
            </a:r>
          </a:p>
        </p:txBody>
      </p:sp>
      <p:sp>
        <p:nvSpPr>
          <p:cNvPr id="164" name="object 75">
            <a:extLst>
              <a:ext uri="{FF2B5EF4-FFF2-40B4-BE49-F238E27FC236}">
                <a16:creationId xmlns:a16="http://schemas.microsoft.com/office/drawing/2014/main" id="{60BDBC83-F1BE-8E66-80F3-9293B4CA38F1}"/>
              </a:ext>
            </a:extLst>
          </p:cNvPr>
          <p:cNvSpPr/>
          <p:nvPr/>
        </p:nvSpPr>
        <p:spPr>
          <a:xfrm>
            <a:off x="6372938" y="2961923"/>
            <a:ext cx="1893163" cy="2642235"/>
          </a:xfrm>
          <a:prstGeom prst="roundRect">
            <a:avLst>
              <a:gd name="adj" fmla="val 3585"/>
            </a:avLst>
          </a:prstGeom>
          <a:ln w="9525">
            <a:solidFill>
              <a:srgbClr val="0A4B8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grpSp>
        <p:nvGrpSpPr>
          <p:cNvPr id="167" name="Group 166">
            <a:extLst>
              <a:ext uri="{FF2B5EF4-FFF2-40B4-BE49-F238E27FC236}">
                <a16:creationId xmlns:a16="http://schemas.microsoft.com/office/drawing/2014/main" id="{823E23CD-AADE-03FC-442E-F8BF25DC553D}"/>
              </a:ext>
            </a:extLst>
          </p:cNvPr>
          <p:cNvGrpSpPr/>
          <p:nvPr/>
        </p:nvGrpSpPr>
        <p:grpSpPr>
          <a:xfrm>
            <a:off x="6575752" y="4911720"/>
            <a:ext cx="1476945" cy="232410"/>
            <a:chOff x="8657780" y="4617268"/>
            <a:chExt cx="1417320" cy="232410"/>
          </a:xfrm>
        </p:grpSpPr>
        <p:sp>
          <p:nvSpPr>
            <p:cNvPr id="171" name="object 82">
              <a:extLst>
                <a:ext uri="{FF2B5EF4-FFF2-40B4-BE49-F238E27FC236}">
                  <a16:creationId xmlns:a16="http://schemas.microsoft.com/office/drawing/2014/main" id="{67C84D53-18A8-CB97-2340-879B52CDF42A}"/>
                </a:ext>
              </a:extLst>
            </p:cNvPr>
            <p:cNvSpPr/>
            <p:nvPr/>
          </p:nvSpPr>
          <p:spPr>
            <a:xfrm>
              <a:off x="8657780" y="4617268"/>
              <a:ext cx="1417320" cy="232410"/>
            </a:xfrm>
            <a:custGeom>
              <a:avLst/>
              <a:gdLst/>
              <a:ahLst/>
              <a:cxnLst/>
              <a:rect l="l" t="t" r="r" b="b"/>
              <a:pathLst>
                <a:path w="1417320" h="232410">
                  <a:moveTo>
                    <a:pt x="1378712" y="0"/>
                  </a:moveTo>
                  <a:lnTo>
                    <a:pt x="38735" y="0"/>
                  </a:lnTo>
                  <a:lnTo>
                    <a:pt x="23627" y="3051"/>
                  </a:lnTo>
                  <a:lnTo>
                    <a:pt x="11318" y="11366"/>
                  </a:lnTo>
                  <a:lnTo>
                    <a:pt x="3034" y="23681"/>
                  </a:lnTo>
                  <a:lnTo>
                    <a:pt x="0" y="38735"/>
                  </a:lnTo>
                  <a:lnTo>
                    <a:pt x="0" y="193421"/>
                  </a:lnTo>
                  <a:lnTo>
                    <a:pt x="3034" y="208474"/>
                  </a:lnTo>
                  <a:lnTo>
                    <a:pt x="11318" y="220789"/>
                  </a:lnTo>
                  <a:lnTo>
                    <a:pt x="23627" y="229104"/>
                  </a:lnTo>
                  <a:lnTo>
                    <a:pt x="38735" y="232156"/>
                  </a:lnTo>
                  <a:lnTo>
                    <a:pt x="1378712" y="232156"/>
                  </a:lnTo>
                  <a:lnTo>
                    <a:pt x="1393745" y="229104"/>
                  </a:lnTo>
                  <a:lnTo>
                    <a:pt x="1406017" y="220789"/>
                  </a:lnTo>
                  <a:lnTo>
                    <a:pt x="1414287" y="208474"/>
                  </a:lnTo>
                  <a:lnTo>
                    <a:pt x="1417320" y="193421"/>
                  </a:lnTo>
                  <a:lnTo>
                    <a:pt x="1417320" y="38735"/>
                  </a:lnTo>
                  <a:lnTo>
                    <a:pt x="1414287" y="23681"/>
                  </a:lnTo>
                  <a:lnTo>
                    <a:pt x="1406016" y="11366"/>
                  </a:lnTo>
                  <a:lnTo>
                    <a:pt x="1393745" y="3051"/>
                  </a:lnTo>
                  <a:lnTo>
                    <a:pt x="1378712" y="0"/>
                  </a:lnTo>
                  <a:close/>
                </a:path>
              </a:pathLst>
            </a:custGeom>
            <a:solidFill>
              <a:srgbClr val="267A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172" name="TextBox 171">
              <a:extLst>
                <a:ext uri="{FF2B5EF4-FFF2-40B4-BE49-F238E27FC236}">
                  <a16:creationId xmlns:a16="http://schemas.microsoft.com/office/drawing/2014/main" id="{403768F6-2D01-7C6E-BAAD-35D5A306C424}"/>
                </a:ext>
              </a:extLst>
            </p:cNvPr>
            <p:cNvSpPr txBox="1"/>
            <p:nvPr/>
          </p:nvSpPr>
          <p:spPr>
            <a:xfrm>
              <a:off x="8715279" y="4671467"/>
              <a:ext cx="1302322" cy="124012"/>
            </a:xfrm>
            <a:prstGeom prst="rect">
              <a:avLst/>
            </a:prstGeom>
            <a:noFill/>
          </p:spPr>
          <p:txBody>
            <a:bodyPr wrap="square" lIns="0" tIns="0" rIns="0" bIns="0" anchor="ctr">
              <a:no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CVS Health Sans"/>
                  <a:ea typeface="+mn-ea"/>
                  <a:cs typeface="CVS Health Sans"/>
                </a:rPr>
                <a:t>1</a:t>
              </a:r>
              <a:r>
                <a:rPr kumimoji="0" lang="en-US" sz="800" b="0" i="0" u="none" strike="noStrike" kern="0" cap="none" spc="-20" normalizeH="0" baseline="0" noProof="0">
                  <a:ln>
                    <a:noFill/>
                  </a:ln>
                  <a:solidFill>
                    <a:srgbClr val="FFFFFF"/>
                  </a:solidFill>
                  <a:effectLst/>
                  <a:uLnTx/>
                  <a:uFillTx/>
                  <a:latin typeface="CVS Health Sans"/>
                  <a:ea typeface="+mn-ea"/>
                  <a:cs typeface="CVS Health Sans"/>
                </a:rPr>
                <a:t> Lead </a:t>
              </a:r>
              <a:r>
                <a:rPr kumimoji="0" lang="en-US" sz="800" b="0" i="0" u="none" strike="noStrike" kern="0" cap="none" spc="0" normalizeH="0" baseline="0" noProof="0">
                  <a:ln>
                    <a:noFill/>
                  </a:ln>
                  <a:solidFill>
                    <a:srgbClr val="FFFFFF"/>
                  </a:solidFill>
                  <a:effectLst/>
                  <a:uLnTx/>
                  <a:uFillTx/>
                  <a:latin typeface="CVS Health Sans"/>
                  <a:ea typeface="+mn-ea"/>
                  <a:cs typeface="CVS Health Sans"/>
                </a:rPr>
                <a:t>Data Engineer</a:t>
              </a:r>
              <a:endParaRPr kumimoji="0" lang="en-US"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grpSp>
        <p:nvGrpSpPr>
          <p:cNvPr id="212" name="Group 211">
            <a:extLst>
              <a:ext uri="{FF2B5EF4-FFF2-40B4-BE49-F238E27FC236}">
                <a16:creationId xmlns:a16="http://schemas.microsoft.com/office/drawing/2014/main" id="{394F33BF-440C-DD0E-BFF9-09E0BAFEF028}"/>
              </a:ext>
            </a:extLst>
          </p:cNvPr>
          <p:cNvGrpSpPr/>
          <p:nvPr/>
        </p:nvGrpSpPr>
        <p:grpSpPr>
          <a:xfrm>
            <a:off x="6565761" y="5292119"/>
            <a:ext cx="1475622" cy="266700"/>
            <a:chOff x="6715701" y="5292119"/>
            <a:chExt cx="1416050" cy="266700"/>
          </a:xfrm>
        </p:grpSpPr>
        <p:sp>
          <p:nvSpPr>
            <p:cNvPr id="158" name="object 85">
              <a:extLst>
                <a:ext uri="{FF2B5EF4-FFF2-40B4-BE49-F238E27FC236}">
                  <a16:creationId xmlns:a16="http://schemas.microsoft.com/office/drawing/2014/main" id="{BDAE45F5-5F4A-7F98-C43B-4E2FD01BE22C}"/>
                </a:ext>
              </a:extLst>
            </p:cNvPr>
            <p:cNvSpPr/>
            <p:nvPr/>
          </p:nvSpPr>
          <p:spPr>
            <a:xfrm>
              <a:off x="6715701" y="5292119"/>
              <a:ext cx="1416050" cy="266700"/>
            </a:xfrm>
            <a:custGeom>
              <a:avLst/>
              <a:gdLst/>
              <a:ahLst/>
              <a:cxnLst/>
              <a:rect l="l" t="t" r="r" b="b"/>
              <a:pathLst>
                <a:path w="1416050" h="266700">
                  <a:moveTo>
                    <a:pt x="1371600" y="0"/>
                  </a:moveTo>
                  <a:lnTo>
                    <a:pt x="44450" y="0"/>
                  </a:lnTo>
                  <a:lnTo>
                    <a:pt x="27164" y="3478"/>
                  </a:lnTo>
                  <a:lnTo>
                    <a:pt x="13033" y="12969"/>
                  </a:lnTo>
                  <a:lnTo>
                    <a:pt x="3498" y="27056"/>
                  </a:lnTo>
                  <a:lnTo>
                    <a:pt x="0" y="44323"/>
                  </a:lnTo>
                  <a:lnTo>
                    <a:pt x="0" y="222122"/>
                  </a:lnTo>
                  <a:lnTo>
                    <a:pt x="3498" y="239389"/>
                  </a:lnTo>
                  <a:lnTo>
                    <a:pt x="13033" y="253476"/>
                  </a:lnTo>
                  <a:lnTo>
                    <a:pt x="27164" y="262967"/>
                  </a:lnTo>
                  <a:lnTo>
                    <a:pt x="44450" y="266446"/>
                  </a:lnTo>
                  <a:lnTo>
                    <a:pt x="1371600" y="266446"/>
                  </a:lnTo>
                  <a:lnTo>
                    <a:pt x="1388885" y="262967"/>
                  </a:lnTo>
                  <a:lnTo>
                    <a:pt x="1403016" y="253476"/>
                  </a:lnTo>
                  <a:lnTo>
                    <a:pt x="1412551" y="239389"/>
                  </a:lnTo>
                  <a:lnTo>
                    <a:pt x="1416050" y="222122"/>
                  </a:lnTo>
                  <a:lnTo>
                    <a:pt x="1416050" y="44323"/>
                  </a:lnTo>
                  <a:lnTo>
                    <a:pt x="1412551" y="27056"/>
                  </a:lnTo>
                  <a:lnTo>
                    <a:pt x="1403016" y="12969"/>
                  </a:lnTo>
                  <a:lnTo>
                    <a:pt x="1388885" y="3478"/>
                  </a:lnTo>
                  <a:lnTo>
                    <a:pt x="1371600" y="0"/>
                  </a:lnTo>
                  <a:close/>
                </a:path>
              </a:pathLst>
            </a:custGeom>
            <a:solidFill>
              <a:srgbClr val="E9E9E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160" name="TextBox 159">
              <a:extLst>
                <a:ext uri="{FF2B5EF4-FFF2-40B4-BE49-F238E27FC236}">
                  <a16:creationId xmlns:a16="http://schemas.microsoft.com/office/drawing/2014/main" id="{1E984F7E-B635-7CF2-6293-2D58677F0E21}"/>
                </a:ext>
              </a:extLst>
            </p:cNvPr>
            <p:cNvSpPr txBox="1"/>
            <p:nvPr/>
          </p:nvSpPr>
          <p:spPr>
            <a:xfrm>
              <a:off x="6772565" y="5363463"/>
              <a:ext cx="1302322" cy="124012"/>
            </a:xfrm>
            <a:prstGeom prst="rect">
              <a:avLst/>
            </a:prstGeom>
            <a:noFill/>
          </p:spPr>
          <p:txBody>
            <a:bodyPr wrap="square" lIns="0" tIns="0" rIns="0" bIns="0" anchor="ctr">
              <a:no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lang="en-US" sz="800" b="0" i="0" u="none" strike="noStrike" kern="0" cap="none" spc="0" normalizeH="0" baseline="0" noProof="0">
                  <a:ln>
                    <a:noFill/>
                  </a:ln>
                  <a:solidFill>
                    <a:srgbClr val="3E3E3E"/>
                  </a:solidFill>
                  <a:effectLst/>
                  <a:uLnTx/>
                  <a:uFillTx/>
                  <a:latin typeface="CVS Health Sans"/>
                  <a:ea typeface="+mn-ea"/>
                  <a:cs typeface="CVS Health Sans"/>
                </a:rPr>
                <a:t>Data</a:t>
              </a:r>
              <a:r>
                <a:rPr kumimoji="0" lang="en-US" sz="800" b="0" i="0" u="none" strike="noStrike" kern="0" cap="none" spc="-25" normalizeH="0" baseline="0" noProof="0">
                  <a:ln>
                    <a:noFill/>
                  </a:ln>
                  <a:solidFill>
                    <a:srgbClr val="3E3E3E"/>
                  </a:solidFill>
                  <a:effectLst/>
                  <a:uLnTx/>
                  <a:uFillTx/>
                  <a:latin typeface="CVS Health Sans"/>
                  <a:ea typeface="+mn-ea"/>
                  <a:cs typeface="CVS Health Sans"/>
                </a:rPr>
                <a:t> </a:t>
              </a:r>
              <a:r>
                <a:rPr kumimoji="0" lang="en-US" sz="800" b="0" i="0" u="none" strike="noStrike" kern="0" cap="none" spc="-10" normalizeH="0" baseline="0" noProof="0">
                  <a:ln>
                    <a:noFill/>
                  </a:ln>
                  <a:solidFill>
                    <a:srgbClr val="3E3E3E"/>
                  </a:solidFill>
                  <a:effectLst/>
                  <a:uLnTx/>
                  <a:uFillTx/>
                  <a:latin typeface="CVS Health Sans"/>
                  <a:ea typeface="+mn-ea"/>
                  <a:cs typeface="CVS Health Sans"/>
                </a:rPr>
                <a:t>Engineers</a:t>
              </a:r>
              <a:endParaRPr kumimoji="0" lang="en-US"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sp>
        <p:nvSpPr>
          <p:cNvPr id="86" name="object 86">
            <a:extLst>
              <a:ext uri="{FF2B5EF4-FFF2-40B4-BE49-F238E27FC236}">
                <a16:creationId xmlns:a16="http://schemas.microsoft.com/office/drawing/2014/main" id="{A86759D9-BDF4-42C1-AADD-36591884C802}"/>
              </a:ext>
            </a:extLst>
          </p:cNvPr>
          <p:cNvSpPr txBox="1"/>
          <p:nvPr/>
        </p:nvSpPr>
        <p:spPr>
          <a:xfrm>
            <a:off x="8835740" y="3006499"/>
            <a:ext cx="1677287" cy="704680"/>
          </a:xfrm>
          <a:prstGeom prst="rect">
            <a:avLst/>
          </a:prstGeom>
          <a:ln>
            <a:noFill/>
          </a:ln>
        </p:spPr>
        <p:txBody>
          <a:bodyPr vert="horz" wrap="square" lIns="0" tIns="12065" rIns="0" bIns="0" rtlCol="0">
            <a:spAutoFit/>
          </a:bodyPr>
          <a:lstStyle/>
          <a:p>
            <a:pPr marL="0" marR="26797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0" cap="none" spc="0" normalizeH="0" baseline="0" noProof="0">
                <a:ln>
                  <a:noFill/>
                </a:ln>
                <a:solidFill>
                  <a:srgbClr val="0A4B8C"/>
                </a:solidFill>
                <a:effectLst/>
                <a:uLnTx/>
                <a:uFillTx/>
                <a:latin typeface="CVS Health Sans"/>
                <a:ea typeface="+mn-ea"/>
                <a:cs typeface="CVS Health Sans"/>
              </a:rPr>
              <a:t>D:</a:t>
            </a:r>
            <a:r>
              <a:rPr kumimoji="0" sz="900" b="1" i="0" u="none" strike="noStrike" kern="0" cap="none" spc="-10" normalizeH="0" baseline="0" noProof="0">
                <a:ln>
                  <a:noFill/>
                </a:ln>
                <a:solidFill>
                  <a:srgbClr val="0A4B8C"/>
                </a:solidFill>
                <a:effectLst/>
                <a:uLnTx/>
                <a:uFillTx/>
                <a:latin typeface="CVS Health Sans"/>
                <a:ea typeface="+mn-ea"/>
                <a:cs typeface="CVS Health Sans"/>
              </a:rPr>
              <a:t> Observability, Availability,</a:t>
            </a:r>
            <a:r>
              <a:rPr kumimoji="0" sz="900" b="1" i="0" u="none" strike="noStrike" kern="0" cap="none" spc="80" normalizeH="0" baseline="0" noProof="0">
                <a:ln>
                  <a:noFill/>
                </a:ln>
                <a:solidFill>
                  <a:srgbClr val="0A4B8C"/>
                </a:solidFill>
                <a:effectLst/>
                <a:uLnTx/>
                <a:uFillTx/>
                <a:latin typeface="CVS Health Sans"/>
                <a:ea typeface="+mn-ea"/>
                <a:cs typeface="CVS Health Sans"/>
              </a:rPr>
              <a:t> </a:t>
            </a:r>
            <a:r>
              <a:rPr kumimoji="0" sz="900" b="1" i="0" u="none" strike="noStrike" kern="0" cap="none" spc="-25" normalizeH="0" baseline="0" noProof="0">
                <a:ln>
                  <a:noFill/>
                </a:ln>
                <a:solidFill>
                  <a:srgbClr val="0A4B8C"/>
                </a:solidFill>
                <a:effectLst/>
                <a:uLnTx/>
                <a:uFillTx/>
                <a:latin typeface="CVS Health Sans"/>
                <a:ea typeface="+mn-ea"/>
                <a:cs typeface="CVS Health Sans"/>
              </a:rPr>
              <a:t>and</a:t>
            </a:r>
            <a:r>
              <a:rPr kumimoji="0" sz="900" b="1" i="0" u="none" strike="noStrike" kern="0" cap="none" spc="-10" normalizeH="0" baseline="0" noProof="0">
                <a:ln>
                  <a:noFill/>
                </a:ln>
                <a:solidFill>
                  <a:srgbClr val="0A4B8C"/>
                </a:solidFill>
                <a:effectLst/>
                <a:uLnTx/>
                <a:uFillTx/>
                <a:latin typeface="CVS Health Sans"/>
                <a:ea typeface="+mn-ea"/>
                <a:cs typeface="CVS Health Sans"/>
              </a:rPr>
              <a:t> Performance</a:t>
            </a:r>
            <a:r>
              <a:rPr kumimoji="0" lang="en-US" sz="900" b="1" i="0" u="none" strike="noStrike" kern="0" cap="none" spc="-10" normalizeH="0" baseline="0" noProof="0">
                <a:ln>
                  <a:noFill/>
                </a:ln>
                <a:solidFill>
                  <a:srgbClr val="0A4B8C"/>
                </a:solidFill>
                <a:effectLst/>
                <a:uLnTx/>
                <a:uFillTx/>
                <a:latin typeface="CVS Health Sans"/>
                <a:ea typeface="+mn-ea"/>
                <a:cs typeface="CVS Health Sans"/>
              </a:rPr>
              <a:t> </a:t>
            </a:r>
            <a:r>
              <a:rPr kumimoji="0" sz="900" b="1" i="0" u="none" strike="noStrike" kern="0" cap="none" spc="-10" normalizeH="0" baseline="0" noProof="0">
                <a:ln>
                  <a:noFill/>
                </a:ln>
                <a:solidFill>
                  <a:srgbClr val="0A4B8C"/>
                </a:solidFill>
                <a:effectLst/>
                <a:uLnTx/>
                <a:uFillTx/>
                <a:latin typeface="CVS Health Sans"/>
                <a:ea typeface="+mn-ea"/>
                <a:cs typeface="CVS Health Sans"/>
              </a:rPr>
              <a:t>Monitoring Rationalization</a:t>
            </a:r>
            <a:r>
              <a:rPr kumimoji="0" sz="900" b="1" i="0" u="none" strike="noStrike" kern="0" cap="none" spc="90" normalizeH="0" baseline="0" noProof="0">
                <a:ln>
                  <a:noFill/>
                </a:ln>
                <a:solidFill>
                  <a:srgbClr val="0A4B8C"/>
                </a:solidFill>
                <a:effectLst/>
                <a:uLnTx/>
                <a:uFillTx/>
                <a:latin typeface="CVS Health Sans"/>
                <a:ea typeface="+mn-ea"/>
                <a:cs typeface="CVS Health Sans"/>
              </a:rPr>
              <a:t> </a:t>
            </a:r>
            <a:r>
              <a:rPr kumimoji="0" sz="900" b="1" i="0" u="none" strike="noStrike" kern="0" cap="none" spc="-50" normalizeH="0" baseline="0" noProof="0">
                <a:ln>
                  <a:noFill/>
                </a:ln>
                <a:solidFill>
                  <a:srgbClr val="0A4B8C"/>
                </a:solidFill>
                <a:effectLst/>
                <a:uLnTx/>
                <a:uFillTx/>
                <a:latin typeface="CVS Health Sans"/>
                <a:ea typeface="+mn-ea"/>
                <a:cs typeface="CVS Health Sans"/>
              </a:rPr>
              <a:t>|</a:t>
            </a:r>
            <a:br>
              <a:rPr kumimoji="0" lang="en-US" sz="900" b="1" i="0" u="none" strike="noStrike" kern="0" cap="none" spc="-50" normalizeH="0" baseline="0" noProof="0">
                <a:ln>
                  <a:noFill/>
                </a:ln>
                <a:solidFill>
                  <a:srgbClr val="0A4B8C"/>
                </a:solidFill>
                <a:effectLst/>
                <a:uLnTx/>
                <a:uFillTx/>
                <a:latin typeface="CVS Health Sans"/>
                <a:ea typeface="+mn-ea"/>
                <a:cs typeface="CVS Health Sans"/>
              </a:rPr>
            </a:br>
            <a:r>
              <a:rPr kumimoji="0" sz="900" b="1" i="0" u="none" strike="noStrike" kern="0" cap="none" spc="-10" normalizeH="0" baseline="0" noProof="0">
                <a:ln>
                  <a:noFill/>
                </a:ln>
                <a:solidFill>
                  <a:srgbClr val="0A4B8C"/>
                </a:solidFill>
                <a:effectLst/>
                <a:uLnTx/>
                <a:uFillTx/>
                <a:latin typeface="CVS Health Sans"/>
                <a:ea typeface="+mn-ea"/>
                <a:cs typeface="CVS Health Sans"/>
              </a:rPr>
              <a:t> </a:t>
            </a:r>
            <a:r>
              <a:rPr lang="en-US" sz="900" kern="0" spc="-10">
                <a:solidFill>
                  <a:srgbClr val="0A4B8C"/>
                </a:solidFill>
                <a:latin typeface="CVS Health Sans"/>
                <a:cs typeface="CVS Health Sans"/>
              </a:rPr>
              <a:t>Sept</a:t>
            </a:r>
            <a:r>
              <a:rPr kumimoji="0" lang="en-US" sz="900" b="0" i="0" u="none" strike="noStrike" kern="0" cap="none" spc="-10" normalizeH="0" baseline="0" noProof="0">
                <a:ln>
                  <a:noFill/>
                </a:ln>
                <a:solidFill>
                  <a:srgbClr val="0A4B8C"/>
                </a:solidFill>
                <a:effectLst/>
                <a:uLnTx/>
                <a:uFillTx/>
                <a:latin typeface="CVS Health Sans"/>
                <a:ea typeface="+mn-ea"/>
                <a:cs typeface="CVS Health Sans"/>
              </a:rPr>
              <a:t> ’26 - May ’27</a:t>
            </a:r>
            <a:endParaRPr kumimoji="0" lang="en-US" sz="600" b="0" i="0" u="none" strike="noStrike" kern="0" cap="none" spc="-10" normalizeH="0" baseline="0" noProof="0">
              <a:ln>
                <a:noFill/>
              </a:ln>
              <a:solidFill>
                <a:srgbClr val="0A4B8C"/>
              </a:solidFill>
              <a:effectLst/>
              <a:uLnTx/>
              <a:uFillTx/>
              <a:latin typeface="CVS Health Sans"/>
              <a:ea typeface="+mn-ea"/>
              <a:cs typeface="CVS Health Sans"/>
            </a:endParaRPr>
          </a:p>
        </p:txBody>
      </p:sp>
      <p:sp>
        <p:nvSpPr>
          <p:cNvPr id="55" name="object 55">
            <a:extLst>
              <a:ext uri="{FF2B5EF4-FFF2-40B4-BE49-F238E27FC236}">
                <a16:creationId xmlns:a16="http://schemas.microsoft.com/office/drawing/2014/main" id="{A091818B-9EB0-2B95-8DD0-494907BAFA51}"/>
              </a:ext>
            </a:extLst>
          </p:cNvPr>
          <p:cNvSpPr txBox="1"/>
          <p:nvPr/>
        </p:nvSpPr>
        <p:spPr>
          <a:xfrm>
            <a:off x="4607943" y="4325395"/>
            <a:ext cx="1104400" cy="119905"/>
          </a:xfrm>
          <a:prstGeom prst="rect">
            <a:avLst/>
          </a:prstGeom>
        </p:spPr>
        <p:txBody>
          <a:bodyPr vert="horz" wrap="square" lIns="0" tIns="12065" rIns="0" bIns="0" rtlCol="0">
            <a:sp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sz="700" b="0" i="0" u="none" strike="noStrike" kern="0" cap="none" spc="0" normalizeH="0" baseline="0" noProof="0">
                <a:ln>
                  <a:noFill/>
                </a:ln>
                <a:solidFill>
                  <a:srgbClr val="FFFFFF"/>
                </a:solidFill>
                <a:effectLst/>
                <a:uLnTx/>
                <a:uFillTx/>
                <a:latin typeface="CVS Health Sans"/>
                <a:ea typeface="+mn-ea"/>
                <a:cs typeface="CVS Health Sans"/>
              </a:rPr>
              <a:t>4</a:t>
            </a:r>
            <a:r>
              <a:rPr kumimoji="0" sz="700" b="0" i="0" u="none" strike="noStrike" kern="0" cap="none" spc="-40" normalizeH="0" baseline="0" noProof="0">
                <a:ln>
                  <a:noFill/>
                </a:ln>
                <a:solidFill>
                  <a:srgbClr val="FFFFFF"/>
                </a:solidFill>
                <a:effectLst/>
                <a:uLnTx/>
                <a:uFillTx/>
                <a:latin typeface="CVS Health Sans"/>
                <a:ea typeface="+mn-ea"/>
                <a:cs typeface="CVS Health Sans"/>
              </a:rPr>
              <a:t> </a:t>
            </a:r>
            <a:r>
              <a:rPr kumimoji="0" sz="700" b="0" i="0" u="none" strike="noStrike" kern="0" cap="none" spc="0" normalizeH="0" baseline="0" noProof="0">
                <a:ln>
                  <a:noFill/>
                </a:ln>
                <a:solidFill>
                  <a:srgbClr val="FFFFFF"/>
                </a:solidFill>
                <a:effectLst/>
                <a:uLnTx/>
                <a:uFillTx/>
                <a:latin typeface="CVS Health Sans"/>
                <a:ea typeface="+mn-ea"/>
                <a:cs typeface="CVS Health Sans"/>
              </a:rPr>
              <a:t>Data</a:t>
            </a:r>
            <a:r>
              <a:rPr kumimoji="0" sz="700" b="0" i="0" u="none" strike="noStrike" kern="0" cap="none" spc="-15" normalizeH="0" baseline="0" noProof="0">
                <a:ln>
                  <a:noFill/>
                </a:ln>
                <a:solidFill>
                  <a:srgbClr val="FFFFFF"/>
                </a:solidFill>
                <a:effectLst/>
                <a:uLnTx/>
                <a:uFillTx/>
                <a:latin typeface="CVS Health Sans"/>
                <a:ea typeface="+mn-ea"/>
                <a:cs typeface="CVS Health Sans"/>
              </a:rPr>
              <a:t> </a:t>
            </a:r>
            <a:r>
              <a:rPr kumimoji="0" sz="700" b="0" i="0" u="none" strike="noStrike" kern="0" cap="none" spc="0" normalizeH="0" baseline="0" noProof="0">
                <a:ln>
                  <a:noFill/>
                </a:ln>
                <a:solidFill>
                  <a:srgbClr val="FFFFFF"/>
                </a:solidFill>
                <a:effectLst/>
                <a:uLnTx/>
                <a:uFillTx/>
                <a:latin typeface="CVS Health Sans"/>
                <a:ea typeface="+mn-ea"/>
                <a:cs typeface="CVS Health Sans"/>
              </a:rPr>
              <a:t>Engineers</a:t>
            </a:r>
            <a:r>
              <a:rPr kumimoji="0" sz="700" b="0" i="0" u="none" strike="noStrike" kern="0" cap="none" spc="-20" normalizeH="0" baseline="0" noProof="0">
                <a:ln>
                  <a:noFill/>
                </a:ln>
                <a:solidFill>
                  <a:srgbClr val="FFFFFF"/>
                </a:solidFill>
                <a:effectLst/>
                <a:uLnTx/>
                <a:uFillTx/>
                <a:latin typeface="CVS Health Sans"/>
                <a:ea typeface="+mn-ea"/>
                <a:cs typeface="CVS Health Sans"/>
              </a:rPr>
              <a:t> </a:t>
            </a:r>
            <a:r>
              <a:rPr kumimoji="0" sz="700" b="0" i="0" u="none" strike="noStrike" kern="0" cap="none" spc="-10" normalizeH="0" baseline="0" noProof="0">
                <a:ln>
                  <a:noFill/>
                </a:ln>
                <a:solidFill>
                  <a:srgbClr val="FFFFFF"/>
                </a:solidFill>
                <a:effectLst/>
                <a:uLnTx/>
                <a:uFillTx/>
                <a:latin typeface="CVS Health Sans"/>
                <a:ea typeface="+mn-ea"/>
                <a:cs typeface="CVS Health Sans"/>
              </a:rPr>
              <a:t>(2/Pod)</a:t>
            </a:r>
            <a:endParaRPr kumimoji="0" lang="en-US" sz="7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sp>
        <p:nvSpPr>
          <p:cNvPr id="56" name="object 56">
            <a:extLst>
              <a:ext uri="{FF2B5EF4-FFF2-40B4-BE49-F238E27FC236}">
                <a16:creationId xmlns:a16="http://schemas.microsoft.com/office/drawing/2014/main" id="{05107DF3-F05C-6161-6186-58C2935FFBFE}"/>
              </a:ext>
            </a:extLst>
          </p:cNvPr>
          <p:cNvSpPr txBox="1"/>
          <p:nvPr/>
        </p:nvSpPr>
        <p:spPr>
          <a:xfrm>
            <a:off x="4412234" y="4130288"/>
            <a:ext cx="106908" cy="123189"/>
          </a:xfrm>
          <a:prstGeom prst="rect">
            <a:avLst/>
          </a:prstGeom>
        </p:spPr>
        <p:txBody>
          <a:bodyPr vert="vert270" wrap="square" lIns="0" tIns="0" rIns="0" bIns="0" rtlCol="0">
            <a:spAutoFit/>
          </a:bodyPr>
          <a:lstStyle/>
          <a:p>
            <a:pPr marL="12700" marR="0" lvl="0" indent="0" algn="l" defTabSz="914400" rtl="0" eaLnBrk="1" fontAlgn="auto" latinLnBrk="0" hangingPunct="1">
              <a:lnSpc>
                <a:spcPts val="755"/>
              </a:lnSpc>
              <a:spcBef>
                <a:spcPts val="0"/>
              </a:spcBef>
              <a:spcAft>
                <a:spcPts val="0"/>
              </a:spcAft>
              <a:buClrTx/>
              <a:buSzTx/>
              <a:buFontTx/>
              <a:buNone/>
              <a:tabLst/>
              <a:defRPr/>
            </a:pPr>
            <a:r>
              <a:rPr kumimoji="0" sz="700" b="1" i="0" u="none" strike="noStrike" kern="0" cap="none" spc="-25" normalizeH="0" baseline="0" noProof="0">
                <a:ln>
                  <a:noFill/>
                </a:ln>
                <a:solidFill>
                  <a:srgbClr val="3F3F3F"/>
                </a:solidFill>
                <a:effectLst/>
                <a:uLnTx/>
                <a:uFillTx/>
                <a:latin typeface="CVS Health Sans"/>
                <a:ea typeface="+mn-ea"/>
                <a:cs typeface="CVS Health Sans"/>
              </a:rPr>
              <a:t>B1</a:t>
            </a:r>
            <a:endParaRPr kumimoji="0" sz="700" b="0" i="0" u="none" strike="noStrike" kern="0" cap="none" spc="0" normalizeH="0" baseline="0" noProof="0">
              <a:ln>
                <a:noFill/>
              </a:ln>
              <a:solidFill>
                <a:srgbClr val="3F3F3F"/>
              </a:solidFill>
              <a:effectLst/>
              <a:uLnTx/>
              <a:uFillTx/>
              <a:latin typeface="CVS Health Sans"/>
              <a:ea typeface="+mn-ea"/>
              <a:cs typeface="CVS Health Sans"/>
            </a:endParaRPr>
          </a:p>
        </p:txBody>
      </p:sp>
      <p:sp>
        <p:nvSpPr>
          <p:cNvPr id="57" name="object 57">
            <a:extLst>
              <a:ext uri="{FF2B5EF4-FFF2-40B4-BE49-F238E27FC236}">
                <a16:creationId xmlns:a16="http://schemas.microsoft.com/office/drawing/2014/main" id="{8638CB54-F22C-4DE1-DBBC-243C82C54C54}"/>
              </a:ext>
            </a:extLst>
          </p:cNvPr>
          <p:cNvSpPr txBox="1"/>
          <p:nvPr/>
        </p:nvSpPr>
        <p:spPr>
          <a:xfrm>
            <a:off x="4412234" y="4837185"/>
            <a:ext cx="106908" cy="137160"/>
          </a:xfrm>
          <a:prstGeom prst="rect">
            <a:avLst/>
          </a:prstGeom>
        </p:spPr>
        <p:txBody>
          <a:bodyPr vert="vert270" wrap="square" lIns="0" tIns="0" rIns="0" bIns="0" rtlCol="0">
            <a:spAutoFit/>
          </a:bodyPr>
          <a:lstStyle/>
          <a:p>
            <a:pPr marL="12700" marR="0" lvl="0" indent="0" algn="l" defTabSz="914400" rtl="0" eaLnBrk="1" fontAlgn="auto" latinLnBrk="0" hangingPunct="1">
              <a:lnSpc>
                <a:spcPts val="755"/>
              </a:lnSpc>
              <a:spcBef>
                <a:spcPts val="0"/>
              </a:spcBef>
              <a:spcAft>
                <a:spcPts val="0"/>
              </a:spcAft>
              <a:buClrTx/>
              <a:buSzTx/>
              <a:buFontTx/>
              <a:buNone/>
              <a:tabLst/>
              <a:defRPr/>
            </a:pPr>
            <a:r>
              <a:rPr kumimoji="0" sz="700" b="1" i="0" u="none" strike="noStrike" kern="0" cap="none" spc="-25" normalizeH="0" baseline="0" noProof="0">
                <a:ln>
                  <a:noFill/>
                </a:ln>
                <a:solidFill>
                  <a:srgbClr val="3F3F3F"/>
                </a:solidFill>
                <a:effectLst/>
                <a:uLnTx/>
                <a:uFillTx/>
                <a:latin typeface="CVS Health Sans"/>
                <a:ea typeface="+mn-ea"/>
                <a:cs typeface="CVS Health Sans"/>
              </a:rPr>
              <a:t>B2</a:t>
            </a:r>
            <a:endParaRPr kumimoji="0" sz="700" b="0" i="0" u="none" strike="noStrike" kern="0" cap="none" spc="0" normalizeH="0" baseline="0" noProof="0">
              <a:ln>
                <a:noFill/>
              </a:ln>
              <a:solidFill>
                <a:srgbClr val="3F3F3F"/>
              </a:solidFill>
              <a:effectLst/>
              <a:uLnTx/>
              <a:uFillTx/>
              <a:latin typeface="CVS Health Sans"/>
              <a:ea typeface="+mn-ea"/>
              <a:cs typeface="CVS Health Sans"/>
            </a:endParaRPr>
          </a:p>
        </p:txBody>
      </p:sp>
      <p:sp>
        <p:nvSpPr>
          <p:cNvPr id="73" name="object 73">
            <a:extLst>
              <a:ext uri="{FF2B5EF4-FFF2-40B4-BE49-F238E27FC236}">
                <a16:creationId xmlns:a16="http://schemas.microsoft.com/office/drawing/2014/main" id="{9C86DAC6-709D-7402-2BE4-FD4D11167343}"/>
              </a:ext>
            </a:extLst>
          </p:cNvPr>
          <p:cNvSpPr txBox="1"/>
          <p:nvPr/>
        </p:nvSpPr>
        <p:spPr>
          <a:xfrm>
            <a:off x="6883850" y="3006499"/>
            <a:ext cx="1318854" cy="415498"/>
          </a:xfrm>
          <a:prstGeom prst="rect">
            <a:avLst/>
          </a:prstGeom>
        </p:spPr>
        <p:txBody>
          <a:bodyPr vert="horz" wrap="square" lIns="0" tIns="0" rIns="0" bIns="0" rtlCol="0">
            <a:spAutoFit/>
          </a:bodyPr>
          <a:lstStyle/>
          <a:p>
            <a:pPr marL="12700" marR="508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0" cap="none" spc="0" normalizeH="0" baseline="0" noProof="0">
                <a:ln>
                  <a:noFill/>
                </a:ln>
                <a:solidFill>
                  <a:srgbClr val="0A4B8C"/>
                </a:solidFill>
                <a:effectLst/>
                <a:uLnTx/>
                <a:uFillTx/>
                <a:latin typeface="CVS Health Sans"/>
                <a:ea typeface="+mn-ea"/>
                <a:cs typeface="CVS Health Sans"/>
              </a:rPr>
              <a:t>C:</a:t>
            </a:r>
            <a:r>
              <a:rPr kumimoji="0" sz="900" b="1" i="0" u="none" strike="noStrike" kern="0" cap="none" spc="10" normalizeH="0" baseline="0" noProof="0">
                <a:ln>
                  <a:noFill/>
                </a:ln>
                <a:solidFill>
                  <a:srgbClr val="0A4B8C"/>
                </a:solidFill>
                <a:effectLst/>
                <a:uLnTx/>
                <a:uFillTx/>
                <a:latin typeface="CVS Health Sans"/>
                <a:ea typeface="+mn-ea"/>
                <a:cs typeface="CVS Health Sans"/>
              </a:rPr>
              <a:t> </a:t>
            </a:r>
            <a:r>
              <a:rPr kumimoji="0" sz="900" b="1" i="0" u="none" strike="noStrike" kern="0" cap="none" spc="-10" normalizeH="0" baseline="0" noProof="0">
                <a:ln>
                  <a:noFill/>
                </a:ln>
                <a:solidFill>
                  <a:srgbClr val="0A4B8C"/>
                </a:solidFill>
                <a:effectLst/>
                <a:uLnTx/>
                <a:uFillTx/>
                <a:latin typeface="CVS Health Sans"/>
                <a:ea typeface="+mn-ea"/>
                <a:cs typeface="CVS Health Sans"/>
              </a:rPr>
              <a:t>Architecture</a:t>
            </a:r>
            <a:r>
              <a:rPr kumimoji="0" sz="900" b="1" i="0" u="none" strike="noStrike" kern="0" cap="none" spc="55" normalizeH="0" baseline="0" noProof="0">
                <a:ln>
                  <a:noFill/>
                </a:ln>
                <a:solidFill>
                  <a:srgbClr val="0A4B8C"/>
                </a:solidFill>
                <a:effectLst/>
                <a:uLnTx/>
                <a:uFillTx/>
                <a:latin typeface="CVS Health Sans"/>
                <a:ea typeface="+mn-ea"/>
                <a:cs typeface="CVS Health Sans"/>
              </a:rPr>
              <a:t> </a:t>
            </a:r>
            <a:r>
              <a:rPr kumimoji="0" sz="900" b="1" i="0" u="none" strike="noStrike" kern="0" cap="none" spc="-50" normalizeH="0" baseline="0" noProof="0">
                <a:ln>
                  <a:noFill/>
                </a:ln>
                <a:solidFill>
                  <a:srgbClr val="0A4B8C"/>
                </a:solidFill>
                <a:effectLst/>
                <a:uLnTx/>
                <a:uFillTx/>
                <a:latin typeface="CVS Health Sans"/>
                <a:ea typeface="+mn-ea"/>
                <a:cs typeface="CVS Health Sans"/>
              </a:rPr>
              <a:t>&amp;</a:t>
            </a:r>
            <a:r>
              <a:rPr kumimoji="0" sz="900" b="1" i="0" u="none" strike="noStrike" kern="0" cap="none" spc="-10" normalizeH="0" baseline="0" noProof="0">
                <a:ln>
                  <a:noFill/>
                </a:ln>
                <a:solidFill>
                  <a:srgbClr val="0A4B8C"/>
                </a:solidFill>
                <a:effectLst/>
                <a:uLnTx/>
                <a:uFillTx/>
                <a:latin typeface="CVS Health Sans"/>
                <a:ea typeface="+mn-ea"/>
                <a:cs typeface="CVS Health Sans"/>
              </a:rPr>
              <a:t> Pipeline </a:t>
            </a:r>
            <a:r>
              <a:rPr kumimoji="0" sz="900" b="1" i="0" u="none" strike="noStrike" kern="0" cap="none" spc="0" normalizeH="0" baseline="0" noProof="0">
                <a:ln>
                  <a:noFill/>
                </a:ln>
                <a:solidFill>
                  <a:srgbClr val="0A4B8C"/>
                </a:solidFill>
                <a:effectLst/>
                <a:uLnTx/>
                <a:uFillTx/>
                <a:latin typeface="CVS Health Sans"/>
                <a:ea typeface="+mn-ea"/>
                <a:cs typeface="CVS Health Sans"/>
              </a:rPr>
              <a:t>Enablement</a:t>
            </a:r>
            <a:r>
              <a:rPr kumimoji="0" sz="900" b="1" i="0" u="none" strike="noStrike" kern="0" cap="none" spc="-40" normalizeH="0" baseline="0" noProof="0">
                <a:ln>
                  <a:noFill/>
                </a:ln>
                <a:solidFill>
                  <a:srgbClr val="0A4B8C"/>
                </a:solidFill>
                <a:effectLst/>
                <a:uLnTx/>
                <a:uFillTx/>
                <a:latin typeface="CVS Health Sans"/>
                <a:ea typeface="+mn-ea"/>
                <a:cs typeface="CVS Health Sans"/>
              </a:rPr>
              <a:t> </a:t>
            </a:r>
            <a:r>
              <a:rPr kumimoji="0" lang="en-US" sz="900" b="1" i="0" u="none" strike="noStrike" kern="0" cap="none" spc="-50" normalizeH="0" baseline="0" noProof="0">
                <a:ln>
                  <a:noFill/>
                </a:ln>
                <a:solidFill>
                  <a:srgbClr val="0A4B8C"/>
                </a:solidFill>
                <a:effectLst/>
                <a:uLnTx/>
                <a:uFillTx/>
                <a:latin typeface="CVS Health Sans"/>
                <a:ea typeface="+mn-ea"/>
                <a:cs typeface="CVS Health Sans"/>
              </a:rPr>
              <a:t>| </a:t>
            </a:r>
            <a:r>
              <a:rPr kumimoji="0" lang="en-US" sz="900" b="0" i="0" u="none" strike="noStrike" kern="0" cap="none" spc="-10" normalizeH="0" baseline="0" noProof="0">
                <a:ln>
                  <a:noFill/>
                </a:ln>
                <a:solidFill>
                  <a:srgbClr val="0A4B8C"/>
                </a:solidFill>
                <a:effectLst/>
                <a:uLnTx/>
                <a:uFillTx/>
                <a:latin typeface="CVS Health Sans"/>
                <a:ea typeface="+mn-ea"/>
                <a:cs typeface="CVS Health Sans"/>
              </a:rPr>
              <a:t>Sept ’26 - May ’27</a:t>
            </a:r>
            <a:endParaRPr kumimoji="0" sz="900" b="0" i="0" u="none" strike="noStrike" kern="0" cap="none" spc="0" normalizeH="0" baseline="0" noProof="0">
              <a:ln>
                <a:noFill/>
              </a:ln>
              <a:solidFill>
                <a:srgbClr val="0A4B8C"/>
              </a:solidFill>
              <a:effectLst/>
              <a:uLnTx/>
              <a:uFillTx/>
              <a:latin typeface="CVS Health Sans"/>
              <a:ea typeface="+mn-ea"/>
              <a:cs typeface="CVS Health Sans"/>
            </a:endParaRPr>
          </a:p>
        </p:txBody>
      </p:sp>
      <p:sp>
        <p:nvSpPr>
          <p:cNvPr id="84" name="object 84">
            <a:extLst>
              <a:ext uri="{FF2B5EF4-FFF2-40B4-BE49-F238E27FC236}">
                <a16:creationId xmlns:a16="http://schemas.microsoft.com/office/drawing/2014/main" id="{0B47A5DC-D333-D057-70B2-B665C5537373}"/>
              </a:ext>
            </a:extLst>
          </p:cNvPr>
          <p:cNvSpPr/>
          <p:nvPr/>
        </p:nvSpPr>
        <p:spPr>
          <a:xfrm>
            <a:off x="8458357" y="3042441"/>
            <a:ext cx="305753" cy="302895"/>
          </a:xfrm>
          <a:custGeom>
            <a:avLst/>
            <a:gdLst/>
            <a:ahLst/>
            <a:cxnLst/>
            <a:rect l="l" t="t" r="r" b="b"/>
            <a:pathLst>
              <a:path w="311784" h="302894">
                <a:moveTo>
                  <a:pt x="309117" y="178942"/>
                </a:moveTo>
                <a:lnTo>
                  <a:pt x="310284" y="172227"/>
                </a:lnTo>
                <a:lnTo>
                  <a:pt x="311118" y="165417"/>
                </a:lnTo>
                <a:lnTo>
                  <a:pt x="311618" y="158511"/>
                </a:lnTo>
                <a:lnTo>
                  <a:pt x="311784" y="151511"/>
                </a:lnTo>
                <a:lnTo>
                  <a:pt x="311618" y="144508"/>
                </a:lnTo>
                <a:lnTo>
                  <a:pt x="311118" y="137588"/>
                </a:lnTo>
                <a:lnTo>
                  <a:pt x="310284" y="130740"/>
                </a:lnTo>
                <a:lnTo>
                  <a:pt x="309117" y="123951"/>
                </a:lnTo>
                <a:lnTo>
                  <a:pt x="278129" y="116331"/>
                </a:lnTo>
                <a:lnTo>
                  <a:pt x="276058" y="110116"/>
                </a:lnTo>
                <a:lnTo>
                  <a:pt x="273653" y="104044"/>
                </a:lnTo>
                <a:lnTo>
                  <a:pt x="270914" y="98115"/>
                </a:lnTo>
                <a:lnTo>
                  <a:pt x="267842" y="92328"/>
                </a:lnTo>
                <a:lnTo>
                  <a:pt x="284352" y="65531"/>
                </a:lnTo>
                <a:lnTo>
                  <a:pt x="275744" y="54566"/>
                </a:lnTo>
                <a:lnTo>
                  <a:pt x="266160" y="44386"/>
                </a:lnTo>
                <a:lnTo>
                  <a:pt x="255670" y="35063"/>
                </a:lnTo>
                <a:lnTo>
                  <a:pt x="244348" y="26669"/>
                </a:lnTo>
                <a:lnTo>
                  <a:pt x="216788" y="42672"/>
                </a:lnTo>
                <a:lnTo>
                  <a:pt x="210883" y="39695"/>
                </a:lnTo>
                <a:lnTo>
                  <a:pt x="204787" y="37052"/>
                </a:lnTo>
                <a:lnTo>
                  <a:pt x="198500" y="34742"/>
                </a:lnTo>
                <a:lnTo>
                  <a:pt x="192024" y="32765"/>
                </a:lnTo>
                <a:lnTo>
                  <a:pt x="184150" y="2539"/>
                </a:lnTo>
                <a:lnTo>
                  <a:pt x="177244" y="1446"/>
                </a:lnTo>
                <a:lnTo>
                  <a:pt x="170243" y="650"/>
                </a:lnTo>
                <a:lnTo>
                  <a:pt x="163147" y="164"/>
                </a:lnTo>
                <a:lnTo>
                  <a:pt x="155955" y="0"/>
                </a:lnTo>
                <a:lnTo>
                  <a:pt x="148691" y="164"/>
                </a:lnTo>
                <a:lnTo>
                  <a:pt x="141557" y="650"/>
                </a:lnTo>
                <a:lnTo>
                  <a:pt x="134542" y="1446"/>
                </a:lnTo>
                <a:lnTo>
                  <a:pt x="127634" y="2539"/>
                </a:lnTo>
                <a:lnTo>
                  <a:pt x="119760" y="32765"/>
                </a:lnTo>
                <a:lnTo>
                  <a:pt x="113355" y="34742"/>
                </a:lnTo>
                <a:lnTo>
                  <a:pt x="107092" y="37052"/>
                </a:lnTo>
                <a:lnTo>
                  <a:pt x="100972" y="39695"/>
                </a:lnTo>
                <a:lnTo>
                  <a:pt x="94995" y="42672"/>
                </a:lnTo>
                <a:lnTo>
                  <a:pt x="67436" y="26669"/>
                </a:lnTo>
                <a:lnTo>
                  <a:pt x="56116" y="35063"/>
                </a:lnTo>
                <a:lnTo>
                  <a:pt x="45640" y="44386"/>
                </a:lnTo>
                <a:lnTo>
                  <a:pt x="36093" y="54566"/>
                </a:lnTo>
                <a:lnTo>
                  <a:pt x="27558" y="65531"/>
                </a:lnTo>
                <a:lnTo>
                  <a:pt x="43941" y="92328"/>
                </a:lnTo>
                <a:lnTo>
                  <a:pt x="40870" y="98061"/>
                </a:lnTo>
                <a:lnTo>
                  <a:pt x="38131" y="103997"/>
                </a:lnTo>
                <a:lnTo>
                  <a:pt x="35726" y="110099"/>
                </a:lnTo>
                <a:lnTo>
                  <a:pt x="33654" y="116331"/>
                </a:lnTo>
                <a:lnTo>
                  <a:pt x="2666" y="123951"/>
                </a:lnTo>
                <a:lnTo>
                  <a:pt x="1500" y="130740"/>
                </a:lnTo>
                <a:lnTo>
                  <a:pt x="666" y="137588"/>
                </a:lnTo>
                <a:lnTo>
                  <a:pt x="166" y="144508"/>
                </a:lnTo>
                <a:lnTo>
                  <a:pt x="0" y="151511"/>
                </a:lnTo>
                <a:lnTo>
                  <a:pt x="166" y="158511"/>
                </a:lnTo>
                <a:lnTo>
                  <a:pt x="666" y="165417"/>
                </a:lnTo>
                <a:lnTo>
                  <a:pt x="1500" y="172227"/>
                </a:lnTo>
                <a:lnTo>
                  <a:pt x="2666" y="178942"/>
                </a:lnTo>
                <a:lnTo>
                  <a:pt x="33654" y="186562"/>
                </a:lnTo>
                <a:lnTo>
                  <a:pt x="35726" y="192795"/>
                </a:lnTo>
                <a:lnTo>
                  <a:pt x="38131" y="198897"/>
                </a:lnTo>
                <a:lnTo>
                  <a:pt x="40870" y="204833"/>
                </a:lnTo>
                <a:lnTo>
                  <a:pt x="43941" y="210565"/>
                </a:lnTo>
                <a:lnTo>
                  <a:pt x="27558" y="237362"/>
                </a:lnTo>
                <a:lnTo>
                  <a:pt x="36093" y="248382"/>
                </a:lnTo>
                <a:lnTo>
                  <a:pt x="45640" y="258556"/>
                </a:lnTo>
                <a:lnTo>
                  <a:pt x="56116" y="267848"/>
                </a:lnTo>
                <a:lnTo>
                  <a:pt x="67436" y="276225"/>
                </a:lnTo>
                <a:lnTo>
                  <a:pt x="94995" y="260223"/>
                </a:lnTo>
                <a:lnTo>
                  <a:pt x="100919" y="263201"/>
                </a:lnTo>
                <a:lnTo>
                  <a:pt x="107045" y="265858"/>
                </a:lnTo>
                <a:lnTo>
                  <a:pt x="113337" y="268206"/>
                </a:lnTo>
                <a:lnTo>
                  <a:pt x="119760" y="270255"/>
                </a:lnTo>
                <a:lnTo>
                  <a:pt x="127634" y="300354"/>
                </a:lnTo>
                <a:lnTo>
                  <a:pt x="134542" y="301448"/>
                </a:lnTo>
                <a:lnTo>
                  <a:pt x="141557" y="302244"/>
                </a:lnTo>
                <a:lnTo>
                  <a:pt x="148691" y="302730"/>
                </a:lnTo>
                <a:lnTo>
                  <a:pt x="155955" y="302894"/>
                </a:lnTo>
                <a:lnTo>
                  <a:pt x="163147" y="302730"/>
                </a:lnTo>
                <a:lnTo>
                  <a:pt x="170243" y="302244"/>
                </a:lnTo>
                <a:lnTo>
                  <a:pt x="177244" y="301448"/>
                </a:lnTo>
                <a:lnTo>
                  <a:pt x="184150" y="300354"/>
                </a:lnTo>
                <a:lnTo>
                  <a:pt x="192024" y="270255"/>
                </a:lnTo>
                <a:lnTo>
                  <a:pt x="198447" y="268206"/>
                </a:lnTo>
                <a:lnTo>
                  <a:pt x="204739" y="265858"/>
                </a:lnTo>
                <a:lnTo>
                  <a:pt x="210865" y="263201"/>
                </a:lnTo>
                <a:lnTo>
                  <a:pt x="216788" y="260223"/>
                </a:lnTo>
                <a:lnTo>
                  <a:pt x="244348" y="276225"/>
                </a:lnTo>
                <a:lnTo>
                  <a:pt x="255670" y="267848"/>
                </a:lnTo>
                <a:lnTo>
                  <a:pt x="266160" y="258556"/>
                </a:lnTo>
                <a:lnTo>
                  <a:pt x="275744" y="248382"/>
                </a:lnTo>
                <a:lnTo>
                  <a:pt x="284352" y="237362"/>
                </a:lnTo>
                <a:lnTo>
                  <a:pt x="267842" y="210565"/>
                </a:lnTo>
                <a:lnTo>
                  <a:pt x="270914" y="204850"/>
                </a:lnTo>
                <a:lnTo>
                  <a:pt x="273653" y="198945"/>
                </a:lnTo>
                <a:lnTo>
                  <a:pt x="276058" y="192849"/>
                </a:lnTo>
                <a:lnTo>
                  <a:pt x="278129" y="186562"/>
                </a:lnTo>
                <a:lnTo>
                  <a:pt x="309117" y="178942"/>
                </a:lnTo>
                <a:close/>
              </a:path>
              <a:path w="311784" h="302894">
                <a:moveTo>
                  <a:pt x="116966" y="180466"/>
                </a:moveTo>
                <a:lnTo>
                  <a:pt x="61086" y="151256"/>
                </a:lnTo>
                <a:lnTo>
                  <a:pt x="116966" y="122047"/>
                </a:lnTo>
              </a:path>
              <a:path w="311784" h="302894">
                <a:moveTo>
                  <a:pt x="194817" y="180466"/>
                </a:moveTo>
                <a:lnTo>
                  <a:pt x="250698" y="151256"/>
                </a:lnTo>
                <a:lnTo>
                  <a:pt x="194817" y="122047"/>
                </a:lnTo>
              </a:path>
              <a:path w="311784" h="302894">
                <a:moveTo>
                  <a:pt x="169163" y="108076"/>
                </a:moveTo>
                <a:lnTo>
                  <a:pt x="144399" y="194437"/>
                </a:lnTo>
              </a:path>
            </a:pathLst>
          </a:custGeom>
          <a:ln w="6350">
            <a:solidFill>
              <a:srgbClr val="0A305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102" name="object 102">
            <a:extLst>
              <a:ext uri="{FF2B5EF4-FFF2-40B4-BE49-F238E27FC236}">
                <a16:creationId xmlns:a16="http://schemas.microsoft.com/office/drawing/2014/main" id="{380E153F-7B24-C7C8-E7FE-18F5CAA215F8}"/>
              </a:ext>
            </a:extLst>
          </p:cNvPr>
          <p:cNvSpPr txBox="1"/>
          <p:nvPr/>
        </p:nvSpPr>
        <p:spPr>
          <a:xfrm>
            <a:off x="4481636" y="5005734"/>
            <a:ext cx="1355165" cy="135293"/>
          </a:xfrm>
          <a:prstGeom prst="rect">
            <a:avLst/>
          </a:prstGeom>
        </p:spPr>
        <p:txBody>
          <a:bodyPr vert="horz" wrap="square" lIns="0" tIns="12065" rIns="0" bIns="0" rtlCol="0">
            <a:sp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sz="800" b="0" i="0" u="none" strike="noStrike" kern="0" cap="none" spc="0" normalizeH="0" baseline="0" noProof="0">
                <a:ln>
                  <a:noFill/>
                </a:ln>
                <a:solidFill>
                  <a:srgbClr val="FFFFFF"/>
                </a:solidFill>
                <a:effectLst/>
                <a:uLnTx/>
                <a:uFillTx/>
                <a:latin typeface="CVS Health Sans"/>
                <a:ea typeface="+mn-ea"/>
                <a:cs typeface="CVS Health Sans"/>
              </a:rPr>
              <a:t>6</a:t>
            </a:r>
            <a:r>
              <a:rPr kumimoji="0" sz="800" b="0" i="0" u="none" strike="noStrike" kern="0" cap="none" spc="-35" normalizeH="0" baseline="0" noProof="0">
                <a:ln>
                  <a:noFill/>
                </a:ln>
                <a:solidFill>
                  <a:srgbClr val="FFFFFF"/>
                </a:solidFill>
                <a:effectLst/>
                <a:uLnTx/>
                <a:uFillTx/>
                <a:latin typeface="CVS Health Sans"/>
                <a:ea typeface="+mn-ea"/>
                <a:cs typeface="CVS Health Sans"/>
              </a:rPr>
              <a:t> </a:t>
            </a:r>
            <a:r>
              <a:rPr kumimoji="0" sz="800" b="0" i="0" u="none" strike="noStrike" kern="0" cap="none" spc="0" normalizeH="0" baseline="0" noProof="0">
                <a:ln>
                  <a:noFill/>
                </a:ln>
                <a:solidFill>
                  <a:srgbClr val="FFFFFF"/>
                </a:solidFill>
                <a:effectLst/>
                <a:uLnTx/>
                <a:uFillTx/>
                <a:latin typeface="CVS Health Sans"/>
                <a:ea typeface="+mn-ea"/>
                <a:cs typeface="CVS Health Sans"/>
              </a:rPr>
              <a:t>Data</a:t>
            </a:r>
            <a:r>
              <a:rPr kumimoji="0" sz="800" b="0" i="0" u="none" strike="noStrike" kern="0" cap="none" spc="-20" normalizeH="0" baseline="0" noProof="0">
                <a:ln>
                  <a:noFill/>
                </a:ln>
                <a:solidFill>
                  <a:srgbClr val="FFFFFF"/>
                </a:solidFill>
                <a:effectLst/>
                <a:uLnTx/>
                <a:uFillTx/>
                <a:latin typeface="CVS Health Sans"/>
                <a:ea typeface="+mn-ea"/>
                <a:cs typeface="CVS Health Sans"/>
              </a:rPr>
              <a:t> </a:t>
            </a:r>
            <a:r>
              <a:rPr kumimoji="0" sz="800" b="0" i="0" u="none" strike="noStrike" kern="0" cap="none" spc="0" normalizeH="0" baseline="0" noProof="0">
                <a:ln>
                  <a:noFill/>
                </a:ln>
                <a:solidFill>
                  <a:srgbClr val="FFFFFF"/>
                </a:solidFill>
                <a:effectLst/>
                <a:uLnTx/>
                <a:uFillTx/>
                <a:latin typeface="CVS Health Sans"/>
                <a:ea typeface="+mn-ea"/>
                <a:cs typeface="CVS Health Sans"/>
              </a:rPr>
              <a:t>Engineers</a:t>
            </a:r>
            <a:r>
              <a:rPr kumimoji="0" sz="800" b="0" i="0" u="none" strike="noStrike" kern="0" cap="none" spc="-15" normalizeH="0" baseline="0" noProof="0">
                <a:ln>
                  <a:noFill/>
                </a:ln>
                <a:solidFill>
                  <a:srgbClr val="FFFFFF"/>
                </a:solidFill>
                <a:effectLst/>
                <a:uLnTx/>
                <a:uFillTx/>
                <a:latin typeface="CVS Health Sans"/>
                <a:ea typeface="+mn-ea"/>
                <a:cs typeface="CVS Health Sans"/>
              </a:rPr>
              <a:t> </a:t>
            </a:r>
            <a:r>
              <a:rPr kumimoji="0" sz="800" b="0" i="0" u="none" strike="noStrike" kern="0" cap="none" spc="-10" normalizeH="0" baseline="0" noProof="0">
                <a:ln>
                  <a:noFill/>
                </a:ln>
                <a:solidFill>
                  <a:srgbClr val="FFFFFF"/>
                </a:solidFill>
                <a:effectLst/>
                <a:uLnTx/>
                <a:uFillTx/>
                <a:latin typeface="CVS Health Sans"/>
                <a:ea typeface="+mn-ea"/>
                <a:cs typeface="CVS Health Sans"/>
              </a:rPr>
              <a:t>(2/Pod)</a:t>
            </a:r>
            <a:endParaRPr kumimoji="0" lang="en-US"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sp>
        <p:nvSpPr>
          <p:cNvPr id="106" name="object 106">
            <a:extLst>
              <a:ext uri="{FF2B5EF4-FFF2-40B4-BE49-F238E27FC236}">
                <a16:creationId xmlns:a16="http://schemas.microsoft.com/office/drawing/2014/main" id="{3D086F2A-B628-7D88-8D01-90F762E626E7}"/>
              </a:ext>
            </a:extLst>
          </p:cNvPr>
          <p:cNvSpPr txBox="1"/>
          <p:nvPr/>
        </p:nvSpPr>
        <p:spPr>
          <a:xfrm>
            <a:off x="4843072" y="3006499"/>
            <a:ext cx="1760158" cy="553998"/>
          </a:xfrm>
          <a:prstGeom prst="rect">
            <a:avLst/>
          </a:prstGeom>
        </p:spPr>
        <p:txBody>
          <a:bodyPr vert="horz" wrap="square" lIns="0" tIns="0" rIns="0" bIns="0" rtlCol="0">
            <a:spAutoFit/>
          </a:bodyPr>
          <a:lstStyle/>
          <a:p>
            <a:pPr marL="0" marR="617855"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0" cap="none" spc="0" normalizeH="0" baseline="0" noProof="0">
                <a:ln>
                  <a:noFill/>
                </a:ln>
                <a:solidFill>
                  <a:srgbClr val="0A4B8C"/>
                </a:solidFill>
                <a:effectLst/>
                <a:uLnTx/>
                <a:uFillTx/>
                <a:latin typeface="CVS Health Sans"/>
                <a:ea typeface="+mn-ea"/>
                <a:cs typeface="CVS Health Sans"/>
              </a:rPr>
              <a:t>B1</a:t>
            </a:r>
            <a:r>
              <a:rPr kumimoji="0" sz="900" b="1" i="0" u="none" strike="noStrike" kern="0" cap="none" spc="-15" normalizeH="0" baseline="0" noProof="0">
                <a:ln>
                  <a:noFill/>
                </a:ln>
                <a:solidFill>
                  <a:srgbClr val="0A4B8C"/>
                </a:solidFill>
                <a:effectLst/>
                <a:uLnTx/>
                <a:uFillTx/>
                <a:latin typeface="CVS Health Sans"/>
                <a:ea typeface="+mn-ea"/>
                <a:cs typeface="CVS Health Sans"/>
              </a:rPr>
              <a:t> </a:t>
            </a:r>
            <a:r>
              <a:rPr kumimoji="0" sz="900" b="1" i="0" u="none" strike="noStrike" kern="0" cap="none" spc="0" normalizeH="0" baseline="0" noProof="0">
                <a:ln>
                  <a:noFill/>
                </a:ln>
                <a:solidFill>
                  <a:srgbClr val="0A4B8C"/>
                </a:solidFill>
                <a:effectLst/>
                <a:uLnTx/>
                <a:uFillTx/>
                <a:latin typeface="CVS Health Sans"/>
                <a:ea typeface="+mn-ea"/>
                <a:cs typeface="CVS Health Sans"/>
              </a:rPr>
              <a:t>/ B2:</a:t>
            </a:r>
            <a:r>
              <a:rPr kumimoji="0" sz="900" b="1" i="0" u="none" strike="noStrike" kern="0" cap="none" spc="-5" normalizeH="0" baseline="0" noProof="0">
                <a:ln>
                  <a:noFill/>
                </a:ln>
                <a:solidFill>
                  <a:srgbClr val="0A4B8C"/>
                </a:solidFill>
                <a:effectLst/>
                <a:uLnTx/>
                <a:uFillTx/>
                <a:latin typeface="CVS Health Sans"/>
                <a:ea typeface="+mn-ea"/>
                <a:cs typeface="CVS Health Sans"/>
              </a:rPr>
              <a:t> </a:t>
            </a:r>
            <a:r>
              <a:rPr kumimoji="0" sz="900" b="1" i="0" u="none" strike="noStrike" kern="0" cap="none" spc="-10" normalizeH="0" baseline="0" noProof="0">
                <a:ln>
                  <a:noFill/>
                </a:ln>
                <a:solidFill>
                  <a:srgbClr val="0A4B8C"/>
                </a:solidFill>
                <a:effectLst/>
                <a:uLnTx/>
                <a:uFillTx/>
                <a:latin typeface="CVS Health Sans"/>
                <a:ea typeface="+mn-ea"/>
                <a:cs typeface="CVS Health Sans"/>
              </a:rPr>
              <a:t>Source Rationalization</a:t>
            </a:r>
            <a:r>
              <a:rPr kumimoji="0" sz="900" b="1" i="0" u="none" strike="noStrike" kern="0" cap="none" spc="90" normalizeH="0" baseline="0" noProof="0">
                <a:ln>
                  <a:noFill/>
                </a:ln>
                <a:solidFill>
                  <a:srgbClr val="0A4B8C"/>
                </a:solidFill>
                <a:effectLst/>
                <a:uLnTx/>
                <a:uFillTx/>
                <a:latin typeface="CVS Health Sans"/>
                <a:ea typeface="+mn-ea"/>
                <a:cs typeface="CVS Health Sans"/>
              </a:rPr>
              <a:t> </a:t>
            </a:r>
            <a:r>
              <a:rPr kumimoji="0" sz="900" b="1" i="0" u="none" strike="noStrike" kern="0" cap="none" spc="-50" normalizeH="0" baseline="0" noProof="0">
                <a:ln>
                  <a:noFill/>
                </a:ln>
                <a:solidFill>
                  <a:srgbClr val="0A4B8C"/>
                </a:solidFill>
                <a:effectLst/>
                <a:uLnTx/>
                <a:uFillTx/>
                <a:latin typeface="CVS Health Sans"/>
                <a:ea typeface="+mn-ea"/>
                <a:cs typeface="CVS Health Sans"/>
              </a:rPr>
              <a:t>&amp;</a:t>
            </a:r>
            <a:r>
              <a:rPr kumimoji="0" sz="900" b="1" i="0" u="none" strike="noStrike" kern="0" cap="none" spc="0" normalizeH="0" baseline="0" noProof="0">
                <a:ln>
                  <a:noFill/>
                </a:ln>
                <a:solidFill>
                  <a:srgbClr val="0A4B8C"/>
                </a:solidFill>
                <a:effectLst/>
                <a:uLnTx/>
                <a:uFillTx/>
                <a:latin typeface="CVS Health Sans"/>
                <a:ea typeface="+mn-ea"/>
                <a:cs typeface="CVS Health Sans"/>
              </a:rPr>
              <a:t> Data</a:t>
            </a:r>
            <a:r>
              <a:rPr kumimoji="0" sz="900" b="1" i="0" u="none" strike="noStrike" kern="0" cap="none" spc="-35" normalizeH="0" baseline="0" noProof="0">
                <a:ln>
                  <a:noFill/>
                </a:ln>
                <a:solidFill>
                  <a:srgbClr val="0A4B8C"/>
                </a:solidFill>
                <a:effectLst/>
                <a:uLnTx/>
                <a:uFillTx/>
                <a:latin typeface="CVS Health Sans"/>
                <a:ea typeface="+mn-ea"/>
                <a:cs typeface="CVS Health Sans"/>
              </a:rPr>
              <a:t> </a:t>
            </a:r>
            <a:r>
              <a:rPr kumimoji="0" sz="900" b="1" i="0" u="none" strike="noStrike" kern="0" cap="none" spc="0" normalizeH="0" baseline="0" noProof="0">
                <a:ln>
                  <a:noFill/>
                </a:ln>
                <a:solidFill>
                  <a:srgbClr val="0A4B8C"/>
                </a:solidFill>
                <a:effectLst/>
                <a:uLnTx/>
                <a:uFillTx/>
                <a:latin typeface="CVS Health Sans"/>
                <a:ea typeface="+mn-ea"/>
                <a:cs typeface="CVS Health Sans"/>
              </a:rPr>
              <a:t>Contracts</a:t>
            </a:r>
            <a:r>
              <a:rPr kumimoji="0" sz="900" b="1" i="0" u="none" strike="noStrike" kern="0" cap="none" spc="-20" normalizeH="0" baseline="0" noProof="0">
                <a:ln>
                  <a:noFill/>
                </a:ln>
                <a:solidFill>
                  <a:srgbClr val="0A4B8C"/>
                </a:solidFill>
                <a:effectLst/>
                <a:uLnTx/>
                <a:uFillTx/>
                <a:latin typeface="CVS Health Sans"/>
                <a:ea typeface="+mn-ea"/>
                <a:cs typeface="CVS Health Sans"/>
              </a:rPr>
              <a:t> </a:t>
            </a:r>
            <a:r>
              <a:rPr kumimoji="0" sz="900" b="1" i="0" u="none" strike="noStrike" kern="0" cap="none" spc="-50" normalizeH="0" baseline="0" noProof="0">
                <a:ln>
                  <a:noFill/>
                </a:ln>
                <a:solidFill>
                  <a:srgbClr val="0A4B8C"/>
                </a:solidFill>
                <a:effectLst/>
                <a:uLnTx/>
                <a:uFillTx/>
                <a:latin typeface="CVS Health Sans"/>
                <a:ea typeface="+mn-ea"/>
                <a:cs typeface="CVS Health Sans"/>
              </a:rPr>
              <a:t>|</a:t>
            </a:r>
            <a:r>
              <a:rPr kumimoji="0" sz="900" b="1" i="0" u="none" strike="noStrike" kern="0" cap="none" spc="-10" normalizeH="0" baseline="0" noProof="0">
                <a:ln>
                  <a:noFill/>
                </a:ln>
                <a:solidFill>
                  <a:srgbClr val="0A4B8C"/>
                </a:solidFill>
                <a:effectLst/>
                <a:uLnTx/>
                <a:uFillTx/>
                <a:latin typeface="CVS Health Sans"/>
                <a:ea typeface="+mn-ea"/>
                <a:cs typeface="CVS Health Sans"/>
              </a:rPr>
              <a:t> </a:t>
            </a:r>
            <a:r>
              <a:rPr kumimoji="0" lang="en-US" sz="900" b="0" i="0" u="none" strike="noStrike" kern="0" cap="none" spc="-10" normalizeH="0" baseline="0" noProof="0">
                <a:ln>
                  <a:noFill/>
                </a:ln>
                <a:solidFill>
                  <a:srgbClr val="0A4B8C"/>
                </a:solidFill>
                <a:effectLst/>
                <a:uLnTx/>
                <a:uFillTx/>
                <a:latin typeface="CVS Health Sans"/>
                <a:ea typeface="+mn-ea"/>
                <a:cs typeface="CVS Health Sans"/>
              </a:rPr>
              <a:t>Sept ’26 - Feb ’27</a:t>
            </a:r>
            <a:endParaRPr kumimoji="0" sz="900" b="0" i="0" u="none" strike="noStrike" kern="0" cap="none" spc="0" normalizeH="0" baseline="0" noProof="0">
              <a:ln>
                <a:noFill/>
              </a:ln>
              <a:solidFill>
                <a:srgbClr val="0A4B8C"/>
              </a:solidFill>
              <a:effectLst/>
              <a:uLnTx/>
              <a:uFillTx/>
              <a:latin typeface="CVS Health Sans"/>
              <a:ea typeface="+mn-ea"/>
              <a:cs typeface="CVS Health Sans"/>
            </a:endParaRPr>
          </a:p>
        </p:txBody>
      </p:sp>
      <p:sp>
        <p:nvSpPr>
          <p:cNvPr id="142" name="TextBox 141">
            <a:extLst>
              <a:ext uri="{FF2B5EF4-FFF2-40B4-BE49-F238E27FC236}">
                <a16:creationId xmlns:a16="http://schemas.microsoft.com/office/drawing/2014/main" id="{25FC2E97-78AF-88D8-53A7-C8F0BE9856C2}"/>
              </a:ext>
            </a:extLst>
          </p:cNvPr>
          <p:cNvSpPr txBox="1"/>
          <p:nvPr/>
        </p:nvSpPr>
        <p:spPr>
          <a:xfrm>
            <a:off x="8594440" y="4497382"/>
            <a:ext cx="766595" cy="184666"/>
          </a:xfrm>
          <a:prstGeom prst="rect">
            <a:avLst/>
          </a:prstGeom>
          <a:noFill/>
        </p:spPr>
        <p:txBody>
          <a:bodyPr wrap="square" l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a:ln>
                  <a:noFill/>
                </a:ln>
                <a:solidFill>
                  <a:srgbClr val="3F3F3F"/>
                </a:solidFill>
                <a:effectLst/>
                <a:uLnTx/>
                <a:uFillTx/>
                <a:latin typeface="CVS Health Sans"/>
                <a:ea typeface="+mn-ea"/>
                <a:cs typeface="CVS Health Sans"/>
              </a:rPr>
              <a:t>Pod</a:t>
            </a:r>
            <a:r>
              <a:rPr kumimoji="0" lang="en-US" sz="700" b="1" i="0" u="none" strike="noStrike" kern="0" cap="none" spc="-25" normalizeH="0" baseline="0" noProof="0">
                <a:ln>
                  <a:noFill/>
                </a:ln>
                <a:solidFill>
                  <a:srgbClr val="3F3F3F"/>
                </a:solidFill>
                <a:effectLst/>
                <a:uLnTx/>
                <a:uFillTx/>
                <a:latin typeface="CVS Health Sans"/>
                <a:ea typeface="+mn-ea"/>
                <a:cs typeface="CVS Health Sans"/>
              </a:rPr>
              <a:t> </a:t>
            </a:r>
            <a:r>
              <a:rPr kumimoji="0" lang="en-US" sz="700" b="1" i="0" u="none" strike="noStrike" kern="0" cap="none" spc="-20" normalizeH="0" baseline="0" noProof="0">
                <a:ln>
                  <a:noFill/>
                </a:ln>
                <a:solidFill>
                  <a:srgbClr val="3F3F3F"/>
                </a:solidFill>
                <a:effectLst/>
                <a:uLnTx/>
                <a:uFillTx/>
                <a:latin typeface="CVS Health Sans"/>
                <a:ea typeface="+mn-ea"/>
                <a:cs typeface="CVS Health Sans"/>
              </a:rPr>
              <a:t>(x7)</a:t>
            </a:r>
            <a:endParaRPr kumimoji="0" lang="en-US" sz="700" b="0" i="0" u="none" strike="noStrike" kern="0" cap="none" spc="0" normalizeH="0" baseline="0" noProof="0">
              <a:ln>
                <a:noFill/>
              </a:ln>
              <a:solidFill>
                <a:srgbClr val="3F3F3F"/>
              </a:solidFill>
              <a:effectLst/>
              <a:uLnTx/>
              <a:uFillTx/>
              <a:latin typeface="CVS Health Sans"/>
              <a:ea typeface="+mn-ea"/>
              <a:cs typeface="CVS Health Sans"/>
            </a:endParaRPr>
          </a:p>
        </p:txBody>
      </p:sp>
      <p:grpSp>
        <p:nvGrpSpPr>
          <p:cNvPr id="213" name="Group 212">
            <a:extLst>
              <a:ext uri="{FF2B5EF4-FFF2-40B4-BE49-F238E27FC236}">
                <a16:creationId xmlns:a16="http://schemas.microsoft.com/office/drawing/2014/main" id="{E752F432-A783-FA87-C4D1-ED2386FC118B}"/>
              </a:ext>
            </a:extLst>
          </p:cNvPr>
          <p:cNvGrpSpPr/>
          <p:nvPr/>
        </p:nvGrpSpPr>
        <p:grpSpPr>
          <a:xfrm>
            <a:off x="6479035" y="3856262"/>
            <a:ext cx="1721382" cy="895640"/>
            <a:chOff x="6632476" y="3705331"/>
            <a:chExt cx="1651889" cy="895640"/>
          </a:xfrm>
        </p:grpSpPr>
        <p:grpSp>
          <p:nvGrpSpPr>
            <p:cNvPr id="206" name="Group 205">
              <a:extLst>
                <a:ext uri="{FF2B5EF4-FFF2-40B4-BE49-F238E27FC236}">
                  <a16:creationId xmlns:a16="http://schemas.microsoft.com/office/drawing/2014/main" id="{8C6B3845-B347-3EA1-BB53-39F0107151F5}"/>
                </a:ext>
              </a:extLst>
            </p:cNvPr>
            <p:cNvGrpSpPr/>
            <p:nvPr/>
          </p:nvGrpSpPr>
          <p:grpSpPr>
            <a:xfrm>
              <a:off x="6632476" y="3705331"/>
              <a:ext cx="1651889" cy="895640"/>
              <a:chOff x="8550227" y="4374134"/>
              <a:chExt cx="1651889" cy="776605"/>
            </a:xfrm>
          </p:grpSpPr>
          <p:sp>
            <p:nvSpPr>
              <p:cNvPr id="207" name="object 77">
                <a:extLst>
                  <a:ext uri="{FF2B5EF4-FFF2-40B4-BE49-F238E27FC236}">
                    <a16:creationId xmlns:a16="http://schemas.microsoft.com/office/drawing/2014/main" id="{7E262271-95F9-A6EE-6737-2B2543F6198A}"/>
                  </a:ext>
                </a:extLst>
              </p:cNvPr>
              <p:cNvSpPr/>
              <p:nvPr/>
            </p:nvSpPr>
            <p:spPr>
              <a:xfrm>
                <a:off x="8612446" y="4374134"/>
                <a:ext cx="1589670" cy="717550"/>
              </a:xfrm>
              <a:custGeom>
                <a:avLst/>
                <a:gdLst/>
                <a:ahLst/>
                <a:cxnLst/>
                <a:rect l="l" t="t" r="r" b="b"/>
                <a:pathLst>
                  <a:path w="1609090" h="717550">
                    <a:moveTo>
                      <a:pt x="0" y="65024"/>
                    </a:moveTo>
                    <a:lnTo>
                      <a:pt x="5105" y="39701"/>
                    </a:lnTo>
                    <a:lnTo>
                      <a:pt x="19034" y="19034"/>
                    </a:lnTo>
                    <a:lnTo>
                      <a:pt x="39701" y="5105"/>
                    </a:lnTo>
                    <a:lnTo>
                      <a:pt x="65024" y="0"/>
                    </a:lnTo>
                    <a:lnTo>
                      <a:pt x="1543811" y="0"/>
                    </a:lnTo>
                    <a:lnTo>
                      <a:pt x="1569134" y="5105"/>
                    </a:lnTo>
                    <a:lnTo>
                      <a:pt x="1589801" y="19034"/>
                    </a:lnTo>
                    <a:lnTo>
                      <a:pt x="1603730" y="39701"/>
                    </a:lnTo>
                    <a:lnTo>
                      <a:pt x="1608835" y="65024"/>
                    </a:lnTo>
                    <a:lnTo>
                      <a:pt x="1608835" y="652399"/>
                    </a:lnTo>
                    <a:lnTo>
                      <a:pt x="1603730" y="677648"/>
                    </a:lnTo>
                    <a:lnTo>
                      <a:pt x="1589801" y="698277"/>
                    </a:lnTo>
                    <a:lnTo>
                      <a:pt x="1569134" y="712192"/>
                    </a:lnTo>
                    <a:lnTo>
                      <a:pt x="1543811" y="717296"/>
                    </a:lnTo>
                    <a:lnTo>
                      <a:pt x="65024" y="717296"/>
                    </a:lnTo>
                    <a:lnTo>
                      <a:pt x="39701" y="712192"/>
                    </a:lnTo>
                    <a:lnTo>
                      <a:pt x="19034" y="698277"/>
                    </a:lnTo>
                    <a:lnTo>
                      <a:pt x="5105" y="677648"/>
                    </a:lnTo>
                    <a:lnTo>
                      <a:pt x="0" y="652399"/>
                    </a:lnTo>
                    <a:lnTo>
                      <a:pt x="0" y="65024"/>
                    </a:lnTo>
                    <a:close/>
                  </a:path>
                </a:pathLst>
              </a:custGeom>
              <a:ln w="3175">
                <a:solidFill>
                  <a:srgbClr val="868686"/>
                </a:solidFill>
                <a:prstDash val="lg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08" name="object 79">
                <a:extLst>
                  <a:ext uri="{FF2B5EF4-FFF2-40B4-BE49-F238E27FC236}">
                    <a16:creationId xmlns:a16="http://schemas.microsoft.com/office/drawing/2014/main" id="{2765CDB6-5513-960E-944D-3CFCDD0D35B6}"/>
                  </a:ext>
                </a:extLst>
              </p:cNvPr>
              <p:cNvSpPr/>
              <p:nvPr/>
            </p:nvSpPr>
            <p:spPr>
              <a:xfrm>
                <a:off x="8571865" y="4403662"/>
                <a:ext cx="1606098" cy="717550"/>
              </a:xfrm>
              <a:custGeom>
                <a:avLst/>
                <a:gdLst/>
                <a:ahLst/>
                <a:cxnLst/>
                <a:rect l="l" t="t" r="r" b="b"/>
                <a:pathLst>
                  <a:path w="1609090" h="717550">
                    <a:moveTo>
                      <a:pt x="0" y="65024"/>
                    </a:moveTo>
                    <a:lnTo>
                      <a:pt x="5123" y="39701"/>
                    </a:lnTo>
                    <a:lnTo>
                      <a:pt x="19081" y="19034"/>
                    </a:lnTo>
                    <a:lnTo>
                      <a:pt x="39754" y="5105"/>
                    </a:lnTo>
                    <a:lnTo>
                      <a:pt x="65024" y="0"/>
                    </a:lnTo>
                    <a:lnTo>
                      <a:pt x="1543939" y="0"/>
                    </a:lnTo>
                    <a:lnTo>
                      <a:pt x="1569208" y="5105"/>
                    </a:lnTo>
                    <a:lnTo>
                      <a:pt x="1589881" y="19034"/>
                    </a:lnTo>
                    <a:lnTo>
                      <a:pt x="1603839" y="39701"/>
                    </a:lnTo>
                    <a:lnTo>
                      <a:pt x="1608963" y="65024"/>
                    </a:lnTo>
                    <a:lnTo>
                      <a:pt x="1608963" y="652399"/>
                    </a:lnTo>
                    <a:lnTo>
                      <a:pt x="1603839" y="677648"/>
                    </a:lnTo>
                    <a:lnTo>
                      <a:pt x="1589881" y="698277"/>
                    </a:lnTo>
                    <a:lnTo>
                      <a:pt x="1569208" y="712192"/>
                    </a:lnTo>
                    <a:lnTo>
                      <a:pt x="1543939" y="717296"/>
                    </a:lnTo>
                    <a:lnTo>
                      <a:pt x="65024" y="717296"/>
                    </a:lnTo>
                    <a:lnTo>
                      <a:pt x="39754" y="712192"/>
                    </a:lnTo>
                    <a:lnTo>
                      <a:pt x="19081" y="698277"/>
                    </a:lnTo>
                    <a:lnTo>
                      <a:pt x="5123" y="677648"/>
                    </a:lnTo>
                    <a:lnTo>
                      <a:pt x="0" y="652399"/>
                    </a:lnTo>
                    <a:lnTo>
                      <a:pt x="0" y="65024"/>
                    </a:lnTo>
                    <a:close/>
                  </a:path>
                </a:pathLst>
              </a:custGeom>
              <a:solidFill>
                <a:schemeClr val="bg1"/>
              </a:solidFill>
              <a:ln w="3175">
                <a:solidFill>
                  <a:srgbClr val="868686"/>
                </a:solidFill>
                <a:prstDash val="lg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09" name="object 80">
                <a:extLst>
                  <a:ext uri="{FF2B5EF4-FFF2-40B4-BE49-F238E27FC236}">
                    <a16:creationId xmlns:a16="http://schemas.microsoft.com/office/drawing/2014/main" id="{6FA64E38-D036-7D8D-9CCB-294005FFF2F5}"/>
                  </a:ext>
                </a:extLst>
              </p:cNvPr>
              <p:cNvSpPr/>
              <p:nvPr/>
            </p:nvSpPr>
            <p:spPr>
              <a:xfrm>
                <a:off x="8550227" y="4433189"/>
                <a:ext cx="1609090" cy="717550"/>
              </a:xfrm>
              <a:custGeom>
                <a:avLst/>
                <a:gdLst/>
                <a:ahLst/>
                <a:cxnLst/>
                <a:rect l="l" t="t" r="r" b="b"/>
                <a:pathLst>
                  <a:path w="1609090" h="717550">
                    <a:moveTo>
                      <a:pt x="1549273" y="0"/>
                    </a:moveTo>
                    <a:lnTo>
                      <a:pt x="59562" y="0"/>
                    </a:lnTo>
                    <a:lnTo>
                      <a:pt x="36379" y="4681"/>
                    </a:lnTo>
                    <a:lnTo>
                      <a:pt x="17446" y="17446"/>
                    </a:lnTo>
                    <a:lnTo>
                      <a:pt x="4681" y="36379"/>
                    </a:lnTo>
                    <a:lnTo>
                      <a:pt x="0" y="59563"/>
                    </a:lnTo>
                    <a:lnTo>
                      <a:pt x="0" y="657733"/>
                    </a:lnTo>
                    <a:lnTo>
                      <a:pt x="4681" y="680916"/>
                    </a:lnTo>
                    <a:lnTo>
                      <a:pt x="17446" y="699849"/>
                    </a:lnTo>
                    <a:lnTo>
                      <a:pt x="36379" y="712614"/>
                    </a:lnTo>
                    <a:lnTo>
                      <a:pt x="59562" y="717296"/>
                    </a:lnTo>
                    <a:lnTo>
                      <a:pt x="1549273" y="717296"/>
                    </a:lnTo>
                    <a:lnTo>
                      <a:pt x="1572456" y="712614"/>
                    </a:lnTo>
                    <a:lnTo>
                      <a:pt x="1591389" y="699849"/>
                    </a:lnTo>
                    <a:lnTo>
                      <a:pt x="1604154" y="680916"/>
                    </a:lnTo>
                    <a:lnTo>
                      <a:pt x="1608835" y="657733"/>
                    </a:lnTo>
                    <a:lnTo>
                      <a:pt x="1608835" y="59563"/>
                    </a:lnTo>
                    <a:lnTo>
                      <a:pt x="1604154" y="36379"/>
                    </a:lnTo>
                    <a:lnTo>
                      <a:pt x="1591389" y="17446"/>
                    </a:lnTo>
                    <a:lnTo>
                      <a:pt x="1572456" y="4681"/>
                    </a:lnTo>
                    <a:lnTo>
                      <a:pt x="1549273"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10" name="object 81">
                <a:extLst>
                  <a:ext uri="{FF2B5EF4-FFF2-40B4-BE49-F238E27FC236}">
                    <a16:creationId xmlns:a16="http://schemas.microsoft.com/office/drawing/2014/main" id="{E67E200B-E093-BDD0-35FC-6CCB2932C3DE}"/>
                  </a:ext>
                </a:extLst>
              </p:cNvPr>
              <p:cNvSpPr/>
              <p:nvPr/>
            </p:nvSpPr>
            <p:spPr>
              <a:xfrm>
                <a:off x="8550227" y="4433189"/>
                <a:ext cx="1609090" cy="717550"/>
              </a:xfrm>
              <a:custGeom>
                <a:avLst/>
                <a:gdLst/>
                <a:ahLst/>
                <a:cxnLst/>
                <a:rect l="l" t="t" r="r" b="b"/>
                <a:pathLst>
                  <a:path w="1609090" h="717550">
                    <a:moveTo>
                      <a:pt x="0" y="59563"/>
                    </a:moveTo>
                    <a:lnTo>
                      <a:pt x="4681" y="36379"/>
                    </a:lnTo>
                    <a:lnTo>
                      <a:pt x="17446" y="17446"/>
                    </a:lnTo>
                    <a:lnTo>
                      <a:pt x="36379" y="4681"/>
                    </a:lnTo>
                    <a:lnTo>
                      <a:pt x="59562" y="0"/>
                    </a:lnTo>
                    <a:lnTo>
                      <a:pt x="1549273" y="0"/>
                    </a:lnTo>
                    <a:lnTo>
                      <a:pt x="1572456" y="4681"/>
                    </a:lnTo>
                    <a:lnTo>
                      <a:pt x="1591389" y="17446"/>
                    </a:lnTo>
                    <a:lnTo>
                      <a:pt x="1604154" y="36379"/>
                    </a:lnTo>
                    <a:lnTo>
                      <a:pt x="1608835" y="59563"/>
                    </a:lnTo>
                    <a:lnTo>
                      <a:pt x="1608835" y="657733"/>
                    </a:lnTo>
                    <a:lnTo>
                      <a:pt x="1604154" y="680916"/>
                    </a:lnTo>
                    <a:lnTo>
                      <a:pt x="1591389" y="699849"/>
                    </a:lnTo>
                    <a:lnTo>
                      <a:pt x="1572456" y="712614"/>
                    </a:lnTo>
                    <a:lnTo>
                      <a:pt x="1549273" y="717296"/>
                    </a:lnTo>
                    <a:lnTo>
                      <a:pt x="59562" y="717296"/>
                    </a:lnTo>
                    <a:lnTo>
                      <a:pt x="36379" y="712614"/>
                    </a:lnTo>
                    <a:lnTo>
                      <a:pt x="17446" y="699849"/>
                    </a:lnTo>
                    <a:lnTo>
                      <a:pt x="4681" y="680916"/>
                    </a:lnTo>
                    <a:lnTo>
                      <a:pt x="0" y="657733"/>
                    </a:lnTo>
                    <a:lnTo>
                      <a:pt x="0" y="59563"/>
                    </a:lnTo>
                    <a:close/>
                  </a:path>
                </a:pathLst>
              </a:custGeom>
              <a:ln w="3175">
                <a:solidFill>
                  <a:srgbClr val="868686"/>
                </a:solidFill>
                <a:prstDash val="lg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grpSp>
        <p:grpSp>
          <p:nvGrpSpPr>
            <p:cNvPr id="165" name="Group 164">
              <a:extLst>
                <a:ext uri="{FF2B5EF4-FFF2-40B4-BE49-F238E27FC236}">
                  <a16:creationId xmlns:a16="http://schemas.microsoft.com/office/drawing/2014/main" id="{F5657A25-CC0E-D32A-CF29-F7C1CCCAA02C}"/>
                </a:ext>
              </a:extLst>
            </p:cNvPr>
            <p:cNvGrpSpPr/>
            <p:nvPr/>
          </p:nvGrpSpPr>
          <p:grpSpPr>
            <a:xfrm>
              <a:off x="6680151" y="4027967"/>
              <a:ext cx="1517764" cy="215582"/>
              <a:chOff x="8587013" y="3935672"/>
              <a:chExt cx="1569021" cy="215582"/>
            </a:xfrm>
          </p:grpSpPr>
          <p:sp>
            <p:nvSpPr>
              <p:cNvPr id="175" name="object 50">
                <a:extLst>
                  <a:ext uri="{FF2B5EF4-FFF2-40B4-BE49-F238E27FC236}">
                    <a16:creationId xmlns:a16="http://schemas.microsoft.com/office/drawing/2014/main" id="{46DEDC74-EAD3-DCAE-60C9-C8F7D0B158D6}"/>
                  </a:ext>
                </a:extLst>
              </p:cNvPr>
              <p:cNvSpPr/>
              <p:nvPr/>
            </p:nvSpPr>
            <p:spPr>
              <a:xfrm>
                <a:off x="8587013" y="3935672"/>
                <a:ext cx="1569021" cy="215582"/>
              </a:xfrm>
              <a:prstGeom prst="roundRect">
                <a:avLst/>
              </a:prstGeom>
              <a:solidFill>
                <a:srgbClr val="267A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176" name="TextBox 175">
                <a:extLst>
                  <a:ext uri="{FF2B5EF4-FFF2-40B4-BE49-F238E27FC236}">
                    <a16:creationId xmlns:a16="http://schemas.microsoft.com/office/drawing/2014/main" id="{F12B9981-7E3B-B34C-B341-99AC3E52C706}"/>
                  </a:ext>
                </a:extLst>
              </p:cNvPr>
              <p:cNvSpPr txBox="1"/>
              <p:nvPr/>
            </p:nvSpPr>
            <p:spPr>
              <a:xfrm>
                <a:off x="8720362" y="3981457"/>
                <a:ext cx="1302322" cy="124012"/>
              </a:xfrm>
              <a:prstGeom prst="rect">
                <a:avLst/>
              </a:prstGeom>
              <a:noFill/>
            </p:spPr>
            <p:txBody>
              <a:bodyPr wrap="square" lIns="0" tIns="0" rIns="0" bIns="0" anchor="ctr">
                <a:noAutofit/>
              </a:bodyPr>
              <a:lstStyle/>
              <a:p>
                <a:pPr marL="0" marR="20955" lvl="0" indent="0" algn="ctr" defTabSz="914400" rtl="0" eaLnBrk="1" fontAlgn="auto" latinLnBrk="0" hangingPunct="1">
                  <a:lnSpc>
                    <a:spcPts val="84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CVS Health Sans"/>
                    <a:ea typeface="+mn-ea"/>
                    <a:cs typeface="CVS Health Sans"/>
                  </a:rPr>
                  <a:t>4 Data Engineers (1/Pod)</a:t>
                </a:r>
              </a:p>
            </p:txBody>
          </p:sp>
        </p:grpSp>
        <p:grpSp>
          <p:nvGrpSpPr>
            <p:cNvPr id="166" name="Group 165">
              <a:extLst>
                <a:ext uri="{FF2B5EF4-FFF2-40B4-BE49-F238E27FC236}">
                  <a16:creationId xmlns:a16="http://schemas.microsoft.com/office/drawing/2014/main" id="{398DD005-0A8C-6464-749A-CBE810FBAF5B}"/>
                </a:ext>
              </a:extLst>
            </p:cNvPr>
            <p:cNvGrpSpPr/>
            <p:nvPr/>
          </p:nvGrpSpPr>
          <p:grpSpPr>
            <a:xfrm>
              <a:off x="6680212" y="4288835"/>
              <a:ext cx="1521388" cy="215582"/>
              <a:chOff x="8587013" y="4178139"/>
              <a:chExt cx="1572768" cy="215582"/>
            </a:xfrm>
          </p:grpSpPr>
          <p:sp>
            <p:nvSpPr>
              <p:cNvPr id="173" name="object 50">
                <a:extLst>
                  <a:ext uri="{FF2B5EF4-FFF2-40B4-BE49-F238E27FC236}">
                    <a16:creationId xmlns:a16="http://schemas.microsoft.com/office/drawing/2014/main" id="{67FF41A9-2FB6-C847-ACC3-9E54CC3529B8}"/>
                  </a:ext>
                </a:extLst>
              </p:cNvPr>
              <p:cNvSpPr/>
              <p:nvPr/>
            </p:nvSpPr>
            <p:spPr>
              <a:xfrm>
                <a:off x="8587013" y="4178139"/>
                <a:ext cx="1572768" cy="215582"/>
              </a:xfrm>
              <a:prstGeom prst="roundRect">
                <a:avLst/>
              </a:prstGeom>
              <a:solidFill>
                <a:srgbClr val="00A78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174" name="TextBox 173">
                <a:extLst>
                  <a:ext uri="{FF2B5EF4-FFF2-40B4-BE49-F238E27FC236}">
                    <a16:creationId xmlns:a16="http://schemas.microsoft.com/office/drawing/2014/main" id="{A4B3483A-7528-4BC8-F068-029814D4D005}"/>
                  </a:ext>
                </a:extLst>
              </p:cNvPr>
              <p:cNvSpPr txBox="1"/>
              <p:nvPr/>
            </p:nvSpPr>
            <p:spPr>
              <a:xfrm>
                <a:off x="8682552" y="4238718"/>
                <a:ext cx="1381690" cy="94424"/>
              </a:xfrm>
              <a:prstGeom prst="rect">
                <a:avLst/>
              </a:prstGeom>
              <a:noFill/>
            </p:spPr>
            <p:txBody>
              <a:bodyPr wrap="square" lIns="0" tIns="0" rIns="0" bIns="0" anchor="ctr">
                <a:noAutofit/>
              </a:bodyPr>
              <a:lstStyle/>
              <a:p>
                <a:pPr marL="0" marR="20955" lvl="0" indent="0" algn="ctr" defTabSz="914400" rtl="0" eaLnBrk="1" fontAlgn="auto" latinLnBrk="0" hangingPunct="1">
                  <a:lnSpc>
                    <a:spcPts val="84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CVS Health Sans"/>
                    <a:ea typeface="+mn-ea"/>
                    <a:cs typeface="CVS Health Sans"/>
                  </a:rPr>
                  <a:t>8 Data Engineers (2/Pod)</a:t>
                </a:r>
              </a:p>
            </p:txBody>
          </p:sp>
        </p:grpSp>
        <p:sp>
          <p:nvSpPr>
            <p:cNvPr id="211" name="TextBox 210">
              <a:extLst>
                <a:ext uri="{FF2B5EF4-FFF2-40B4-BE49-F238E27FC236}">
                  <a16:creationId xmlns:a16="http://schemas.microsoft.com/office/drawing/2014/main" id="{220C153D-5D48-80F0-178F-0487EBEDEB88}"/>
                </a:ext>
              </a:extLst>
            </p:cNvPr>
            <p:cNvSpPr txBox="1"/>
            <p:nvPr/>
          </p:nvSpPr>
          <p:spPr>
            <a:xfrm>
              <a:off x="6717944" y="3807735"/>
              <a:ext cx="735647" cy="184666"/>
            </a:xfrm>
            <a:prstGeom prst="rect">
              <a:avLst/>
            </a:prstGeom>
            <a:noFill/>
          </p:spPr>
          <p:txBody>
            <a:bodyPr wrap="square" lIns="0">
              <a:no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US" sz="700" b="1" i="0" u="none" strike="noStrike" kern="0" cap="none" spc="0" normalizeH="0" baseline="0" noProof="0">
                  <a:ln>
                    <a:noFill/>
                  </a:ln>
                  <a:solidFill>
                    <a:srgbClr val="3E3E3E"/>
                  </a:solidFill>
                  <a:effectLst/>
                  <a:uLnTx/>
                  <a:uFillTx/>
                  <a:latin typeface="CVS Health Sans"/>
                  <a:ea typeface="+mn-ea"/>
                  <a:cs typeface="CVS Health Sans"/>
                </a:rPr>
                <a:t>Pod</a:t>
              </a:r>
              <a:r>
                <a:rPr kumimoji="0" lang="en-US" sz="700" b="1" i="0" u="none" strike="noStrike" kern="0" cap="none" spc="-25" normalizeH="0" baseline="0" noProof="0">
                  <a:ln>
                    <a:noFill/>
                  </a:ln>
                  <a:solidFill>
                    <a:srgbClr val="3E3E3E"/>
                  </a:solidFill>
                  <a:effectLst/>
                  <a:uLnTx/>
                  <a:uFillTx/>
                  <a:latin typeface="CVS Health Sans"/>
                  <a:ea typeface="+mn-ea"/>
                  <a:cs typeface="CVS Health Sans"/>
                </a:rPr>
                <a:t> </a:t>
              </a:r>
              <a:r>
                <a:rPr kumimoji="0" lang="en-US" sz="700" b="1" i="0" u="none" strike="noStrike" kern="0" cap="none" spc="-20" normalizeH="0" baseline="0" noProof="0">
                  <a:ln>
                    <a:noFill/>
                  </a:ln>
                  <a:solidFill>
                    <a:srgbClr val="3E3E3E"/>
                  </a:solidFill>
                  <a:effectLst/>
                  <a:uLnTx/>
                  <a:uFillTx/>
                  <a:latin typeface="CVS Health Sans"/>
                  <a:ea typeface="+mn-ea"/>
                  <a:cs typeface="CVS Health Sans"/>
                </a:rPr>
                <a:t>(x4)</a:t>
              </a:r>
              <a:endParaRPr kumimoji="0" lang="en-US" sz="7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sp>
        <p:nvSpPr>
          <p:cNvPr id="214" name="object 75">
            <a:extLst>
              <a:ext uri="{FF2B5EF4-FFF2-40B4-BE49-F238E27FC236}">
                <a16:creationId xmlns:a16="http://schemas.microsoft.com/office/drawing/2014/main" id="{A577C513-16B9-2234-A316-0B0BA08F424E}"/>
              </a:ext>
            </a:extLst>
          </p:cNvPr>
          <p:cNvSpPr/>
          <p:nvPr/>
        </p:nvSpPr>
        <p:spPr>
          <a:xfrm>
            <a:off x="4359149" y="2961923"/>
            <a:ext cx="1893163" cy="2642235"/>
          </a:xfrm>
          <a:prstGeom prst="roundRect">
            <a:avLst>
              <a:gd name="adj" fmla="val 3083"/>
            </a:avLst>
          </a:prstGeom>
          <a:ln w="9525">
            <a:solidFill>
              <a:srgbClr val="0A4B8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grpSp>
        <p:nvGrpSpPr>
          <p:cNvPr id="257" name="Group 256">
            <a:extLst>
              <a:ext uri="{FF2B5EF4-FFF2-40B4-BE49-F238E27FC236}">
                <a16:creationId xmlns:a16="http://schemas.microsoft.com/office/drawing/2014/main" id="{25663473-576D-3846-F826-1A9C310EF51B}"/>
              </a:ext>
            </a:extLst>
          </p:cNvPr>
          <p:cNvGrpSpPr/>
          <p:nvPr/>
        </p:nvGrpSpPr>
        <p:grpSpPr>
          <a:xfrm>
            <a:off x="4542777" y="3830070"/>
            <a:ext cx="1611987" cy="1337696"/>
            <a:chOff x="4669407" y="3830070"/>
            <a:chExt cx="1651889" cy="1337696"/>
          </a:xfrm>
        </p:grpSpPr>
        <p:grpSp>
          <p:nvGrpSpPr>
            <p:cNvPr id="240" name="Group 239">
              <a:extLst>
                <a:ext uri="{FF2B5EF4-FFF2-40B4-BE49-F238E27FC236}">
                  <a16:creationId xmlns:a16="http://schemas.microsoft.com/office/drawing/2014/main" id="{54554785-81D8-B85B-384F-2AB78149FA01}"/>
                </a:ext>
              </a:extLst>
            </p:cNvPr>
            <p:cNvGrpSpPr/>
            <p:nvPr/>
          </p:nvGrpSpPr>
          <p:grpSpPr>
            <a:xfrm>
              <a:off x="4669407" y="3830070"/>
              <a:ext cx="1651889" cy="632777"/>
              <a:chOff x="4669407" y="3830070"/>
              <a:chExt cx="1651889" cy="736599"/>
            </a:xfrm>
          </p:grpSpPr>
          <p:grpSp>
            <p:nvGrpSpPr>
              <p:cNvPr id="216" name="Group 215">
                <a:extLst>
                  <a:ext uri="{FF2B5EF4-FFF2-40B4-BE49-F238E27FC236}">
                    <a16:creationId xmlns:a16="http://schemas.microsoft.com/office/drawing/2014/main" id="{7F64D0BF-8C3D-1E04-A5E8-12B4AEB26C1A}"/>
                  </a:ext>
                </a:extLst>
              </p:cNvPr>
              <p:cNvGrpSpPr/>
              <p:nvPr/>
            </p:nvGrpSpPr>
            <p:grpSpPr>
              <a:xfrm>
                <a:off x="4669407" y="3830070"/>
                <a:ext cx="1651889" cy="736599"/>
                <a:chOff x="8550227" y="4374134"/>
                <a:chExt cx="1651889" cy="776605"/>
              </a:xfrm>
            </p:grpSpPr>
            <p:sp>
              <p:nvSpPr>
                <p:cNvPr id="224" name="object 77">
                  <a:extLst>
                    <a:ext uri="{FF2B5EF4-FFF2-40B4-BE49-F238E27FC236}">
                      <a16:creationId xmlns:a16="http://schemas.microsoft.com/office/drawing/2014/main" id="{D73BA63C-0A42-AC6C-E72F-7F399FE7CCBA}"/>
                    </a:ext>
                  </a:extLst>
                </p:cNvPr>
                <p:cNvSpPr/>
                <p:nvPr/>
              </p:nvSpPr>
              <p:spPr>
                <a:xfrm>
                  <a:off x="8612446" y="4374134"/>
                  <a:ext cx="1589670" cy="717550"/>
                </a:xfrm>
                <a:custGeom>
                  <a:avLst/>
                  <a:gdLst/>
                  <a:ahLst/>
                  <a:cxnLst/>
                  <a:rect l="l" t="t" r="r" b="b"/>
                  <a:pathLst>
                    <a:path w="1609090" h="717550">
                      <a:moveTo>
                        <a:pt x="0" y="65024"/>
                      </a:moveTo>
                      <a:lnTo>
                        <a:pt x="5105" y="39701"/>
                      </a:lnTo>
                      <a:lnTo>
                        <a:pt x="19034" y="19034"/>
                      </a:lnTo>
                      <a:lnTo>
                        <a:pt x="39701" y="5105"/>
                      </a:lnTo>
                      <a:lnTo>
                        <a:pt x="65024" y="0"/>
                      </a:lnTo>
                      <a:lnTo>
                        <a:pt x="1543811" y="0"/>
                      </a:lnTo>
                      <a:lnTo>
                        <a:pt x="1569134" y="5105"/>
                      </a:lnTo>
                      <a:lnTo>
                        <a:pt x="1589801" y="19034"/>
                      </a:lnTo>
                      <a:lnTo>
                        <a:pt x="1603730" y="39701"/>
                      </a:lnTo>
                      <a:lnTo>
                        <a:pt x="1608835" y="65024"/>
                      </a:lnTo>
                      <a:lnTo>
                        <a:pt x="1608835" y="652399"/>
                      </a:lnTo>
                      <a:lnTo>
                        <a:pt x="1603730" y="677648"/>
                      </a:lnTo>
                      <a:lnTo>
                        <a:pt x="1589801" y="698277"/>
                      </a:lnTo>
                      <a:lnTo>
                        <a:pt x="1569134" y="712192"/>
                      </a:lnTo>
                      <a:lnTo>
                        <a:pt x="1543811" y="717296"/>
                      </a:lnTo>
                      <a:lnTo>
                        <a:pt x="65024" y="717296"/>
                      </a:lnTo>
                      <a:lnTo>
                        <a:pt x="39701" y="712192"/>
                      </a:lnTo>
                      <a:lnTo>
                        <a:pt x="19034" y="698277"/>
                      </a:lnTo>
                      <a:lnTo>
                        <a:pt x="5105" y="677648"/>
                      </a:lnTo>
                      <a:lnTo>
                        <a:pt x="0" y="652399"/>
                      </a:lnTo>
                      <a:lnTo>
                        <a:pt x="0" y="65024"/>
                      </a:lnTo>
                      <a:close/>
                    </a:path>
                  </a:pathLst>
                </a:custGeom>
                <a:ln w="3175">
                  <a:solidFill>
                    <a:srgbClr val="868686"/>
                  </a:solidFill>
                  <a:prstDash val="lg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25" name="object 79">
                  <a:extLst>
                    <a:ext uri="{FF2B5EF4-FFF2-40B4-BE49-F238E27FC236}">
                      <a16:creationId xmlns:a16="http://schemas.microsoft.com/office/drawing/2014/main" id="{0AC059F0-A3C8-A513-0677-04945B297FD3}"/>
                    </a:ext>
                  </a:extLst>
                </p:cNvPr>
                <p:cNvSpPr/>
                <p:nvPr/>
              </p:nvSpPr>
              <p:spPr>
                <a:xfrm>
                  <a:off x="8571865" y="4403661"/>
                  <a:ext cx="1606098" cy="717550"/>
                </a:xfrm>
                <a:custGeom>
                  <a:avLst/>
                  <a:gdLst/>
                  <a:ahLst/>
                  <a:cxnLst/>
                  <a:rect l="l" t="t" r="r" b="b"/>
                  <a:pathLst>
                    <a:path w="1609090" h="717550">
                      <a:moveTo>
                        <a:pt x="0" y="65024"/>
                      </a:moveTo>
                      <a:lnTo>
                        <a:pt x="5123" y="39701"/>
                      </a:lnTo>
                      <a:lnTo>
                        <a:pt x="19081" y="19034"/>
                      </a:lnTo>
                      <a:lnTo>
                        <a:pt x="39754" y="5105"/>
                      </a:lnTo>
                      <a:lnTo>
                        <a:pt x="65024" y="0"/>
                      </a:lnTo>
                      <a:lnTo>
                        <a:pt x="1543939" y="0"/>
                      </a:lnTo>
                      <a:lnTo>
                        <a:pt x="1569208" y="5105"/>
                      </a:lnTo>
                      <a:lnTo>
                        <a:pt x="1589881" y="19034"/>
                      </a:lnTo>
                      <a:lnTo>
                        <a:pt x="1603839" y="39701"/>
                      </a:lnTo>
                      <a:lnTo>
                        <a:pt x="1608963" y="65024"/>
                      </a:lnTo>
                      <a:lnTo>
                        <a:pt x="1608963" y="652399"/>
                      </a:lnTo>
                      <a:lnTo>
                        <a:pt x="1603839" y="677648"/>
                      </a:lnTo>
                      <a:lnTo>
                        <a:pt x="1589881" y="698277"/>
                      </a:lnTo>
                      <a:lnTo>
                        <a:pt x="1569208" y="712192"/>
                      </a:lnTo>
                      <a:lnTo>
                        <a:pt x="1543939" y="717296"/>
                      </a:lnTo>
                      <a:lnTo>
                        <a:pt x="65024" y="717296"/>
                      </a:lnTo>
                      <a:lnTo>
                        <a:pt x="39754" y="712192"/>
                      </a:lnTo>
                      <a:lnTo>
                        <a:pt x="19081" y="698277"/>
                      </a:lnTo>
                      <a:lnTo>
                        <a:pt x="5123" y="677648"/>
                      </a:lnTo>
                      <a:lnTo>
                        <a:pt x="0" y="652399"/>
                      </a:lnTo>
                      <a:lnTo>
                        <a:pt x="0" y="65024"/>
                      </a:lnTo>
                      <a:close/>
                    </a:path>
                  </a:pathLst>
                </a:custGeom>
                <a:solidFill>
                  <a:schemeClr val="bg1"/>
                </a:solidFill>
                <a:ln w="3175">
                  <a:solidFill>
                    <a:srgbClr val="868686"/>
                  </a:solidFill>
                  <a:prstDash val="lg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26" name="object 80">
                  <a:extLst>
                    <a:ext uri="{FF2B5EF4-FFF2-40B4-BE49-F238E27FC236}">
                      <a16:creationId xmlns:a16="http://schemas.microsoft.com/office/drawing/2014/main" id="{564A4E05-5F3F-9786-D084-E77264958860}"/>
                    </a:ext>
                  </a:extLst>
                </p:cNvPr>
                <p:cNvSpPr/>
                <p:nvPr/>
              </p:nvSpPr>
              <p:spPr>
                <a:xfrm>
                  <a:off x="8550227" y="4433189"/>
                  <a:ext cx="1609090" cy="717550"/>
                </a:xfrm>
                <a:custGeom>
                  <a:avLst/>
                  <a:gdLst/>
                  <a:ahLst/>
                  <a:cxnLst/>
                  <a:rect l="l" t="t" r="r" b="b"/>
                  <a:pathLst>
                    <a:path w="1609090" h="717550">
                      <a:moveTo>
                        <a:pt x="1549273" y="0"/>
                      </a:moveTo>
                      <a:lnTo>
                        <a:pt x="59562" y="0"/>
                      </a:lnTo>
                      <a:lnTo>
                        <a:pt x="36379" y="4681"/>
                      </a:lnTo>
                      <a:lnTo>
                        <a:pt x="17446" y="17446"/>
                      </a:lnTo>
                      <a:lnTo>
                        <a:pt x="4681" y="36379"/>
                      </a:lnTo>
                      <a:lnTo>
                        <a:pt x="0" y="59563"/>
                      </a:lnTo>
                      <a:lnTo>
                        <a:pt x="0" y="657733"/>
                      </a:lnTo>
                      <a:lnTo>
                        <a:pt x="4681" y="680916"/>
                      </a:lnTo>
                      <a:lnTo>
                        <a:pt x="17446" y="699849"/>
                      </a:lnTo>
                      <a:lnTo>
                        <a:pt x="36379" y="712614"/>
                      </a:lnTo>
                      <a:lnTo>
                        <a:pt x="59562" y="717296"/>
                      </a:lnTo>
                      <a:lnTo>
                        <a:pt x="1549273" y="717296"/>
                      </a:lnTo>
                      <a:lnTo>
                        <a:pt x="1572456" y="712614"/>
                      </a:lnTo>
                      <a:lnTo>
                        <a:pt x="1591389" y="699849"/>
                      </a:lnTo>
                      <a:lnTo>
                        <a:pt x="1604154" y="680916"/>
                      </a:lnTo>
                      <a:lnTo>
                        <a:pt x="1608835" y="657733"/>
                      </a:lnTo>
                      <a:lnTo>
                        <a:pt x="1608835" y="59563"/>
                      </a:lnTo>
                      <a:lnTo>
                        <a:pt x="1604154" y="36379"/>
                      </a:lnTo>
                      <a:lnTo>
                        <a:pt x="1591389" y="17446"/>
                      </a:lnTo>
                      <a:lnTo>
                        <a:pt x="1572456" y="4681"/>
                      </a:lnTo>
                      <a:lnTo>
                        <a:pt x="1549273"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27" name="object 81">
                  <a:extLst>
                    <a:ext uri="{FF2B5EF4-FFF2-40B4-BE49-F238E27FC236}">
                      <a16:creationId xmlns:a16="http://schemas.microsoft.com/office/drawing/2014/main" id="{6669FECA-42B7-C3A8-40BE-601A30BC926D}"/>
                    </a:ext>
                  </a:extLst>
                </p:cNvPr>
                <p:cNvSpPr/>
                <p:nvPr/>
              </p:nvSpPr>
              <p:spPr>
                <a:xfrm>
                  <a:off x="8550227" y="4433189"/>
                  <a:ext cx="1609090" cy="717550"/>
                </a:xfrm>
                <a:custGeom>
                  <a:avLst/>
                  <a:gdLst/>
                  <a:ahLst/>
                  <a:cxnLst/>
                  <a:rect l="l" t="t" r="r" b="b"/>
                  <a:pathLst>
                    <a:path w="1609090" h="717550">
                      <a:moveTo>
                        <a:pt x="0" y="59563"/>
                      </a:moveTo>
                      <a:lnTo>
                        <a:pt x="4681" y="36379"/>
                      </a:lnTo>
                      <a:lnTo>
                        <a:pt x="17446" y="17446"/>
                      </a:lnTo>
                      <a:lnTo>
                        <a:pt x="36379" y="4681"/>
                      </a:lnTo>
                      <a:lnTo>
                        <a:pt x="59562" y="0"/>
                      </a:lnTo>
                      <a:lnTo>
                        <a:pt x="1549273" y="0"/>
                      </a:lnTo>
                      <a:lnTo>
                        <a:pt x="1572456" y="4681"/>
                      </a:lnTo>
                      <a:lnTo>
                        <a:pt x="1591389" y="17446"/>
                      </a:lnTo>
                      <a:lnTo>
                        <a:pt x="1604154" y="36379"/>
                      </a:lnTo>
                      <a:lnTo>
                        <a:pt x="1608835" y="59563"/>
                      </a:lnTo>
                      <a:lnTo>
                        <a:pt x="1608835" y="657733"/>
                      </a:lnTo>
                      <a:lnTo>
                        <a:pt x="1604154" y="680916"/>
                      </a:lnTo>
                      <a:lnTo>
                        <a:pt x="1591389" y="699849"/>
                      </a:lnTo>
                      <a:lnTo>
                        <a:pt x="1572456" y="712614"/>
                      </a:lnTo>
                      <a:lnTo>
                        <a:pt x="1549273" y="717296"/>
                      </a:lnTo>
                      <a:lnTo>
                        <a:pt x="59562" y="717296"/>
                      </a:lnTo>
                      <a:lnTo>
                        <a:pt x="36379" y="712614"/>
                      </a:lnTo>
                      <a:lnTo>
                        <a:pt x="17446" y="699849"/>
                      </a:lnTo>
                      <a:lnTo>
                        <a:pt x="4681" y="680916"/>
                      </a:lnTo>
                      <a:lnTo>
                        <a:pt x="0" y="657733"/>
                      </a:lnTo>
                      <a:lnTo>
                        <a:pt x="0" y="59563"/>
                      </a:lnTo>
                      <a:close/>
                    </a:path>
                  </a:pathLst>
                </a:custGeom>
                <a:ln w="3175">
                  <a:solidFill>
                    <a:srgbClr val="868686"/>
                  </a:solidFill>
                  <a:prstDash val="lg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grpSp>
          <p:grpSp>
            <p:nvGrpSpPr>
              <p:cNvPr id="217" name="Group 216">
                <a:extLst>
                  <a:ext uri="{FF2B5EF4-FFF2-40B4-BE49-F238E27FC236}">
                    <a16:creationId xmlns:a16="http://schemas.microsoft.com/office/drawing/2014/main" id="{F249EF27-76DB-AE18-7844-B375DABC788F}"/>
                  </a:ext>
                </a:extLst>
              </p:cNvPr>
              <p:cNvGrpSpPr/>
              <p:nvPr/>
            </p:nvGrpSpPr>
            <p:grpSpPr>
              <a:xfrm>
                <a:off x="4717082" y="4095415"/>
                <a:ext cx="1517764" cy="177301"/>
                <a:chOff x="8587013" y="3935672"/>
                <a:chExt cx="1569021" cy="215582"/>
              </a:xfrm>
            </p:grpSpPr>
            <p:sp>
              <p:nvSpPr>
                <p:cNvPr id="222" name="object 50">
                  <a:extLst>
                    <a:ext uri="{FF2B5EF4-FFF2-40B4-BE49-F238E27FC236}">
                      <a16:creationId xmlns:a16="http://schemas.microsoft.com/office/drawing/2014/main" id="{1F37DB78-41C9-4B4F-A94B-ACF41F79E6D2}"/>
                    </a:ext>
                  </a:extLst>
                </p:cNvPr>
                <p:cNvSpPr/>
                <p:nvPr/>
              </p:nvSpPr>
              <p:spPr>
                <a:xfrm>
                  <a:off x="8587013" y="3935672"/>
                  <a:ext cx="1569021" cy="215582"/>
                </a:xfrm>
                <a:prstGeom prst="roundRect">
                  <a:avLst/>
                </a:prstGeom>
                <a:solidFill>
                  <a:srgbClr val="267A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23" name="TextBox 222">
                  <a:extLst>
                    <a:ext uri="{FF2B5EF4-FFF2-40B4-BE49-F238E27FC236}">
                      <a16:creationId xmlns:a16="http://schemas.microsoft.com/office/drawing/2014/main" id="{7936B6A8-3B0E-E0BC-696F-D25208FB97A4}"/>
                    </a:ext>
                  </a:extLst>
                </p:cNvPr>
                <p:cNvSpPr txBox="1"/>
                <p:nvPr/>
              </p:nvSpPr>
              <p:spPr>
                <a:xfrm>
                  <a:off x="8670132" y="3981458"/>
                  <a:ext cx="1402782" cy="124012"/>
                </a:xfrm>
                <a:prstGeom prst="rect">
                  <a:avLst/>
                </a:prstGeom>
                <a:noFill/>
              </p:spPr>
              <p:txBody>
                <a:bodyPr wrap="square" lIns="0" tIns="0" rIns="0" bIns="0" anchor="ctr">
                  <a:noAutofit/>
                </a:bodyPr>
                <a:lstStyle/>
                <a:p>
                  <a:pPr marL="0" marR="20955" lvl="0" indent="0" algn="ctr" defTabSz="914400" rtl="0" eaLnBrk="1" fontAlgn="auto" latinLnBrk="0" hangingPunct="1">
                    <a:lnSpc>
                      <a:spcPts val="84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CVS Health Sans"/>
                      <a:ea typeface="+mn-ea"/>
                      <a:cs typeface="CVS Health Sans"/>
                    </a:rPr>
                    <a:t>2 Data Engineers (1/Pod)</a:t>
                  </a:r>
                </a:p>
              </p:txBody>
            </p:sp>
          </p:grpSp>
          <p:grpSp>
            <p:nvGrpSpPr>
              <p:cNvPr id="218" name="Group 217">
                <a:extLst>
                  <a:ext uri="{FF2B5EF4-FFF2-40B4-BE49-F238E27FC236}">
                    <a16:creationId xmlns:a16="http://schemas.microsoft.com/office/drawing/2014/main" id="{8F92EB06-2558-D80B-FACA-E07098974CC3}"/>
                  </a:ext>
                </a:extLst>
              </p:cNvPr>
              <p:cNvGrpSpPr/>
              <p:nvPr/>
            </p:nvGrpSpPr>
            <p:grpSpPr>
              <a:xfrm>
                <a:off x="4717081" y="4309960"/>
                <a:ext cx="1521388" cy="177301"/>
                <a:chOff x="8586949" y="4178139"/>
                <a:chExt cx="1572768" cy="215582"/>
              </a:xfrm>
            </p:grpSpPr>
            <p:sp>
              <p:nvSpPr>
                <p:cNvPr id="220" name="object 50">
                  <a:extLst>
                    <a:ext uri="{FF2B5EF4-FFF2-40B4-BE49-F238E27FC236}">
                      <a16:creationId xmlns:a16="http://schemas.microsoft.com/office/drawing/2014/main" id="{B17C36DA-F1F8-D6D7-1426-C19D39A443AA}"/>
                    </a:ext>
                  </a:extLst>
                </p:cNvPr>
                <p:cNvSpPr/>
                <p:nvPr/>
              </p:nvSpPr>
              <p:spPr>
                <a:xfrm>
                  <a:off x="8586949" y="4178139"/>
                  <a:ext cx="1572768" cy="215582"/>
                </a:xfrm>
                <a:prstGeom prst="roundRect">
                  <a:avLst/>
                </a:prstGeom>
                <a:solidFill>
                  <a:srgbClr val="00A78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21" name="TextBox 220">
                  <a:extLst>
                    <a:ext uri="{FF2B5EF4-FFF2-40B4-BE49-F238E27FC236}">
                      <a16:creationId xmlns:a16="http://schemas.microsoft.com/office/drawing/2014/main" id="{00D90871-0B58-B147-DF8A-7AB17ECCA9C0}"/>
                    </a:ext>
                  </a:extLst>
                </p:cNvPr>
                <p:cNvSpPr txBox="1"/>
                <p:nvPr/>
              </p:nvSpPr>
              <p:spPr>
                <a:xfrm>
                  <a:off x="8639169" y="4238717"/>
                  <a:ext cx="1468329" cy="94425"/>
                </a:xfrm>
                <a:prstGeom prst="rect">
                  <a:avLst/>
                </a:prstGeom>
                <a:noFill/>
              </p:spPr>
              <p:txBody>
                <a:bodyPr wrap="square" lIns="0" tIns="0" rIns="0" bIns="0" anchor="ctr">
                  <a:noAutofit/>
                </a:bodyPr>
                <a:lstStyle/>
                <a:p>
                  <a:pPr marL="0" marR="20955" lvl="0" indent="0" algn="ctr" defTabSz="914400" rtl="0" eaLnBrk="1" fontAlgn="auto" latinLnBrk="0" hangingPunct="1">
                    <a:lnSpc>
                      <a:spcPts val="84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CVS Health Sans"/>
                      <a:ea typeface="+mn-ea"/>
                      <a:cs typeface="CVS Health Sans"/>
                    </a:rPr>
                    <a:t>4 Data Engineers (2/Pod)</a:t>
                  </a:r>
                </a:p>
              </p:txBody>
            </p:sp>
          </p:grpSp>
          <p:sp>
            <p:nvSpPr>
              <p:cNvPr id="219" name="TextBox 218">
                <a:extLst>
                  <a:ext uri="{FF2B5EF4-FFF2-40B4-BE49-F238E27FC236}">
                    <a16:creationId xmlns:a16="http://schemas.microsoft.com/office/drawing/2014/main" id="{50DE13DB-FDFB-B5EF-12B3-EF976899A524}"/>
                  </a:ext>
                </a:extLst>
              </p:cNvPr>
              <p:cNvSpPr txBox="1"/>
              <p:nvPr/>
            </p:nvSpPr>
            <p:spPr>
              <a:xfrm>
                <a:off x="4754875" y="3905024"/>
                <a:ext cx="735647" cy="151874"/>
              </a:xfrm>
              <a:prstGeom prst="rect">
                <a:avLst/>
              </a:prstGeom>
              <a:noFill/>
            </p:spPr>
            <p:txBody>
              <a:bodyPr wrap="square" l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a:ln>
                      <a:noFill/>
                    </a:ln>
                    <a:solidFill>
                      <a:srgbClr val="3F3F3F"/>
                    </a:solidFill>
                    <a:effectLst/>
                    <a:uLnTx/>
                    <a:uFillTx/>
                    <a:latin typeface="CVS Health Sans"/>
                    <a:ea typeface="+mn-ea"/>
                    <a:cs typeface="CVS Health Sans"/>
                  </a:rPr>
                  <a:t>Pod (x2)</a:t>
                </a:r>
              </a:p>
            </p:txBody>
          </p:sp>
        </p:grpSp>
        <p:grpSp>
          <p:nvGrpSpPr>
            <p:cNvPr id="241" name="Group 240">
              <a:extLst>
                <a:ext uri="{FF2B5EF4-FFF2-40B4-BE49-F238E27FC236}">
                  <a16:creationId xmlns:a16="http://schemas.microsoft.com/office/drawing/2014/main" id="{237D808A-9D7A-CFE5-3934-C0DA319488D9}"/>
                </a:ext>
              </a:extLst>
            </p:cNvPr>
            <p:cNvGrpSpPr/>
            <p:nvPr/>
          </p:nvGrpSpPr>
          <p:grpSpPr>
            <a:xfrm>
              <a:off x="4669407" y="4534989"/>
              <a:ext cx="1651889" cy="632777"/>
              <a:chOff x="4669407" y="3830070"/>
              <a:chExt cx="1651889" cy="736599"/>
            </a:xfrm>
          </p:grpSpPr>
          <p:grpSp>
            <p:nvGrpSpPr>
              <p:cNvPr id="242" name="Group 241">
                <a:extLst>
                  <a:ext uri="{FF2B5EF4-FFF2-40B4-BE49-F238E27FC236}">
                    <a16:creationId xmlns:a16="http://schemas.microsoft.com/office/drawing/2014/main" id="{09E92024-2BC8-2F05-3FA0-E1BD21E4E363}"/>
                  </a:ext>
                </a:extLst>
              </p:cNvPr>
              <p:cNvGrpSpPr/>
              <p:nvPr/>
            </p:nvGrpSpPr>
            <p:grpSpPr>
              <a:xfrm>
                <a:off x="4669407" y="3830070"/>
                <a:ext cx="1651889" cy="736599"/>
                <a:chOff x="8550227" y="4374134"/>
                <a:chExt cx="1651889" cy="776605"/>
              </a:xfrm>
            </p:grpSpPr>
            <p:sp>
              <p:nvSpPr>
                <p:cNvPr id="250" name="object 77">
                  <a:extLst>
                    <a:ext uri="{FF2B5EF4-FFF2-40B4-BE49-F238E27FC236}">
                      <a16:creationId xmlns:a16="http://schemas.microsoft.com/office/drawing/2014/main" id="{0C0A70F6-4579-C6B4-54EB-3EB59A246B7F}"/>
                    </a:ext>
                  </a:extLst>
                </p:cNvPr>
                <p:cNvSpPr/>
                <p:nvPr/>
              </p:nvSpPr>
              <p:spPr>
                <a:xfrm>
                  <a:off x="8612446" y="4374134"/>
                  <a:ext cx="1589670" cy="717550"/>
                </a:xfrm>
                <a:custGeom>
                  <a:avLst/>
                  <a:gdLst/>
                  <a:ahLst/>
                  <a:cxnLst/>
                  <a:rect l="l" t="t" r="r" b="b"/>
                  <a:pathLst>
                    <a:path w="1609090" h="717550">
                      <a:moveTo>
                        <a:pt x="0" y="65024"/>
                      </a:moveTo>
                      <a:lnTo>
                        <a:pt x="5105" y="39701"/>
                      </a:lnTo>
                      <a:lnTo>
                        <a:pt x="19034" y="19034"/>
                      </a:lnTo>
                      <a:lnTo>
                        <a:pt x="39701" y="5105"/>
                      </a:lnTo>
                      <a:lnTo>
                        <a:pt x="65024" y="0"/>
                      </a:lnTo>
                      <a:lnTo>
                        <a:pt x="1543811" y="0"/>
                      </a:lnTo>
                      <a:lnTo>
                        <a:pt x="1569134" y="5105"/>
                      </a:lnTo>
                      <a:lnTo>
                        <a:pt x="1589801" y="19034"/>
                      </a:lnTo>
                      <a:lnTo>
                        <a:pt x="1603730" y="39701"/>
                      </a:lnTo>
                      <a:lnTo>
                        <a:pt x="1608835" y="65024"/>
                      </a:lnTo>
                      <a:lnTo>
                        <a:pt x="1608835" y="652399"/>
                      </a:lnTo>
                      <a:lnTo>
                        <a:pt x="1603730" y="677648"/>
                      </a:lnTo>
                      <a:lnTo>
                        <a:pt x="1589801" y="698277"/>
                      </a:lnTo>
                      <a:lnTo>
                        <a:pt x="1569134" y="712192"/>
                      </a:lnTo>
                      <a:lnTo>
                        <a:pt x="1543811" y="717296"/>
                      </a:lnTo>
                      <a:lnTo>
                        <a:pt x="65024" y="717296"/>
                      </a:lnTo>
                      <a:lnTo>
                        <a:pt x="39701" y="712192"/>
                      </a:lnTo>
                      <a:lnTo>
                        <a:pt x="19034" y="698277"/>
                      </a:lnTo>
                      <a:lnTo>
                        <a:pt x="5105" y="677648"/>
                      </a:lnTo>
                      <a:lnTo>
                        <a:pt x="0" y="652399"/>
                      </a:lnTo>
                      <a:lnTo>
                        <a:pt x="0" y="65024"/>
                      </a:lnTo>
                      <a:close/>
                    </a:path>
                  </a:pathLst>
                </a:custGeom>
                <a:ln w="3175">
                  <a:solidFill>
                    <a:srgbClr val="868686"/>
                  </a:solidFill>
                  <a:prstDash val="lg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51" name="object 79">
                  <a:extLst>
                    <a:ext uri="{FF2B5EF4-FFF2-40B4-BE49-F238E27FC236}">
                      <a16:creationId xmlns:a16="http://schemas.microsoft.com/office/drawing/2014/main" id="{102C59B9-7B95-559B-E329-05F925382FD8}"/>
                    </a:ext>
                  </a:extLst>
                </p:cNvPr>
                <p:cNvSpPr/>
                <p:nvPr/>
              </p:nvSpPr>
              <p:spPr>
                <a:xfrm>
                  <a:off x="8571865" y="4403661"/>
                  <a:ext cx="1606098" cy="717550"/>
                </a:xfrm>
                <a:custGeom>
                  <a:avLst/>
                  <a:gdLst/>
                  <a:ahLst/>
                  <a:cxnLst/>
                  <a:rect l="l" t="t" r="r" b="b"/>
                  <a:pathLst>
                    <a:path w="1609090" h="717550">
                      <a:moveTo>
                        <a:pt x="0" y="65024"/>
                      </a:moveTo>
                      <a:lnTo>
                        <a:pt x="5123" y="39701"/>
                      </a:lnTo>
                      <a:lnTo>
                        <a:pt x="19081" y="19034"/>
                      </a:lnTo>
                      <a:lnTo>
                        <a:pt x="39754" y="5105"/>
                      </a:lnTo>
                      <a:lnTo>
                        <a:pt x="65024" y="0"/>
                      </a:lnTo>
                      <a:lnTo>
                        <a:pt x="1543939" y="0"/>
                      </a:lnTo>
                      <a:lnTo>
                        <a:pt x="1569208" y="5105"/>
                      </a:lnTo>
                      <a:lnTo>
                        <a:pt x="1589881" y="19034"/>
                      </a:lnTo>
                      <a:lnTo>
                        <a:pt x="1603839" y="39701"/>
                      </a:lnTo>
                      <a:lnTo>
                        <a:pt x="1608963" y="65024"/>
                      </a:lnTo>
                      <a:lnTo>
                        <a:pt x="1608963" y="652399"/>
                      </a:lnTo>
                      <a:lnTo>
                        <a:pt x="1603839" y="677648"/>
                      </a:lnTo>
                      <a:lnTo>
                        <a:pt x="1589881" y="698277"/>
                      </a:lnTo>
                      <a:lnTo>
                        <a:pt x="1569208" y="712192"/>
                      </a:lnTo>
                      <a:lnTo>
                        <a:pt x="1543939" y="717296"/>
                      </a:lnTo>
                      <a:lnTo>
                        <a:pt x="65024" y="717296"/>
                      </a:lnTo>
                      <a:lnTo>
                        <a:pt x="39754" y="712192"/>
                      </a:lnTo>
                      <a:lnTo>
                        <a:pt x="19081" y="698277"/>
                      </a:lnTo>
                      <a:lnTo>
                        <a:pt x="5123" y="677648"/>
                      </a:lnTo>
                      <a:lnTo>
                        <a:pt x="0" y="652399"/>
                      </a:lnTo>
                      <a:lnTo>
                        <a:pt x="0" y="65024"/>
                      </a:lnTo>
                      <a:close/>
                    </a:path>
                  </a:pathLst>
                </a:custGeom>
                <a:solidFill>
                  <a:schemeClr val="bg1"/>
                </a:solidFill>
                <a:ln w="3175">
                  <a:solidFill>
                    <a:srgbClr val="868686"/>
                  </a:solidFill>
                  <a:prstDash val="lg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52" name="object 80">
                  <a:extLst>
                    <a:ext uri="{FF2B5EF4-FFF2-40B4-BE49-F238E27FC236}">
                      <a16:creationId xmlns:a16="http://schemas.microsoft.com/office/drawing/2014/main" id="{68EBCCB8-A904-C267-DBB8-E55F44DAF74A}"/>
                    </a:ext>
                  </a:extLst>
                </p:cNvPr>
                <p:cNvSpPr/>
                <p:nvPr/>
              </p:nvSpPr>
              <p:spPr>
                <a:xfrm>
                  <a:off x="8550227" y="4433189"/>
                  <a:ext cx="1609090" cy="717550"/>
                </a:xfrm>
                <a:custGeom>
                  <a:avLst/>
                  <a:gdLst/>
                  <a:ahLst/>
                  <a:cxnLst/>
                  <a:rect l="l" t="t" r="r" b="b"/>
                  <a:pathLst>
                    <a:path w="1609090" h="717550">
                      <a:moveTo>
                        <a:pt x="1549273" y="0"/>
                      </a:moveTo>
                      <a:lnTo>
                        <a:pt x="59562" y="0"/>
                      </a:lnTo>
                      <a:lnTo>
                        <a:pt x="36379" y="4681"/>
                      </a:lnTo>
                      <a:lnTo>
                        <a:pt x="17446" y="17446"/>
                      </a:lnTo>
                      <a:lnTo>
                        <a:pt x="4681" y="36379"/>
                      </a:lnTo>
                      <a:lnTo>
                        <a:pt x="0" y="59563"/>
                      </a:lnTo>
                      <a:lnTo>
                        <a:pt x="0" y="657733"/>
                      </a:lnTo>
                      <a:lnTo>
                        <a:pt x="4681" y="680916"/>
                      </a:lnTo>
                      <a:lnTo>
                        <a:pt x="17446" y="699849"/>
                      </a:lnTo>
                      <a:lnTo>
                        <a:pt x="36379" y="712614"/>
                      </a:lnTo>
                      <a:lnTo>
                        <a:pt x="59562" y="717296"/>
                      </a:lnTo>
                      <a:lnTo>
                        <a:pt x="1549273" y="717296"/>
                      </a:lnTo>
                      <a:lnTo>
                        <a:pt x="1572456" y="712614"/>
                      </a:lnTo>
                      <a:lnTo>
                        <a:pt x="1591389" y="699849"/>
                      </a:lnTo>
                      <a:lnTo>
                        <a:pt x="1604154" y="680916"/>
                      </a:lnTo>
                      <a:lnTo>
                        <a:pt x="1608835" y="657733"/>
                      </a:lnTo>
                      <a:lnTo>
                        <a:pt x="1608835" y="59563"/>
                      </a:lnTo>
                      <a:lnTo>
                        <a:pt x="1604154" y="36379"/>
                      </a:lnTo>
                      <a:lnTo>
                        <a:pt x="1591389" y="17446"/>
                      </a:lnTo>
                      <a:lnTo>
                        <a:pt x="1572456" y="4681"/>
                      </a:lnTo>
                      <a:lnTo>
                        <a:pt x="1549273"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53" name="object 81">
                  <a:extLst>
                    <a:ext uri="{FF2B5EF4-FFF2-40B4-BE49-F238E27FC236}">
                      <a16:creationId xmlns:a16="http://schemas.microsoft.com/office/drawing/2014/main" id="{E9CEAF8B-A373-EFFE-DB49-7AF99239F0BA}"/>
                    </a:ext>
                  </a:extLst>
                </p:cNvPr>
                <p:cNvSpPr/>
                <p:nvPr/>
              </p:nvSpPr>
              <p:spPr>
                <a:xfrm>
                  <a:off x="8550227" y="4433189"/>
                  <a:ext cx="1609090" cy="717550"/>
                </a:xfrm>
                <a:custGeom>
                  <a:avLst/>
                  <a:gdLst/>
                  <a:ahLst/>
                  <a:cxnLst/>
                  <a:rect l="l" t="t" r="r" b="b"/>
                  <a:pathLst>
                    <a:path w="1609090" h="717550">
                      <a:moveTo>
                        <a:pt x="0" y="59563"/>
                      </a:moveTo>
                      <a:lnTo>
                        <a:pt x="4681" y="36379"/>
                      </a:lnTo>
                      <a:lnTo>
                        <a:pt x="17446" y="17446"/>
                      </a:lnTo>
                      <a:lnTo>
                        <a:pt x="36379" y="4681"/>
                      </a:lnTo>
                      <a:lnTo>
                        <a:pt x="59562" y="0"/>
                      </a:lnTo>
                      <a:lnTo>
                        <a:pt x="1549273" y="0"/>
                      </a:lnTo>
                      <a:lnTo>
                        <a:pt x="1572456" y="4681"/>
                      </a:lnTo>
                      <a:lnTo>
                        <a:pt x="1591389" y="17446"/>
                      </a:lnTo>
                      <a:lnTo>
                        <a:pt x="1604154" y="36379"/>
                      </a:lnTo>
                      <a:lnTo>
                        <a:pt x="1608835" y="59563"/>
                      </a:lnTo>
                      <a:lnTo>
                        <a:pt x="1608835" y="657733"/>
                      </a:lnTo>
                      <a:lnTo>
                        <a:pt x="1604154" y="680916"/>
                      </a:lnTo>
                      <a:lnTo>
                        <a:pt x="1591389" y="699849"/>
                      </a:lnTo>
                      <a:lnTo>
                        <a:pt x="1572456" y="712614"/>
                      </a:lnTo>
                      <a:lnTo>
                        <a:pt x="1549273" y="717296"/>
                      </a:lnTo>
                      <a:lnTo>
                        <a:pt x="59562" y="717296"/>
                      </a:lnTo>
                      <a:lnTo>
                        <a:pt x="36379" y="712614"/>
                      </a:lnTo>
                      <a:lnTo>
                        <a:pt x="17446" y="699849"/>
                      </a:lnTo>
                      <a:lnTo>
                        <a:pt x="4681" y="680916"/>
                      </a:lnTo>
                      <a:lnTo>
                        <a:pt x="0" y="657733"/>
                      </a:lnTo>
                      <a:lnTo>
                        <a:pt x="0" y="59563"/>
                      </a:lnTo>
                      <a:close/>
                    </a:path>
                  </a:pathLst>
                </a:custGeom>
                <a:ln w="3175">
                  <a:solidFill>
                    <a:srgbClr val="868686"/>
                  </a:solidFill>
                  <a:prstDash val="lg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grpSp>
          <p:grpSp>
            <p:nvGrpSpPr>
              <p:cNvPr id="243" name="Group 242">
                <a:extLst>
                  <a:ext uri="{FF2B5EF4-FFF2-40B4-BE49-F238E27FC236}">
                    <a16:creationId xmlns:a16="http://schemas.microsoft.com/office/drawing/2014/main" id="{3CE877F0-2B8E-3467-92A5-34FC838BB778}"/>
                  </a:ext>
                </a:extLst>
              </p:cNvPr>
              <p:cNvGrpSpPr/>
              <p:nvPr/>
            </p:nvGrpSpPr>
            <p:grpSpPr>
              <a:xfrm>
                <a:off x="4717082" y="4095415"/>
                <a:ext cx="1517764" cy="177301"/>
                <a:chOff x="8587013" y="3935672"/>
                <a:chExt cx="1569021" cy="215582"/>
              </a:xfrm>
            </p:grpSpPr>
            <p:sp>
              <p:nvSpPr>
                <p:cNvPr id="248" name="object 50">
                  <a:extLst>
                    <a:ext uri="{FF2B5EF4-FFF2-40B4-BE49-F238E27FC236}">
                      <a16:creationId xmlns:a16="http://schemas.microsoft.com/office/drawing/2014/main" id="{65F0337A-7AB0-2522-5A0C-228C8994BE98}"/>
                    </a:ext>
                  </a:extLst>
                </p:cNvPr>
                <p:cNvSpPr/>
                <p:nvPr/>
              </p:nvSpPr>
              <p:spPr>
                <a:xfrm>
                  <a:off x="8587013" y="3935672"/>
                  <a:ext cx="1569021" cy="215582"/>
                </a:xfrm>
                <a:prstGeom prst="roundRect">
                  <a:avLst/>
                </a:prstGeom>
                <a:solidFill>
                  <a:srgbClr val="267A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49" name="TextBox 248">
                  <a:extLst>
                    <a:ext uri="{FF2B5EF4-FFF2-40B4-BE49-F238E27FC236}">
                      <a16:creationId xmlns:a16="http://schemas.microsoft.com/office/drawing/2014/main" id="{B911E357-AEF6-1411-5D55-699EBE11F78D}"/>
                    </a:ext>
                  </a:extLst>
                </p:cNvPr>
                <p:cNvSpPr txBox="1"/>
                <p:nvPr/>
              </p:nvSpPr>
              <p:spPr>
                <a:xfrm>
                  <a:off x="8671731" y="3981458"/>
                  <a:ext cx="1399586" cy="124012"/>
                </a:xfrm>
                <a:prstGeom prst="rect">
                  <a:avLst/>
                </a:prstGeom>
                <a:noFill/>
              </p:spPr>
              <p:txBody>
                <a:bodyPr wrap="square" lIns="0" tIns="0" rIns="0" bIns="0" anchor="ctr">
                  <a:no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CVS Health Sans"/>
                      <a:ea typeface="+mn-ea"/>
                      <a:cs typeface="CVS Health Sans"/>
                    </a:rPr>
                    <a:t>3</a:t>
                  </a:r>
                  <a:r>
                    <a:rPr kumimoji="0" lang="en-US" sz="800" b="0" i="0" u="none" strike="noStrike" kern="0" cap="none" spc="-35" normalizeH="0" baseline="0" noProof="0">
                      <a:ln>
                        <a:noFill/>
                      </a:ln>
                      <a:solidFill>
                        <a:srgbClr val="FFFFFF"/>
                      </a:solidFill>
                      <a:effectLst/>
                      <a:uLnTx/>
                      <a:uFillTx/>
                      <a:latin typeface="CVS Health Sans"/>
                      <a:ea typeface="+mn-ea"/>
                      <a:cs typeface="CVS Health Sans"/>
                    </a:rPr>
                    <a:t> </a:t>
                  </a:r>
                  <a:r>
                    <a:rPr kumimoji="0" lang="en-US" sz="800" b="0" i="0" u="none" strike="noStrike" kern="0" cap="none" spc="0" normalizeH="0" baseline="0" noProof="0">
                      <a:ln>
                        <a:noFill/>
                      </a:ln>
                      <a:solidFill>
                        <a:srgbClr val="FFFFFF"/>
                      </a:solidFill>
                      <a:effectLst/>
                      <a:uLnTx/>
                      <a:uFillTx/>
                      <a:latin typeface="CVS Health Sans"/>
                      <a:ea typeface="+mn-ea"/>
                      <a:cs typeface="CVS Health Sans"/>
                    </a:rPr>
                    <a:t>Data</a:t>
                  </a:r>
                  <a:r>
                    <a:rPr kumimoji="0" lang="en-US" sz="800" b="0" i="0" u="none" strike="noStrike" kern="0" cap="none" spc="-20" normalizeH="0" baseline="0" noProof="0">
                      <a:ln>
                        <a:noFill/>
                      </a:ln>
                      <a:solidFill>
                        <a:srgbClr val="FFFFFF"/>
                      </a:solidFill>
                      <a:effectLst/>
                      <a:uLnTx/>
                      <a:uFillTx/>
                      <a:latin typeface="CVS Health Sans"/>
                      <a:ea typeface="+mn-ea"/>
                      <a:cs typeface="CVS Health Sans"/>
                    </a:rPr>
                    <a:t> </a:t>
                  </a:r>
                  <a:r>
                    <a:rPr kumimoji="0" lang="en-US" sz="800" b="0" i="0" u="none" strike="noStrike" kern="0" cap="none" spc="0" normalizeH="0" baseline="0" noProof="0">
                      <a:ln>
                        <a:noFill/>
                      </a:ln>
                      <a:solidFill>
                        <a:srgbClr val="FFFFFF"/>
                      </a:solidFill>
                      <a:effectLst/>
                      <a:uLnTx/>
                      <a:uFillTx/>
                      <a:latin typeface="CVS Health Sans"/>
                      <a:ea typeface="+mn-ea"/>
                      <a:cs typeface="CVS Health Sans"/>
                    </a:rPr>
                    <a:t>Engineers</a:t>
                  </a:r>
                  <a:r>
                    <a:rPr kumimoji="0" lang="en-US" sz="800" b="0" i="0" u="none" strike="noStrike" kern="0" cap="none" spc="-15" normalizeH="0" baseline="0" noProof="0">
                      <a:ln>
                        <a:noFill/>
                      </a:ln>
                      <a:solidFill>
                        <a:srgbClr val="FFFFFF"/>
                      </a:solidFill>
                      <a:effectLst/>
                      <a:uLnTx/>
                      <a:uFillTx/>
                      <a:latin typeface="CVS Health Sans"/>
                      <a:ea typeface="+mn-ea"/>
                      <a:cs typeface="CVS Health Sans"/>
                    </a:rPr>
                    <a:t> </a:t>
                  </a:r>
                  <a:r>
                    <a:rPr kumimoji="0" lang="en-US" sz="800" b="0" i="0" u="none" strike="noStrike" kern="0" cap="none" spc="-10" normalizeH="0" baseline="0" noProof="0">
                      <a:ln>
                        <a:noFill/>
                      </a:ln>
                      <a:solidFill>
                        <a:srgbClr val="FFFFFF"/>
                      </a:solidFill>
                      <a:effectLst/>
                      <a:uLnTx/>
                      <a:uFillTx/>
                      <a:latin typeface="CVS Health Sans"/>
                      <a:ea typeface="+mn-ea"/>
                      <a:cs typeface="CVS Health Sans"/>
                    </a:rPr>
                    <a:t>(1/Pod)</a:t>
                  </a:r>
                  <a:endParaRPr kumimoji="0" lang="en-US"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grpSp>
            <p:nvGrpSpPr>
              <p:cNvPr id="244" name="Group 243">
                <a:extLst>
                  <a:ext uri="{FF2B5EF4-FFF2-40B4-BE49-F238E27FC236}">
                    <a16:creationId xmlns:a16="http://schemas.microsoft.com/office/drawing/2014/main" id="{9EE32C6C-8A6B-4C03-6CA2-6A53C549808E}"/>
                  </a:ext>
                </a:extLst>
              </p:cNvPr>
              <p:cNvGrpSpPr/>
              <p:nvPr/>
            </p:nvGrpSpPr>
            <p:grpSpPr>
              <a:xfrm>
                <a:off x="4717143" y="4309960"/>
                <a:ext cx="1521388" cy="177301"/>
                <a:chOff x="8587013" y="4178139"/>
                <a:chExt cx="1572768" cy="215582"/>
              </a:xfrm>
            </p:grpSpPr>
            <p:sp>
              <p:nvSpPr>
                <p:cNvPr id="246" name="object 50">
                  <a:extLst>
                    <a:ext uri="{FF2B5EF4-FFF2-40B4-BE49-F238E27FC236}">
                      <a16:creationId xmlns:a16="http://schemas.microsoft.com/office/drawing/2014/main" id="{074D21F4-556E-EB30-7D7A-79042375FD9D}"/>
                    </a:ext>
                  </a:extLst>
                </p:cNvPr>
                <p:cNvSpPr/>
                <p:nvPr/>
              </p:nvSpPr>
              <p:spPr>
                <a:xfrm>
                  <a:off x="8587013" y="4178139"/>
                  <a:ext cx="1572768" cy="215582"/>
                </a:xfrm>
                <a:prstGeom prst="roundRect">
                  <a:avLst/>
                </a:prstGeom>
                <a:solidFill>
                  <a:srgbClr val="00A78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47" name="TextBox 246">
                  <a:extLst>
                    <a:ext uri="{FF2B5EF4-FFF2-40B4-BE49-F238E27FC236}">
                      <a16:creationId xmlns:a16="http://schemas.microsoft.com/office/drawing/2014/main" id="{B502BDFD-2C55-34F4-3E87-FC6C4703AEBB}"/>
                    </a:ext>
                  </a:extLst>
                </p:cNvPr>
                <p:cNvSpPr txBox="1"/>
                <p:nvPr/>
              </p:nvSpPr>
              <p:spPr>
                <a:xfrm>
                  <a:off x="8651670" y="4238718"/>
                  <a:ext cx="1443454" cy="94425"/>
                </a:xfrm>
                <a:prstGeom prst="rect">
                  <a:avLst/>
                </a:prstGeom>
                <a:noFill/>
              </p:spPr>
              <p:txBody>
                <a:bodyPr wrap="square" lIns="0" tIns="0" rIns="0" bIns="0" anchor="ctr">
                  <a:no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CVS Health Sans"/>
                      <a:ea typeface="+mn-ea"/>
                      <a:cs typeface="CVS Health Sans"/>
                    </a:rPr>
                    <a:t>6</a:t>
                  </a:r>
                  <a:r>
                    <a:rPr kumimoji="0" lang="en-US" sz="800" b="0" i="0" u="none" strike="noStrike" kern="0" cap="none" spc="-35" normalizeH="0" baseline="0" noProof="0">
                      <a:ln>
                        <a:noFill/>
                      </a:ln>
                      <a:solidFill>
                        <a:srgbClr val="FFFFFF"/>
                      </a:solidFill>
                      <a:effectLst/>
                      <a:uLnTx/>
                      <a:uFillTx/>
                      <a:latin typeface="CVS Health Sans"/>
                      <a:ea typeface="+mn-ea"/>
                      <a:cs typeface="CVS Health Sans"/>
                    </a:rPr>
                    <a:t> </a:t>
                  </a:r>
                  <a:r>
                    <a:rPr kumimoji="0" lang="en-US" sz="800" b="0" i="0" u="none" strike="noStrike" kern="0" cap="none" spc="0" normalizeH="0" baseline="0" noProof="0">
                      <a:ln>
                        <a:noFill/>
                      </a:ln>
                      <a:solidFill>
                        <a:srgbClr val="FFFFFF"/>
                      </a:solidFill>
                      <a:effectLst/>
                      <a:uLnTx/>
                      <a:uFillTx/>
                      <a:latin typeface="CVS Health Sans"/>
                      <a:ea typeface="+mn-ea"/>
                      <a:cs typeface="CVS Health Sans"/>
                    </a:rPr>
                    <a:t>Data</a:t>
                  </a:r>
                  <a:r>
                    <a:rPr kumimoji="0" lang="en-US" sz="800" b="0" i="0" u="none" strike="noStrike" kern="0" cap="none" spc="-20" normalizeH="0" baseline="0" noProof="0">
                      <a:ln>
                        <a:noFill/>
                      </a:ln>
                      <a:solidFill>
                        <a:srgbClr val="FFFFFF"/>
                      </a:solidFill>
                      <a:effectLst/>
                      <a:uLnTx/>
                      <a:uFillTx/>
                      <a:latin typeface="CVS Health Sans"/>
                      <a:ea typeface="+mn-ea"/>
                      <a:cs typeface="CVS Health Sans"/>
                    </a:rPr>
                    <a:t> </a:t>
                  </a:r>
                  <a:r>
                    <a:rPr kumimoji="0" lang="en-US" sz="800" b="0" i="0" u="none" strike="noStrike" kern="0" cap="none" spc="0" normalizeH="0" baseline="0" noProof="0">
                      <a:ln>
                        <a:noFill/>
                      </a:ln>
                      <a:solidFill>
                        <a:srgbClr val="FFFFFF"/>
                      </a:solidFill>
                      <a:effectLst/>
                      <a:uLnTx/>
                      <a:uFillTx/>
                      <a:latin typeface="CVS Health Sans"/>
                      <a:ea typeface="+mn-ea"/>
                      <a:cs typeface="CVS Health Sans"/>
                    </a:rPr>
                    <a:t>Engineers</a:t>
                  </a:r>
                  <a:r>
                    <a:rPr kumimoji="0" lang="en-US" sz="800" b="0" i="0" u="none" strike="noStrike" kern="0" cap="none" spc="-15" normalizeH="0" baseline="0" noProof="0">
                      <a:ln>
                        <a:noFill/>
                      </a:ln>
                      <a:solidFill>
                        <a:srgbClr val="FFFFFF"/>
                      </a:solidFill>
                      <a:effectLst/>
                      <a:uLnTx/>
                      <a:uFillTx/>
                      <a:latin typeface="CVS Health Sans"/>
                      <a:ea typeface="+mn-ea"/>
                      <a:cs typeface="CVS Health Sans"/>
                    </a:rPr>
                    <a:t> </a:t>
                  </a:r>
                  <a:r>
                    <a:rPr kumimoji="0" lang="en-US" sz="800" b="0" i="0" u="none" strike="noStrike" kern="0" cap="none" spc="-10" normalizeH="0" baseline="0" noProof="0">
                      <a:ln>
                        <a:noFill/>
                      </a:ln>
                      <a:solidFill>
                        <a:srgbClr val="FFFFFF"/>
                      </a:solidFill>
                      <a:effectLst/>
                      <a:uLnTx/>
                      <a:uFillTx/>
                      <a:latin typeface="CVS Health Sans"/>
                      <a:ea typeface="+mn-ea"/>
                      <a:cs typeface="CVS Health Sans"/>
                    </a:rPr>
                    <a:t>(2/Pod)</a:t>
                  </a:r>
                  <a:endParaRPr kumimoji="0" lang="en-US"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sp>
            <p:nvSpPr>
              <p:cNvPr id="245" name="TextBox 244">
                <a:extLst>
                  <a:ext uri="{FF2B5EF4-FFF2-40B4-BE49-F238E27FC236}">
                    <a16:creationId xmlns:a16="http://schemas.microsoft.com/office/drawing/2014/main" id="{D7103021-F568-BFAE-4D51-4F8F1496764A}"/>
                  </a:ext>
                </a:extLst>
              </p:cNvPr>
              <p:cNvSpPr txBox="1"/>
              <p:nvPr/>
            </p:nvSpPr>
            <p:spPr>
              <a:xfrm>
                <a:off x="4754875" y="3914290"/>
                <a:ext cx="735647" cy="151874"/>
              </a:xfrm>
              <a:prstGeom prst="rect">
                <a:avLst/>
              </a:prstGeom>
              <a:noFill/>
            </p:spPr>
            <p:txBody>
              <a:bodyPr wrap="square" l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a:ln>
                      <a:noFill/>
                    </a:ln>
                    <a:solidFill>
                      <a:srgbClr val="3F3F3F"/>
                    </a:solidFill>
                    <a:effectLst/>
                    <a:uLnTx/>
                    <a:uFillTx/>
                    <a:latin typeface="CVS Health Sans"/>
                    <a:ea typeface="+mn-ea"/>
                    <a:cs typeface="CVS Health Sans"/>
                  </a:rPr>
                  <a:t>Pod (x3)</a:t>
                </a:r>
              </a:p>
            </p:txBody>
          </p:sp>
        </p:grpSp>
      </p:grpSp>
      <p:grpSp>
        <p:nvGrpSpPr>
          <p:cNvPr id="254" name="Group 253">
            <a:extLst>
              <a:ext uri="{FF2B5EF4-FFF2-40B4-BE49-F238E27FC236}">
                <a16:creationId xmlns:a16="http://schemas.microsoft.com/office/drawing/2014/main" id="{4E72E670-8F20-C058-88DA-994C9202D359}"/>
              </a:ext>
            </a:extLst>
          </p:cNvPr>
          <p:cNvGrpSpPr/>
          <p:nvPr/>
        </p:nvGrpSpPr>
        <p:grpSpPr>
          <a:xfrm>
            <a:off x="4567919" y="5292119"/>
            <a:ext cx="1475622" cy="266700"/>
            <a:chOff x="6715701" y="5292119"/>
            <a:chExt cx="1416050" cy="266700"/>
          </a:xfrm>
        </p:grpSpPr>
        <p:sp>
          <p:nvSpPr>
            <p:cNvPr id="255" name="object 85">
              <a:extLst>
                <a:ext uri="{FF2B5EF4-FFF2-40B4-BE49-F238E27FC236}">
                  <a16:creationId xmlns:a16="http://schemas.microsoft.com/office/drawing/2014/main" id="{49708CE5-DF7B-93AF-5B76-51631EAA65A9}"/>
                </a:ext>
              </a:extLst>
            </p:cNvPr>
            <p:cNvSpPr/>
            <p:nvPr/>
          </p:nvSpPr>
          <p:spPr>
            <a:xfrm>
              <a:off x="6715701" y="5292119"/>
              <a:ext cx="1416050" cy="266700"/>
            </a:xfrm>
            <a:custGeom>
              <a:avLst/>
              <a:gdLst/>
              <a:ahLst/>
              <a:cxnLst/>
              <a:rect l="l" t="t" r="r" b="b"/>
              <a:pathLst>
                <a:path w="1416050" h="266700">
                  <a:moveTo>
                    <a:pt x="1371600" y="0"/>
                  </a:moveTo>
                  <a:lnTo>
                    <a:pt x="44450" y="0"/>
                  </a:lnTo>
                  <a:lnTo>
                    <a:pt x="27164" y="3478"/>
                  </a:lnTo>
                  <a:lnTo>
                    <a:pt x="13033" y="12969"/>
                  </a:lnTo>
                  <a:lnTo>
                    <a:pt x="3498" y="27056"/>
                  </a:lnTo>
                  <a:lnTo>
                    <a:pt x="0" y="44323"/>
                  </a:lnTo>
                  <a:lnTo>
                    <a:pt x="0" y="222122"/>
                  </a:lnTo>
                  <a:lnTo>
                    <a:pt x="3498" y="239389"/>
                  </a:lnTo>
                  <a:lnTo>
                    <a:pt x="13033" y="253476"/>
                  </a:lnTo>
                  <a:lnTo>
                    <a:pt x="27164" y="262967"/>
                  </a:lnTo>
                  <a:lnTo>
                    <a:pt x="44450" y="266446"/>
                  </a:lnTo>
                  <a:lnTo>
                    <a:pt x="1371600" y="266446"/>
                  </a:lnTo>
                  <a:lnTo>
                    <a:pt x="1388885" y="262967"/>
                  </a:lnTo>
                  <a:lnTo>
                    <a:pt x="1403016" y="253476"/>
                  </a:lnTo>
                  <a:lnTo>
                    <a:pt x="1412551" y="239389"/>
                  </a:lnTo>
                  <a:lnTo>
                    <a:pt x="1416050" y="222122"/>
                  </a:lnTo>
                  <a:lnTo>
                    <a:pt x="1416050" y="44323"/>
                  </a:lnTo>
                  <a:lnTo>
                    <a:pt x="1412551" y="27056"/>
                  </a:lnTo>
                  <a:lnTo>
                    <a:pt x="1403016" y="12969"/>
                  </a:lnTo>
                  <a:lnTo>
                    <a:pt x="1388885" y="3478"/>
                  </a:lnTo>
                  <a:lnTo>
                    <a:pt x="1371600" y="0"/>
                  </a:lnTo>
                  <a:close/>
                </a:path>
              </a:pathLst>
            </a:custGeom>
            <a:solidFill>
              <a:srgbClr val="E9E9E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56" name="TextBox 255">
              <a:extLst>
                <a:ext uri="{FF2B5EF4-FFF2-40B4-BE49-F238E27FC236}">
                  <a16:creationId xmlns:a16="http://schemas.microsoft.com/office/drawing/2014/main" id="{A4753231-B7A7-F81C-897F-E270376C5BC1}"/>
                </a:ext>
              </a:extLst>
            </p:cNvPr>
            <p:cNvSpPr txBox="1"/>
            <p:nvPr/>
          </p:nvSpPr>
          <p:spPr>
            <a:xfrm>
              <a:off x="6772565" y="5363463"/>
              <a:ext cx="1302322" cy="124012"/>
            </a:xfrm>
            <a:prstGeom prst="rect">
              <a:avLst/>
            </a:prstGeom>
            <a:noFill/>
          </p:spPr>
          <p:txBody>
            <a:bodyPr wrap="square" lIns="0" tIns="0" rIns="0" bIns="0" anchor="ctr">
              <a:no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lang="en-US" sz="800" b="0" i="0" u="none" strike="noStrike" kern="0" cap="none" spc="0" normalizeH="0" baseline="0" noProof="0">
                  <a:ln>
                    <a:noFill/>
                  </a:ln>
                  <a:solidFill>
                    <a:srgbClr val="3E3E3E"/>
                  </a:solidFill>
                  <a:effectLst/>
                  <a:uLnTx/>
                  <a:uFillTx/>
                  <a:latin typeface="CVS Health Sans"/>
                  <a:ea typeface="+mn-ea"/>
                  <a:cs typeface="CVS Health Sans"/>
                </a:rPr>
                <a:t>Data Owners</a:t>
              </a:r>
            </a:p>
          </p:txBody>
        </p:sp>
      </p:grpSp>
      <p:cxnSp>
        <p:nvCxnSpPr>
          <p:cNvPr id="278" name="Straight Connector 277">
            <a:extLst>
              <a:ext uri="{FF2B5EF4-FFF2-40B4-BE49-F238E27FC236}">
                <a16:creationId xmlns:a16="http://schemas.microsoft.com/office/drawing/2014/main" id="{D0D3E416-3C04-0FDF-2E59-AE4307AB8520}"/>
              </a:ext>
            </a:extLst>
          </p:cNvPr>
          <p:cNvCxnSpPr>
            <a:cxnSpLocks/>
          </p:cNvCxnSpPr>
          <p:nvPr/>
        </p:nvCxnSpPr>
        <p:spPr>
          <a:xfrm>
            <a:off x="4983480" y="3690489"/>
            <a:ext cx="2563685" cy="0"/>
          </a:xfrm>
          <a:prstGeom prst="line">
            <a:avLst/>
          </a:prstGeom>
          <a:ln w="6350" cmpd="sng">
            <a:solidFill>
              <a:schemeClr val="accent6"/>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276" name="Group 275">
            <a:extLst>
              <a:ext uri="{FF2B5EF4-FFF2-40B4-BE49-F238E27FC236}">
                <a16:creationId xmlns:a16="http://schemas.microsoft.com/office/drawing/2014/main" id="{E1309EC9-4905-0E05-24FE-40880A2F1357}"/>
              </a:ext>
            </a:extLst>
          </p:cNvPr>
          <p:cNvGrpSpPr/>
          <p:nvPr/>
        </p:nvGrpSpPr>
        <p:grpSpPr>
          <a:xfrm>
            <a:off x="5530707" y="3590927"/>
            <a:ext cx="1469231" cy="199124"/>
            <a:chOff x="5419725" y="3576638"/>
            <a:chExt cx="1469231" cy="199124"/>
          </a:xfrm>
        </p:grpSpPr>
        <p:sp>
          <p:nvSpPr>
            <p:cNvPr id="274" name="Rectangle: Rounded Corners 273">
              <a:extLst>
                <a:ext uri="{FF2B5EF4-FFF2-40B4-BE49-F238E27FC236}">
                  <a16:creationId xmlns:a16="http://schemas.microsoft.com/office/drawing/2014/main" id="{E615AA81-7354-5015-278F-74661414B20D}"/>
                </a:ext>
              </a:extLst>
            </p:cNvPr>
            <p:cNvSpPr/>
            <p:nvPr/>
          </p:nvSpPr>
          <p:spPr bwMode="gray">
            <a:xfrm>
              <a:off x="5419725" y="3576638"/>
              <a:ext cx="1469231" cy="199124"/>
            </a:xfrm>
            <a:prstGeom prst="roundRect">
              <a:avLst/>
            </a:prstGeom>
            <a:solidFill>
              <a:srgbClr val="267AC0"/>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nvGrpSpPr>
            <p:cNvPr id="275" name="Group 274">
              <a:extLst>
                <a:ext uri="{FF2B5EF4-FFF2-40B4-BE49-F238E27FC236}">
                  <a16:creationId xmlns:a16="http://schemas.microsoft.com/office/drawing/2014/main" id="{16E68409-AF35-6C35-2E89-CF66DAB08668}"/>
                </a:ext>
              </a:extLst>
            </p:cNvPr>
            <p:cNvGrpSpPr/>
            <p:nvPr/>
          </p:nvGrpSpPr>
          <p:grpSpPr>
            <a:xfrm>
              <a:off x="5457887" y="3581561"/>
              <a:ext cx="1392907" cy="189278"/>
              <a:chOff x="5457885" y="3576638"/>
              <a:chExt cx="1392907" cy="189278"/>
            </a:xfrm>
          </p:grpSpPr>
          <p:sp>
            <p:nvSpPr>
              <p:cNvPr id="146" name="object 108">
                <a:extLst>
                  <a:ext uri="{FF2B5EF4-FFF2-40B4-BE49-F238E27FC236}">
                    <a16:creationId xmlns:a16="http://schemas.microsoft.com/office/drawing/2014/main" id="{C1603655-82FC-207A-0ED5-352D76058787}"/>
                  </a:ext>
                </a:extLst>
              </p:cNvPr>
              <p:cNvSpPr txBox="1"/>
              <p:nvPr/>
            </p:nvSpPr>
            <p:spPr>
              <a:xfrm>
                <a:off x="5457885" y="3660759"/>
                <a:ext cx="1392907" cy="105157"/>
              </a:xfrm>
              <a:prstGeom prst="rect">
                <a:avLst/>
              </a:prstGeom>
            </p:spPr>
            <p:txBody>
              <a:bodyPr vert="horz" wrap="square" lIns="0" tIns="12700" rIns="0" bIns="0" rtlCol="0">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sz="600" b="0" i="0" u="none" strike="noStrike" kern="0" cap="none" spc="0" normalizeH="0" baseline="0" noProof="0">
                    <a:ln>
                      <a:noFill/>
                    </a:ln>
                    <a:solidFill>
                      <a:prstClr val="white"/>
                    </a:solidFill>
                    <a:effectLst/>
                    <a:uLnTx/>
                    <a:uFillTx/>
                    <a:latin typeface="CVS Health Sans"/>
                    <a:ea typeface="+mn-ea"/>
                    <a:cs typeface="CVS Health Sans"/>
                  </a:rPr>
                  <a:t>Contributes across workstreams B&amp;C</a:t>
                </a:r>
              </a:p>
            </p:txBody>
          </p:sp>
          <p:sp>
            <p:nvSpPr>
              <p:cNvPr id="273" name="object 108">
                <a:extLst>
                  <a:ext uri="{FF2B5EF4-FFF2-40B4-BE49-F238E27FC236}">
                    <a16:creationId xmlns:a16="http://schemas.microsoft.com/office/drawing/2014/main" id="{EECDD4C7-B671-1E06-9B15-00BED7F4DD67}"/>
                  </a:ext>
                </a:extLst>
              </p:cNvPr>
              <p:cNvSpPr txBox="1"/>
              <p:nvPr/>
            </p:nvSpPr>
            <p:spPr>
              <a:xfrm>
                <a:off x="5803322" y="3576638"/>
                <a:ext cx="702032" cy="120546"/>
              </a:xfrm>
              <a:prstGeom prst="rect">
                <a:avLst/>
              </a:prstGeom>
            </p:spPr>
            <p:txBody>
              <a:bodyPr vert="horz" wrap="square" lIns="0" tIns="12700" rIns="0" bIns="0" rtlCol="0">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sz="700" b="0" i="0" u="none" strike="noStrike" kern="0" cap="none" spc="0" normalizeH="0" baseline="0" noProof="0">
                    <a:ln>
                      <a:noFill/>
                    </a:ln>
                    <a:solidFill>
                      <a:prstClr val="white"/>
                    </a:solidFill>
                    <a:effectLst/>
                    <a:uLnTx/>
                    <a:uFillTx/>
                    <a:latin typeface="CVS Health Sans"/>
                    <a:ea typeface="+mn-ea"/>
                    <a:cs typeface="CVS Health Sans"/>
                  </a:rPr>
                  <a:t>1 Data Architect</a:t>
                </a:r>
              </a:p>
            </p:txBody>
          </p:sp>
        </p:grpSp>
      </p:grpSp>
      <p:grpSp>
        <p:nvGrpSpPr>
          <p:cNvPr id="300" name="Graphic 2">
            <a:extLst>
              <a:ext uri="{FF2B5EF4-FFF2-40B4-BE49-F238E27FC236}">
                <a16:creationId xmlns:a16="http://schemas.microsoft.com/office/drawing/2014/main" id="{055F9BA3-271E-DA76-7F77-CF3504D79A10}"/>
              </a:ext>
            </a:extLst>
          </p:cNvPr>
          <p:cNvGrpSpPr/>
          <p:nvPr/>
        </p:nvGrpSpPr>
        <p:grpSpPr bwMode="gray">
          <a:xfrm>
            <a:off x="6525544" y="3041717"/>
            <a:ext cx="304995" cy="313588"/>
            <a:chOff x="3657307" y="2247660"/>
            <a:chExt cx="445731" cy="459564"/>
          </a:xfrm>
          <a:noFill/>
        </p:grpSpPr>
        <p:grpSp>
          <p:nvGrpSpPr>
            <p:cNvPr id="301" name="Graphic 2">
              <a:extLst>
                <a:ext uri="{FF2B5EF4-FFF2-40B4-BE49-F238E27FC236}">
                  <a16:creationId xmlns:a16="http://schemas.microsoft.com/office/drawing/2014/main" id="{4D9D5246-1CA8-356E-7E1D-F337A65B9455}"/>
                </a:ext>
              </a:extLst>
            </p:cNvPr>
            <p:cNvGrpSpPr/>
            <p:nvPr/>
          </p:nvGrpSpPr>
          <p:grpSpPr bwMode="gray">
            <a:xfrm>
              <a:off x="3657307" y="2247660"/>
              <a:ext cx="365514" cy="438887"/>
              <a:chOff x="3657307" y="2247660"/>
              <a:chExt cx="365514" cy="438887"/>
            </a:xfrm>
            <a:grpFill/>
          </p:grpSpPr>
          <p:grpSp>
            <p:nvGrpSpPr>
              <p:cNvPr id="305" name="Graphic 2">
                <a:extLst>
                  <a:ext uri="{FF2B5EF4-FFF2-40B4-BE49-F238E27FC236}">
                    <a16:creationId xmlns:a16="http://schemas.microsoft.com/office/drawing/2014/main" id="{6D8A0A75-0390-7F24-EDBF-BE891AF51EF9}"/>
                  </a:ext>
                </a:extLst>
              </p:cNvPr>
              <p:cNvGrpSpPr/>
              <p:nvPr/>
            </p:nvGrpSpPr>
            <p:grpSpPr bwMode="gray">
              <a:xfrm>
                <a:off x="3657307" y="2247660"/>
                <a:ext cx="365514" cy="438887"/>
                <a:chOff x="3657307" y="2247660"/>
                <a:chExt cx="365514" cy="438887"/>
              </a:xfrm>
              <a:grpFill/>
            </p:grpSpPr>
            <p:sp>
              <p:nvSpPr>
                <p:cNvPr id="315" name="Freeform: Shape 314">
                  <a:extLst>
                    <a:ext uri="{FF2B5EF4-FFF2-40B4-BE49-F238E27FC236}">
                      <a16:creationId xmlns:a16="http://schemas.microsoft.com/office/drawing/2014/main" id="{20E45DCA-655B-855E-712A-0B085AC83436}"/>
                    </a:ext>
                  </a:extLst>
                </p:cNvPr>
                <p:cNvSpPr/>
                <p:nvPr/>
              </p:nvSpPr>
              <p:spPr bwMode="gray">
                <a:xfrm>
                  <a:off x="3657307" y="2247660"/>
                  <a:ext cx="365514" cy="168777"/>
                </a:xfrm>
                <a:custGeom>
                  <a:avLst/>
                  <a:gdLst>
                    <a:gd name="connsiteX0" fmla="*/ 365514 w 365514"/>
                    <a:gd name="connsiteY0" fmla="*/ 84389 h 168777"/>
                    <a:gd name="connsiteX1" fmla="*/ 182757 w 365514"/>
                    <a:gd name="connsiteY1" fmla="*/ 168778 h 168777"/>
                    <a:gd name="connsiteX2" fmla="*/ 0 w 365514"/>
                    <a:gd name="connsiteY2" fmla="*/ 84389 h 168777"/>
                    <a:gd name="connsiteX3" fmla="*/ 182757 w 365514"/>
                    <a:gd name="connsiteY3" fmla="*/ 0 h 168777"/>
                    <a:gd name="connsiteX4" fmla="*/ 365514 w 365514"/>
                    <a:gd name="connsiteY4" fmla="*/ 84389 h 168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514" h="168777">
                      <a:moveTo>
                        <a:pt x="365514" y="84389"/>
                      </a:moveTo>
                      <a:cubicBezTo>
                        <a:pt x="365514" y="130996"/>
                        <a:pt x="283691" y="168778"/>
                        <a:pt x="182757" y="168778"/>
                      </a:cubicBezTo>
                      <a:cubicBezTo>
                        <a:pt x="81823" y="168778"/>
                        <a:pt x="0" y="130996"/>
                        <a:pt x="0" y="84389"/>
                      </a:cubicBezTo>
                      <a:cubicBezTo>
                        <a:pt x="0" y="37782"/>
                        <a:pt x="81823" y="0"/>
                        <a:pt x="182757" y="0"/>
                      </a:cubicBezTo>
                      <a:cubicBezTo>
                        <a:pt x="283691" y="0"/>
                        <a:pt x="365514" y="37782"/>
                        <a:pt x="365514" y="84389"/>
                      </a:cubicBez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16" name="Freeform: Shape 315">
                  <a:extLst>
                    <a:ext uri="{FF2B5EF4-FFF2-40B4-BE49-F238E27FC236}">
                      <a16:creationId xmlns:a16="http://schemas.microsoft.com/office/drawing/2014/main" id="{A4F449AE-F05E-C392-4054-9BF4132B412A}"/>
                    </a:ext>
                  </a:extLst>
                </p:cNvPr>
                <p:cNvSpPr/>
                <p:nvPr/>
              </p:nvSpPr>
              <p:spPr bwMode="gray">
                <a:xfrm>
                  <a:off x="3657307" y="2517770"/>
                  <a:ext cx="272744" cy="84388"/>
                </a:xfrm>
                <a:custGeom>
                  <a:avLst/>
                  <a:gdLst>
                    <a:gd name="connsiteX0" fmla="*/ 0 w 272744"/>
                    <a:gd name="connsiteY0" fmla="*/ 0 h 84388"/>
                    <a:gd name="connsiteX1" fmla="*/ 182757 w 272744"/>
                    <a:gd name="connsiteY1" fmla="*/ 84389 h 84388"/>
                    <a:gd name="connsiteX2" fmla="*/ 272745 w 272744"/>
                    <a:gd name="connsiteY2" fmla="*/ 73447 h 84388"/>
                  </a:gdLst>
                  <a:ahLst/>
                  <a:cxnLst>
                    <a:cxn ang="0">
                      <a:pos x="connsiteX0" y="connsiteY0"/>
                    </a:cxn>
                    <a:cxn ang="0">
                      <a:pos x="connsiteX1" y="connsiteY1"/>
                    </a:cxn>
                    <a:cxn ang="0">
                      <a:pos x="connsiteX2" y="connsiteY2"/>
                    </a:cxn>
                  </a:cxnLst>
                  <a:rect l="l" t="t" r="r" b="b"/>
                  <a:pathLst>
                    <a:path w="272744" h="84388">
                      <a:moveTo>
                        <a:pt x="0" y="0"/>
                      </a:moveTo>
                      <a:cubicBezTo>
                        <a:pt x="0" y="46622"/>
                        <a:pt x="81827" y="84389"/>
                        <a:pt x="182757" y="84389"/>
                      </a:cubicBezTo>
                      <a:cubicBezTo>
                        <a:pt x="215473" y="84389"/>
                        <a:pt x="246177" y="80400"/>
                        <a:pt x="272745" y="73447"/>
                      </a:cubicBezTo>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17" name="Freeform: Shape 316">
                  <a:extLst>
                    <a:ext uri="{FF2B5EF4-FFF2-40B4-BE49-F238E27FC236}">
                      <a16:creationId xmlns:a16="http://schemas.microsoft.com/office/drawing/2014/main" id="{D8B150AD-E17C-23B5-7459-7E939F67370A}"/>
                    </a:ext>
                  </a:extLst>
                </p:cNvPr>
                <p:cNvSpPr/>
                <p:nvPr/>
              </p:nvSpPr>
              <p:spPr bwMode="gray">
                <a:xfrm>
                  <a:off x="3657307" y="2602159"/>
                  <a:ext cx="268536" cy="84388"/>
                </a:xfrm>
                <a:custGeom>
                  <a:avLst/>
                  <a:gdLst>
                    <a:gd name="connsiteX0" fmla="*/ 0 w 268536"/>
                    <a:gd name="connsiteY0" fmla="*/ 0 h 84388"/>
                    <a:gd name="connsiteX1" fmla="*/ 182757 w 268536"/>
                    <a:gd name="connsiteY1" fmla="*/ 84389 h 84388"/>
                    <a:gd name="connsiteX2" fmla="*/ 268537 w 268536"/>
                    <a:gd name="connsiteY2" fmla="*/ 74545 h 84388"/>
                  </a:gdLst>
                  <a:ahLst/>
                  <a:cxnLst>
                    <a:cxn ang="0">
                      <a:pos x="connsiteX0" y="connsiteY0"/>
                    </a:cxn>
                    <a:cxn ang="0">
                      <a:pos x="connsiteX1" y="connsiteY1"/>
                    </a:cxn>
                    <a:cxn ang="0">
                      <a:pos x="connsiteX2" y="connsiteY2"/>
                    </a:cxn>
                  </a:cxnLst>
                  <a:rect l="l" t="t" r="r" b="b"/>
                  <a:pathLst>
                    <a:path w="268536" h="84388">
                      <a:moveTo>
                        <a:pt x="0" y="0"/>
                      </a:moveTo>
                      <a:cubicBezTo>
                        <a:pt x="0" y="46622"/>
                        <a:pt x="81827" y="84389"/>
                        <a:pt x="182757" y="84389"/>
                      </a:cubicBezTo>
                      <a:cubicBezTo>
                        <a:pt x="213753" y="84389"/>
                        <a:pt x="242956" y="80839"/>
                        <a:pt x="268537" y="74545"/>
                      </a:cubicBezTo>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18" name="Freeform: Shape 317">
                  <a:extLst>
                    <a:ext uri="{FF2B5EF4-FFF2-40B4-BE49-F238E27FC236}">
                      <a16:creationId xmlns:a16="http://schemas.microsoft.com/office/drawing/2014/main" id="{45066AFC-ED6F-0ADF-10CA-6AF9A5B82F2E}"/>
                    </a:ext>
                  </a:extLst>
                </p:cNvPr>
                <p:cNvSpPr/>
                <p:nvPr/>
              </p:nvSpPr>
              <p:spPr bwMode="gray">
                <a:xfrm>
                  <a:off x="3657307" y="2424891"/>
                  <a:ext cx="365514" cy="84388"/>
                </a:xfrm>
                <a:custGeom>
                  <a:avLst/>
                  <a:gdLst>
                    <a:gd name="connsiteX0" fmla="*/ 0 w 365514"/>
                    <a:gd name="connsiteY0" fmla="*/ 0 h 84388"/>
                    <a:gd name="connsiteX1" fmla="*/ 182757 w 365514"/>
                    <a:gd name="connsiteY1" fmla="*/ 84389 h 84388"/>
                    <a:gd name="connsiteX2" fmla="*/ 365514 w 365514"/>
                    <a:gd name="connsiteY2" fmla="*/ 0 h 84388"/>
                  </a:gdLst>
                  <a:ahLst/>
                  <a:cxnLst>
                    <a:cxn ang="0">
                      <a:pos x="connsiteX0" y="connsiteY0"/>
                    </a:cxn>
                    <a:cxn ang="0">
                      <a:pos x="connsiteX1" y="connsiteY1"/>
                    </a:cxn>
                    <a:cxn ang="0">
                      <a:pos x="connsiteX2" y="connsiteY2"/>
                    </a:cxn>
                  </a:cxnLst>
                  <a:rect l="l" t="t" r="r" b="b"/>
                  <a:pathLst>
                    <a:path w="365514" h="84388">
                      <a:moveTo>
                        <a:pt x="0" y="0"/>
                      </a:moveTo>
                      <a:cubicBezTo>
                        <a:pt x="0" y="46622"/>
                        <a:pt x="81827" y="84389"/>
                        <a:pt x="182757" y="84389"/>
                      </a:cubicBezTo>
                      <a:cubicBezTo>
                        <a:pt x="283687" y="84389"/>
                        <a:pt x="365514" y="46586"/>
                        <a:pt x="365514" y="0"/>
                      </a:cubicBezTo>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19" name="Freeform: Shape 318">
                  <a:extLst>
                    <a:ext uri="{FF2B5EF4-FFF2-40B4-BE49-F238E27FC236}">
                      <a16:creationId xmlns:a16="http://schemas.microsoft.com/office/drawing/2014/main" id="{5371249B-FC40-1984-E5F1-70C642EAF474}"/>
                    </a:ext>
                  </a:extLst>
                </p:cNvPr>
                <p:cNvSpPr/>
                <p:nvPr/>
              </p:nvSpPr>
              <p:spPr bwMode="gray">
                <a:xfrm>
                  <a:off x="3657307" y="2332049"/>
                  <a:ext cx="3659" cy="270110"/>
                </a:xfrm>
                <a:custGeom>
                  <a:avLst/>
                  <a:gdLst>
                    <a:gd name="connsiteX0" fmla="*/ 0 w 3659"/>
                    <a:gd name="connsiteY0" fmla="*/ 0 h 270110"/>
                    <a:gd name="connsiteX1" fmla="*/ 0 w 3659"/>
                    <a:gd name="connsiteY1" fmla="*/ 270110 h 270110"/>
                  </a:gdLst>
                  <a:ahLst/>
                  <a:cxnLst>
                    <a:cxn ang="0">
                      <a:pos x="connsiteX0" y="connsiteY0"/>
                    </a:cxn>
                    <a:cxn ang="0">
                      <a:pos x="connsiteX1" y="connsiteY1"/>
                    </a:cxn>
                  </a:cxnLst>
                  <a:rect l="l" t="t" r="r" b="b"/>
                  <a:pathLst>
                    <a:path w="3659" h="270110">
                      <a:moveTo>
                        <a:pt x="0" y="0"/>
                      </a:moveTo>
                      <a:lnTo>
                        <a:pt x="0" y="270110"/>
                      </a:lnTo>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20" name="Freeform: Shape 319">
                  <a:extLst>
                    <a:ext uri="{FF2B5EF4-FFF2-40B4-BE49-F238E27FC236}">
                      <a16:creationId xmlns:a16="http://schemas.microsoft.com/office/drawing/2014/main" id="{E8FA16F4-4BEE-E150-B089-7F76A9407262}"/>
                    </a:ext>
                  </a:extLst>
                </p:cNvPr>
                <p:cNvSpPr/>
                <p:nvPr/>
              </p:nvSpPr>
              <p:spPr bwMode="gray">
                <a:xfrm>
                  <a:off x="4022822" y="2332049"/>
                  <a:ext cx="3659" cy="190991"/>
                </a:xfrm>
                <a:custGeom>
                  <a:avLst/>
                  <a:gdLst>
                    <a:gd name="connsiteX0" fmla="*/ 0 w 3659"/>
                    <a:gd name="connsiteY0" fmla="*/ 0 h 190991"/>
                    <a:gd name="connsiteX1" fmla="*/ 0 w 3659"/>
                    <a:gd name="connsiteY1" fmla="*/ 190991 h 190991"/>
                    <a:gd name="connsiteX2" fmla="*/ 0 w 3659"/>
                    <a:gd name="connsiteY2" fmla="*/ 0 h 190991"/>
                  </a:gdLst>
                  <a:ahLst/>
                  <a:cxnLst>
                    <a:cxn ang="0">
                      <a:pos x="connsiteX0" y="connsiteY0"/>
                    </a:cxn>
                    <a:cxn ang="0">
                      <a:pos x="connsiteX1" y="connsiteY1"/>
                    </a:cxn>
                    <a:cxn ang="0">
                      <a:pos x="connsiteX2" y="connsiteY2"/>
                    </a:cxn>
                  </a:cxnLst>
                  <a:rect l="l" t="t" r="r" b="b"/>
                  <a:pathLst>
                    <a:path w="3659" h="190991">
                      <a:moveTo>
                        <a:pt x="0" y="0"/>
                      </a:moveTo>
                      <a:lnTo>
                        <a:pt x="0" y="190991"/>
                      </a:lnTo>
                      <a:cubicBezTo>
                        <a:pt x="0" y="190991"/>
                        <a:pt x="0" y="0"/>
                        <a:pt x="0" y="0"/>
                      </a:cubicBez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grpSp>
          <p:sp>
            <p:nvSpPr>
              <p:cNvPr id="306" name="Freeform: Shape 305">
                <a:extLst>
                  <a:ext uri="{FF2B5EF4-FFF2-40B4-BE49-F238E27FC236}">
                    <a16:creationId xmlns:a16="http://schemas.microsoft.com/office/drawing/2014/main" id="{06BD5BE4-E6B0-9E84-C8B1-309771D21528}"/>
                  </a:ext>
                </a:extLst>
              </p:cNvPr>
              <p:cNvSpPr/>
              <p:nvPr/>
            </p:nvSpPr>
            <p:spPr bwMode="gray">
              <a:xfrm>
                <a:off x="3770643" y="2454387"/>
                <a:ext cx="5489" cy="5489"/>
              </a:xfrm>
              <a:custGeom>
                <a:avLst/>
                <a:gdLst>
                  <a:gd name="connsiteX0" fmla="*/ 5489 w 5489"/>
                  <a:gd name="connsiteY0" fmla="*/ 2745 h 5489"/>
                  <a:gd name="connsiteX1" fmla="*/ 2745 w 5489"/>
                  <a:gd name="connsiteY1" fmla="*/ 5489 h 5489"/>
                  <a:gd name="connsiteX2" fmla="*/ 0 w 5489"/>
                  <a:gd name="connsiteY2" fmla="*/ 2745 h 5489"/>
                  <a:gd name="connsiteX3" fmla="*/ 2745 w 5489"/>
                  <a:gd name="connsiteY3" fmla="*/ 0 h 5489"/>
                  <a:gd name="connsiteX4" fmla="*/ 5489 w 5489"/>
                  <a:gd name="connsiteY4" fmla="*/ 2745 h 5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9" h="5489">
                    <a:moveTo>
                      <a:pt x="5489" y="2745"/>
                    </a:moveTo>
                    <a:cubicBezTo>
                      <a:pt x="5489" y="4260"/>
                      <a:pt x="4260" y="5489"/>
                      <a:pt x="2745" y="5489"/>
                    </a:cubicBezTo>
                    <a:cubicBezTo>
                      <a:pt x="1229" y="5489"/>
                      <a:pt x="0" y="4260"/>
                      <a:pt x="0" y="2745"/>
                    </a:cubicBezTo>
                    <a:cubicBezTo>
                      <a:pt x="0" y="1229"/>
                      <a:pt x="1229" y="0"/>
                      <a:pt x="2745" y="0"/>
                    </a:cubicBezTo>
                    <a:cubicBezTo>
                      <a:pt x="4260" y="0"/>
                      <a:pt x="5489" y="1229"/>
                      <a:pt x="5489" y="2745"/>
                    </a:cubicBez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07" name="Freeform: Shape 306">
                <a:extLst>
                  <a:ext uri="{FF2B5EF4-FFF2-40B4-BE49-F238E27FC236}">
                    <a16:creationId xmlns:a16="http://schemas.microsoft.com/office/drawing/2014/main" id="{4D4A28EE-132A-3CD7-7425-09E419524949}"/>
                  </a:ext>
                </a:extLst>
              </p:cNvPr>
              <p:cNvSpPr/>
              <p:nvPr/>
            </p:nvSpPr>
            <p:spPr bwMode="gray">
              <a:xfrm>
                <a:off x="3728375" y="2443445"/>
                <a:ext cx="5489" cy="5489"/>
              </a:xfrm>
              <a:custGeom>
                <a:avLst/>
                <a:gdLst>
                  <a:gd name="connsiteX0" fmla="*/ 5489 w 5489"/>
                  <a:gd name="connsiteY0" fmla="*/ 2745 h 5489"/>
                  <a:gd name="connsiteX1" fmla="*/ 2745 w 5489"/>
                  <a:gd name="connsiteY1" fmla="*/ 5489 h 5489"/>
                  <a:gd name="connsiteX2" fmla="*/ 0 w 5489"/>
                  <a:gd name="connsiteY2" fmla="*/ 2745 h 5489"/>
                  <a:gd name="connsiteX3" fmla="*/ 2745 w 5489"/>
                  <a:gd name="connsiteY3" fmla="*/ 0 h 5489"/>
                  <a:gd name="connsiteX4" fmla="*/ 5489 w 5489"/>
                  <a:gd name="connsiteY4" fmla="*/ 2745 h 5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9" h="5489">
                    <a:moveTo>
                      <a:pt x="5489" y="2745"/>
                    </a:moveTo>
                    <a:cubicBezTo>
                      <a:pt x="5489" y="4261"/>
                      <a:pt x="4260" y="5489"/>
                      <a:pt x="2745" y="5489"/>
                    </a:cubicBezTo>
                    <a:cubicBezTo>
                      <a:pt x="1229" y="5489"/>
                      <a:pt x="0" y="4261"/>
                      <a:pt x="0" y="2745"/>
                    </a:cubicBezTo>
                    <a:cubicBezTo>
                      <a:pt x="0" y="1229"/>
                      <a:pt x="1229" y="0"/>
                      <a:pt x="2745" y="0"/>
                    </a:cubicBezTo>
                    <a:cubicBezTo>
                      <a:pt x="4260" y="0"/>
                      <a:pt x="5489" y="1229"/>
                      <a:pt x="5489" y="2745"/>
                    </a:cubicBez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08" name="Freeform: Shape 307">
                <a:extLst>
                  <a:ext uri="{FF2B5EF4-FFF2-40B4-BE49-F238E27FC236}">
                    <a16:creationId xmlns:a16="http://schemas.microsoft.com/office/drawing/2014/main" id="{60F706FE-40B7-4B9F-CD84-78ADAF04E85D}"/>
                  </a:ext>
                </a:extLst>
              </p:cNvPr>
              <p:cNvSpPr/>
              <p:nvPr/>
            </p:nvSpPr>
            <p:spPr bwMode="gray">
              <a:xfrm>
                <a:off x="3691597" y="2426757"/>
                <a:ext cx="5489" cy="5489"/>
              </a:xfrm>
              <a:custGeom>
                <a:avLst/>
                <a:gdLst>
                  <a:gd name="connsiteX0" fmla="*/ 5489 w 5489"/>
                  <a:gd name="connsiteY0" fmla="*/ 2745 h 5489"/>
                  <a:gd name="connsiteX1" fmla="*/ 2745 w 5489"/>
                  <a:gd name="connsiteY1" fmla="*/ 5489 h 5489"/>
                  <a:gd name="connsiteX2" fmla="*/ 0 w 5489"/>
                  <a:gd name="connsiteY2" fmla="*/ 2745 h 5489"/>
                  <a:gd name="connsiteX3" fmla="*/ 2745 w 5489"/>
                  <a:gd name="connsiteY3" fmla="*/ 0 h 5489"/>
                  <a:gd name="connsiteX4" fmla="*/ 5489 w 5489"/>
                  <a:gd name="connsiteY4" fmla="*/ 2745 h 5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9" h="5489">
                    <a:moveTo>
                      <a:pt x="5489" y="2745"/>
                    </a:moveTo>
                    <a:cubicBezTo>
                      <a:pt x="5489" y="4260"/>
                      <a:pt x="4260" y="5489"/>
                      <a:pt x="2745" y="5489"/>
                    </a:cubicBezTo>
                    <a:cubicBezTo>
                      <a:pt x="1229" y="5489"/>
                      <a:pt x="0" y="4260"/>
                      <a:pt x="0" y="2745"/>
                    </a:cubicBezTo>
                    <a:cubicBezTo>
                      <a:pt x="0" y="1229"/>
                      <a:pt x="1229" y="0"/>
                      <a:pt x="2745" y="0"/>
                    </a:cubicBezTo>
                    <a:cubicBezTo>
                      <a:pt x="4260" y="0"/>
                      <a:pt x="5489" y="1229"/>
                      <a:pt x="5489" y="2745"/>
                    </a:cubicBez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09" name="Freeform: Shape 308">
                <a:extLst>
                  <a:ext uri="{FF2B5EF4-FFF2-40B4-BE49-F238E27FC236}">
                    <a16:creationId xmlns:a16="http://schemas.microsoft.com/office/drawing/2014/main" id="{C5AE2081-D055-0995-2980-7C0CB7117A69}"/>
                  </a:ext>
                </a:extLst>
              </p:cNvPr>
              <p:cNvSpPr/>
              <p:nvPr/>
            </p:nvSpPr>
            <p:spPr bwMode="gray">
              <a:xfrm>
                <a:off x="3770643" y="2546644"/>
                <a:ext cx="5489" cy="5489"/>
              </a:xfrm>
              <a:custGeom>
                <a:avLst/>
                <a:gdLst>
                  <a:gd name="connsiteX0" fmla="*/ 5489 w 5489"/>
                  <a:gd name="connsiteY0" fmla="*/ 2745 h 5489"/>
                  <a:gd name="connsiteX1" fmla="*/ 2745 w 5489"/>
                  <a:gd name="connsiteY1" fmla="*/ 5489 h 5489"/>
                  <a:gd name="connsiteX2" fmla="*/ 0 w 5489"/>
                  <a:gd name="connsiteY2" fmla="*/ 2745 h 5489"/>
                  <a:gd name="connsiteX3" fmla="*/ 2745 w 5489"/>
                  <a:gd name="connsiteY3" fmla="*/ 0 h 5489"/>
                  <a:gd name="connsiteX4" fmla="*/ 5489 w 5489"/>
                  <a:gd name="connsiteY4" fmla="*/ 2745 h 5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9" h="5489">
                    <a:moveTo>
                      <a:pt x="5489" y="2745"/>
                    </a:moveTo>
                    <a:cubicBezTo>
                      <a:pt x="5489" y="4260"/>
                      <a:pt x="4260" y="5489"/>
                      <a:pt x="2745" y="5489"/>
                    </a:cubicBezTo>
                    <a:cubicBezTo>
                      <a:pt x="1229" y="5489"/>
                      <a:pt x="0" y="4260"/>
                      <a:pt x="0" y="2745"/>
                    </a:cubicBezTo>
                    <a:cubicBezTo>
                      <a:pt x="0" y="1229"/>
                      <a:pt x="1229" y="0"/>
                      <a:pt x="2745" y="0"/>
                    </a:cubicBezTo>
                    <a:cubicBezTo>
                      <a:pt x="4260" y="0"/>
                      <a:pt x="5489" y="1229"/>
                      <a:pt x="5489" y="2745"/>
                    </a:cubicBez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10" name="Freeform: Shape 309">
                <a:extLst>
                  <a:ext uri="{FF2B5EF4-FFF2-40B4-BE49-F238E27FC236}">
                    <a16:creationId xmlns:a16="http://schemas.microsoft.com/office/drawing/2014/main" id="{EE827131-6BA6-C9D2-3B05-BB86559ECBC4}"/>
                  </a:ext>
                </a:extLst>
              </p:cNvPr>
              <p:cNvSpPr/>
              <p:nvPr/>
            </p:nvSpPr>
            <p:spPr bwMode="gray">
              <a:xfrm>
                <a:off x="3728375" y="2535702"/>
                <a:ext cx="5489" cy="5489"/>
              </a:xfrm>
              <a:custGeom>
                <a:avLst/>
                <a:gdLst>
                  <a:gd name="connsiteX0" fmla="*/ 5489 w 5489"/>
                  <a:gd name="connsiteY0" fmla="*/ 2745 h 5489"/>
                  <a:gd name="connsiteX1" fmla="*/ 2745 w 5489"/>
                  <a:gd name="connsiteY1" fmla="*/ 5489 h 5489"/>
                  <a:gd name="connsiteX2" fmla="*/ 0 w 5489"/>
                  <a:gd name="connsiteY2" fmla="*/ 2745 h 5489"/>
                  <a:gd name="connsiteX3" fmla="*/ 2745 w 5489"/>
                  <a:gd name="connsiteY3" fmla="*/ 0 h 5489"/>
                  <a:gd name="connsiteX4" fmla="*/ 5489 w 5489"/>
                  <a:gd name="connsiteY4" fmla="*/ 2745 h 5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9" h="5489">
                    <a:moveTo>
                      <a:pt x="5489" y="2745"/>
                    </a:moveTo>
                    <a:cubicBezTo>
                      <a:pt x="5489" y="4261"/>
                      <a:pt x="4260" y="5489"/>
                      <a:pt x="2745" y="5489"/>
                    </a:cubicBezTo>
                    <a:cubicBezTo>
                      <a:pt x="1229" y="5489"/>
                      <a:pt x="0" y="4261"/>
                      <a:pt x="0" y="2745"/>
                    </a:cubicBezTo>
                    <a:cubicBezTo>
                      <a:pt x="0" y="1229"/>
                      <a:pt x="1229" y="0"/>
                      <a:pt x="2745" y="0"/>
                    </a:cubicBezTo>
                    <a:cubicBezTo>
                      <a:pt x="4260" y="0"/>
                      <a:pt x="5489" y="1229"/>
                      <a:pt x="5489" y="2745"/>
                    </a:cubicBez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11" name="Freeform: Shape 310">
                <a:extLst>
                  <a:ext uri="{FF2B5EF4-FFF2-40B4-BE49-F238E27FC236}">
                    <a16:creationId xmlns:a16="http://schemas.microsoft.com/office/drawing/2014/main" id="{3C94A4B3-E8BB-1ED9-D65E-F089D2F9DF22}"/>
                  </a:ext>
                </a:extLst>
              </p:cNvPr>
              <p:cNvSpPr/>
              <p:nvPr/>
            </p:nvSpPr>
            <p:spPr bwMode="gray">
              <a:xfrm>
                <a:off x="3691597" y="2519014"/>
                <a:ext cx="5489" cy="5489"/>
              </a:xfrm>
              <a:custGeom>
                <a:avLst/>
                <a:gdLst>
                  <a:gd name="connsiteX0" fmla="*/ 5489 w 5489"/>
                  <a:gd name="connsiteY0" fmla="*/ 2745 h 5489"/>
                  <a:gd name="connsiteX1" fmla="*/ 2745 w 5489"/>
                  <a:gd name="connsiteY1" fmla="*/ 5489 h 5489"/>
                  <a:gd name="connsiteX2" fmla="*/ 0 w 5489"/>
                  <a:gd name="connsiteY2" fmla="*/ 2745 h 5489"/>
                  <a:gd name="connsiteX3" fmla="*/ 2745 w 5489"/>
                  <a:gd name="connsiteY3" fmla="*/ 0 h 5489"/>
                  <a:gd name="connsiteX4" fmla="*/ 5489 w 5489"/>
                  <a:gd name="connsiteY4" fmla="*/ 2745 h 5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9" h="5489">
                    <a:moveTo>
                      <a:pt x="5489" y="2745"/>
                    </a:moveTo>
                    <a:cubicBezTo>
                      <a:pt x="5489" y="4261"/>
                      <a:pt x="4260" y="5489"/>
                      <a:pt x="2745" y="5489"/>
                    </a:cubicBezTo>
                    <a:cubicBezTo>
                      <a:pt x="1229" y="5489"/>
                      <a:pt x="0" y="4261"/>
                      <a:pt x="0" y="2745"/>
                    </a:cubicBezTo>
                    <a:cubicBezTo>
                      <a:pt x="0" y="1229"/>
                      <a:pt x="1229" y="0"/>
                      <a:pt x="2745" y="0"/>
                    </a:cubicBezTo>
                    <a:cubicBezTo>
                      <a:pt x="4260" y="0"/>
                      <a:pt x="5489" y="1229"/>
                      <a:pt x="5489" y="2745"/>
                    </a:cubicBez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12" name="Freeform: Shape 311">
                <a:extLst>
                  <a:ext uri="{FF2B5EF4-FFF2-40B4-BE49-F238E27FC236}">
                    <a16:creationId xmlns:a16="http://schemas.microsoft.com/office/drawing/2014/main" id="{3B468BB6-CB18-3C69-2D22-F610C52BA172}"/>
                  </a:ext>
                </a:extLst>
              </p:cNvPr>
              <p:cNvSpPr/>
              <p:nvPr/>
            </p:nvSpPr>
            <p:spPr bwMode="gray">
              <a:xfrm>
                <a:off x="3770643" y="2638864"/>
                <a:ext cx="5489" cy="5489"/>
              </a:xfrm>
              <a:custGeom>
                <a:avLst/>
                <a:gdLst>
                  <a:gd name="connsiteX0" fmla="*/ 5489 w 5489"/>
                  <a:gd name="connsiteY0" fmla="*/ 2745 h 5489"/>
                  <a:gd name="connsiteX1" fmla="*/ 2745 w 5489"/>
                  <a:gd name="connsiteY1" fmla="*/ 5489 h 5489"/>
                  <a:gd name="connsiteX2" fmla="*/ 0 w 5489"/>
                  <a:gd name="connsiteY2" fmla="*/ 2745 h 5489"/>
                  <a:gd name="connsiteX3" fmla="*/ 2745 w 5489"/>
                  <a:gd name="connsiteY3" fmla="*/ 0 h 5489"/>
                  <a:gd name="connsiteX4" fmla="*/ 5489 w 5489"/>
                  <a:gd name="connsiteY4" fmla="*/ 2745 h 5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9" h="5489">
                    <a:moveTo>
                      <a:pt x="5489" y="2745"/>
                    </a:moveTo>
                    <a:cubicBezTo>
                      <a:pt x="5489" y="4261"/>
                      <a:pt x="4260" y="5489"/>
                      <a:pt x="2745" y="5489"/>
                    </a:cubicBezTo>
                    <a:cubicBezTo>
                      <a:pt x="1229" y="5489"/>
                      <a:pt x="0" y="4261"/>
                      <a:pt x="0" y="2745"/>
                    </a:cubicBezTo>
                    <a:cubicBezTo>
                      <a:pt x="0" y="1229"/>
                      <a:pt x="1229" y="0"/>
                      <a:pt x="2745" y="0"/>
                    </a:cubicBezTo>
                    <a:cubicBezTo>
                      <a:pt x="4260" y="0"/>
                      <a:pt x="5489" y="1229"/>
                      <a:pt x="5489" y="2745"/>
                    </a:cubicBez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13" name="Freeform: Shape 312">
                <a:extLst>
                  <a:ext uri="{FF2B5EF4-FFF2-40B4-BE49-F238E27FC236}">
                    <a16:creationId xmlns:a16="http://schemas.microsoft.com/office/drawing/2014/main" id="{74977B61-FF32-24AD-B310-003FDD99073F}"/>
                  </a:ext>
                </a:extLst>
              </p:cNvPr>
              <p:cNvSpPr/>
              <p:nvPr/>
            </p:nvSpPr>
            <p:spPr bwMode="gray">
              <a:xfrm>
                <a:off x="3728375" y="2627959"/>
                <a:ext cx="5489" cy="5489"/>
              </a:xfrm>
              <a:custGeom>
                <a:avLst/>
                <a:gdLst>
                  <a:gd name="connsiteX0" fmla="*/ 5489 w 5489"/>
                  <a:gd name="connsiteY0" fmla="*/ 2745 h 5489"/>
                  <a:gd name="connsiteX1" fmla="*/ 2745 w 5489"/>
                  <a:gd name="connsiteY1" fmla="*/ 5489 h 5489"/>
                  <a:gd name="connsiteX2" fmla="*/ 0 w 5489"/>
                  <a:gd name="connsiteY2" fmla="*/ 2745 h 5489"/>
                  <a:gd name="connsiteX3" fmla="*/ 2745 w 5489"/>
                  <a:gd name="connsiteY3" fmla="*/ 0 h 5489"/>
                  <a:gd name="connsiteX4" fmla="*/ 5489 w 5489"/>
                  <a:gd name="connsiteY4" fmla="*/ 2745 h 5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9" h="5489">
                    <a:moveTo>
                      <a:pt x="5489" y="2745"/>
                    </a:moveTo>
                    <a:cubicBezTo>
                      <a:pt x="5489" y="4260"/>
                      <a:pt x="4260" y="5489"/>
                      <a:pt x="2745" y="5489"/>
                    </a:cubicBezTo>
                    <a:cubicBezTo>
                      <a:pt x="1229" y="5489"/>
                      <a:pt x="0" y="4260"/>
                      <a:pt x="0" y="2745"/>
                    </a:cubicBezTo>
                    <a:cubicBezTo>
                      <a:pt x="0" y="1229"/>
                      <a:pt x="1229" y="0"/>
                      <a:pt x="2745" y="0"/>
                    </a:cubicBezTo>
                    <a:cubicBezTo>
                      <a:pt x="4260" y="0"/>
                      <a:pt x="5489" y="1229"/>
                      <a:pt x="5489" y="2745"/>
                    </a:cubicBez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14" name="Freeform: Shape 313">
                <a:extLst>
                  <a:ext uri="{FF2B5EF4-FFF2-40B4-BE49-F238E27FC236}">
                    <a16:creationId xmlns:a16="http://schemas.microsoft.com/office/drawing/2014/main" id="{706B37DF-535D-336C-C208-D77459B3FE82}"/>
                  </a:ext>
                </a:extLst>
              </p:cNvPr>
              <p:cNvSpPr/>
              <p:nvPr/>
            </p:nvSpPr>
            <p:spPr bwMode="gray">
              <a:xfrm>
                <a:off x="3691597" y="2611234"/>
                <a:ext cx="5489" cy="5489"/>
              </a:xfrm>
              <a:custGeom>
                <a:avLst/>
                <a:gdLst>
                  <a:gd name="connsiteX0" fmla="*/ 5489 w 5489"/>
                  <a:gd name="connsiteY0" fmla="*/ 2745 h 5489"/>
                  <a:gd name="connsiteX1" fmla="*/ 2745 w 5489"/>
                  <a:gd name="connsiteY1" fmla="*/ 5489 h 5489"/>
                  <a:gd name="connsiteX2" fmla="*/ 0 w 5489"/>
                  <a:gd name="connsiteY2" fmla="*/ 2745 h 5489"/>
                  <a:gd name="connsiteX3" fmla="*/ 2745 w 5489"/>
                  <a:gd name="connsiteY3" fmla="*/ 0 h 5489"/>
                  <a:gd name="connsiteX4" fmla="*/ 5489 w 5489"/>
                  <a:gd name="connsiteY4" fmla="*/ 2745 h 5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9" h="5489">
                    <a:moveTo>
                      <a:pt x="5489" y="2745"/>
                    </a:moveTo>
                    <a:cubicBezTo>
                      <a:pt x="5489" y="4260"/>
                      <a:pt x="4260" y="5489"/>
                      <a:pt x="2745" y="5489"/>
                    </a:cubicBezTo>
                    <a:cubicBezTo>
                      <a:pt x="1229" y="5489"/>
                      <a:pt x="0" y="4260"/>
                      <a:pt x="0" y="2745"/>
                    </a:cubicBezTo>
                    <a:cubicBezTo>
                      <a:pt x="0" y="1229"/>
                      <a:pt x="1229" y="0"/>
                      <a:pt x="2745" y="0"/>
                    </a:cubicBezTo>
                    <a:cubicBezTo>
                      <a:pt x="4260" y="0"/>
                      <a:pt x="5489" y="1229"/>
                      <a:pt x="5489" y="2745"/>
                    </a:cubicBez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grpSp>
        <p:grpSp>
          <p:nvGrpSpPr>
            <p:cNvPr id="302" name="Graphic 2">
              <a:extLst>
                <a:ext uri="{FF2B5EF4-FFF2-40B4-BE49-F238E27FC236}">
                  <a16:creationId xmlns:a16="http://schemas.microsoft.com/office/drawing/2014/main" id="{60C4928D-0BDB-2AED-EC16-1B7A6191D88B}"/>
                </a:ext>
              </a:extLst>
            </p:cNvPr>
            <p:cNvGrpSpPr/>
            <p:nvPr/>
          </p:nvGrpSpPr>
          <p:grpSpPr bwMode="gray">
            <a:xfrm>
              <a:off x="3950802" y="2542362"/>
              <a:ext cx="152236" cy="164861"/>
              <a:chOff x="3950802" y="2542362"/>
              <a:chExt cx="152236" cy="164861"/>
            </a:xfrm>
            <a:grpFill/>
          </p:grpSpPr>
          <p:sp>
            <p:nvSpPr>
              <p:cNvPr id="303" name="Freeform: Shape 302">
                <a:extLst>
                  <a:ext uri="{FF2B5EF4-FFF2-40B4-BE49-F238E27FC236}">
                    <a16:creationId xmlns:a16="http://schemas.microsoft.com/office/drawing/2014/main" id="{F7D37528-2739-7628-C1AB-7111787D09B1}"/>
                  </a:ext>
                </a:extLst>
              </p:cNvPr>
              <p:cNvSpPr/>
              <p:nvPr/>
            </p:nvSpPr>
            <p:spPr bwMode="gray">
              <a:xfrm>
                <a:off x="3950802" y="2557073"/>
                <a:ext cx="152236" cy="150150"/>
              </a:xfrm>
              <a:custGeom>
                <a:avLst/>
                <a:gdLst>
                  <a:gd name="connsiteX0" fmla="*/ 93830 w 152236"/>
                  <a:gd name="connsiteY0" fmla="*/ 0 h 150150"/>
                  <a:gd name="connsiteX1" fmla="*/ 152237 w 152236"/>
                  <a:gd name="connsiteY1" fmla="*/ 74032 h 150150"/>
                  <a:gd name="connsiteX2" fmla="*/ 76118 w 152236"/>
                  <a:gd name="connsiteY2" fmla="*/ 150151 h 150150"/>
                  <a:gd name="connsiteX3" fmla="*/ 0 w 152236"/>
                  <a:gd name="connsiteY3" fmla="*/ 74032 h 150150"/>
                  <a:gd name="connsiteX4" fmla="*/ 20603 w 152236"/>
                  <a:gd name="connsiteY4" fmla="*/ 21957 h 150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6" h="150150">
                    <a:moveTo>
                      <a:pt x="93830" y="0"/>
                    </a:moveTo>
                    <a:cubicBezTo>
                      <a:pt x="127315" y="7978"/>
                      <a:pt x="152237" y="38096"/>
                      <a:pt x="152237" y="74032"/>
                    </a:cubicBezTo>
                    <a:cubicBezTo>
                      <a:pt x="152237" y="116080"/>
                      <a:pt x="118166" y="150151"/>
                      <a:pt x="76118" y="150151"/>
                    </a:cubicBezTo>
                    <a:cubicBezTo>
                      <a:pt x="34070" y="150151"/>
                      <a:pt x="0" y="116080"/>
                      <a:pt x="0" y="74032"/>
                    </a:cubicBezTo>
                    <a:cubicBezTo>
                      <a:pt x="0" y="53905"/>
                      <a:pt x="7831" y="35571"/>
                      <a:pt x="20603" y="21957"/>
                    </a:cubicBezTo>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04" name="Freeform: Shape 303">
                <a:extLst>
                  <a:ext uri="{FF2B5EF4-FFF2-40B4-BE49-F238E27FC236}">
                    <a16:creationId xmlns:a16="http://schemas.microsoft.com/office/drawing/2014/main" id="{EC0E14C3-7C71-B4BE-2E6D-87929533C4B0}"/>
                  </a:ext>
                </a:extLst>
              </p:cNvPr>
              <p:cNvSpPr/>
              <p:nvPr/>
            </p:nvSpPr>
            <p:spPr bwMode="gray">
              <a:xfrm>
                <a:off x="4044669" y="2542362"/>
                <a:ext cx="48562" cy="63163"/>
              </a:xfrm>
              <a:custGeom>
                <a:avLst/>
                <a:gdLst>
                  <a:gd name="connsiteX0" fmla="*/ 14565 w 48562"/>
                  <a:gd name="connsiteY0" fmla="*/ 63163 h 63163"/>
                  <a:gd name="connsiteX1" fmla="*/ 0 w 48562"/>
                  <a:gd name="connsiteY1" fmla="*/ 14565 h 63163"/>
                  <a:gd name="connsiteX2" fmla="*/ 48562 w 48562"/>
                  <a:gd name="connsiteY2" fmla="*/ 0 h 63163"/>
                </a:gdLst>
                <a:ahLst/>
                <a:cxnLst>
                  <a:cxn ang="0">
                    <a:pos x="connsiteX0" y="connsiteY0"/>
                  </a:cxn>
                  <a:cxn ang="0">
                    <a:pos x="connsiteX1" y="connsiteY1"/>
                  </a:cxn>
                  <a:cxn ang="0">
                    <a:pos x="connsiteX2" y="connsiteY2"/>
                  </a:cxn>
                </a:cxnLst>
                <a:rect l="l" t="t" r="r" b="b"/>
                <a:pathLst>
                  <a:path w="48562" h="63163">
                    <a:moveTo>
                      <a:pt x="14565" y="63163"/>
                    </a:moveTo>
                    <a:lnTo>
                      <a:pt x="0" y="14565"/>
                    </a:lnTo>
                    <a:lnTo>
                      <a:pt x="48562" y="0"/>
                    </a:lnTo>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grpSp>
      </p:grpSp>
      <p:grpSp>
        <p:nvGrpSpPr>
          <p:cNvPr id="342" name="Item_318">
            <a:extLst>
              <a:ext uri="{FF2B5EF4-FFF2-40B4-BE49-F238E27FC236}">
                <a16:creationId xmlns:a16="http://schemas.microsoft.com/office/drawing/2014/main" id="{65B6C0C6-C1D6-FF7E-A130-E17146CF967C}"/>
              </a:ext>
            </a:extLst>
          </p:cNvPr>
          <p:cNvGrpSpPr/>
          <p:nvPr/>
        </p:nvGrpSpPr>
        <p:grpSpPr bwMode="gray">
          <a:xfrm>
            <a:off x="4451286" y="3034542"/>
            <a:ext cx="328389" cy="328389"/>
            <a:chOff x="8693335" y="2501693"/>
            <a:chExt cx="560574" cy="560574"/>
          </a:xfrm>
          <a:noFill/>
        </p:grpSpPr>
        <p:sp>
          <p:nvSpPr>
            <p:cNvPr id="343" name="Oval 328">
              <a:extLst>
                <a:ext uri="{FF2B5EF4-FFF2-40B4-BE49-F238E27FC236}">
                  <a16:creationId xmlns:a16="http://schemas.microsoft.com/office/drawing/2014/main" id="{4C3C998E-46FD-51E6-D202-296106F4B936}"/>
                </a:ext>
              </a:extLst>
            </p:cNvPr>
            <p:cNvSpPr>
              <a:spLocks noChangeArrowheads="1"/>
            </p:cNvSpPr>
            <p:nvPr/>
          </p:nvSpPr>
          <p:spPr bwMode="gray">
            <a:xfrm>
              <a:off x="8946356" y="2501693"/>
              <a:ext cx="54531" cy="52349"/>
            </a:xfrm>
            <a:prstGeom prst="ellipse">
              <a:avLst/>
            </a:pr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44" name="Oval 329">
              <a:extLst>
                <a:ext uri="{FF2B5EF4-FFF2-40B4-BE49-F238E27FC236}">
                  <a16:creationId xmlns:a16="http://schemas.microsoft.com/office/drawing/2014/main" id="{3C922FAD-5042-4370-71EC-6EAB90D1E3DF}"/>
                </a:ext>
              </a:extLst>
            </p:cNvPr>
            <p:cNvSpPr>
              <a:spLocks noChangeArrowheads="1"/>
            </p:cNvSpPr>
            <p:nvPr/>
          </p:nvSpPr>
          <p:spPr bwMode="gray">
            <a:xfrm>
              <a:off x="8946356" y="3007736"/>
              <a:ext cx="54531" cy="54531"/>
            </a:xfrm>
            <a:prstGeom prst="ellipse">
              <a:avLst/>
            </a:pr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45" name="Line 330">
              <a:extLst>
                <a:ext uri="{FF2B5EF4-FFF2-40B4-BE49-F238E27FC236}">
                  <a16:creationId xmlns:a16="http://schemas.microsoft.com/office/drawing/2014/main" id="{C27CD602-4D92-4005-69B8-5D4138477145}"/>
                </a:ext>
              </a:extLst>
            </p:cNvPr>
            <p:cNvSpPr>
              <a:spLocks noChangeShapeType="1"/>
            </p:cNvSpPr>
            <p:nvPr/>
          </p:nvSpPr>
          <p:spPr bwMode="gray">
            <a:xfrm flipV="1">
              <a:off x="8974713" y="2554043"/>
              <a:ext cx="0" cy="82886"/>
            </a:xfrm>
            <a:prstGeom prst="line">
              <a:avLst/>
            </a:pr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46" name="Line 331">
              <a:extLst>
                <a:ext uri="{FF2B5EF4-FFF2-40B4-BE49-F238E27FC236}">
                  <a16:creationId xmlns:a16="http://schemas.microsoft.com/office/drawing/2014/main" id="{68DA30E5-FF5C-0330-7A0F-31E7DF968DA9}"/>
                </a:ext>
              </a:extLst>
            </p:cNvPr>
            <p:cNvSpPr>
              <a:spLocks noChangeShapeType="1"/>
            </p:cNvSpPr>
            <p:nvPr/>
          </p:nvSpPr>
          <p:spPr bwMode="gray">
            <a:xfrm>
              <a:off x="8974713" y="2927032"/>
              <a:ext cx="0" cy="80706"/>
            </a:xfrm>
            <a:prstGeom prst="line">
              <a:avLst/>
            </a:pr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47" name="Oval 332">
              <a:extLst>
                <a:ext uri="{FF2B5EF4-FFF2-40B4-BE49-F238E27FC236}">
                  <a16:creationId xmlns:a16="http://schemas.microsoft.com/office/drawing/2014/main" id="{7CBDB7AF-7965-8F37-BB45-FB3D89CEAC24}"/>
                </a:ext>
              </a:extLst>
            </p:cNvPr>
            <p:cNvSpPr>
              <a:spLocks noChangeArrowheads="1"/>
            </p:cNvSpPr>
            <p:nvPr/>
          </p:nvSpPr>
          <p:spPr bwMode="gray">
            <a:xfrm>
              <a:off x="9199378" y="2754715"/>
              <a:ext cx="54531" cy="54531"/>
            </a:xfrm>
            <a:prstGeom prst="ellipse">
              <a:avLst/>
            </a:pr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48" name="Oval 333">
              <a:extLst>
                <a:ext uri="{FF2B5EF4-FFF2-40B4-BE49-F238E27FC236}">
                  <a16:creationId xmlns:a16="http://schemas.microsoft.com/office/drawing/2014/main" id="{CDF9795C-5AE0-1B04-8E91-6644335A9C05}"/>
                </a:ext>
              </a:extLst>
            </p:cNvPr>
            <p:cNvSpPr>
              <a:spLocks noChangeArrowheads="1"/>
            </p:cNvSpPr>
            <p:nvPr/>
          </p:nvSpPr>
          <p:spPr bwMode="gray">
            <a:xfrm>
              <a:off x="8693335" y="2754715"/>
              <a:ext cx="54531" cy="54531"/>
            </a:xfrm>
            <a:prstGeom prst="ellipse">
              <a:avLst/>
            </a:pr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49" name="Line 334">
              <a:extLst>
                <a:ext uri="{FF2B5EF4-FFF2-40B4-BE49-F238E27FC236}">
                  <a16:creationId xmlns:a16="http://schemas.microsoft.com/office/drawing/2014/main" id="{5B152AFC-B48E-DBCB-21D7-5428803E3146}"/>
                </a:ext>
              </a:extLst>
            </p:cNvPr>
            <p:cNvSpPr>
              <a:spLocks noChangeShapeType="1"/>
            </p:cNvSpPr>
            <p:nvPr/>
          </p:nvSpPr>
          <p:spPr bwMode="gray">
            <a:xfrm>
              <a:off x="9118673" y="2780889"/>
              <a:ext cx="80706" cy="0"/>
            </a:xfrm>
            <a:prstGeom prst="line">
              <a:avLst/>
            </a:pr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50" name="Line 335">
              <a:extLst>
                <a:ext uri="{FF2B5EF4-FFF2-40B4-BE49-F238E27FC236}">
                  <a16:creationId xmlns:a16="http://schemas.microsoft.com/office/drawing/2014/main" id="{14156C72-CA81-C548-5C72-4C8DFD9BA5F1}"/>
                </a:ext>
              </a:extLst>
            </p:cNvPr>
            <p:cNvSpPr>
              <a:spLocks noChangeShapeType="1"/>
            </p:cNvSpPr>
            <p:nvPr/>
          </p:nvSpPr>
          <p:spPr bwMode="gray">
            <a:xfrm flipH="1">
              <a:off x="8747866" y="2780889"/>
              <a:ext cx="80706" cy="0"/>
            </a:xfrm>
            <a:prstGeom prst="line">
              <a:avLst/>
            </a:pr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51" name="Oval 336">
              <a:extLst>
                <a:ext uri="{FF2B5EF4-FFF2-40B4-BE49-F238E27FC236}">
                  <a16:creationId xmlns:a16="http://schemas.microsoft.com/office/drawing/2014/main" id="{64571908-FCD2-E7D8-3093-4A0A56E86F59}"/>
                </a:ext>
              </a:extLst>
            </p:cNvPr>
            <p:cNvSpPr>
              <a:spLocks noChangeArrowheads="1"/>
            </p:cNvSpPr>
            <p:nvPr/>
          </p:nvSpPr>
          <p:spPr bwMode="gray">
            <a:xfrm>
              <a:off x="8782766" y="2591124"/>
              <a:ext cx="381714" cy="379532"/>
            </a:xfrm>
            <a:prstGeom prst="ellipse">
              <a:avLst/>
            </a:pr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52" name="Freeform 337">
              <a:extLst>
                <a:ext uri="{FF2B5EF4-FFF2-40B4-BE49-F238E27FC236}">
                  <a16:creationId xmlns:a16="http://schemas.microsoft.com/office/drawing/2014/main" id="{03C03130-ABE0-F436-B738-935E281E66BB}"/>
                </a:ext>
              </a:extLst>
            </p:cNvPr>
            <p:cNvSpPr>
              <a:spLocks/>
            </p:cNvSpPr>
            <p:nvPr/>
          </p:nvSpPr>
          <p:spPr bwMode="gray">
            <a:xfrm>
              <a:off x="9037968" y="2844145"/>
              <a:ext cx="181042" cy="181042"/>
            </a:xfrm>
            <a:custGeom>
              <a:avLst/>
              <a:gdLst>
                <a:gd name="T0" fmla="*/ 80 w 80"/>
                <a:gd name="T1" fmla="*/ 0 h 80"/>
                <a:gd name="T2" fmla="*/ 0 w 80"/>
                <a:gd name="T3" fmla="*/ 80 h 80"/>
              </a:gdLst>
              <a:ahLst/>
              <a:cxnLst>
                <a:cxn ang="0">
                  <a:pos x="T0" y="T1"/>
                </a:cxn>
                <a:cxn ang="0">
                  <a:pos x="T2" y="T3"/>
                </a:cxn>
              </a:cxnLst>
              <a:rect l="0" t="0" r="r" b="b"/>
              <a:pathLst>
                <a:path w="80" h="80">
                  <a:moveTo>
                    <a:pt x="80" y="0"/>
                  </a:moveTo>
                  <a:cubicBezTo>
                    <a:pt x="70" y="39"/>
                    <a:pt x="39" y="70"/>
                    <a:pt x="0" y="80"/>
                  </a:cubicBezTo>
                </a:path>
              </a:pathLst>
            </a:cu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53" name="Freeform 338">
              <a:extLst>
                <a:ext uri="{FF2B5EF4-FFF2-40B4-BE49-F238E27FC236}">
                  <a16:creationId xmlns:a16="http://schemas.microsoft.com/office/drawing/2014/main" id="{0A03A905-285E-5ADA-B72E-0D20BDC7A0F1}"/>
                </a:ext>
              </a:extLst>
            </p:cNvPr>
            <p:cNvSpPr>
              <a:spLocks/>
            </p:cNvSpPr>
            <p:nvPr/>
          </p:nvSpPr>
          <p:spPr bwMode="gray">
            <a:xfrm>
              <a:off x="9037968" y="2536593"/>
              <a:ext cx="181042" cy="181042"/>
            </a:xfrm>
            <a:custGeom>
              <a:avLst/>
              <a:gdLst>
                <a:gd name="T0" fmla="*/ 0 w 80"/>
                <a:gd name="T1" fmla="*/ 0 h 80"/>
                <a:gd name="T2" fmla="*/ 80 w 80"/>
                <a:gd name="T3" fmla="*/ 80 h 80"/>
              </a:gdLst>
              <a:ahLst/>
              <a:cxnLst>
                <a:cxn ang="0">
                  <a:pos x="T0" y="T1"/>
                </a:cxn>
                <a:cxn ang="0">
                  <a:pos x="T2" y="T3"/>
                </a:cxn>
              </a:cxnLst>
              <a:rect l="0" t="0" r="r" b="b"/>
              <a:pathLst>
                <a:path w="80" h="80">
                  <a:moveTo>
                    <a:pt x="0" y="0"/>
                  </a:moveTo>
                  <a:cubicBezTo>
                    <a:pt x="39" y="10"/>
                    <a:pt x="70" y="41"/>
                    <a:pt x="80" y="80"/>
                  </a:cubicBezTo>
                </a:path>
              </a:pathLst>
            </a:cu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54" name="Freeform 339">
              <a:extLst>
                <a:ext uri="{FF2B5EF4-FFF2-40B4-BE49-F238E27FC236}">
                  <a16:creationId xmlns:a16="http://schemas.microsoft.com/office/drawing/2014/main" id="{23ECD3B5-7F10-E1A9-CD9B-E8EB854301CF}"/>
                </a:ext>
              </a:extLst>
            </p:cNvPr>
            <p:cNvSpPr>
              <a:spLocks/>
            </p:cNvSpPr>
            <p:nvPr/>
          </p:nvSpPr>
          <p:spPr bwMode="gray">
            <a:xfrm>
              <a:off x="8730416" y="2538775"/>
              <a:ext cx="170135" cy="178860"/>
            </a:xfrm>
            <a:custGeom>
              <a:avLst/>
              <a:gdLst>
                <a:gd name="T0" fmla="*/ 0 w 76"/>
                <a:gd name="T1" fmla="*/ 79 h 79"/>
                <a:gd name="T2" fmla="*/ 76 w 76"/>
                <a:gd name="T3" fmla="*/ 0 h 79"/>
              </a:gdLst>
              <a:ahLst/>
              <a:cxnLst>
                <a:cxn ang="0">
                  <a:pos x="T0" y="T1"/>
                </a:cxn>
                <a:cxn ang="0">
                  <a:pos x="T2" y="T3"/>
                </a:cxn>
              </a:cxnLst>
              <a:rect l="0" t="0" r="r" b="b"/>
              <a:pathLst>
                <a:path w="76" h="79">
                  <a:moveTo>
                    <a:pt x="0" y="79"/>
                  </a:moveTo>
                  <a:cubicBezTo>
                    <a:pt x="9" y="41"/>
                    <a:pt x="39" y="11"/>
                    <a:pt x="76" y="0"/>
                  </a:cubicBezTo>
                </a:path>
              </a:pathLst>
            </a:cu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55" name="Freeform 340">
              <a:extLst>
                <a:ext uri="{FF2B5EF4-FFF2-40B4-BE49-F238E27FC236}">
                  <a16:creationId xmlns:a16="http://schemas.microsoft.com/office/drawing/2014/main" id="{371A7766-56DF-023A-C5CA-409E6CC85C29}"/>
                </a:ext>
              </a:extLst>
            </p:cNvPr>
            <p:cNvSpPr>
              <a:spLocks/>
            </p:cNvSpPr>
            <p:nvPr/>
          </p:nvSpPr>
          <p:spPr bwMode="gray">
            <a:xfrm>
              <a:off x="8730416" y="2844145"/>
              <a:ext cx="178860" cy="181042"/>
            </a:xfrm>
            <a:custGeom>
              <a:avLst/>
              <a:gdLst>
                <a:gd name="T0" fmla="*/ 80 w 80"/>
                <a:gd name="T1" fmla="*/ 80 h 80"/>
                <a:gd name="T2" fmla="*/ 0 w 80"/>
                <a:gd name="T3" fmla="*/ 0 h 80"/>
              </a:gdLst>
              <a:ahLst/>
              <a:cxnLst>
                <a:cxn ang="0">
                  <a:pos x="T0" y="T1"/>
                </a:cxn>
                <a:cxn ang="0">
                  <a:pos x="T2" y="T3"/>
                </a:cxn>
              </a:cxnLst>
              <a:rect l="0" t="0" r="r" b="b"/>
              <a:pathLst>
                <a:path w="80" h="80">
                  <a:moveTo>
                    <a:pt x="80" y="80"/>
                  </a:moveTo>
                  <a:cubicBezTo>
                    <a:pt x="41" y="70"/>
                    <a:pt x="10" y="39"/>
                    <a:pt x="0" y="0"/>
                  </a:cubicBezTo>
                </a:path>
              </a:pathLst>
            </a:cu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56" name="Oval 341">
              <a:extLst>
                <a:ext uri="{FF2B5EF4-FFF2-40B4-BE49-F238E27FC236}">
                  <a16:creationId xmlns:a16="http://schemas.microsoft.com/office/drawing/2014/main" id="{5C57879C-73A0-3EB9-805A-4CAA4BD6AC07}"/>
                </a:ext>
              </a:extLst>
            </p:cNvPr>
            <p:cNvSpPr>
              <a:spLocks noChangeArrowheads="1"/>
            </p:cNvSpPr>
            <p:nvPr/>
          </p:nvSpPr>
          <p:spPr bwMode="gray">
            <a:xfrm>
              <a:off x="8856927" y="2663104"/>
              <a:ext cx="233391" cy="235572"/>
            </a:xfrm>
            <a:prstGeom prst="ellipse">
              <a:avLst/>
            </a:pr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57" name="Line 342">
              <a:extLst>
                <a:ext uri="{FF2B5EF4-FFF2-40B4-BE49-F238E27FC236}">
                  <a16:creationId xmlns:a16="http://schemas.microsoft.com/office/drawing/2014/main" id="{5B4F0A50-E41E-E2F8-4B08-6C1157D40C8E}"/>
                </a:ext>
              </a:extLst>
            </p:cNvPr>
            <p:cNvSpPr>
              <a:spLocks noChangeShapeType="1"/>
            </p:cNvSpPr>
            <p:nvPr/>
          </p:nvSpPr>
          <p:spPr bwMode="gray">
            <a:xfrm>
              <a:off x="9081592" y="2889950"/>
              <a:ext cx="100336" cy="100336"/>
            </a:xfrm>
            <a:prstGeom prst="line">
              <a:avLst/>
            </a:pr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58" name="Line 343">
              <a:extLst>
                <a:ext uri="{FF2B5EF4-FFF2-40B4-BE49-F238E27FC236}">
                  <a16:creationId xmlns:a16="http://schemas.microsoft.com/office/drawing/2014/main" id="{AD0B9BEB-136F-C4DE-E167-1B4BE0153DFC}"/>
                </a:ext>
              </a:extLst>
            </p:cNvPr>
            <p:cNvSpPr>
              <a:spLocks noChangeShapeType="1"/>
            </p:cNvSpPr>
            <p:nvPr/>
          </p:nvSpPr>
          <p:spPr bwMode="gray">
            <a:xfrm>
              <a:off x="8765316" y="2573674"/>
              <a:ext cx="100336" cy="98155"/>
            </a:xfrm>
            <a:prstGeom prst="line">
              <a:avLst/>
            </a:pr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59" name="Line 344">
              <a:extLst>
                <a:ext uri="{FF2B5EF4-FFF2-40B4-BE49-F238E27FC236}">
                  <a16:creationId xmlns:a16="http://schemas.microsoft.com/office/drawing/2014/main" id="{0EB13E63-8501-A137-4FAB-4B8AD8E190B6}"/>
                </a:ext>
              </a:extLst>
            </p:cNvPr>
            <p:cNvSpPr>
              <a:spLocks noChangeShapeType="1"/>
            </p:cNvSpPr>
            <p:nvPr/>
          </p:nvSpPr>
          <p:spPr bwMode="gray">
            <a:xfrm flipV="1">
              <a:off x="9081592" y="2573674"/>
              <a:ext cx="100336" cy="98155"/>
            </a:xfrm>
            <a:prstGeom prst="line">
              <a:avLst/>
            </a:pr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60" name="Line 345">
              <a:extLst>
                <a:ext uri="{FF2B5EF4-FFF2-40B4-BE49-F238E27FC236}">
                  <a16:creationId xmlns:a16="http://schemas.microsoft.com/office/drawing/2014/main" id="{01F406B0-EB4A-6CE2-B591-C1E01283238F}"/>
                </a:ext>
              </a:extLst>
            </p:cNvPr>
            <p:cNvSpPr>
              <a:spLocks noChangeShapeType="1"/>
            </p:cNvSpPr>
            <p:nvPr/>
          </p:nvSpPr>
          <p:spPr bwMode="gray">
            <a:xfrm flipV="1">
              <a:off x="8765316" y="2889950"/>
              <a:ext cx="100336" cy="100336"/>
            </a:xfrm>
            <a:prstGeom prst="line">
              <a:avLst/>
            </a:pr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61" name="Oval 346">
              <a:extLst>
                <a:ext uri="{FF2B5EF4-FFF2-40B4-BE49-F238E27FC236}">
                  <a16:creationId xmlns:a16="http://schemas.microsoft.com/office/drawing/2014/main" id="{AFCB1F38-D801-1B5C-3348-727E745014B2}"/>
                </a:ext>
              </a:extLst>
            </p:cNvPr>
            <p:cNvSpPr>
              <a:spLocks noChangeArrowheads="1"/>
            </p:cNvSpPr>
            <p:nvPr/>
          </p:nvSpPr>
          <p:spPr bwMode="gray">
            <a:xfrm>
              <a:off x="8928907" y="2663104"/>
              <a:ext cx="89431" cy="235572"/>
            </a:xfrm>
            <a:prstGeom prst="ellipse">
              <a:avLst/>
            </a:pr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62" name="Oval 347">
              <a:extLst>
                <a:ext uri="{FF2B5EF4-FFF2-40B4-BE49-F238E27FC236}">
                  <a16:creationId xmlns:a16="http://schemas.microsoft.com/office/drawing/2014/main" id="{1012CFAD-18C4-E080-7928-A43A19DDDF06}"/>
                </a:ext>
              </a:extLst>
            </p:cNvPr>
            <p:cNvSpPr>
              <a:spLocks noChangeArrowheads="1"/>
            </p:cNvSpPr>
            <p:nvPr/>
          </p:nvSpPr>
          <p:spPr bwMode="gray">
            <a:xfrm>
              <a:off x="8856927" y="2735084"/>
              <a:ext cx="233391" cy="91611"/>
            </a:xfrm>
            <a:prstGeom prst="ellipse">
              <a:avLst/>
            </a:pr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grpSp>
      <p:grpSp>
        <p:nvGrpSpPr>
          <p:cNvPr id="376" name="Group 375">
            <a:extLst>
              <a:ext uri="{FF2B5EF4-FFF2-40B4-BE49-F238E27FC236}">
                <a16:creationId xmlns:a16="http://schemas.microsoft.com/office/drawing/2014/main" id="{D74DD46C-89E7-2755-6BC5-7D0FD0734B38}"/>
              </a:ext>
            </a:extLst>
          </p:cNvPr>
          <p:cNvGrpSpPr/>
          <p:nvPr/>
        </p:nvGrpSpPr>
        <p:grpSpPr bwMode="gray">
          <a:xfrm>
            <a:off x="638716" y="3073599"/>
            <a:ext cx="285048" cy="281706"/>
            <a:chOff x="6946107" y="1454943"/>
            <a:chExt cx="552450" cy="545973"/>
          </a:xfrm>
        </p:grpSpPr>
        <p:sp>
          <p:nvSpPr>
            <p:cNvPr id="377" name="Freeform: Shape 376">
              <a:extLst>
                <a:ext uri="{FF2B5EF4-FFF2-40B4-BE49-F238E27FC236}">
                  <a16:creationId xmlns:a16="http://schemas.microsoft.com/office/drawing/2014/main" id="{9C1642D8-D10A-DC39-19DF-7FACBBDEA986}"/>
                </a:ext>
              </a:extLst>
            </p:cNvPr>
            <p:cNvSpPr/>
            <p:nvPr/>
          </p:nvSpPr>
          <p:spPr bwMode="gray">
            <a:xfrm>
              <a:off x="6977444" y="1454943"/>
              <a:ext cx="489775" cy="162972"/>
            </a:xfrm>
            <a:custGeom>
              <a:avLst/>
              <a:gdLst>
                <a:gd name="connsiteX0" fmla="*/ 489776 w 489775"/>
                <a:gd name="connsiteY0" fmla="*/ 104108 h 162972"/>
                <a:gd name="connsiteX1" fmla="*/ 244888 w 489775"/>
                <a:gd name="connsiteY1" fmla="*/ 0 h 162972"/>
                <a:gd name="connsiteX2" fmla="*/ 0 w 489775"/>
                <a:gd name="connsiteY2" fmla="*/ 104108 h 162972"/>
                <a:gd name="connsiteX3" fmla="*/ 0 w 489775"/>
                <a:gd name="connsiteY3" fmla="*/ 162973 h 162972"/>
                <a:gd name="connsiteX4" fmla="*/ 489776 w 489775"/>
                <a:gd name="connsiteY4" fmla="*/ 162973 h 162972"/>
                <a:gd name="connsiteX5" fmla="*/ 489776 w 489775"/>
                <a:gd name="connsiteY5" fmla="*/ 104108 h 162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9775" h="162972">
                  <a:moveTo>
                    <a:pt x="489776" y="104108"/>
                  </a:moveTo>
                  <a:lnTo>
                    <a:pt x="244888" y="0"/>
                  </a:lnTo>
                  <a:lnTo>
                    <a:pt x="0" y="104108"/>
                  </a:lnTo>
                  <a:lnTo>
                    <a:pt x="0" y="162973"/>
                  </a:lnTo>
                  <a:lnTo>
                    <a:pt x="489776" y="162973"/>
                  </a:lnTo>
                  <a:lnTo>
                    <a:pt x="489776" y="104108"/>
                  </a:lnTo>
                  <a:close/>
                </a:path>
              </a:pathLst>
            </a:custGeom>
            <a:no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78" name="Freeform: Shape 377">
              <a:extLst>
                <a:ext uri="{FF2B5EF4-FFF2-40B4-BE49-F238E27FC236}">
                  <a16:creationId xmlns:a16="http://schemas.microsoft.com/office/drawing/2014/main" id="{6C2CEEE9-8375-0926-3B72-1CA2CBC94864}"/>
                </a:ext>
              </a:extLst>
            </p:cNvPr>
            <p:cNvSpPr/>
            <p:nvPr/>
          </p:nvSpPr>
          <p:spPr bwMode="gray">
            <a:xfrm>
              <a:off x="6946107" y="1946719"/>
              <a:ext cx="552450" cy="54197"/>
            </a:xfrm>
            <a:custGeom>
              <a:avLst/>
              <a:gdLst>
                <a:gd name="connsiteX0" fmla="*/ 0 w 552450"/>
                <a:gd name="connsiteY0" fmla="*/ 0 h 54197"/>
                <a:gd name="connsiteX1" fmla="*/ 552450 w 552450"/>
                <a:gd name="connsiteY1" fmla="*/ 0 h 54197"/>
                <a:gd name="connsiteX2" fmla="*/ 552450 w 552450"/>
                <a:gd name="connsiteY2" fmla="*/ 54197 h 54197"/>
                <a:gd name="connsiteX3" fmla="*/ 0 w 552450"/>
                <a:gd name="connsiteY3" fmla="*/ 54197 h 54197"/>
              </a:gdLst>
              <a:ahLst/>
              <a:cxnLst>
                <a:cxn ang="0">
                  <a:pos x="connsiteX0" y="connsiteY0"/>
                </a:cxn>
                <a:cxn ang="0">
                  <a:pos x="connsiteX1" y="connsiteY1"/>
                </a:cxn>
                <a:cxn ang="0">
                  <a:pos x="connsiteX2" y="connsiteY2"/>
                </a:cxn>
                <a:cxn ang="0">
                  <a:pos x="connsiteX3" y="connsiteY3"/>
                </a:cxn>
              </a:cxnLst>
              <a:rect l="l" t="t" r="r" b="b"/>
              <a:pathLst>
                <a:path w="552450" h="54197">
                  <a:moveTo>
                    <a:pt x="0" y="0"/>
                  </a:moveTo>
                  <a:lnTo>
                    <a:pt x="552450" y="0"/>
                  </a:lnTo>
                  <a:lnTo>
                    <a:pt x="552450" y="54197"/>
                  </a:lnTo>
                  <a:lnTo>
                    <a:pt x="0" y="54197"/>
                  </a:lnTo>
                  <a:close/>
                </a:path>
              </a:pathLst>
            </a:custGeom>
            <a:no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79" name="Freeform: Shape 378">
              <a:extLst>
                <a:ext uri="{FF2B5EF4-FFF2-40B4-BE49-F238E27FC236}">
                  <a16:creationId xmlns:a16="http://schemas.microsoft.com/office/drawing/2014/main" id="{B8609F47-AC63-ED7A-66A1-F605866B0E1D}"/>
                </a:ext>
              </a:extLst>
            </p:cNvPr>
            <p:cNvSpPr/>
            <p:nvPr/>
          </p:nvSpPr>
          <p:spPr bwMode="gray">
            <a:xfrm>
              <a:off x="6987160" y="1895379"/>
              <a:ext cx="470344" cy="51339"/>
            </a:xfrm>
            <a:custGeom>
              <a:avLst/>
              <a:gdLst>
                <a:gd name="connsiteX0" fmla="*/ 470345 w 470344"/>
                <a:gd name="connsiteY0" fmla="*/ 51340 h 51339"/>
                <a:gd name="connsiteX1" fmla="*/ 470345 w 470344"/>
                <a:gd name="connsiteY1" fmla="*/ 0 h 51339"/>
                <a:gd name="connsiteX2" fmla="*/ 0 w 470344"/>
                <a:gd name="connsiteY2" fmla="*/ 0 h 51339"/>
                <a:gd name="connsiteX3" fmla="*/ 0 w 470344"/>
                <a:gd name="connsiteY3" fmla="*/ 51340 h 51339"/>
              </a:gdLst>
              <a:ahLst/>
              <a:cxnLst>
                <a:cxn ang="0">
                  <a:pos x="connsiteX0" y="connsiteY0"/>
                </a:cxn>
                <a:cxn ang="0">
                  <a:pos x="connsiteX1" y="connsiteY1"/>
                </a:cxn>
                <a:cxn ang="0">
                  <a:pos x="connsiteX2" y="connsiteY2"/>
                </a:cxn>
                <a:cxn ang="0">
                  <a:pos x="connsiteX3" y="connsiteY3"/>
                </a:cxn>
              </a:cxnLst>
              <a:rect l="l" t="t" r="r" b="b"/>
              <a:pathLst>
                <a:path w="470344" h="51339">
                  <a:moveTo>
                    <a:pt x="470345" y="51340"/>
                  </a:moveTo>
                  <a:lnTo>
                    <a:pt x="470345" y="0"/>
                  </a:lnTo>
                  <a:lnTo>
                    <a:pt x="0" y="0"/>
                  </a:lnTo>
                  <a:lnTo>
                    <a:pt x="0" y="51340"/>
                  </a:lnTo>
                </a:path>
              </a:pathLst>
            </a:custGeom>
            <a:no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80" name="Freeform: Shape 379">
              <a:extLst>
                <a:ext uri="{FF2B5EF4-FFF2-40B4-BE49-F238E27FC236}">
                  <a16:creationId xmlns:a16="http://schemas.microsoft.com/office/drawing/2014/main" id="{842FE68B-7001-B9B3-9FC4-349C413F5ABF}"/>
                </a:ext>
              </a:extLst>
            </p:cNvPr>
            <p:cNvSpPr/>
            <p:nvPr/>
          </p:nvSpPr>
          <p:spPr bwMode="gray">
            <a:xfrm>
              <a:off x="7016497" y="1671447"/>
              <a:ext cx="12382" cy="223932"/>
            </a:xfrm>
            <a:custGeom>
              <a:avLst/>
              <a:gdLst>
                <a:gd name="connsiteX0" fmla="*/ 12383 w 12382"/>
                <a:gd name="connsiteY0" fmla="*/ 0 h 223932"/>
                <a:gd name="connsiteX1" fmla="*/ 0 w 12382"/>
                <a:gd name="connsiteY1" fmla="*/ 223933 h 223932"/>
              </a:gdLst>
              <a:ahLst/>
              <a:cxnLst>
                <a:cxn ang="0">
                  <a:pos x="connsiteX0" y="connsiteY0"/>
                </a:cxn>
                <a:cxn ang="0">
                  <a:pos x="connsiteX1" y="connsiteY1"/>
                </a:cxn>
              </a:cxnLst>
              <a:rect l="l" t="t" r="r" b="b"/>
              <a:pathLst>
                <a:path w="12382" h="223932">
                  <a:moveTo>
                    <a:pt x="12383" y="0"/>
                  </a:moveTo>
                  <a:lnTo>
                    <a:pt x="0" y="223933"/>
                  </a:lnTo>
                </a:path>
              </a:pathLst>
            </a:custGeom>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81" name="Freeform: Shape 380">
              <a:extLst>
                <a:ext uri="{FF2B5EF4-FFF2-40B4-BE49-F238E27FC236}">
                  <a16:creationId xmlns:a16="http://schemas.microsoft.com/office/drawing/2014/main" id="{3383C462-C548-CEFA-B1CD-F7806A4DD940}"/>
                </a:ext>
              </a:extLst>
            </p:cNvPr>
            <p:cNvSpPr/>
            <p:nvPr/>
          </p:nvSpPr>
          <p:spPr bwMode="gray">
            <a:xfrm>
              <a:off x="7087268" y="1671447"/>
              <a:ext cx="12382" cy="223932"/>
            </a:xfrm>
            <a:custGeom>
              <a:avLst/>
              <a:gdLst>
                <a:gd name="connsiteX0" fmla="*/ 0 w 12382"/>
                <a:gd name="connsiteY0" fmla="*/ 0 h 223932"/>
                <a:gd name="connsiteX1" fmla="*/ 12382 w 12382"/>
                <a:gd name="connsiteY1" fmla="*/ 223933 h 223932"/>
              </a:gdLst>
              <a:ahLst/>
              <a:cxnLst>
                <a:cxn ang="0">
                  <a:pos x="connsiteX0" y="connsiteY0"/>
                </a:cxn>
                <a:cxn ang="0">
                  <a:pos x="connsiteX1" y="connsiteY1"/>
                </a:cxn>
              </a:cxnLst>
              <a:rect l="l" t="t" r="r" b="b"/>
              <a:pathLst>
                <a:path w="12382" h="223932">
                  <a:moveTo>
                    <a:pt x="0" y="0"/>
                  </a:moveTo>
                  <a:lnTo>
                    <a:pt x="12382" y="223933"/>
                  </a:lnTo>
                </a:path>
              </a:pathLst>
            </a:custGeom>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82" name="Freeform: Shape 381">
              <a:extLst>
                <a:ext uri="{FF2B5EF4-FFF2-40B4-BE49-F238E27FC236}">
                  <a16:creationId xmlns:a16="http://schemas.microsoft.com/office/drawing/2014/main" id="{1E50CE15-AA4C-C6AB-A677-48E38A72BF38}"/>
                </a:ext>
              </a:extLst>
            </p:cNvPr>
            <p:cNvSpPr/>
            <p:nvPr/>
          </p:nvSpPr>
          <p:spPr bwMode="gray">
            <a:xfrm>
              <a:off x="7011735" y="1617916"/>
              <a:ext cx="92678" cy="53625"/>
            </a:xfrm>
            <a:custGeom>
              <a:avLst/>
              <a:gdLst>
                <a:gd name="connsiteX0" fmla="*/ 0 w 92678"/>
                <a:gd name="connsiteY0" fmla="*/ 0 h 53625"/>
                <a:gd name="connsiteX1" fmla="*/ 0 w 92678"/>
                <a:gd name="connsiteY1" fmla="*/ 43339 h 53625"/>
                <a:gd name="connsiteX2" fmla="*/ 10287 w 92678"/>
                <a:gd name="connsiteY2" fmla="*/ 53626 h 53625"/>
                <a:gd name="connsiteX3" fmla="*/ 82391 w 92678"/>
                <a:gd name="connsiteY3" fmla="*/ 53626 h 53625"/>
                <a:gd name="connsiteX4" fmla="*/ 92678 w 92678"/>
                <a:gd name="connsiteY4" fmla="*/ 43339 h 53625"/>
                <a:gd name="connsiteX5" fmla="*/ 92678 w 92678"/>
                <a:gd name="connsiteY5" fmla="*/ 0 h 53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78" h="53625">
                  <a:moveTo>
                    <a:pt x="0" y="0"/>
                  </a:moveTo>
                  <a:lnTo>
                    <a:pt x="0" y="43339"/>
                  </a:lnTo>
                  <a:cubicBezTo>
                    <a:pt x="0" y="49054"/>
                    <a:pt x="4572" y="53626"/>
                    <a:pt x="10287" y="53626"/>
                  </a:cubicBezTo>
                  <a:lnTo>
                    <a:pt x="82391" y="53626"/>
                  </a:lnTo>
                  <a:cubicBezTo>
                    <a:pt x="88106" y="53626"/>
                    <a:pt x="92678" y="49054"/>
                    <a:pt x="92678" y="43339"/>
                  </a:cubicBezTo>
                  <a:lnTo>
                    <a:pt x="92678" y="0"/>
                  </a:lnTo>
                </a:path>
              </a:pathLst>
            </a:custGeom>
            <a:no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83" name="Freeform: Shape 382">
              <a:extLst>
                <a:ext uri="{FF2B5EF4-FFF2-40B4-BE49-F238E27FC236}">
                  <a16:creationId xmlns:a16="http://schemas.microsoft.com/office/drawing/2014/main" id="{7CD94FCB-70F9-BE2F-2DB2-5059596AD814}"/>
                </a:ext>
              </a:extLst>
            </p:cNvPr>
            <p:cNvSpPr/>
            <p:nvPr/>
          </p:nvSpPr>
          <p:spPr bwMode="gray">
            <a:xfrm>
              <a:off x="7180803" y="1671447"/>
              <a:ext cx="12382" cy="223932"/>
            </a:xfrm>
            <a:custGeom>
              <a:avLst/>
              <a:gdLst>
                <a:gd name="connsiteX0" fmla="*/ 12383 w 12382"/>
                <a:gd name="connsiteY0" fmla="*/ 0 h 223932"/>
                <a:gd name="connsiteX1" fmla="*/ 0 w 12382"/>
                <a:gd name="connsiteY1" fmla="*/ 223933 h 223932"/>
              </a:gdLst>
              <a:ahLst/>
              <a:cxnLst>
                <a:cxn ang="0">
                  <a:pos x="connsiteX0" y="connsiteY0"/>
                </a:cxn>
                <a:cxn ang="0">
                  <a:pos x="connsiteX1" y="connsiteY1"/>
                </a:cxn>
              </a:cxnLst>
              <a:rect l="l" t="t" r="r" b="b"/>
              <a:pathLst>
                <a:path w="12382" h="223932">
                  <a:moveTo>
                    <a:pt x="12383" y="0"/>
                  </a:moveTo>
                  <a:lnTo>
                    <a:pt x="0" y="223933"/>
                  </a:lnTo>
                </a:path>
              </a:pathLst>
            </a:custGeom>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84" name="Freeform: Shape 383">
              <a:extLst>
                <a:ext uri="{FF2B5EF4-FFF2-40B4-BE49-F238E27FC236}">
                  <a16:creationId xmlns:a16="http://schemas.microsoft.com/office/drawing/2014/main" id="{A6AE8B6E-38A1-32F6-E527-883D405B3288}"/>
                </a:ext>
              </a:extLst>
            </p:cNvPr>
            <p:cNvSpPr/>
            <p:nvPr/>
          </p:nvSpPr>
          <p:spPr bwMode="gray">
            <a:xfrm>
              <a:off x="7251574" y="1671447"/>
              <a:ext cx="12382" cy="223932"/>
            </a:xfrm>
            <a:custGeom>
              <a:avLst/>
              <a:gdLst>
                <a:gd name="connsiteX0" fmla="*/ 0 w 12382"/>
                <a:gd name="connsiteY0" fmla="*/ 0 h 223932"/>
                <a:gd name="connsiteX1" fmla="*/ 12382 w 12382"/>
                <a:gd name="connsiteY1" fmla="*/ 223933 h 223932"/>
              </a:gdLst>
              <a:ahLst/>
              <a:cxnLst>
                <a:cxn ang="0">
                  <a:pos x="connsiteX0" y="connsiteY0"/>
                </a:cxn>
                <a:cxn ang="0">
                  <a:pos x="connsiteX1" y="connsiteY1"/>
                </a:cxn>
              </a:cxnLst>
              <a:rect l="l" t="t" r="r" b="b"/>
              <a:pathLst>
                <a:path w="12382" h="223932">
                  <a:moveTo>
                    <a:pt x="0" y="0"/>
                  </a:moveTo>
                  <a:lnTo>
                    <a:pt x="12382" y="223933"/>
                  </a:lnTo>
                </a:path>
              </a:pathLst>
            </a:custGeom>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85" name="Freeform: Shape 384">
              <a:extLst>
                <a:ext uri="{FF2B5EF4-FFF2-40B4-BE49-F238E27FC236}">
                  <a16:creationId xmlns:a16="http://schemas.microsoft.com/office/drawing/2014/main" id="{8B3C1633-708A-6031-DD1C-E85445C11118}"/>
                </a:ext>
              </a:extLst>
            </p:cNvPr>
            <p:cNvSpPr/>
            <p:nvPr/>
          </p:nvSpPr>
          <p:spPr bwMode="gray">
            <a:xfrm>
              <a:off x="7175946" y="1617916"/>
              <a:ext cx="92678" cy="53625"/>
            </a:xfrm>
            <a:custGeom>
              <a:avLst/>
              <a:gdLst>
                <a:gd name="connsiteX0" fmla="*/ 0 w 92678"/>
                <a:gd name="connsiteY0" fmla="*/ 0 h 53625"/>
                <a:gd name="connsiteX1" fmla="*/ 0 w 92678"/>
                <a:gd name="connsiteY1" fmla="*/ 43339 h 53625"/>
                <a:gd name="connsiteX2" fmla="*/ 10287 w 92678"/>
                <a:gd name="connsiteY2" fmla="*/ 53626 h 53625"/>
                <a:gd name="connsiteX3" fmla="*/ 82391 w 92678"/>
                <a:gd name="connsiteY3" fmla="*/ 53626 h 53625"/>
                <a:gd name="connsiteX4" fmla="*/ 92678 w 92678"/>
                <a:gd name="connsiteY4" fmla="*/ 43339 h 53625"/>
                <a:gd name="connsiteX5" fmla="*/ 92678 w 92678"/>
                <a:gd name="connsiteY5" fmla="*/ 0 h 53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78" h="53625">
                  <a:moveTo>
                    <a:pt x="0" y="0"/>
                  </a:moveTo>
                  <a:lnTo>
                    <a:pt x="0" y="43339"/>
                  </a:lnTo>
                  <a:cubicBezTo>
                    <a:pt x="0" y="49054"/>
                    <a:pt x="4572" y="53626"/>
                    <a:pt x="10287" y="53626"/>
                  </a:cubicBezTo>
                  <a:lnTo>
                    <a:pt x="82391" y="53626"/>
                  </a:lnTo>
                  <a:cubicBezTo>
                    <a:pt x="88106" y="53626"/>
                    <a:pt x="92678" y="49054"/>
                    <a:pt x="92678" y="43339"/>
                  </a:cubicBezTo>
                  <a:lnTo>
                    <a:pt x="92678" y="0"/>
                  </a:lnTo>
                </a:path>
              </a:pathLst>
            </a:custGeom>
            <a:no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86" name="Freeform: Shape 385">
              <a:extLst>
                <a:ext uri="{FF2B5EF4-FFF2-40B4-BE49-F238E27FC236}">
                  <a16:creationId xmlns:a16="http://schemas.microsoft.com/office/drawing/2014/main" id="{39480B36-8F20-7B3C-12D0-221CBC647523}"/>
                </a:ext>
              </a:extLst>
            </p:cNvPr>
            <p:cNvSpPr/>
            <p:nvPr/>
          </p:nvSpPr>
          <p:spPr bwMode="gray">
            <a:xfrm>
              <a:off x="7345110" y="1671447"/>
              <a:ext cx="12382" cy="223932"/>
            </a:xfrm>
            <a:custGeom>
              <a:avLst/>
              <a:gdLst>
                <a:gd name="connsiteX0" fmla="*/ 12383 w 12382"/>
                <a:gd name="connsiteY0" fmla="*/ 0 h 223932"/>
                <a:gd name="connsiteX1" fmla="*/ 0 w 12382"/>
                <a:gd name="connsiteY1" fmla="*/ 223933 h 223932"/>
              </a:gdLst>
              <a:ahLst/>
              <a:cxnLst>
                <a:cxn ang="0">
                  <a:pos x="connsiteX0" y="connsiteY0"/>
                </a:cxn>
                <a:cxn ang="0">
                  <a:pos x="connsiteX1" y="connsiteY1"/>
                </a:cxn>
              </a:cxnLst>
              <a:rect l="l" t="t" r="r" b="b"/>
              <a:pathLst>
                <a:path w="12382" h="223932">
                  <a:moveTo>
                    <a:pt x="12383" y="0"/>
                  </a:moveTo>
                  <a:lnTo>
                    <a:pt x="0" y="223933"/>
                  </a:lnTo>
                </a:path>
              </a:pathLst>
            </a:custGeom>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87" name="Freeform: Shape 386">
              <a:extLst>
                <a:ext uri="{FF2B5EF4-FFF2-40B4-BE49-F238E27FC236}">
                  <a16:creationId xmlns:a16="http://schemas.microsoft.com/office/drawing/2014/main" id="{FF1D33E2-C0C4-CD73-EEFB-83EDAEA128D4}"/>
                </a:ext>
              </a:extLst>
            </p:cNvPr>
            <p:cNvSpPr/>
            <p:nvPr/>
          </p:nvSpPr>
          <p:spPr bwMode="gray">
            <a:xfrm>
              <a:off x="7415880" y="1671447"/>
              <a:ext cx="12382" cy="223932"/>
            </a:xfrm>
            <a:custGeom>
              <a:avLst/>
              <a:gdLst>
                <a:gd name="connsiteX0" fmla="*/ 0 w 12382"/>
                <a:gd name="connsiteY0" fmla="*/ 0 h 223932"/>
                <a:gd name="connsiteX1" fmla="*/ 12382 w 12382"/>
                <a:gd name="connsiteY1" fmla="*/ 223933 h 223932"/>
              </a:gdLst>
              <a:ahLst/>
              <a:cxnLst>
                <a:cxn ang="0">
                  <a:pos x="connsiteX0" y="connsiteY0"/>
                </a:cxn>
                <a:cxn ang="0">
                  <a:pos x="connsiteX1" y="connsiteY1"/>
                </a:cxn>
              </a:cxnLst>
              <a:rect l="l" t="t" r="r" b="b"/>
              <a:pathLst>
                <a:path w="12382" h="223932">
                  <a:moveTo>
                    <a:pt x="0" y="0"/>
                  </a:moveTo>
                  <a:lnTo>
                    <a:pt x="12382" y="223933"/>
                  </a:lnTo>
                </a:path>
              </a:pathLst>
            </a:custGeom>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88" name="Freeform: Shape 387">
              <a:extLst>
                <a:ext uri="{FF2B5EF4-FFF2-40B4-BE49-F238E27FC236}">
                  <a16:creationId xmlns:a16="http://schemas.microsoft.com/office/drawing/2014/main" id="{1FEDC201-4BEA-3119-2203-9E10F6755977}"/>
                </a:ext>
              </a:extLst>
            </p:cNvPr>
            <p:cNvSpPr/>
            <p:nvPr/>
          </p:nvSpPr>
          <p:spPr bwMode="gray">
            <a:xfrm>
              <a:off x="7340252" y="1617916"/>
              <a:ext cx="92678" cy="53625"/>
            </a:xfrm>
            <a:custGeom>
              <a:avLst/>
              <a:gdLst>
                <a:gd name="connsiteX0" fmla="*/ 0 w 92678"/>
                <a:gd name="connsiteY0" fmla="*/ 0 h 53625"/>
                <a:gd name="connsiteX1" fmla="*/ 0 w 92678"/>
                <a:gd name="connsiteY1" fmla="*/ 43339 h 53625"/>
                <a:gd name="connsiteX2" fmla="*/ 10287 w 92678"/>
                <a:gd name="connsiteY2" fmla="*/ 53626 h 53625"/>
                <a:gd name="connsiteX3" fmla="*/ 82391 w 92678"/>
                <a:gd name="connsiteY3" fmla="*/ 53626 h 53625"/>
                <a:gd name="connsiteX4" fmla="*/ 92678 w 92678"/>
                <a:gd name="connsiteY4" fmla="*/ 43339 h 53625"/>
                <a:gd name="connsiteX5" fmla="*/ 92678 w 92678"/>
                <a:gd name="connsiteY5" fmla="*/ 0 h 53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78" h="53625">
                  <a:moveTo>
                    <a:pt x="0" y="0"/>
                  </a:moveTo>
                  <a:lnTo>
                    <a:pt x="0" y="43339"/>
                  </a:lnTo>
                  <a:cubicBezTo>
                    <a:pt x="0" y="49054"/>
                    <a:pt x="4572" y="53626"/>
                    <a:pt x="10287" y="53626"/>
                  </a:cubicBezTo>
                  <a:lnTo>
                    <a:pt x="82391" y="53626"/>
                  </a:lnTo>
                  <a:cubicBezTo>
                    <a:pt x="88106" y="53626"/>
                    <a:pt x="92678" y="49054"/>
                    <a:pt x="92678" y="43339"/>
                  </a:cubicBezTo>
                  <a:lnTo>
                    <a:pt x="92678" y="0"/>
                  </a:lnTo>
                </a:path>
              </a:pathLst>
            </a:custGeom>
            <a:no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389" name="Group 388">
            <a:extLst>
              <a:ext uri="{FF2B5EF4-FFF2-40B4-BE49-F238E27FC236}">
                <a16:creationId xmlns:a16="http://schemas.microsoft.com/office/drawing/2014/main" id="{E586B4CD-7D2C-2FC8-0DDE-3D3BDB6E4EB4}"/>
              </a:ext>
            </a:extLst>
          </p:cNvPr>
          <p:cNvGrpSpPr/>
          <p:nvPr/>
        </p:nvGrpSpPr>
        <p:grpSpPr bwMode="gray">
          <a:xfrm>
            <a:off x="604733" y="2183219"/>
            <a:ext cx="341492" cy="325322"/>
            <a:chOff x="4753633" y="3632185"/>
            <a:chExt cx="552187" cy="525435"/>
          </a:xfrm>
          <a:noFill/>
        </p:grpSpPr>
        <p:sp>
          <p:nvSpPr>
            <p:cNvPr id="390" name="Freeform: Shape 389">
              <a:extLst>
                <a:ext uri="{FF2B5EF4-FFF2-40B4-BE49-F238E27FC236}">
                  <a16:creationId xmlns:a16="http://schemas.microsoft.com/office/drawing/2014/main" id="{9CF1DCF4-BE73-3158-3494-00E30B61BACC}"/>
                </a:ext>
              </a:extLst>
            </p:cNvPr>
            <p:cNvSpPr/>
            <p:nvPr/>
          </p:nvSpPr>
          <p:spPr bwMode="gray">
            <a:xfrm>
              <a:off x="4917194" y="3632185"/>
              <a:ext cx="237726" cy="237726"/>
            </a:xfrm>
            <a:custGeom>
              <a:avLst/>
              <a:gdLst>
                <a:gd name="connsiteX0" fmla="*/ 237726 w 237726"/>
                <a:gd name="connsiteY0" fmla="*/ 137857 h 237726"/>
                <a:gd name="connsiteX1" fmla="*/ 237726 w 237726"/>
                <a:gd name="connsiteY1" fmla="*/ 99870 h 237726"/>
                <a:gd name="connsiteX2" fmla="*/ 208308 w 237726"/>
                <a:gd name="connsiteY2" fmla="*/ 95776 h 237726"/>
                <a:gd name="connsiteX3" fmla="*/ 198407 w 237726"/>
                <a:gd name="connsiteY3" fmla="*/ 71880 h 237726"/>
                <a:gd name="connsiteX4" fmla="*/ 216305 w 237726"/>
                <a:gd name="connsiteY4" fmla="*/ 48269 h 237726"/>
                <a:gd name="connsiteX5" fmla="*/ 189458 w 237726"/>
                <a:gd name="connsiteY5" fmla="*/ 21421 h 237726"/>
                <a:gd name="connsiteX6" fmla="*/ 165847 w 237726"/>
                <a:gd name="connsiteY6" fmla="*/ 39320 h 237726"/>
                <a:gd name="connsiteX7" fmla="*/ 141950 w 237726"/>
                <a:gd name="connsiteY7" fmla="*/ 29418 h 237726"/>
                <a:gd name="connsiteX8" fmla="*/ 137857 w 237726"/>
                <a:gd name="connsiteY8" fmla="*/ 0 h 237726"/>
                <a:gd name="connsiteX9" fmla="*/ 99870 w 237726"/>
                <a:gd name="connsiteY9" fmla="*/ 0 h 237726"/>
                <a:gd name="connsiteX10" fmla="*/ 95776 w 237726"/>
                <a:gd name="connsiteY10" fmla="*/ 29418 h 237726"/>
                <a:gd name="connsiteX11" fmla="*/ 71880 w 237726"/>
                <a:gd name="connsiteY11" fmla="*/ 39320 h 237726"/>
                <a:gd name="connsiteX12" fmla="*/ 48269 w 237726"/>
                <a:gd name="connsiteY12" fmla="*/ 21421 h 237726"/>
                <a:gd name="connsiteX13" fmla="*/ 21421 w 237726"/>
                <a:gd name="connsiteY13" fmla="*/ 48269 h 237726"/>
                <a:gd name="connsiteX14" fmla="*/ 39320 w 237726"/>
                <a:gd name="connsiteY14" fmla="*/ 71880 h 237726"/>
                <a:gd name="connsiteX15" fmla="*/ 29418 w 237726"/>
                <a:gd name="connsiteY15" fmla="*/ 95776 h 237726"/>
                <a:gd name="connsiteX16" fmla="*/ 0 w 237726"/>
                <a:gd name="connsiteY16" fmla="*/ 99870 h 237726"/>
                <a:gd name="connsiteX17" fmla="*/ 0 w 237726"/>
                <a:gd name="connsiteY17" fmla="*/ 137857 h 237726"/>
                <a:gd name="connsiteX18" fmla="*/ 29418 w 237726"/>
                <a:gd name="connsiteY18" fmla="*/ 141950 h 237726"/>
                <a:gd name="connsiteX19" fmla="*/ 39320 w 237726"/>
                <a:gd name="connsiteY19" fmla="*/ 165847 h 237726"/>
                <a:gd name="connsiteX20" fmla="*/ 21421 w 237726"/>
                <a:gd name="connsiteY20" fmla="*/ 189458 h 237726"/>
                <a:gd name="connsiteX21" fmla="*/ 48269 w 237726"/>
                <a:gd name="connsiteY21" fmla="*/ 216305 h 237726"/>
                <a:gd name="connsiteX22" fmla="*/ 71880 w 237726"/>
                <a:gd name="connsiteY22" fmla="*/ 198407 h 237726"/>
                <a:gd name="connsiteX23" fmla="*/ 95776 w 237726"/>
                <a:gd name="connsiteY23" fmla="*/ 208308 h 237726"/>
                <a:gd name="connsiteX24" fmla="*/ 99870 w 237726"/>
                <a:gd name="connsiteY24" fmla="*/ 237726 h 237726"/>
                <a:gd name="connsiteX25" fmla="*/ 137857 w 237726"/>
                <a:gd name="connsiteY25" fmla="*/ 237726 h 237726"/>
                <a:gd name="connsiteX26" fmla="*/ 141950 w 237726"/>
                <a:gd name="connsiteY26" fmla="*/ 208308 h 237726"/>
                <a:gd name="connsiteX27" fmla="*/ 165847 w 237726"/>
                <a:gd name="connsiteY27" fmla="*/ 198407 h 237726"/>
                <a:gd name="connsiteX28" fmla="*/ 189458 w 237726"/>
                <a:gd name="connsiteY28" fmla="*/ 216305 h 237726"/>
                <a:gd name="connsiteX29" fmla="*/ 216305 w 237726"/>
                <a:gd name="connsiteY29" fmla="*/ 189458 h 237726"/>
                <a:gd name="connsiteX30" fmla="*/ 198407 w 237726"/>
                <a:gd name="connsiteY30" fmla="*/ 165847 h 237726"/>
                <a:gd name="connsiteX31" fmla="*/ 208308 w 237726"/>
                <a:gd name="connsiteY31" fmla="*/ 141950 h 237726"/>
                <a:gd name="connsiteX32" fmla="*/ 237726 w 237726"/>
                <a:gd name="connsiteY32" fmla="*/ 137857 h 237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37726" h="237726">
                  <a:moveTo>
                    <a:pt x="237726" y="137857"/>
                  </a:moveTo>
                  <a:lnTo>
                    <a:pt x="237726" y="99870"/>
                  </a:lnTo>
                  <a:lnTo>
                    <a:pt x="208308" y="95776"/>
                  </a:lnTo>
                  <a:cubicBezTo>
                    <a:pt x="206118" y="87303"/>
                    <a:pt x="202786" y="79210"/>
                    <a:pt x="198407" y="71880"/>
                  </a:cubicBezTo>
                  <a:lnTo>
                    <a:pt x="216305" y="48269"/>
                  </a:lnTo>
                  <a:lnTo>
                    <a:pt x="189458" y="21421"/>
                  </a:lnTo>
                  <a:lnTo>
                    <a:pt x="165847" y="39320"/>
                  </a:lnTo>
                  <a:cubicBezTo>
                    <a:pt x="158421" y="34940"/>
                    <a:pt x="150424" y="31608"/>
                    <a:pt x="141950" y="29418"/>
                  </a:cubicBezTo>
                  <a:lnTo>
                    <a:pt x="137857" y="0"/>
                  </a:lnTo>
                  <a:lnTo>
                    <a:pt x="99870" y="0"/>
                  </a:lnTo>
                  <a:lnTo>
                    <a:pt x="95776" y="29418"/>
                  </a:lnTo>
                  <a:cubicBezTo>
                    <a:pt x="87303" y="31608"/>
                    <a:pt x="79210" y="34940"/>
                    <a:pt x="71880" y="39320"/>
                  </a:cubicBezTo>
                  <a:lnTo>
                    <a:pt x="48269" y="21421"/>
                  </a:lnTo>
                  <a:lnTo>
                    <a:pt x="21421" y="48269"/>
                  </a:lnTo>
                  <a:lnTo>
                    <a:pt x="39320" y="71880"/>
                  </a:lnTo>
                  <a:cubicBezTo>
                    <a:pt x="34940" y="79306"/>
                    <a:pt x="31608" y="87303"/>
                    <a:pt x="29418" y="95776"/>
                  </a:cubicBezTo>
                  <a:lnTo>
                    <a:pt x="0" y="99870"/>
                  </a:lnTo>
                  <a:lnTo>
                    <a:pt x="0" y="137857"/>
                  </a:lnTo>
                  <a:lnTo>
                    <a:pt x="29418" y="141950"/>
                  </a:lnTo>
                  <a:cubicBezTo>
                    <a:pt x="31608" y="150424"/>
                    <a:pt x="34940" y="158516"/>
                    <a:pt x="39320" y="165847"/>
                  </a:cubicBezTo>
                  <a:lnTo>
                    <a:pt x="21421" y="189458"/>
                  </a:lnTo>
                  <a:lnTo>
                    <a:pt x="48269" y="216305"/>
                  </a:lnTo>
                  <a:lnTo>
                    <a:pt x="71880" y="198407"/>
                  </a:lnTo>
                  <a:cubicBezTo>
                    <a:pt x="79306" y="202786"/>
                    <a:pt x="87303" y="206118"/>
                    <a:pt x="95776" y="208308"/>
                  </a:cubicBezTo>
                  <a:lnTo>
                    <a:pt x="99870" y="237726"/>
                  </a:lnTo>
                  <a:lnTo>
                    <a:pt x="137857" y="237726"/>
                  </a:lnTo>
                  <a:lnTo>
                    <a:pt x="141950" y="208308"/>
                  </a:lnTo>
                  <a:cubicBezTo>
                    <a:pt x="150424" y="206118"/>
                    <a:pt x="158516" y="202786"/>
                    <a:pt x="165847" y="198407"/>
                  </a:cubicBezTo>
                  <a:lnTo>
                    <a:pt x="189458" y="216305"/>
                  </a:lnTo>
                  <a:lnTo>
                    <a:pt x="216305" y="189458"/>
                  </a:lnTo>
                  <a:lnTo>
                    <a:pt x="198407" y="165847"/>
                  </a:lnTo>
                  <a:cubicBezTo>
                    <a:pt x="202786" y="158421"/>
                    <a:pt x="206118" y="150424"/>
                    <a:pt x="208308" y="141950"/>
                  </a:cubicBezTo>
                  <a:lnTo>
                    <a:pt x="237726" y="137857"/>
                  </a:ln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91" name="Freeform: Shape 390">
              <a:extLst>
                <a:ext uri="{FF2B5EF4-FFF2-40B4-BE49-F238E27FC236}">
                  <a16:creationId xmlns:a16="http://schemas.microsoft.com/office/drawing/2014/main" id="{C6B45185-82D3-48B1-1ACE-A5255334D80E}"/>
                </a:ext>
              </a:extLst>
            </p:cNvPr>
            <p:cNvSpPr/>
            <p:nvPr/>
          </p:nvSpPr>
          <p:spPr bwMode="gray">
            <a:xfrm>
              <a:off x="4988408" y="3703398"/>
              <a:ext cx="95395" cy="95395"/>
            </a:xfrm>
            <a:custGeom>
              <a:avLst/>
              <a:gdLst>
                <a:gd name="connsiteX0" fmla="*/ 95395 w 95395"/>
                <a:gd name="connsiteY0" fmla="*/ 47698 h 95395"/>
                <a:gd name="connsiteX1" fmla="*/ 47697 w 95395"/>
                <a:gd name="connsiteY1" fmla="*/ 95395 h 95395"/>
                <a:gd name="connsiteX2" fmla="*/ 0 w 95395"/>
                <a:gd name="connsiteY2" fmla="*/ 47698 h 95395"/>
                <a:gd name="connsiteX3" fmla="*/ 47697 w 95395"/>
                <a:gd name="connsiteY3" fmla="*/ 0 h 95395"/>
                <a:gd name="connsiteX4" fmla="*/ 95395 w 95395"/>
                <a:gd name="connsiteY4" fmla="*/ 47698 h 953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395" h="95395">
                  <a:moveTo>
                    <a:pt x="95395" y="47698"/>
                  </a:moveTo>
                  <a:cubicBezTo>
                    <a:pt x="95395" y="74040"/>
                    <a:pt x="74040" y="95395"/>
                    <a:pt x="47697" y="95395"/>
                  </a:cubicBezTo>
                  <a:cubicBezTo>
                    <a:pt x="21355" y="95395"/>
                    <a:pt x="0" y="74040"/>
                    <a:pt x="0" y="47698"/>
                  </a:cubicBezTo>
                  <a:cubicBezTo>
                    <a:pt x="0" y="21355"/>
                    <a:pt x="21355" y="0"/>
                    <a:pt x="47697" y="0"/>
                  </a:cubicBezTo>
                  <a:cubicBezTo>
                    <a:pt x="74040" y="0"/>
                    <a:pt x="95395" y="21355"/>
                    <a:pt x="95395" y="47698"/>
                  </a:cubicBez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92" name="Freeform: Shape 391">
              <a:extLst>
                <a:ext uri="{FF2B5EF4-FFF2-40B4-BE49-F238E27FC236}">
                  <a16:creationId xmlns:a16="http://schemas.microsoft.com/office/drawing/2014/main" id="{653CAB97-13E2-FBB9-3B15-337B1D3F142E}"/>
                </a:ext>
              </a:extLst>
            </p:cNvPr>
            <p:cNvSpPr/>
            <p:nvPr/>
          </p:nvSpPr>
          <p:spPr bwMode="gray">
            <a:xfrm>
              <a:off x="4753633" y="3859629"/>
              <a:ext cx="297990" cy="297991"/>
            </a:xfrm>
            <a:custGeom>
              <a:avLst/>
              <a:gdLst>
                <a:gd name="connsiteX0" fmla="*/ 297991 w 297990"/>
                <a:gd name="connsiteY0" fmla="*/ 172797 h 297991"/>
                <a:gd name="connsiteX1" fmla="*/ 297991 w 297990"/>
                <a:gd name="connsiteY1" fmla="*/ 125194 h 297991"/>
                <a:gd name="connsiteX2" fmla="*/ 261147 w 297990"/>
                <a:gd name="connsiteY2" fmla="*/ 120053 h 297991"/>
                <a:gd name="connsiteX3" fmla="*/ 248770 w 297990"/>
                <a:gd name="connsiteY3" fmla="*/ 90064 h 297991"/>
                <a:gd name="connsiteX4" fmla="*/ 271238 w 297990"/>
                <a:gd name="connsiteY4" fmla="*/ 60455 h 297991"/>
                <a:gd name="connsiteX5" fmla="*/ 237536 w 297990"/>
                <a:gd name="connsiteY5" fmla="*/ 26753 h 297991"/>
                <a:gd name="connsiteX6" fmla="*/ 207927 w 297990"/>
                <a:gd name="connsiteY6" fmla="*/ 49221 h 297991"/>
                <a:gd name="connsiteX7" fmla="*/ 177938 w 297990"/>
                <a:gd name="connsiteY7" fmla="*/ 36844 h 297991"/>
                <a:gd name="connsiteX8" fmla="*/ 172797 w 297990"/>
                <a:gd name="connsiteY8" fmla="*/ 0 h 297991"/>
                <a:gd name="connsiteX9" fmla="*/ 125194 w 297990"/>
                <a:gd name="connsiteY9" fmla="*/ 0 h 297991"/>
                <a:gd name="connsiteX10" fmla="*/ 120053 w 297990"/>
                <a:gd name="connsiteY10" fmla="*/ 36844 h 297991"/>
                <a:gd name="connsiteX11" fmla="*/ 90064 w 297990"/>
                <a:gd name="connsiteY11" fmla="*/ 49221 h 297991"/>
                <a:gd name="connsiteX12" fmla="*/ 60455 w 297990"/>
                <a:gd name="connsiteY12" fmla="*/ 26753 h 297991"/>
                <a:gd name="connsiteX13" fmla="*/ 26753 w 297990"/>
                <a:gd name="connsiteY13" fmla="*/ 60455 h 297991"/>
                <a:gd name="connsiteX14" fmla="*/ 49221 w 297990"/>
                <a:gd name="connsiteY14" fmla="*/ 90064 h 297991"/>
                <a:gd name="connsiteX15" fmla="*/ 36844 w 297990"/>
                <a:gd name="connsiteY15" fmla="*/ 120053 h 297991"/>
                <a:gd name="connsiteX16" fmla="*/ 0 w 297990"/>
                <a:gd name="connsiteY16" fmla="*/ 125194 h 297991"/>
                <a:gd name="connsiteX17" fmla="*/ 0 w 297990"/>
                <a:gd name="connsiteY17" fmla="*/ 172797 h 297991"/>
                <a:gd name="connsiteX18" fmla="*/ 36844 w 297990"/>
                <a:gd name="connsiteY18" fmla="*/ 177938 h 297991"/>
                <a:gd name="connsiteX19" fmla="*/ 49221 w 297990"/>
                <a:gd name="connsiteY19" fmla="*/ 207927 h 297991"/>
                <a:gd name="connsiteX20" fmla="*/ 26753 w 297990"/>
                <a:gd name="connsiteY20" fmla="*/ 237536 h 297991"/>
                <a:gd name="connsiteX21" fmla="*/ 60455 w 297990"/>
                <a:gd name="connsiteY21" fmla="*/ 271239 h 297991"/>
                <a:gd name="connsiteX22" fmla="*/ 90064 w 297990"/>
                <a:gd name="connsiteY22" fmla="*/ 248770 h 297991"/>
                <a:gd name="connsiteX23" fmla="*/ 120053 w 297990"/>
                <a:gd name="connsiteY23" fmla="*/ 261147 h 297991"/>
                <a:gd name="connsiteX24" fmla="*/ 125194 w 297990"/>
                <a:gd name="connsiteY24" fmla="*/ 297991 h 297991"/>
                <a:gd name="connsiteX25" fmla="*/ 172797 w 297990"/>
                <a:gd name="connsiteY25" fmla="*/ 297991 h 297991"/>
                <a:gd name="connsiteX26" fmla="*/ 177938 w 297990"/>
                <a:gd name="connsiteY26" fmla="*/ 261147 h 297991"/>
                <a:gd name="connsiteX27" fmla="*/ 207927 w 297990"/>
                <a:gd name="connsiteY27" fmla="*/ 248770 h 297991"/>
                <a:gd name="connsiteX28" fmla="*/ 237536 w 297990"/>
                <a:gd name="connsiteY28" fmla="*/ 271239 h 297991"/>
                <a:gd name="connsiteX29" fmla="*/ 271238 w 297990"/>
                <a:gd name="connsiteY29" fmla="*/ 237536 h 297991"/>
                <a:gd name="connsiteX30" fmla="*/ 248770 w 297990"/>
                <a:gd name="connsiteY30" fmla="*/ 207927 h 297991"/>
                <a:gd name="connsiteX31" fmla="*/ 261147 w 297990"/>
                <a:gd name="connsiteY31" fmla="*/ 177938 h 297991"/>
                <a:gd name="connsiteX32" fmla="*/ 297991 w 297990"/>
                <a:gd name="connsiteY32" fmla="*/ 172797 h 29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97990" h="297991">
                  <a:moveTo>
                    <a:pt x="297991" y="172797"/>
                  </a:moveTo>
                  <a:lnTo>
                    <a:pt x="297991" y="125194"/>
                  </a:lnTo>
                  <a:lnTo>
                    <a:pt x="261147" y="120053"/>
                  </a:lnTo>
                  <a:cubicBezTo>
                    <a:pt x="258386" y="109390"/>
                    <a:pt x="254197" y="99299"/>
                    <a:pt x="248770" y="90064"/>
                  </a:cubicBezTo>
                  <a:lnTo>
                    <a:pt x="271238" y="60455"/>
                  </a:lnTo>
                  <a:lnTo>
                    <a:pt x="237536" y="26753"/>
                  </a:lnTo>
                  <a:lnTo>
                    <a:pt x="207927" y="49221"/>
                  </a:lnTo>
                  <a:cubicBezTo>
                    <a:pt x="198692" y="43794"/>
                    <a:pt x="188601" y="39510"/>
                    <a:pt x="177938" y="36844"/>
                  </a:cubicBezTo>
                  <a:lnTo>
                    <a:pt x="172797" y="0"/>
                  </a:lnTo>
                  <a:lnTo>
                    <a:pt x="125194" y="0"/>
                  </a:lnTo>
                  <a:lnTo>
                    <a:pt x="120053" y="36844"/>
                  </a:lnTo>
                  <a:cubicBezTo>
                    <a:pt x="109390" y="39605"/>
                    <a:pt x="99299" y="43794"/>
                    <a:pt x="90064" y="49221"/>
                  </a:cubicBezTo>
                  <a:lnTo>
                    <a:pt x="60455" y="26753"/>
                  </a:lnTo>
                  <a:lnTo>
                    <a:pt x="26753" y="60455"/>
                  </a:lnTo>
                  <a:lnTo>
                    <a:pt x="49221" y="90064"/>
                  </a:lnTo>
                  <a:cubicBezTo>
                    <a:pt x="43699" y="99299"/>
                    <a:pt x="39510" y="109390"/>
                    <a:pt x="36844" y="120053"/>
                  </a:cubicBezTo>
                  <a:lnTo>
                    <a:pt x="0" y="125194"/>
                  </a:lnTo>
                  <a:lnTo>
                    <a:pt x="0" y="172797"/>
                  </a:lnTo>
                  <a:lnTo>
                    <a:pt x="36844" y="177938"/>
                  </a:lnTo>
                  <a:cubicBezTo>
                    <a:pt x="39605" y="188601"/>
                    <a:pt x="43794" y="198692"/>
                    <a:pt x="49221" y="207927"/>
                  </a:cubicBezTo>
                  <a:lnTo>
                    <a:pt x="26753" y="237536"/>
                  </a:lnTo>
                  <a:lnTo>
                    <a:pt x="60455" y="271239"/>
                  </a:lnTo>
                  <a:lnTo>
                    <a:pt x="90064" y="248770"/>
                  </a:lnTo>
                  <a:cubicBezTo>
                    <a:pt x="99299" y="254292"/>
                    <a:pt x="109390" y="258481"/>
                    <a:pt x="120053" y="261147"/>
                  </a:cubicBezTo>
                  <a:lnTo>
                    <a:pt x="125194" y="297991"/>
                  </a:lnTo>
                  <a:lnTo>
                    <a:pt x="172797" y="297991"/>
                  </a:lnTo>
                  <a:lnTo>
                    <a:pt x="177938" y="261147"/>
                  </a:lnTo>
                  <a:cubicBezTo>
                    <a:pt x="188601" y="258386"/>
                    <a:pt x="198692" y="254197"/>
                    <a:pt x="207927" y="248770"/>
                  </a:cubicBezTo>
                  <a:lnTo>
                    <a:pt x="237536" y="271239"/>
                  </a:lnTo>
                  <a:lnTo>
                    <a:pt x="271238" y="237536"/>
                  </a:lnTo>
                  <a:lnTo>
                    <a:pt x="248770" y="207927"/>
                  </a:lnTo>
                  <a:cubicBezTo>
                    <a:pt x="254292" y="198692"/>
                    <a:pt x="258481" y="188601"/>
                    <a:pt x="261147" y="177938"/>
                  </a:cubicBezTo>
                  <a:lnTo>
                    <a:pt x="297991" y="172797"/>
                  </a:ln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93" name="Freeform: Shape 392">
              <a:extLst>
                <a:ext uri="{FF2B5EF4-FFF2-40B4-BE49-F238E27FC236}">
                  <a16:creationId xmlns:a16="http://schemas.microsoft.com/office/drawing/2014/main" id="{3D3799E4-A935-3159-CA68-32137286CDF7}"/>
                </a:ext>
              </a:extLst>
            </p:cNvPr>
            <p:cNvSpPr/>
            <p:nvPr/>
          </p:nvSpPr>
          <p:spPr bwMode="gray">
            <a:xfrm>
              <a:off x="4842839" y="3948836"/>
              <a:ext cx="119577" cy="119577"/>
            </a:xfrm>
            <a:custGeom>
              <a:avLst/>
              <a:gdLst>
                <a:gd name="connsiteX0" fmla="*/ 119577 w 119577"/>
                <a:gd name="connsiteY0" fmla="*/ 59789 h 119577"/>
                <a:gd name="connsiteX1" fmla="*/ 59789 w 119577"/>
                <a:gd name="connsiteY1" fmla="*/ 119577 h 119577"/>
                <a:gd name="connsiteX2" fmla="*/ 0 w 119577"/>
                <a:gd name="connsiteY2" fmla="*/ 59789 h 119577"/>
                <a:gd name="connsiteX3" fmla="*/ 59789 w 119577"/>
                <a:gd name="connsiteY3" fmla="*/ 0 h 119577"/>
                <a:gd name="connsiteX4" fmla="*/ 119577 w 119577"/>
                <a:gd name="connsiteY4" fmla="*/ 59789 h 119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77" h="119577">
                  <a:moveTo>
                    <a:pt x="119577" y="59789"/>
                  </a:moveTo>
                  <a:cubicBezTo>
                    <a:pt x="119577" y="92825"/>
                    <a:pt x="92825" y="119577"/>
                    <a:pt x="59789" y="119577"/>
                  </a:cubicBezTo>
                  <a:cubicBezTo>
                    <a:pt x="26753" y="119577"/>
                    <a:pt x="0" y="92825"/>
                    <a:pt x="0" y="59789"/>
                  </a:cubicBezTo>
                  <a:cubicBezTo>
                    <a:pt x="0" y="26753"/>
                    <a:pt x="26753" y="0"/>
                    <a:pt x="59789" y="0"/>
                  </a:cubicBezTo>
                  <a:cubicBezTo>
                    <a:pt x="92825" y="0"/>
                    <a:pt x="119577" y="26753"/>
                    <a:pt x="119577" y="59789"/>
                  </a:cubicBez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94" name="Freeform: Shape 393">
              <a:extLst>
                <a:ext uri="{FF2B5EF4-FFF2-40B4-BE49-F238E27FC236}">
                  <a16:creationId xmlns:a16="http://schemas.microsoft.com/office/drawing/2014/main" id="{9A0E7011-49BF-AA94-1B13-8EC48E668B43}"/>
                </a:ext>
              </a:extLst>
            </p:cNvPr>
            <p:cNvSpPr/>
            <p:nvPr/>
          </p:nvSpPr>
          <p:spPr bwMode="gray">
            <a:xfrm>
              <a:off x="5073140" y="3846491"/>
              <a:ext cx="232680" cy="232680"/>
            </a:xfrm>
            <a:custGeom>
              <a:avLst/>
              <a:gdLst>
                <a:gd name="connsiteX0" fmla="*/ 232681 w 232680"/>
                <a:gd name="connsiteY0" fmla="*/ 134905 h 232680"/>
                <a:gd name="connsiteX1" fmla="*/ 232681 w 232680"/>
                <a:gd name="connsiteY1" fmla="*/ 97775 h 232680"/>
                <a:gd name="connsiteX2" fmla="*/ 203929 w 232680"/>
                <a:gd name="connsiteY2" fmla="*/ 93777 h 232680"/>
                <a:gd name="connsiteX3" fmla="*/ 194218 w 232680"/>
                <a:gd name="connsiteY3" fmla="*/ 70356 h 232680"/>
                <a:gd name="connsiteX4" fmla="*/ 211735 w 232680"/>
                <a:gd name="connsiteY4" fmla="*/ 47222 h 232680"/>
                <a:gd name="connsiteX5" fmla="*/ 185459 w 232680"/>
                <a:gd name="connsiteY5" fmla="*/ 20945 h 232680"/>
                <a:gd name="connsiteX6" fmla="*/ 162324 w 232680"/>
                <a:gd name="connsiteY6" fmla="*/ 38463 h 232680"/>
                <a:gd name="connsiteX7" fmla="*/ 138904 w 232680"/>
                <a:gd name="connsiteY7" fmla="*/ 28752 h 232680"/>
                <a:gd name="connsiteX8" fmla="*/ 134905 w 232680"/>
                <a:gd name="connsiteY8" fmla="*/ 0 h 232680"/>
                <a:gd name="connsiteX9" fmla="*/ 97775 w 232680"/>
                <a:gd name="connsiteY9" fmla="*/ 0 h 232680"/>
                <a:gd name="connsiteX10" fmla="*/ 93777 w 232680"/>
                <a:gd name="connsiteY10" fmla="*/ 28752 h 232680"/>
                <a:gd name="connsiteX11" fmla="*/ 70357 w 232680"/>
                <a:gd name="connsiteY11" fmla="*/ 38463 h 232680"/>
                <a:gd name="connsiteX12" fmla="*/ 47222 w 232680"/>
                <a:gd name="connsiteY12" fmla="*/ 20945 h 232680"/>
                <a:gd name="connsiteX13" fmla="*/ 20945 w 232680"/>
                <a:gd name="connsiteY13" fmla="*/ 47222 h 232680"/>
                <a:gd name="connsiteX14" fmla="*/ 38463 w 232680"/>
                <a:gd name="connsiteY14" fmla="*/ 70356 h 232680"/>
                <a:gd name="connsiteX15" fmla="*/ 28752 w 232680"/>
                <a:gd name="connsiteY15" fmla="*/ 93777 h 232680"/>
                <a:gd name="connsiteX16" fmla="*/ 0 w 232680"/>
                <a:gd name="connsiteY16" fmla="*/ 97775 h 232680"/>
                <a:gd name="connsiteX17" fmla="*/ 0 w 232680"/>
                <a:gd name="connsiteY17" fmla="*/ 134905 h 232680"/>
                <a:gd name="connsiteX18" fmla="*/ 28752 w 232680"/>
                <a:gd name="connsiteY18" fmla="*/ 138904 h 232680"/>
                <a:gd name="connsiteX19" fmla="*/ 38463 w 232680"/>
                <a:gd name="connsiteY19" fmla="*/ 162324 h 232680"/>
                <a:gd name="connsiteX20" fmla="*/ 20945 w 232680"/>
                <a:gd name="connsiteY20" fmla="*/ 185459 h 232680"/>
                <a:gd name="connsiteX21" fmla="*/ 47222 w 232680"/>
                <a:gd name="connsiteY21" fmla="*/ 211736 h 232680"/>
                <a:gd name="connsiteX22" fmla="*/ 70357 w 232680"/>
                <a:gd name="connsiteY22" fmla="*/ 194218 h 232680"/>
                <a:gd name="connsiteX23" fmla="*/ 93777 w 232680"/>
                <a:gd name="connsiteY23" fmla="*/ 203929 h 232680"/>
                <a:gd name="connsiteX24" fmla="*/ 97775 w 232680"/>
                <a:gd name="connsiteY24" fmla="*/ 232681 h 232680"/>
                <a:gd name="connsiteX25" fmla="*/ 134905 w 232680"/>
                <a:gd name="connsiteY25" fmla="*/ 232681 h 232680"/>
                <a:gd name="connsiteX26" fmla="*/ 138904 w 232680"/>
                <a:gd name="connsiteY26" fmla="*/ 203929 h 232680"/>
                <a:gd name="connsiteX27" fmla="*/ 162324 w 232680"/>
                <a:gd name="connsiteY27" fmla="*/ 194218 h 232680"/>
                <a:gd name="connsiteX28" fmla="*/ 185459 w 232680"/>
                <a:gd name="connsiteY28" fmla="*/ 211736 h 232680"/>
                <a:gd name="connsiteX29" fmla="*/ 211735 w 232680"/>
                <a:gd name="connsiteY29" fmla="*/ 185459 h 232680"/>
                <a:gd name="connsiteX30" fmla="*/ 194218 w 232680"/>
                <a:gd name="connsiteY30" fmla="*/ 162324 h 232680"/>
                <a:gd name="connsiteX31" fmla="*/ 203929 w 232680"/>
                <a:gd name="connsiteY31" fmla="*/ 138904 h 232680"/>
                <a:gd name="connsiteX32" fmla="*/ 232681 w 232680"/>
                <a:gd name="connsiteY32" fmla="*/ 134905 h 232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32680" h="232680">
                  <a:moveTo>
                    <a:pt x="232681" y="134905"/>
                  </a:moveTo>
                  <a:lnTo>
                    <a:pt x="232681" y="97775"/>
                  </a:lnTo>
                  <a:lnTo>
                    <a:pt x="203929" y="93777"/>
                  </a:lnTo>
                  <a:cubicBezTo>
                    <a:pt x="201739" y="85399"/>
                    <a:pt x="198502" y="77592"/>
                    <a:pt x="194218" y="70356"/>
                  </a:cubicBezTo>
                  <a:lnTo>
                    <a:pt x="211735" y="47222"/>
                  </a:lnTo>
                  <a:lnTo>
                    <a:pt x="185459" y="20945"/>
                  </a:lnTo>
                  <a:lnTo>
                    <a:pt x="162324" y="38463"/>
                  </a:lnTo>
                  <a:cubicBezTo>
                    <a:pt x="155089" y="34179"/>
                    <a:pt x="147282" y="30942"/>
                    <a:pt x="138904" y="28752"/>
                  </a:cubicBezTo>
                  <a:lnTo>
                    <a:pt x="134905" y="0"/>
                  </a:lnTo>
                  <a:lnTo>
                    <a:pt x="97775" y="0"/>
                  </a:lnTo>
                  <a:lnTo>
                    <a:pt x="93777" y="28752"/>
                  </a:lnTo>
                  <a:cubicBezTo>
                    <a:pt x="85399" y="30942"/>
                    <a:pt x="77592" y="34179"/>
                    <a:pt x="70357" y="38463"/>
                  </a:cubicBezTo>
                  <a:lnTo>
                    <a:pt x="47222" y="20945"/>
                  </a:lnTo>
                  <a:lnTo>
                    <a:pt x="20945" y="47222"/>
                  </a:lnTo>
                  <a:lnTo>
                    <a:pt x="38463" y="70356"/>
                  </a:lnTo>
                  <a:cubicBezTo>
                    <a:pt x="34179" y="77592"/>
                    <a:pt x="30942" y="85399"/>
                    <a:pt x="28752" y="93777"/>
                  </a:cubicBezTo>
                  <a:lnTo>
                    <a:pt x="0" y="97775"/>
                  </a:lnTo>
                  <a:lnTo>
                    <a:pt x="0" y="134905"/>
                  </a:lnTo>
                  <a:lnTo>
                    <a:pt x="28752" y="138904"/>
                  </a:lnTo>
                  <a:cubicBezTo>
                    <a:pt x="30942" y="147282"/>
                    <a:pt x="34179" y="155089"/>
                    <a:pt x="38463" y="162324"/>
                  </a:cubicBezTo>
                  <a:lnTo>
                    <a:pt x="20945" y="185459"/>
                  </a:lnTo>
                  <a:lnTo>
                    <a:pt x="47222" y="211736"/>
                  </a:lnTo>
                  <a:lnTo>
                    <a:pt x="70357" y="194218"/>
                  </a:lnTo>
                  <a:cubicBezTo>
                    <a:pt x="77592" y="198502"/>
                    <a:pt x="85399" y="201739"/>
                    <a:pt x="93777" y="203929"/>
                  </a:cubicBezTo>
                  <a:lnTo>
                    <a:pt x="97775" y="232681"/>
                  </a:lnTo>
                  <a:lnTo>
                    <a:pt x="134905" y="232681"/>
                  </a:lnTo>
                  <a:lnTo>
                    <a:pt x="138904" y="203929"/>
                  </a:lnTo>
                  <a:cubicBezTo>
                    <a:pt x="147282" y="201739"/>
                    <a:pt x="155089" y="198502"/>
                    <a:pt x="162324" y="194218"/>
                  </a:cubicBezTo>
                  <a:lnTo>
                    <a:pt x="185459" y="211736"/>
                  </a:lnTo>
                  <a:lnTo>
                    <a:pt x="211735" y="185459"/>
                  </a:lnTo>
                  <a:lnTo>
                    <a:pt x="194218" y="162324"/>
                  </a:lnTo>
                  <a:cubicBezTo>
                    <a:pt x="198502" y="155089"/>
                    <a:pt x="201739" y="147282"/>
                    <a:pt x="203929" y="138904"/>
                  </a:cubicBezTo>
                  <a:lnTo>
                    <a:pt x="232681" y="134905"/>
                  </a:ln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95" name="Freeform: Shape 394">
              <a:extLst>
                <a:ext uri="{FF2B5EF4-FFF2-40B4-BE49-F238E27FC236}">
                  <a16:creationId xmlns:a16="http://schemas.microsoft.com/office/drawing/2014/main" id="{4B54FC7A-A118-E19B-103F-926F494CAE62}"/>
                </a:ext>
              </a:extLst>
            </p:cNvPr>
            <p:cNvSpPr/>
            <p:nvPr/>
          </p:nvSpPr>
          <p:spPr bwMode="gray">
            <a:xfrm>
              <a:off x="5142830" y="3916086"/>
              <a:ext cx="93300" cy="93300"/>
            </a:xfrm>
            <a:custGeom>
              <a:avLst/>
              <a:gdLst>
                <a:gd name="connsiteX0" fmla="*/ 93301 w 93300"/>
                <a:gd name="connsiteY0" fmla="*/ 46650 h 93300"/>
                <a:gd name="connsiteX1" fmla="*/ 46650 w 93300"/>
                <a:gd name="connsiteY1" fmla="*/ 93301 h 93300"/>
                <a:gd name="connsiteX2" fmla="*/ 0 w 93300"/>
                <a:gd name="connsiteY2" fmla="*/ 46650 h 93300"/>
                <a:gd name="connsiteX3" fmla="*/ 46650 w 93300"/>
                <a:gd name="connsiteY3" fmla="*/ 0 h 93300"/>
                <a:gd name="connsiteX4" fmla="*/ 93301 w 93300"/>
                <a:gd name="connsiteY4" fmla="*/ 46650 h 93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300" h="93300">
                  <a:moveTo>
                    <a:pt x="93301" y="46650"/>
                  </a:moveTo>
                  <a:cubicBezTo>
                    <a:pt x="93301" y="72451"/>
                    <a:pt x="72356" y="93301"/>
                    <a:pt x="46650" y="93301"/>
                  </a:cubicBezTo>
                  <a:cubicBezTo>
                    <a:pt x="20945" y="93301"/>
                    <a:pt x="0" y="72356"/>
                    <a:pt x="0" y="46650"/>
                  </a:cubicBezTo>
                  <a:cubicBezTo>
                    <a:pt x="0" y="20945"/>
                    <a:pt x="20945" y="0"/>
                    <a:pt x="46650" y="0"/>
                  </a:cubicBezTo>
                  <a:cubicBezTo>
                    <a:pt x="72356" y="0"/>
                    <a:pt x="93301" y="20945"/>
                    <a:pt x="93301" y="46650"/>
                  </a:cubicBez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grpSp>
      <p:grpSp>
        <p:nvGrpSpPr>
          <p:cNvPr id="407" name="Graphic 2">
            <a:extLst>
              <a:ext uri="{FF2B5EF4-FFF2-40B4-BE49-F238E27FC236}">
                <a16:creationId xmlns:a16="http://schemas.microsoft.com/office/drawing/2014/main" id="{82273D45-921D-6FA7-ED58-88DB4EDF62BE}"/>
              </a:ext>
            </a:extLst>
          </p:cNvPr>
          <p:cNvGrpSpPr/>
          <p:nvPr/>
        </p:nvGrpSpPr>
        <p:grpSpPr bwMode="gray">
          <a:xfrm>
            <a:off x="621885" y="1624212"/>
            <a:ext cx="242766" cy="313456"/>
            <a:chOff x="9409" y="4217481"/>
            <a:chExt cx="552503" cy="715405"/>
          </a:xfrm>
          <a:noFill/>
        </p:grpSpPr>
        <p:sp>
          <p:nvSpPr>
            <p:cNvPr id="408" name="Freeform: Shape 407">
              <a:extLst>
                <a:ext uri="{FF2B5EF4-FFF2-40B4-BE49-F238E27FC236}">
                  <a16:creationId xmlns:a16="http://schemas.microsoft.com/office/drawing/2014/main" id="{3BBBE3E2-CC6B-BA99-4B40-5626B85C03D0}"/>
                </a:ext>
              </a:extLst>
            </p:cNvPr>
            <p:cNvSpPr/>
            <p:nvPr/>
          </p:nvSpPr>
          <p:spPr bwMode="gray">
            <a:xfrm>
              <a:off x="184915" y="4396181"/>
              <a:ext cx="202613" cy="162125"/>
            </a:xfrm>
            <a:custGeom>
              <a:avLst/>
              <a:gdLst>
                <a:gd name="connsiteX0" fmla="*/ 202613 w 202613"/>
                <a:gd name="connsiteY0" fmla="*/ 36776 h 162125"/>
                <a:gd name="connsiteX1" fmla="*/ 165837 w 202613"/>
                <a:gd name="connsiteY1" fmla="*/ 0 h 162125"/>
                <a:gd name="connsiteX2" fmla="*/ 76919 w 202613"/>
                <a:gd name="connsiteY2" fmla="*/ 88918 h 162125"/>
                <a:gd name="connsiteX3" fmla="*/ 36690 w 202613"/>
                <a:gd name="connsiteY3" fmla="*/ 48689 h 162125"/>
                <a:gd name="connsiteX4" fmla="*/ 0 w 202613"/>
                <a:gd name="connsiteY4" fmla="*/ 85465 h 162125"/>
                <a:gd name="connsiteX5" fmla="*/ 69667 w 202613"/>
                <a:gd name="connsiteY5" fmla="*/ 155133 h 162125"/>
                <a:gd name="connsiteX6" fmla="*/ 69926 w 202613"/>
                <a:gd name="connsiteY6" fmla="*/ 154960 h 162125"/>
                <a:gd name="connsiteX7" fmla="*/ 77178 w 202613"/>
                <a:gd name="connsiteY7" fmla="*/ 162125 h 162125"/>
                <a:gd name="connsiteX8" fmla="*/ 202613 w 202613"/>
                <a:gd name="connsiteY8" fmla="*/ 36776 h 16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2613" h="162125">
                  <a:moveTo>
                    <a:pt x="202613" y="36776"/>
                  </a:moveTo>
                  <a:lnTo>
                    <a:pt x="165837" y="0"/>
                  </a:lnTo>
                  <a:lnTo>
                    <a:pt x="76919" y="88918"/>
                  </a:lnTo>
                  <a:lnTo>
                    <a:pt x="36690" y="48689"/>
                  </a:lnTo>
                  <a:lnTo>
                    <a:pt x="0" y="85465"/>
                  </a:lnTo>
                  <a:lnTo>
                    <a:pt x="69667" y="155133"/>
                  </a:lnTo>
                  <a:lnTo>
                    <a:pt x="69926" y="154960"/>
                  </a:lnTo>
                  <a:lnTo>
                    <a:pt x="77178" y="162125"/>
                  </a:lnTo>
                  <a:lnTo>
                    <a:pt x="202613" y="36776"/>
                  </a:ln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grpSp>
          <p:nvGrpSpPr>
            <p:cNvPr id="409" name="Graphic 2">
              <a:extLst>
                <a:ext uri="{FF2B5EF4-FFF2-40B4-BE49-F238E27FC236}">
                  <a16:creationId xmlns:a16="http://schemas.microsoft.com/office/drawing/2014/main" id="{4D7D7885-ABAD-BCE0-7A01-9F96E43C1B96}"/>
                </a:ext>
              </a:extLst>
            </p:cNvPr>
            <p:cNvGrpSpPr/>
            <p:nvPr/>
          </p:nvGrpSpPr>
          <p:grpSpPr bwMode="gray">
            <a:xfrm>
              <a:off x="9409" y="4217481"/>
              <a:ext cx="552503" cy="715405"/>
              <a:chOff x="9409" y="4217481"/>
              <a:chExt cx="552503" cy="715405"/>
            </a:xfrm>
            <a:grpFill/>
          </p:grpSpPr>
          <p:grpSp>
            <p:nvGrpSpPr>
              <p:cNvPr id="410" name="Graphic 2">
                <a:extLst>
                  <a:ext uri="{FF2B5EF4-FFF2-40B4-BE49-F238E27FC236}">
                    <a16:creationId xmlns:a16="http://schemas.microsoft.com/office/drawing/2014/main" id="{AFAEE843-65E3-3F8F-F920-7AF3D7FB1BBF}"/>
                  </a:ext>
                </a:extLst>
              </p:cNvPr>
              <p:cNvGrpSpPr/>
              <p:nvPr/>
            </p:nvGrpSpPr>
            <p:grpSpPr bwMode="gray">
              <a:xfrm>
                <a:off x="9409" y="4217481"/>
                <a:ext cx="552503" cy="715405"/>
                <a:chOff x="9409" y="4217481"/>
                <a:chExt cx="552503" cy="715405"/>
              </a:xfrm>
              <a:grpFill/>
            </p:grpSpPr>
            <p:sp>
              <p:nvSpPr>
                <p:cNvPr id="415" name="Freeform: Shape 414">
                  <a:extLst>
                    <a:ext uri="{FF2B5EF4-FFF2-40B4-BE49-F238E27FC236}">
                      <a16:creationId xmlns:a16="http://schemas.microsoft.com/office/drawing/2014/main" id="{E06F36D7-46F6-8251-DF29-7A73E04D4294}"/>
                    </a:ext>
                  </a:extLst>
                </p:cNvPr>
                <p:cNvSpPr/>
                <p:nvPr/>
              </p:nvSpPr>
              <p:spPr bwMode="gray">
                <a:xfrm>
                  <a:off x="9409" y="4217481"/>
                  <a:ext cx="552503" cy="715405"/>
                </a:xfrm>
                <a:custGeom>
                  <a:avLst/>
                  <a:gdLst>
                    <a:gd name="connsiteX0" fmla="*/ 520648 w 552503"/>
                    <a:gd name="connsiteY0" fmla="*/ 715405 h 715405"/>
                    <a:gd name="connsiteX1" fmla="*/ 31855 w 552503"/>
                    <a:gd name="connsiteY1" fmla="*/ 715405 h 715405"/>
                    <a:gd name="connsiteX2" fmla="*/ 0 w 552503"/>
                    <a:gd name="connsiteY2" fmla="*/ 683550 h 715405"/>
                    <a:gd name="connsiteX3" fmla="*/ 0 w 552503"/>
                    <a:gd name="connsiteY3" fmla="*/ 31855 h 715405"/>
                    <a:gd name="connsiteX4" fmla="*/ 31855 w 552503"/>
                    <a:gd name="connsiteY4" fmla="*/ 0 h 715405"/>
                    <a:gd name="connsiteX5" fmla="*/ 435614 w 552503"/>
                    <a:gd name="connsiteY5" fmla="*/ 0 h 715405"/>
                    <a:gd name="connsiteX6" fmla="*/ 552503 w 552503"/>
                    <a:gd name="connsiteY6" fmla="*/ 127508 h 715405"/>
                    <a:gd name="connsiteX7" fmla="*/ 552503 w 552503"/>
                    <a:gd name="connsiteY7" fmla="*/ 683550 h 715405"/>
                    <a:gd name="connsiteX8" fmla="*/ 520648 w 552503"/>
                    <a:gd name="connsiteY8" fmla="*/ 715405 h 715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2503" h="715405">
                      <a:moveTo>
                        <a:pt x="520648" y="715405"/>
                      </a:moveTo>
                      <a:lnTo>
                        <a:pt x="31855" y="715405"/>
                      </a:lnTo>
                      <a:cubicBezTo>
                        <a:pt x="14331" y="715405"/>
                        <a:pt x="0" y="701075"/>
                        <a:pt x="0" y="683550"/>
                      </a:cubicBezTo>
                      <a:lnTo>
                        <a:pt x="0" y="31855"/>
                      </a:lnTo>
                      <a:cubicBezTo>
                        <a:pt x="0" y="14331"/>
                        <a:pt x="14331" y="0"/>
                        <a:pt x="31855" y="0"/>
                      </a:cubicBezTo>
                      <a:lnTo>
                        <a:pt x="435614" y="0"/>
                      </a:lnTo>
                      <a:lnTo>
                        <a:pt x="552503" y="127508"/>
                      </a:lnTo>
                      <a:lnTo>
                        <a:pt x="552503" y="683550"/>
                      </a:lnTo>
                      <a:cubicBezTo>
                        <a:pt x="552503" y="701075"/>
                        <a:pt x="538173" y="715405"/>
                        <a:pt x="520648" y="715405"/>
                      </a:cubicBez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416" name="Freeform: Shape 415">
                  <a:extLst>
                    <a:ext uri="{FF2B5EF4-FFF2-40B4-BE49-F238E27FC236}">
                      <a16:creationId xmlns:a16="http://schemas.microsoft.com/office/drawing/2014/main" id="{B172F9A8-9630-4C8A-711F-2EABE1F868C6}"/>
                    </a:ext>
                  </a:extLst>
                </p:cNvPr>
                <p:cNvSpPr/>
                <p:nvPr/>
              </p:nvSpPr>
              <p:spPr bwMode="gray">
                <a:xfrm>
                  <a:off x="422578" y="4273768"/>
                  <a:ext cx="127075" cy="81407"/>
                </a:xfrm>
                <a:custGeom>
                  <a:avLst/>
                  <a:gdLst>
                    <a:gd name="connsiteX0" fmla="*/ 0 w 127075"/>
                    <a:gd name="connsiteY0" fmla="*/ 0 h 81407"/>
                    <a:gd name="connsiteX1" fmla="*/ 0 w 127075"/>
                    <a:gd name="connsiteY1" fmla="*/ 49553 h 81407"/>
                    <a:gd name="connsiteX2" fmla="*/ 31855 w 127075"/>
                    <a:gd name="connsiteY2" fmla="*/ 81408 h 81407"/>
                    <a:gd name="connsiteX3" fmla="*/ 127076 w 127075"/>
                    <a:gd name="connsiteY3" fmla="*/ 81408 h 81407"/>
                  </a:gdLst>
                  <a:ahLst/>
                  <a:cxnLst>
                    <a:cxn ang="0">
                      <a:pos x="connsiteX0" y="connsiteY0"/>
                    </a:cxn>
                    <a:cxn ang="0">
                      <a:pos x="connsiteX1" y="connsiteY1"/>
                    </a:cxn>
                    <a:cxn ang="0">
                      <a:pos x="connsiteX2" y="connsiteY2"/>
                    </a:cxn>
                    <a:cxn ang="0">
                      <a:pos x="connsiteX3" y="connsiteY3"/>
                    </a:cxn>
                  </a:cxnLst>
                  <a:rect l="l" t="t" r="r" b="b"/>
                  <a:pathLst>
                    <a:path w="127075" h="81407">
                      <a:moveTo>
                        <a:pt x="0" y="0"/>
                      </a:moveTo>
                      <a:lnTo>
                        <a:pt x="0" y="49553"/>
                      </a:lnTo>
                      <a:cubicBezTo>
                        <a:pt x="0" y="67077"/>
                        <a:pt x="14331" y="81408"/>
                        <a:pt x="31855" y="81408"/>
                      </a:cubicBezTo>
                      <a:lnTo>
                        <a:pt x="127076" y="81408"/>
                      </a:lnTo>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grpSp>
          <p:grpSp>
            <p:nvGrpSpPr>
              <p:cNvPr id="411" name="Graphic 2">
                <a:extLst>
                  <a:ext uri="{FF2B5EF4-FFF2-40B4-BE49-F238E27FC236}">
                    <a16:creationId xmlns:a16="http://schemas.microsoft.com/office/drawing/2014/main" id="{8096FB03-46F6-9147-0CE4-86E9F42FCA3C}"/>
                  </a:ext>
                </a:extLst>
              </p:cNvPr>
              <p:cNvGrpSpPr/>
              <p:nvPr/>
            </p:nvGrpSpPr>
            <p:grpSpPr bwMode="gray">
              <a:xfrm>
                <a:off x="112917" y="4659915"/>
                <a:ext cx="345400" cy="143305"/>
                <a:chOff x="112917" y="4659915"/>
                <a:chExt cx="345400" cy="143305"/>
              </a:xfrm>
              <a:grpFill/>
            </p:grpSpPr>
            <p:sp>
              <p:nvSpPr>
                <p:cNvPr id="412" name="Freeform: Shape 411">
                  <a:extLst>
                    <a:ext uri="{FF2B5EF4-FFF2-40B4-BE49-F238E27FC236}">
                      <a16:creationId xmlns:a16="http://schemas.microsoft.com/office/drawing/2014/main" id="{1A2576E4-9DDB-3453-3A67-B62F2EB5B954}"/>
                    </a:ext>
                  </a:extLst>
                </p:cNvPr>
                <p:cNvSpPr/>
                <p:nvPr/>
              </p:nvSpPr>
              <p:spPr bwMode="gray">
                <a:xfrm>
                  <a:off x="112917" y="4659915"/>
                  <a:ext cx="345400" cy="8632"/>
                </a:xfrm>
                <a:custGeom>
                  <a:avLst/>
                  <a:gdLst>
                    <a:gd name="connsiteX0" fmla="*/ 0 w 345400"/>
                    <a:gd name="connsiteY0" fmla="*/ 0 h 8632"/>
                    <a:gd name="connsiteX1" fmla="*/ 345401 w 345400"/>
                    <a:gd name="connsiteY1" fmla="*/ 0 h 8632"/>
                  </a:gdLst>
                  <a:ahLst/>
                  <a:cxnLst>
                    <a:cxn ang="0">
                      <a:pos x="connsiteX0" y="connsiteY0"/>
                    </a:cxn>
                    <a:cxn ang="0">
                      <a:pos x="connsiteX1" y="connsiteY1"/>
                    </a:cxn>
                  </a:cxnLst>
                  <a:rect l="l" t="t" r="r" b="b"/>
                  <a:pathLst>
                    <a:path w="345400" h="8632">
                      <a:moveTo>
                        <a:pt x="0" y="0"/>
                      </a:moveTo>
                      <a:lnTo>
                        <a:pt x="345401" y="0"/>
                      </a:lnTo>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413" name="Freeform: Shape 412">
                  <a:extLst>
                    <a:ext uri="{FF2B5EF4-FFF2-40B4-BE49-F238E27FC236}">
                      <a16:creationId xmlns:a16="http://schemas.microsoft.com/office/drawing/2014/main" id="{EC8FAEC9-6F51-68A5-4A99-AF87859D8E09}"/>
                    </a:ext>
                  </a:extLst>
                </p:cNvPr>
                <p:cNvSpPr/>
                <p:nvPr/>
              </p:nvSpPr>
              <p:spPr bwMode="gray">
                <a:xfrm>
                  <a:off x="112917" y="4730705"/>
                  <a:ext cx="345400" cy="8632"/>
                </a:xfrm>
                <a:custGeom>
                  <a:avLst/>
                  <a:gdLst>
                    <a:gd name="connsiteX0" fmla="*/ 0 w 345400"/>
                    <a:gd name="connsiteY0" fmla="*/ 0 h 8632"/>
                    <a:gd name="connsiteX1" fmla="*/ 345401 w 345400"/>
                    <a:gd name="connsiteY1" fmla="*/ 0 h 8632"/>
                  </a:gdLst>
                  <a:ahLst/>
                  <a:cxnLst>
                    <a:cxn ang="0">
                      <a:pos x="connsiteX0" y="connsiteY0"/>
                    </a:cxn>
                    <a:cxn ang="0">
                      <a:pos x="connsiteX1" y="connsiteY1"/>
                    </a:cxn>
                  </a:cxnLst>
                  <a:rect l="l" t="t" r="r" b="b"/>
                  <a:pathLst>
                    <a:path w="345400" h="8632">
                      <a:moveTo>
                        <a:pt x="0" y="0"/>
                      </a:moveTo>
                      <a:lnTo>
                        <a:pt x="345401" y="0"/>
                      </a:lnTo>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414" name="Freeform: Shape 413">
                  <a:extLst>
                    <a:ext uri="{FF2B5EF4-FFF2-40B4-BE49-F238E27FC236}">
                      <a16:creationId xmlns:a16="http://schemas.microsoft.com/office/drawing/2014/main" id="{EA1BC2F4-DC2E-57D0-C0C5-8B0D6AFEC1F3}"/>
                    </a:ext>
                  </a:extLst>
                </p:cNvPr>
                <p:cNvSpPr/>
                <p:nvPr/>
              </p:nvSpPr>
              <p:spPr bwMode="gray">
                <a:xfrm>
                  <a:off x="112917" y="4803221"/>
                  <a:ext cx="345400" cy="8632"/>
                </a:xfrm>
                <a:custGeom>
                  <a:avLst/>
                  <a:gdLst>
                    <a:gd name="connsiteX0" fmla="*/ 0 w 345400"/>
                    <a:gd name="connsiteY0" fmla="*/ 0 h 8632"/>
                    <a:gd name="connsiteX1" fmla="*/ 345401 w 345400"/>
                    <a:gd name="connsiteY1" fmla="*/ 0 h 8632"/>
                  </a:gdLst>
                  <a:ahLst/>
                  <a:cxnLst>
                    <a:cxn ang="0">
                      <a:pos x="connsiteX0" y="connsiteY0"/>
                    </a:cxn>
                    <a:cxn ang="0">
                      <a:pos x="connsiteX1" y="connsiteY1"/>
                    </a:cxn>
                  </a:cxnLst>
                  <a:rect l="l" t="t" r="r" b="b"/>
                  <a:pathLst>
                    <a:path w="345400" h="8632">
                      <a:moveTo>
                        <a:pt x="0" y="0"/>
                      </a:moveTo>
                      <a:lnTo>
                        <a:pt x="345401" y="0"/>
                      </a:lnTo>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grpSp>
        </p:grpSp>
      </p:grpSp>
      <p:sp>
        <p:nvSpPr>
          <p:cNvPr id="15" name="Rectangle: Rounded Corners 14">
            <a:extLst>
              <a:ext uri="{FF2B5EF4-FFF2-40B4-BE49-F238E27FC236}">
                <a16:creationId xmlns:a16="http://schemas.microsoft.com/office/drawing/2014/main" id="{779A5E24-86E4-1C19-742E-3DFD86907A75}"/>
              </a:ext>
            </a:extLst>
          </p:cNvPr>
          <p:cNvSpPr/>
          <p:nvPr/>
        </p:nvSpPr>
        <p:spPr bwMode="gray">
          <a:xfrm>
            <a:off x="2396793" y="2965978"/>
            <a:ext cx="472911" cy="227910"/>
          </a:xfrm>
          <a:prstGeom prst="roundRect">
            <a:avLst/>
          </a:prstGeom>
          <a:solidFill>
            <a:schemeClr val="accent5"/>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b="1">
                <a:solidFill>
                  <a:schemeClr val="bg1"/>
                </a:solidFill>
              </a:rPr>
              <a:t>20%</a:t>
            </a:r>
          </a:p>
        </p:txBody>
      </p:sp>
      <p:sp>
        <p:nvSpPr>
          <p:cNvPr id="17" name="Rectangle: Rounded Corners 16">
            <a:extLst>
              <a:ext uri="{FF2B5EF4-FFF2-40B4-BE49-F238E27FC236}">
                <a16:creationId xmlns:a16="http://schemas.microsoft.com/office/drawing/2014/main" id="{92BF0B1E-FBFC-C305-A900-F8E43C56B59E}"/>
              </a:ext>
            </a:extLst>
          </p:cNvPr>
          <p:cNvSpPr/>
          <p:nvPr/>
        </p:nvSpPr>
        <p:spPr bwMode="gray">
          <a:xfrm>
            <a:off x="5811099" y="2949961"/>
            <a:ext cx="472911" cy="227910"/>
          </a:xfrm>
          <a:prstGeom prst="roundRect">
            <a:avLst/>
          </a:prstGeom>
          <a:solidFill>
            <a:schemeClr val="accent5"/>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b="1">
                <a:solidFill>
                  <a:schemeClr val="bg1"/>
                </a:solidFill>
              </a:rPr>
              <a:t>60%</a:t>
            </a:r>
          </a:p>
        </p:txBody>
      </p:sp>
      <p:sp>
        <p:nvSpPr>
          <p:cNvPr id="19" name="Rectangle: Rounded Corners 18">
            <a:extLst>
              <a:ext uri="{FF2B5EF4-FFF2-40B4-BE49-F238E27FC236}">
                <a16:creationId xmlns:a16="http://schemas.microsoft.com/office/drawing/2014/main" id="{B1B1AB4F-D9EA-45A1-C267-DE73EAB06EDB}"/>
              </a:ext>
            </a:extLst>
          </p:cNvPr>
          <p:cNvSpPr/>
          <p:nvPr/>
        </p:nvSpPr>
        <p:spPr bwMode="gray">
          <a:xfrm>
            <a:off x="7917132" y="2895923"/>
            <a:ext cx="472911" cy="227910"/>
          </a:xfrm>
          <a:prstGeom prst="roundRect">
            <a:avLst/>
          </a:prstGeom>
          <a:solidFill>
            <a:schemeClr val="accent5"/>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b="1">
                <a:solidFill>
                  <a:schemeClr val="bg1"/>
                </a:solidFill>
              </a:rPr>
              <a:t>57%</a:t>
            </a:r>
          </a:p>
        </p:txBody>
      </p:sp>
      <p:sp>
        <p:nvSpPr>
          <p:cNvPr id="24" name="Rectangle: Rounded Corners 23">
            <a:extLst>
              <a:ext uri="{FF2B5EF4-FFF2-40B4-BE49-F238E27FC236}">
                <a16:creationId xmlns:a16="http://schemas.microsoft.com/office/drawing/2014/main" id="{8549BA29-8237-EBB8-EDAD-CA3F994FF51A}"/>
              </a:ext>
            </a:extLst>
          </p:cNvPr>
          <p:cNvSpPr/>
          <p:nvPr/>
        </p:nvSpPr>
        <p:spPr bwMode="gray">
          <a:xfrm>
            <a:off x="9875292" y="2920803"/>
            <a:ext cx="472911" cy="227910"/>
          </a:xfrm>
          <a:prstGeom prst="roundRect">
            <a:avLst/>
          </a:prstGeom>
          <a:solidFill>
            <a:schemeClr val="accent5"/>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b="1">
                <a:solidFill>
                  <a:schemeClr val="bg1"/>
                </a:solidFill>
              </a:rPr>
              <a:t>70%</a:t>
            </a:r>
          </a:p>
        </p:txBody>
      </p:sp>
      <p:sp>
        <p:nvSpPr>
          <p:cNvPr id="74" name="Rectangle: Rounded Corners 73">
            <a:extLst>
              <a:ext uri="{FF2B5EF4-FFF2-40B4-BE49-F238E27FC236}">
                <a16:creationId xmlns:a16="http://schemas.microsoft.com/office/drawing/2014/main" id="{C24D52AF-428F-6B49-7665-298A7B1EB373}"/>
              </a:ext>
            </a:extLst>
          </p:cNvPr>
          <p:cNvSpPr/>
          <p:nvPr/>
        </p:nvSpPr>
        <p:spPr bwMode="gray">
          <a:xfrm>
            <a:off x="294950" y="5596058"/>
            <a:ext cx="472911" cy="227910"/>
          </a:xfrm>
          <a:prstGeom prst="roundRect">
            <a:avLst/>
          </a:prstGeom>
          <a:solidFill>
            <a:schemeClr val="accent5"/>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b="1">
                <a:solidFill>
                  <a:schemeClr val="bg1"/>
                </a:solidFill>
              </a:rPr>
              <a:t>67%</a:t>
            </a:r>
          </a:p>
        </p:txBody>
      </p:sp>
      <p:sp>
        <p:nvSpPr>
          <p:cNvPr id="79" name="Rectangle: Rounded Corners 78">
            <a:extLst>
              <a:ext uri="{FF2B5EF4-FFF2-40B4-BE49-F238E27FC236}">
                <a16:creationId xmlns:a16="http://schemas.microsoft.com/office/drawing/2014/main" id="{FE1CC92F-F237-4606-F54E-8E8C63FC515B}"/>
              </a:ext>
            </a:extLst>
          </p:cNvPr>
          <p:cNvSpPr/>
          <p:nvPr/>
        </p:nvSpPr>
        <p:spPr bwMode="gray">
          <a:xfrm>
            <a:off x="265926" y="1414295"/>
            <a:ext cx="472911" cy="227910"/>
          </a:xfrm>
          <a:prstGeom prst="roundRect">
            <a:avLst/>
          </a:prstGeom>
          <a:solidFill>
            <a:schemeClr val="accent5"/>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b="1">
                <a:solidFill>
                  <a:schemeClr val="bg1"/>
                </a:solidFill>
              </a:rPr>
              <a:t>33%</a:t>
            </a:r>
          </a:p>
        </p:txBody>
      </p:sp>
      <p:sp>
        <p:nvSpPr>
          <p:cNvPr id="81" name="Rectangle: Rounded Corners 80">
            <a:extLst>
              <a:ext uri="{FF2B5EF4-FFF2-40B4-BE49-F238E27FC236}">
                <a16:creationId xmlns:a16="http://schemas.microsoft.com/office/drawing/2014/main" id="{1079FD15-9B28-CE38-BA8B-ECE34887C693}"/>
              </a:ext>
            </a:extLst>
          </p:cNvPr>
          <p:cNvSpPr/>
          <p:nvPr/>
        </p:nvSpPr>
        <p:spPr bwMode="gray">
          <a:xfrm>
            <a:off x="9190385" y="6240766"/>
            <a:ext cx="1096245" cy="299189"/>
          </a:xfrm>
          <a:prstGeom prst="roundRect">
            <a:avLst/>
          </a:prstGeom>
          <a:solidFill>
            <a:schemeClr val="accent5"/>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b="1">
                <a:solidFill>
                  <a:schemeClr val="bg1"/>
                </a:solidFill>
              </a:rPr>
              <a:t>Offshore Penetration</a:t>
            </a:r>
          </a:p>
        </p:txBody>
      </p:sp>
      <p:sp>
        <p:nvSpPr>
          <p:cNvPr id="16" name="Rectangle 15">
            <a:extLst>
              <a:ext uri="{FF2B5EF4-FFF2-40B4-BE49-F238E27FC236}">
                <a16:creationId xmlns:a16="http://schemas.microsoft.com/office/drawing/2014/main" id="{80FEE0E8-34D9-D41C-3919-0BE6F417A493}"/>
              </a:ext>
            </a:extLst>
          </p:cNvPr>
          <p:cNvSpPr/>
          <p:nvPr/>
        </p:nvSpPr>
        <p:spPr bwMode="gray">
          <a:xfrm>
            <a:off x="9190385" y="81294"/>
            <a:ext cx="2915216" cy="1263220"/>
          </a:xfrm>
          <a:prstGeom prst="rect">
            <a:avLst/>
          </a:prstGeom>
          <a:solidFill>
            <a:schemeClr val="accent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solidFill>
                  <a:schemeClr val="bg1"/>
                </a:solidFill>
              </a:rPr>
              <a:t>To update with slide 3</a:t>
            </a:r>
          </a:p>
        </p:txBody>
      </p:sp>
    </p:spTree>
    <p:extLst>
      <p:ext uri="{BB962C8B-B14F-4D97-AF65-F5344CB8AC3E}">
        <p14:creationId xmlns:p14="http://schemas.microsoft.com/office/powerpoint/2010/main" val="709117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532D662-A1E2-3A0A-4421-28FCBC7FB226}"/>
              </a:ext>
            </a:extLst>
          </p:cNvPr>
          <p:cNvGraphicFramePr>
            <a:graphicFrameLocks/>
          </p:cNvGraphicFramePr>
          <p:nvPr>
            <p:custDataLst>
              <p:tags r:id="rId1"/>
            </p:custDataLst>
            <p:extLst>
              <p:ext uri="{D42A27DB-BD31-4B8C-83A1-F6EECF244321}">
                <p14:modId xmlns:p14="http://schemas.microsoft.com/office/powerpoint/2010/main" val="4061349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08" imgH="608" progId="TCLayout.ActiveDocument.1">
                  <p:embed/>
                </p:oleObj>
              </mc:Choice>
              <mc:Fallback>
                <p:oleObj name="thinkcell Slide" r:id="rId4" imgW="608" imgH="608" progId="TCLayout.ActiveDocument.1">
                  <p:embed/>
                  <p:pic>
                    <p:nvPicPr>
                      <p:cNvPr id="6" name="thinkcell data - do not delete" hidden="1">
                        <a:extLst>
                          <a:ext uri="{FF2B5EF4-FFF2-40B4-BE49-F238E27FC236}">
                            <a16:creationId xmlns:a16="http://schemas.microsoft.com/office/drawing/2014/main" id="{D532D662-A1E2-3A0A-4421-28FCBC7FB22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0788E5B6-3EAA-E7D2-D30A-1F9566DC4EDF}"/>
              </a:ext>
            </a:extLst>
          </p:cNvPr>
          <p:cNvSpPr>
            <a:spLocks noGrp="1"/>
          </p:cNvSpPr>
          <p:nvPr>
            <p:ph type="title"/>
          </p:nvPr>
        </p:nvSpPr>
        <p:spPr/>
        <p:txBody>
          <a:bodyPr vert="horz" rIns="0"/>
          <a:lstStyle/>
          <a:p>
            <a:r>
              <a:rPr lang="en-US"/>
              <a:t>Executive Summary</a:t>
            </a:r>
            <a:br>
              <a:rPr lang="en-US"/>
            </a:br>
            <a:r>
              <a:rPr lang="en-US" sz="1600" b="0"/>
              <a:t>Path to finalizing contracts and kicking-off project</a:t>
            </a:r>
            <a:br>
              <a:rPr lang="en-US"/>
            </a:br>
            <a:endParaRPr lang="en-US"/>
          </a:p>
        </p:txBody>
      </p:sp>
      <p:sp>
        <p:nvSpPr>
          <p:cNvPr id="7" name="Rectangle 6">
            <a:extLst>
              <a:ext uri="{FF2B5EF4-FFF2-40B4-BE49-F238E27FC236}">
                <a16:creationId xmlns:a16="http://schemas.microsoft.com/office/drawing/2014/main" id="{10B42F0B-C167-1007-0366-E346FB0AC97E}"/>
              </a:ext>
            </a:extLst>
          </p:cNvPr>
          <p:cNvSpPr/>
          <p:nvPr/>
        </p:nvSpPr>
        <p:spPr bwMode="gray">
          <a:xfrm>
            <a:off x="587375" y="1457348"/>
            <a:ext cx="3474720" cy="4768838"/>
          </a:xfrm>
          <a:prstGeom prst="rect">
            <a:avLst/>
          </a:prstGeom>
          <a:solidFill>
            <a:schemeClr val="bg1">
              <a:lumMod val="95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tIns="91440" bIns="91440" rtlCol="0" anchor="t"/>
          <a:lstStyle/>
          <a:p>
            <a:pPr algn="ctr">
              <a:spcBef>
                <a:spcPts val="300"/>
              </a:spcBef>
            </a:pPr>
            <a:r>
              <a:rPr lang="en-US" sz="1600" b="1">
                <a:solidFill>
                  <a:schemeClr val="tx2"/>
                </a:solidFill>
              </a:rPr>
              <a:t>Situation: Progress &amp; Considerations</a:t>
            </a:r>
          </a:p>
          <a:p>
            <a:pPr>
              <a:spcBef>
                <a:spcPts val="300"/>
              </a:spcBef>
            </a:pPr>
            <a:endParaRPr lang="en-US" sz="1400" b="1">
              <a:solidFill>
                <a:schemeClr val="tx2"/>
              </a:solidFill>
            </a:endParaRPr>
          </a:p>
          <a:p>
            <a:pPr marL="285750" indent="-285750">
              <a:spcBef>
                <a:spcPts val="300"/>
              </a:spcBef>
              <a:buFont typeface="Arial" panose="020B0604020202020204" pitchFamily="34" charset="0"/>
              <a:buChar char="•"/>
            </a:pPr>
            <a:r>
              <a:rPr lang="en-US" sz="1400" b="1">
                <a:solidFill>
                  <a:schemeClr val="tx2"/>
                </a:solidFill>
              </a:rPr>
              <a:t>Operational Progress: </a:t>
            </a:r>
            <a:r>
              <a:rPr lang="en-US" sz="1400">
                <a:solidFill>
                  <a:schemeClr val="tx2"/>
                </a:solidFill>
              </a:rPr>
              <a:t>Planning is continuing to progress, preliminary discussions on Databricks observability/ security schema architecture work and </a:t>
            </a:r>
            <a:r>
              <a:rPr lang="en-US" sz="1400" err="1">
                <a:solidFill>
                  <a:schemeClr val="tx2"/>
                </a:solidFill>
              </a:rPr>
              <a:t>Lovelytics</a:t>
            </a:r>
            <a:r>
              <a:rPr lang="en-US" sz="1400">
                <a:solidFill>
                  <a:schemeClr val="tx2"/>
                </a:solidFill>
              </a:rPr>
              <a:t> Unity Catalog assessment in progress</a:t>
            </a:r>
          </a:p>
          <a:p>
            <a:pPr marL="285750" indent="-285750">
              <a:spcBef>
                <a:spcPts val="300"/>
              </a:spcBef>
              <a:buFont typeface="Arial" panose="020B0604020202020204" pitchFamily="34" charset="0"/>
              <a:buChar char="•"/>
            </a:pPr>
            <a:endParaRPr lang="en-US" sz="1400">
              <a:solidFill>
                <a:schemeClr val="tx2"/>
              </a:solidFill>
            </a:endParaRPr>
          </a:p>
          <a:p>
            <a:pPr marL="285750" indent="-285750">
              <a:spcBef>
                <a:spcPts val="300"/>
              </a:spcBef>
              <a:buFont typeface="Arial" panose="020B0604020202020204" pitchFamily="34" charset="0"/>
              <a:buChar char="•"/>
            </a:pPr>
            <a:r>
              <a:rPr lang="en-US" sz="1400" b="1">
                <a:solidFill>
                  <a:schemeClr val="tx2"/>
                </a:solidFill>
              </a:rPr>
              <a:t>Opportunity for Alignment: </a:t>
            </a:r>
            <a:r>
              <a:rPr lang="en-US" sz="1400">
                <a:solidFill>
                  <a:schemeClr val="tx2"/>
                </a:solidFill>
              </a:rPr>
              <a:t>Signing the agreement will solidify funding alignment, resource allocation, and access, ensuring a smooth project progression</a:t>
            </a:r>
          </a:p>
          <a:p>
            <a:pPr marL="285750" indent="-285750">
              <a:spcBef>
                <a:spcPts val="300"/>
              </a:spcBef>
              <a:buFont typeface="Arial" panose="020B0604020202020204" pitchFamily="34" charset="0"/>
              <a:buChar char="•"/>
            </a:pPr>
            <a:endParaRPr lang="en-US" sz="1400">
              <a:solidFill>
                <a:schemeClr val="tx2"/>
              </a:solidFill>
            </a:endParaRPr>
          </a:p>
          <a:p>
            <a:pPr marL="285750" indent="-285750">
              <a:spcBef>
                <a:spcPts val="300"/>
              </a:spcBef>
              <a:buFont typeface="Arial" panose="020B0604020202020204" pitchFamily="34" charset="0"/>
              <a:buChar char="•"/>
            </a:pPr>
            <a:r>
              <a:rPr lang="en-US" sz="1400" b="1">
                <a:solidFill>
                  <a:schemeClr val="tx2"/>
                </a:solidFill>
              </a:rPr>
              <a:t>Timeline Pressure: </a:t>
            </a:r>
            <a:r>
              <a:rPr lang="en-US" sz="1400">
                <a:solidFill>
                  <a:schemeClr val="tx2"/>
                </a:solidFill>
              </a:rPr>
              <a:t> Welcome Season Change Freeze expected to begin ~12/1, presenting a key timeline for landing data sources in Azure</a:t>
            </a:r>
            <a:endParaRPr lang="en-US" sz="1400" b="1">
              <a:solidFill>
                <a:schemeClr val="tx2"/>
              </a:solidFill>
            </a:endParaRPr>
          </a:p>
        </p:txBody>
      </p:sp>
      <p:sp>
        <p:nvSpPr>
          <p:cNvPr id="9" name="Rectangle 8">
            <a:extLst>
              <a:ext uri="{FF2B5EF4-FFF2-40B4-BE49-F238E27FC236}">
                <a16:creationId xmlns:a16="http://schemas.microsoft.com/office/drawing/2014/main" id="{1E07E018-B1FA-3C6D-263B-C71C86F6C48F}"/>
              </a:ext>
            </a:extLst>
          </p:cNvPr>
          <p:cNvSpPr/>
          <p:nvPr/>
        </p:nvSpPr>
        <p:spPr bwMode="gray">
          <a:xfrm>
            <a:off x="4364197" y="1457348"/>
            <a:ext cx="3474720" cy="4768838"/>
          </a:xfrm>
          <a:prstGeom prst="rect">
            <a:avLst/>
          </a:prstGeom>
          <a:solidFill>
            <a:schemeClr val="bg1">
              <a:lumMod val="95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t"/>
          <a:lstStyle/>
          <a:p>
            <a:pPr algn="ctr">
              <a:spcBef>
                <a:spcPts val="300"/>
              </a:spcBef>
            </a:pPr>
            <a:r>
              <a:rPr lang="en-US" sz="1600" b="1">
                <a:solidFill>
                  <a:schemeClr val="tx2"/>
                </a:solidFill>
              </a:rPr>
              <a:t>Solution: Alignment</a:t>
            </a:r>
          </a:p>
          <a:p>
            <a:pPr>
              <a:spcBef>
                <a:spcPts val="300"/>
              </a:spcBef>
            </a:pPr>
            <a:endParaRPr lang="en-US" sz="1400" b="1">
              <a:solidFill>
                <a:schemeClr val="tx2"/>
              </a:solidFill>
            </a:endParaRPr>
          </a:p>
          <a:p>
            <a:pPr marL="285750" indent="-285750">
              <a:spcBef>
                <a:spcPts val="300"/>
              </a:spcBef>
              <a:buFont typeface="Arial" panose="020B0604020202020204" pitchFamily="34" charset="0"/>
              <a:buChar char="•"/>
            </a:pPr>
            <a:r>
              <a:rPr lang="en-US" sz="1400" b="1">
                <a:solidFill>
                  <a:schemeClr val="tx2"/>
                </a:solidFill>
              </a:rPr>
              <a:t>Integrating Timelines: </a:t>
            </a:r>
            <a:r>
              <a:rPr lang="en-US" sz="1400">
                <a:solidFill>
                  <a:schemeClr val="tx2"/>
                </a:solidFill>
              </a:rPr>
              <a:t>Master schedule has been updated to incorporate feedback from KPMG, CVS, and </a:t>
            </a:r>
            <a:r>
              <a:rPr lang="en-US" sz="1400" err="1">
                <a:solidFill>
                  <a:schemeClr val="tx2"/>
                </a:solidFill>
              </a:rPr>
              <a:t>Scicom</a:t>
            </a:r>
            <a:r>
              <a:rPr lang="en-US" sz="1400">
                <a:solidFill>
                  <a:schemeClr val="tx2"/>
                </a:solidFill>
              </a:rPr>
              <a:t> and unify milestones</a:t>
            </a:r>
          </a:p>
          <a:p>
            <a:pPr marL="285750" indent="-285750">
              <a:spcBef>
                <a:spcPts val="300"/>
              </a:spcBef>
              <a:buFont typeface="Arial" panose="020B0604020202020204" pitchFamily="34" charset="0"/>
              <a:buChar char="•"/>
            </a:pPr>
            <a:endParaRPr lang="en-US" sz="1400" b="1">
              <a:solidFill>
                <a:schemeClr val="tx2"/>
              </a:solidFill>
            </a:endParaRPr>
          </a:p>
          <a:p>
            <a:pPr marL="285750" indent="-285750">
              <a:spcBef>
                <a:spcPts val="300"/>
              </a:spcBef>
              <a:buFont typeface="Arial" panose="020B0604020202020204" pitchFamily="34" charset="0"/>
              <a:buChar char="•"/>
            </a:pPr>
            <a:r>
              <a:rPr lang="en-US" sz="1400" b="1">
                <a:solidFill>
                  <a:schemeClr val="tx2"/>
                </a:solidFill>
              </a:rPr>
              <a:t>Staffing &amp; Execution: </a:t>
            </a:r>
            <a:r>
              <a:rPr lang="en-US" sz="1400">
                <a:solidFill>
                  <a:schemeClr val="tx2"/>
                </a:solidFill>
              </a:rPr>
              <a:t>Define delivery roles and workstreams to be ready for kick-off once contracts are finalized</a:t>
            </a:r>
          </a:p>
          <a:p>
            <a:pPr marL="285750" indent="-285750">
              <a:spcBef>
                <a:spcPts val="300"/>
              </a:spcBef>
              <a:buFont typeface="Arial" panose="020B0604020202020204" pitchFamily="34" charset="0"/>
              <a:buChar char="•"/>
            </a:pPr>
            <a:endParaRPr lang="en-US" sz="1400">
              <a:solidFill>
                <a:schemeClr val="tx2"/>
              </a:solidFill>
            </a:endParaRPr>
          </a:p>
          <a:p>
            <a:pPr marL="285750" indent="-285750">
              <a:spcBef>
                <a:spcPts val="300"/>
              </a:spcBef>
              <a:buFont typeface="Arial" panose="020B0604020202020204" pitchFamily="34" charset="0"/>
              <a:buChar char="•"/>
            </a:pPr>
            <a:r>
              <a:rPr lang="en-US" sz="1400" b="1">
                <a:solidFill>
                  <a:schemeClr val="tx2"/>
                </a:solidFill>
              </a:rPr>
              <a:t>Structured Change Process: </a:t>
            </a:r>
            <a:r>
              <a:rPr lang="en-US" sz="1400">
                <a:solidFill>
                  <a:schemeClr val="tx2"/>
                </a:solidFill>
              </a:rPr>
              <a:t>Share clear mechanisms in place to handle potential future scope expansions or dataset priority changes</a:t>
            </a:r>
          </a:p>
          <a:p>
            <a:pPr>
              <a:spcBef>
                <a:spcPts val="300"/>
              </a:spcBef>
            </a:pPr>
            <a:endParaRPr lang="en-US" sz="1400" b="1">
              <a:solidFill>
                <a:schemeClr val="tx2"/>
              </a:solidFill>
            </a:endParaRPr>
          </a:p>
        </p:txBody>
      </p:sp>
      <p:sp>
        <p:nvSpPr>
          <p:cNvPr id="11" name="Rectangle 10">
            <a:extLst>
              <a:ext uri="{FF2B5EF4-FFF2-40B4-BE49-F238E27FC236}">
                <a16:creationId xmlns:a16="http://schemas.microsoft.com/office/drawing/2014/main" id="{B61992B4-812D-A26F-FB25-9B2C4194D483}"/>
              </a:ext>
            </a:extLst>
          </p:cNvPr>
          <p:cNvSpPr/>
          <p:nvPr/>
        </p:nvSpPr>
        <p:spPr bwMode="gray">
          <a:xfrm>
            <a:off x="8141018" y="1457348"/>
            <a:ext cx="3474720" cy="4768838"/>
          </a:xfrm>
          <a:prstGeom prst="rect">
            <a:avLst/>
          </a:prstGeom>
          <a:solidFill>
            <a:srgbClr val="00A78E">
              <a:alpha val="25000"/>
            </a:srgbClr>
          </a:solidFill>
          <a:ln>
            <a:noFill/>
            <a:miter lim="800000"/>
          </a:ln>
          <a:effectLst/>
        </p:spPr>
        <p:style>
          <a:lnRef idx="1">
            <a:schemeClr val="accent1"/>
          </a:lnRef>
          <a:fillRef idx="3">
            <a:schemeClr val="accent1"/>
          </a:fillRef>
          <a:effectRef idx="2">
            <a:schemeClr val="accent1"/>
          </a:effectRef>
          <a:fontRef idx="minor">
            <a:schemeClr val="lt1"/>
          </a:fontRef>
        </p:style>
        <p:txBody>
          <a:bodyPr tIns="91440" bIns="91440" rtlCol="0" anchor="t"/>
          <a:lstStyle/>
          <a:p>
            <a:pPr algn="ctr">
              <a:spcBef>
                <a:spcPts val="300"/>
              </a:spcBef>
            </a:pPr>
            <a:r>
              <a:rPr lang="en-US" sz="1600" b="1">
                <a:solidFill>
                  <a:schemeClr val="tx2"/>
                </a:solidFill>
              </a:rPr>
              <a:t>Next Steps: Finalize &amp; Kick-Off</a:t>
            </a:r>
          </a:p>
          <a:p>
            <a:pPr algn="ctr">
              <a:spcBef>
                <a:spcPts val="300"/>
              </a:spcBef>
            </a:pPr>
            <a:endParaRPr lang="en-US" sz="1400" b="1">
              <a:solidFill>
                <a:schemeClr val="tx2"/>
              </a:solidFill>
            </a:endParaRPr>
          </a:p>
          <a:p>
            <a:pPr marL="171450" indent="-171450">
              <a:spcBef>
                <a:spcPts val="300"/>
              </a:spcBef>
              <a:buFont typeface="Arial" panose="020B0604020202020204" pitchFamily="34" charset="0"/>
              <a:buChar char="•"/>
            </a:pPr>
            <a:r>
              <a:rPr lang="en-US" sz="1400" b="1">
                <a:solidFill>
                  <a:schemeClr val="tx2"/>
                </a:solidFill>
              </a:rPr>
              <a:t>Finalize SOW: </a:t>
            </a:r>
            <a:r>
              <a:rPr lang="en-US" sz="1400">
                <a:solidFill>
                  <a:schemeClr val="tx2"/>
                </a:solidFill>
              </a:rPr>
              <a:t>Execute signatures to launch project, then schedule kick-off meeting</a:t>
            </a:r>
            <a:endParaRPr lang="en-US" sz="1400" b="1">
              <a:solidFill>
                <a:schemeClr val="tx2"/>
              </a:solidFill>
            </a:endParaRPr>
          </a:p>
          <a:p>
            <a:pPr marL="171450" indent="-171450">
              <a:spcBef>
                <a:spcPts val="300"/>
              </a:spcBef>
              <a:buFont typeface="Arial" panose="020B0604020202020204" pitchFamily="34" charset="0"/>
              <a:buChar char="•"/>
            </a:pPr>
            <a:r>
              <a:rPr lang="en-US" sz="1400" b="1">
                <a:solidFill>
                  <a:schemeClr val="tx2"/>
                </a:solidFill>
              </a:rPr>
              <a:t>Secure Funding Buffer: </a:t>
            </a:r>
            <a:r>
              <a:rPr lang="en-US" sz="1400">
                <a:solidFill>
                  <a:schemeClr val="tx2"/>
                </a:solidFill>
              </a:rPr>
              <a:t>Confirm $9.81M base (w/ 7% expenses) and approve 10% contingency request (to be discussed)</a:t>
            </a:r>
            <a:endParaRPr lang="en-US" sz="1400" b="1">
              <a:solidFill>
                <a:schemeClr val="tx2"/>
              </a:solidFill>
            </a:endParaRPr>
          </a:p>
          <a:p>
            <a:pPr marL="171450" indent="-171450">
              <a:spcBef>
                <a:spcPts val="300"/>
              </a:spcBef>
              <a:buFont typeface="Arial" panose="020B0604020202020204" pitchFamily="34" charset="0"/>
              <a:buChar char="•"/>
            </a:pPr>
            <a:r>
              <a:rPr lang="en-US" sz="1400" b="1">
                <a:solidFill>
                  <a:schemeClr val="tx2"/>
                </a:solidFill>
              </a:rPr>
              <a:t>Define Workstream A: </a:t>
            </a:r>
            <a:r>
              <a:rPr lang="en-US" sz="1400">
                <a:solidFill>
                  <a:schemeClr val="tx2"/>
                </a:solidFill>
              </a:rPr>
              <a:t>Clarify if scope includes automated templates or manual remediation of 200+ existing workspaces</a:t>
            </a:r>
            <a:endParaRPr lang="en-US" sz="1400" b="1">
              <a:solidFill>
                <a:schemeClr val="tx2"/>
              </a:solidFill>
            </a:endParaRPr>
          </a:p>
          <a:p>
            <a:pPr marL="171450" indent="-171450">
              <a:spcBef>
                <a:spcPts val="300"/>
              </a:spcBef>
              <a:buFont typeface="Arial" panose="020B0604020202020204" pitchFamily="34" charset="0"/>
              <a:buChar char="•"/>
            </a:pPr>
            <a:r>
              <a:rPr lang="en-US" sz="1400" b="1">
                <a:solidFill>
                  <a:schemeClr val="tx2"/>
                </a:solidFill>
              </a:rPr>
              <a:t>Azure Data Landing Plan: </a:t>
            </a:r>
            <a:r>
              <a:rPr lang="en-US" sz="1400">
                <a:solidFill>
                  <a:schemeClr val="tx2"/>
                </a:solidFill>
              </a:rPr>
              <a:t>Confirm target for which data sources land in Azure before Welcome Season change freeze</a:t>
            </a:r>
            <a:endParaRPr lang="en-US" sz="1400" b="1">
              <a:solidFill>
                <a:schemeClr val="tx2"/>
              </a:solidFill>
            </a:endParaRPr>
          </a:p>
          <a:p>
            <a:pPr marL="171450" indent="-171450">
              <a:spcBef>
                <a:spcPts val="300"/>
              </a:spcBef>
              <a:buFont typeface="Arial" panose="020B0604020202020204" pitchFamily="34" charset="0"/>
              <a:buChar char="•"/>
            </a:pPr>
            <a:r>
              <a:rPr lang="en-US" sz="1400" b="1">
                <a:solidFill>
                  <a:schemeClr val="tx2"/>
                </a:solidFill>
              </a:rPr>
              <a:t>Clarify Workstream B/C/D details: </a:t>
            </a:r>
            <a:r>
              <a:rPr lang="en-US" sz="1400">
                <a:solidFill>
                  <a:schemeClr val="tx2"/>
                </a:solidFill>
              </a:rPr>
              <a:t>Discuss schema, analytics scope, etc.</a:t>
            </a:r>
            <a:endParaRPr lang="en-US" sz="1400" b="1">
              <a:solidFill>
                <a:schemeClr val="tx2"/>
              </a:solidFill>
            </a:endParaRPr>
          </a:p>
          <a:p>
            <a:pPr marL="171450" indent="-171450">
              <a:spcBef>
                <a:spcPts val="300"/>
              </a:spcBef>
              <a:buFont typeface="Arial" panose="020B0604020202020204" pitchFamily="34" charset="0"/>
              <a:buChar char="•"/>
            </a:pPr>
            <a:r>
              <a:rPr lang="en-US" sz="1400" b="1">
                <a:solidFill>
                  <a:schemeClr val="tx2"/>
                </a:solidFill>
              </a:rPr>
              <a:t>Authorize VDI Access: </a:t>
            </a:r>
            <a:r>
              <a:rPr lang="en-US" sz="1400">
                <a:solidFill>
                  <a:schemeClr val="tx2"/>
                </a:solidFill>
              </a:rPr>
              <a:t>Approve provisional VDI access by mid-Oct. to avoid delays</a:t>
            </a:r>
            <a:endParaRPr lang="en-US" sz="1400" b="1">
              <a:solidFill>
                <a:schemeClr val="tx2"/>
              </a:solidFill>
            </a:endParaRPr>
          </a:p>
          <a:p>
            <a:pPr marL="171450" indent="-171450">
              <a:spcBef>
                <a:spcPts val="300"/>
              </a:spcBef>
              <a:buFont typeface="Arial" panose="020B0604020202020204" pitchFamily="34" charset="0"/>
              <a:buChar char="•"/>
            </a:pPr>
            <a:r>
              <a:rPr lang="en-US" sz="1400" b="1">
                <a:solidFill>
                  <a:schemeClr val="tx2"/>
                </a:solidFill>
              </a:rPr>
              <a:t>Confirm Workspaces: </a:t>
            </a:r>
            <a:r>
              <a:rPr lang="en-US" sz="1400">
                <a:solidFill>
                  <a:schemeClr val="tx2"/>
                </a:solidFill>
              </a:rPr>
              <a:t>Align stakeholder reports on active workspace readiness</a:t>
            </a:r>
          </a:p>
          <a:p>
            <a:pPr>
              <a:spcBef>
                <a:spcPts val="300"/>
              </a:spcBef>
            </a:pPr>
            <a:endParaRPr lang="en-US" sz="1050">
              <a:solidFill>
                <a:schemeClr val="tx2"/>
              </a:solidFill>
            </a:endParaRPr>
          </a:p>
        </p:txBody>
      </p:sp>
      <p:cxnSp>
        <p:nvCxnSpPr>
          <p:cNvPr id="13" name="Straight Connector 12">
            <a:extLst>
              <a:ext uri="{FF2B5EF4-FFF2-40B4-BE49-F238E27FC236}">
                <a16:creationId xmlns:a16="http://schemas.microsoft.com/office/drawing/2014/main" id="{5D2DD644-9E99-7B7C-6E88-F8F603A03488}"/>
              </a:ext>
            </a:extLst>
          </p:cNvPr>
          <p:cNvCxnSpPr>
            <a:cxnSpLocks/>
          </p:cNvCxnSpPr>
          <p:nvPr/>
        </p:nvCxnSpPr>
        <p:spPr>
          <a:xfrm>
            <a:off x="4204890" y="1773184"/>
            <a:ext cx="0" cy="4023360"/>
          </a:xfrm>
          <a:prstGeom prst="line">
            <a:avLst/>
          </a:prstGeom>
          <a:ln w="12700" cmpd="sng">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Arrow: Chevron 13">
            <a:extLst>
              <a:ext uri="{FF2B5EF4-FFF2-40B4-BE49-F238E27FC236}">
                <a16:creationId xmlns:a16="http://schemas.microsoft.com/office/drawing/2014/main" id="{FDF77F73-7021-22FF-2F54-5E28A14CC279}"/>
              </a:ext>
            </a:extLst>
          </p:cNvPr>
          <p:cNvSpPr/>
          <p:nvPr/>
        </p:nvSpPr>
        <p:spPr bwMode="gray">
          <a:xfrm>
            <a:off x="4075986" y="3876039"/>
            <a:ext cx="274320" cy="365760"/>
          </a:xfrm>
          <a:prstGeom prst="chevron">
            <a:avLst/>
          </a:prstGeom>
          <a:solidFill>
            <a:schemeClr val="tx2"/>
          </a:solidFill>
          <a:ln w="19050">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grpSp>
        <p:nvGrpSpPr>
          <p:cNvPr id="16" name="Group 15">
            <a:extLst>
              <a:ext uri="{FF2B5EF4-FFF2-40B4-BE49-F238E27FC236}">
                <a16:creationId xmlns:a16="http://schemas.microsoft.com/office/drawing/2014/main" id="{3CFECF36-6EB4-EFE5-DB32-D0DBE0B8999B}"/>
              </a:ext>
            </a:extLst>
          </p:cNvPr>
          <p:cNvGrpSpPr/>
          <p:nvPr/>
        </p:nvGrpSpPr>
        <p:grpSpPr>
          <a:xfrm>
            <a:off x="7852808" y="1773184"/>
            <a:ext cx="274320" cy="4023360"/>
            <a:chOff x="4062096" y="2124074"/>
            <a:chExt cx="274320" cy="4023360"/>
          </a:xfrm>
        </p:grpSpPr>
        <p:cxnSp>
          <p:nvCxnSpPr>
            <p:cNvPr id="17" name="Straight Connector 16">
              <a:extLst>
                <a:ext uri="{FF2B5EF4-FFF2-40B4-BE49-F238E27FC236}">
                  <a16:creationId xmlns:a16="http://schemas.microsoft.com/office/drawing/2014/main" id="{8437B8D2-FC78-239C-2DE0-0F3934D053F7}"/>
                </a:ext>
              </a:extLst>
            </p:cNvPr>
            <p:cNvCxnSpPr>
              <a:cxnSpLocks/>
            </p:cNvCxnSpPr>
            <p:nvPr/>
          </p:nvCxnSpPr>
          <p:spPr>
            <a:xfrm>
              <a:off x="4191000" y="2124074"/>
              <a:ext cx="0" cy="4023360"/>
            </a:xfrm>
            <a:prstGeom prst="line">
              <a:avLst/>
            </a:prstGeom>
            <a:ln w="12700" cmpd="sng">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Arrow: Chevron 17">
              <a:extLst>
                <a:ext uri="{FF2B5EF4-FFF2-40B4-BE49-F238E27FC236}">
                  <a16:creationId xmlns:a16="http://schemas.microsoft.com/office/drawing/2014/main" id="{8985D994-5BF4-F040-C1A3-3F8002569D4F}"/>
                </a:ext>
              </a:extLst>
            </p:cNvPr>
            <p:cNvSpPr/>
            <p:nvPr/>
          </p:nvSpPr>
          <p:spPr bwMode="gray">
            <a:xfrm>
              <a:off x="4062096" y="3952874"/>
              <a:ext cx="274320" cy="365760"/>
            </a:xfrm>
            <a:prstGeom prst="chevron">
              <a:avLst/>
            </a:prstGeom>
            <a:solidFill>
              <a:schemeClr val="tx2"/>
            </a:solidFill>
            <a:ln w="19050">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grpSp>
    </p:spTree>
    <p:extLst>
      <p:ext uri="{BB962C8B-B14F-4D97-AF65-F5344CB8AC3E}">
        <p14:creationId xmlns:p14="http://schemas.microsoft.com/office/powerpoint/2010/main" val="611187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3DBDED85-F93A-5CE3-5BE9-08F68D224712}"/>
              </a:ext>
            </a:extLst>
          </p:cNvPr>
          <p:cNvGraphicFramePr>
            <a:graphicFrameLocks/>
          </p:cNvGraphicFramePr>
          <p:nvPr>
            <p:custDataLst>
              <p:tags r:id="rId1"/>
            </p:custDataLst>
            <p:extLst>
              <p:ext uri="{D42A27DB-BD31-4B8C-83A1-F6EECF244321}">
                <p14:modId xmlns:p14="http://schemas.microsoft.com/office/powerpoint/2010/main" val="14052344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5" name="thinkcell data - do not delete" hidden="1">
                        <a:extLst>
                          <a:ext uri="{FF2B5EF4-FFF2-40B4-BE49-F238E27FC236}">
                            <a16:creationId xmlns:a16="http://schemas.microsoft.com/office/drawing/2014/main" id="{3DBDED85-F93A-5CE3-5BE9-08F68D22471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7A45DE79-7622-52E9-F380-7B62CC2E8C10}"/>
              </a:ext>
            </a:extLst>
          </p:cNvPr>
          <p:cNvSpPr>
            <a:spLocks noGrp="1"/>
          </p:cNvSpPr>
          <p:nvPr>
            <p:ph type="title"/>
          </p:nvPr>
        </p:nvSpPr>
        <p:spPr>
          <a:xfrm>
            <a:off x="557931" y="584200"/>
            <a:ext cx="6449044" cy="713232"/>
          </a:xfrm>
        </p:spPr>
        <p:txBody>
          <a:bodyPr vert="horz" rIns="0"/>
          <a:lstStyle/>
          <a:p>
            <a:r>
              <a:rPr lang="en-US"/>
              <a:t>1. Technical Approach &amp; Master Timeline</a:t>
            </a:r>
          </a:p>
        </p:txBody>
      </p:sp>
    </p:spTree>
    <p:extLst>
      <p:ext uri="{BB962C8B-B14F-4D97-AF65-F5344CB8AC3E}">
        <p14:creationId xmlns:p14="http://schemas.microsoft.com/office/powerpoint/2010/main" val="38848671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61AE503-273A-FC8B-FDD1-1C80397E539D}"/>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EF2D0947-2C18-B8F9-12B2-E6DE11C1AB2A}"/>
              </a:ext>
            </a:extLst>
          </p:cNvPr>
          <p:cNvGrpSpPr/>
          <p:nvPr/>
        </p:nvGrpSpPr>
        <p:grpSpPr>
          <a:xfrm>
            <a:off x="1697037" y="1689100"/>
            <a:ext cx="9959975" cy="449940"/>
            <a:chOff x="1682749" y="1689100"/>
            <a:chExt cx="9940764" cy="449940"/>
          </a:xfrm>
        </p:grpSpPr>
        <p:sp>
          <p:nvSpPr>
            <p:cNvPr id="25" name="Rectangle: Top Corners Rounded 24">
              <a:extLst>
                <a:ext uri="{FF2B5EF4-FFF2-40B4-BE49-F238E27FC236}">
                  <a16:creationId xmlns:a16="http://schemas.microsoft.com/office/drawing/2014/main" id="{96D42E92-8CFC-21CE-E60B-5A586406DEF2}"/>
                </a:ext>
              </a:extLst>
            </p:cNvPr>
            <p:cNvSpPr/>
            <p:nvPr/>
          </p:nvSpPr>
          <p:spPr bwMode="gray">
            <a:xfrm>
              <a:off x="1682749" y="1689100"/>
              <a:ext cx="813816" cy="449940"/>
            </a:xfrm>
            <a:prstGeom prst="round2SameRect">
              <a:avLst/>
            </a:prstGeom>
            <a:gradFill>
              <a:gsLst>
                <a:gs pos="0">
                  <a:srgbClr val="0A4B8C"/>
                </a:gs>
                <a:gs pos="100000">
                  <a:srgbClr val="0B315E"/>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26" name="Rectangle: Top Corners Rounded 25">
              <a:extLst>
                <a:ext uri="{FF2B5EF4-FFF2-40B4-BE49-F238E27FC236}">
                  <a16:creationId xmlns:a16="http://schemas.microsoft.com/office/drawing/2014/main" id="{322DEDD7-42A4-F3BA-6546-874DB07D0F86}"/>
                </a:ext>
              </a:extLst>
            </p:cNvPr>
            <p:cNvSpPr/>
            <p:nvPr/>
          </p:nvSpPr>
          <p:spPr bwMode="gray">
            <a:xfrm>
              <a:off x="2512472" y="1689100"/>
              <a:ext cx="813816" cy="449940"/>
            </a:xfrm>
            <a:prstGeom prst="round2SameRect">
              <a:avLst/>
            </a:prstGeom>
            <a:gradFill>
              <a:gsLst>
                <a:gs pos="0">
                  <a:srgbClr val="0A4B8C"/>
                </a:gs>
                <a:gs pos="100000">
                  <a:srgbClr val="0B315E"/>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27" name="Rectangle: Top Corners Rounded 26">
              <a:extLst>
                <a:ext uri="{FF2B5EF4-FFF2-40B4-BE49-F238E27FC236}">
                  <a16:creationId xmlns:a16="http://schemas.microsoft.com/office/drawing/2014/main" id="{743A34B7-489D-2CF5-2599-D5B04E79BDE2}"/>
                </a:ext>
              </a:extLst>
            </p:cNvPr>
            <p:cNvSpPr/>
            <p:nvPr/>
          </p:nvSpPr>
          <p:spPr bwMode="gray">
            <a:xfrm>
              <a:off x="3342195" y="1689100"/>
              <a:ext cx="813816" cy="449940"/>
            </a:xfrm>
            <a:prstGeom prst="round2SameRect">
              <a:avLst/>
            </a:prstGeom>
            <a:gradFill>
              <a:gsLst>
                <a:gs pos="0">
                  <a:srgbClr val="0A4B8C"/>
                </a:gs>
                <a:gs pos="100000">
                  <a:srgbClr val="0B315E"/>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28" name="Rectangle: Top Corners Rounded 27">
              <a:extLst>
                <a:ext uri="{FF2B5EF4-FFF2-40B4-BE49-F238E27FC236}">
                  <a16:creationId xmlns:a16="http://schemas.microsoft.com/office/drawing/2014/main" id="{350108F2-3A06-4B9B-74A0-31358F58E893}"/>
                </a:ext>
              </a:extLst>
            </p:cNvPr>
            <p:cNvSpPr/>
            <p:nvPr/>
          </p:nvSpPr>
          <p:spPr bwMode="gray">
            <a:xfrm>
              <a:off x="4171918" y="1689100"/>
              <a:ext cx="813816" cy="449940"/>
            </a:xfrm>
            <a:prstGeom prst="round2SameRect">
              <a:avLst/>
            </a:prstGeom>
            <a:gradFill>
              <a:gsLst>
                <a:gs pos="0">
                  <a:srgbClr val="0A4B8C"/>
                </a:gs>
                <a:gs pos="100000">
                  <a:srgbClr val="0B315E"/>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29" name="Rectangle: Top Corners Rounded 28">
              <a:extLst>
                <a:ext uri="{FF2B5EF4-FFF2-40B4-BE49-F238E27FC236}">
                  <a16:creationId xmlns:a16="http://schemas.microsoft.com/office/drawing/2014/main" id="{FE785209-EBB7-AF4E-2E23-D0ED7A68F93E}"/>
                </a:ext>
              </a:extLst>
            </p:cNvPr>
            <p:cNvSpPr/>
            <p:nvPr/>
          </p:nvSpPr>
          <p:spPr bwMode="gray">
            <a:xfrm>
              <a:off x="5001641" y="1689100"/>
              <a:ext cx="813816" cy="449940"/>
            </a:xfrm>
            <a:prstGeom prst="round2SameRect">
              <a:avLst/>
            </a:prstGeom>
            <a:gradFill>
              <a:gsLst>
                <a:gs pos="0">
                  <a:srgbClr val="0A4B8C"/>
                </a:gs>
                <a:gs pos="100000">
                  <a:srgbClr val="0B315E"/>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30" name="Rectangle: Top Corners Rounded 29">
              <a:extLst>
                <a:ext uri="{FF2B5EF4-FFF2-40B4-BE49-F238E27FC236}">
                  <a16:creationId xmlns:a16="http://schemas.microsoft.com/office/drawing/2014/main" id="{79A5D139-5AF5-FA2E-A062-D4186F230B0C}"/>
                </a:ext>
              </a:extLst>
            </p:cNvPr>
            <p:cNvSpPr/>
            <p:nvPr/>
          </p:nvSpPr>
          <p:spPr bwMode="gray">
            <a:xfrm>
              <a:off x="5831364" y="1689100"/>
              <a:ext cx="813816" cy="449940"/>
            </a:xfrm>
            <a:prstGeom prst="round2SameRect">
              <a:avLst/>
            </a:prstGeom>
            <a:gradFill>
              <a:gsLst>
                <a:gs pos="0">
                  <a:srgbClr val="0A4B8C"/>
                </a:gs>
                <a:gs pos="100000">
                  <a:srgbClr val="0B315E"/>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31" name="Rectangle: Top Corners Rounded 30">
              <a:extLst>
                <a:ext uri="{FF2B5EF4-FFF2-40B4-BE49-F238E27FC236}">
                  <a16:creationId xmlns:a16="http://schemas.microsoft.com/office/drawing/2014/main" id="{BADA6B7B-B376-E3E0-8B89-14CE3A300B75}"/>
                </a:ext>
              </a:extLst>
            </p:cNvPr>
            <p:cNvSpPr/>
            <p:nvPr/>
          </p:nvSpPr>
          <p:spPr bwMode="gray">
            <a:xfrm>
              <a:off x="6661087" y="1689100"/>
              <a:ext cx="813816" cy="449940"/>
            </a:xfrm>
            <a:prstGeom prst="round2SameRect">
              <a:avLst/>
            </a:prstGeom>
            <a:gradFill>
              <a:gsLst>
                <a:gs pos="0">
                  <a:srgbClr val="0A4B8C"/>
                </a:gs>
                <a:gs pos="100000">
                  <a:srgbClr val="0B315E"/>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32" name="Rectangle: Top Corners Rounded 31">
              <a:extLst>
                <a:ext uri="{FF2B5EF4-FFF2-40B4-BE49-F238E27FC236}">
                  <a16:creationId xmlns:a16="http://schemas.microsoft.com/office/drawing/2014/main" id="{DB0FD91C-1559-42D5-F813-96FC82A5E66E}"/>
                </a:ext>
              </a:extLst>
            </p:cNvPr>
            <p:cNvSpPr/>
            <p:nvPr/>
          </p:nvSpPr>
          <p:spPr bwMode="gray">
            <a:xfrm>
              <a:off x="7490810" y="1689100"/>
              <a:ext cx="813816" cy="449940"/>
            </a:xfrm>
            <a:prstGeom prst="round2SameRect">
              <a:avLst/>
            </a:prstGeom>
            <a:gradFill>
              <a:gsLst>
                <a:gs pos="0">
                  <a:srgbClr val="0A4B8C"/>
                </a:gs>
                <a:gs pos="100000">
                  <a:srgbClr val="0B315E"/>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33" name="Rectangle: Top Corners Rounded 32">
              <a:extLst>
                <a:ext uri="{FF2B5EF4-FFF2-40B4-BE49-F238E27FC236}">
                  <a16:creationId xmlns:a16="http://schemas.microsoft.com/office/drawing/2014/main" id="{8B59048C-87F8-C9BF-29F4-5DABEE789594}"/>
                </a:ext>
              </a:extLst>
            </p:cNvPr>
            <p:cNvSpPr/>
            <p:nvPr/>
          </p:nvSpPr>
          <p:spPr bwMode="gray">
            <a:xfrm>
              <a:off x="8320533" y="1689100"/>
              <a:ext cx="813816" cy="449940"/>
            </a:xfrm>
            <a:prstGeom prst="round2SameRect">
              <a:avLst/>
            </a:prstGeom>
            <a:gradFill>
              <a:gsLst>
                <a:gs pos="0">
                  <a:srgbClr val="0A4B8C"/>
                </a:gs>
                <a:gs pos="100000">
                  <a:srgbClr val="0B315E"/>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34" name="Rectangle: Top Corners Rounded 33">
              <a:extLst>
                <a:ext uri="{FF2B5EF4-FFF2-40B4-BE49-F238E27FC236}">
                  <a16:creationId xmlns:a16="http://schemas.microsoft.com/office/drawing/2014/main" id="{A04EF954-F78E-7006-4B6D-09F83652A9B9}"/>
                </a:ext>
              </a:extLst>
            </p:cNvPr>
            <p:cNvSpPr/>
            <p:nvPr/>
          </p:nvSpPr>
          <p:spPr bwMode="gray">
            <a:xfrm>
              <a:off x="9150256" y="1689100"/>
              <a:ext cx="813816" cy="449940"/>
            </a:xfrm>
            <a:prstGeom prst="round2SameRect">
              <a:avLst/>
            </a:prstGeom>
            <a:gradFill>
              <a:gsLst>
                <a:gs pos="0">
                  <a:srgbClr val="0A4B8C"/>
                </a:gs>
                <a:gs pos="100000">
                  <a:srgbClr val="0B315E"/>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35" name="Rectangle: Top Corners Rounded 34">
              <a:extLst>
                <a:ext uri="{FF2B5EF4-FFF2-40B4-BE49-F238E27FC236}">
                  <a16:creationId xmlns:a16="http://schemas.microsoft.com/office/drawing/2014/main" id="{5F33286F-43F2-F689-A392-EFCCEAD57422}"/>
                </a:ext>
              </a:extLst>
            </p:cNvPr>
            <p:cNvSpPr/>
            <p:nvPr/>
          </p:nvSpPr>
          <p:spPr bwMode="gray">
            <a:xfrm>
              <a:off x="9979979" y="1689100"/>
              <a:ext cx="813816" cy="449940"/>
            </a:xfrm>
            <a:prstGeom prst="round2SameRect">
              <a:avLst/>
            </a:prstGeom>
            <a:gradFill>
              <a:gsLst>
                <a:gs pos="0">
                  <a:srgbClr val="0A4B8C"/>
                </a:gs>
                <a:gs pos="100000">
                  <a:srgbClr val="0B315E"/>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36" name="Rectangle: Top Corners Rounded 35">
              <a:extLst>
                <a:ext uri="{FF2B5EF4-FFF2-40B4-BE49-F238E27FC236}">
                  <a16:creationId xmlns:a16="http://schemas.microsoft.com/office/drawing/2014/main" id="{38658892-1818-E1A6-27E8-A04BD5031C6D}"/>
                </a:ext>
              </a:extLst>
            </p:cNvPr>
            <p:cNvSpPr/>
            <p:nvPr/>
          </p:nvSpPr>
          <p:spPr bwMode="gray">
            <a:xfrm>
              <a:off x="10809697" y="1689100"/>
              <a:ext cx="813816" cy="449940"/>
            </a:xfrm>
            <a:prstGeom prst="round2SameRect">
              <a:avLst/>
            </a:prstGeom>
            <a:gradFill>
              <a:gsLst>
                <a:gs pos="0">
                  <a:srgbClr val="0A4B8C"/>
                </a:gs>
                <a:gs pos="100000">
                  <a:srgbClr val="0B315E"/>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graphicFrame>
        <p:nvGraphicFramePr>
          <p:cNvPr id="12" name="Table 11">
            <a:extLst>
              <a:ext uri="{FF2B5EF4-FFF2-40B4-BE49-F238E27FC236}">
                <a16:creationId xmlns:a16="http://schemas.microsoft.com/office/drawing/2014/main" id="{5D1D4545-EDB5-83C9-3404-6CDB1303EB42}"/>
              </a:ext>
            </a:extLst>
          </p:cNvPr>
          <p:cNvGraphicFramePr>
            <a:graphicFrameLocks noGrp="1"/>
          </p:cNvGraphicFramePr>
          <p:nvPr>
            <p:extLst>
              <p:ext uri="{D42A27DB-BD31-4B8C-83A1-F6EECF244321}">
                <p14:modId xmlns:p14="http://schemas.microsoft.com/office/powerpoint/2010/main" val="2750625123"/>
              </p:ext>
            </p:extLst>
          </p:nvPr>
        </p:nvGraphicFramePr>
        <p:xfrm>
          <a:off x="520698" y="1689100"/>
          <a:ext cx="11125202" cy="4374238"/>
        </p:xfrm>
        <a:graphic>
          <a:graphicData uri="http://schemas.openxmlformats.org/drawingml/2006/table">
            <a:tbl>
              <a:tblPr firstRow="1" bandRow="1">
                <a:tableStyleId>{5C22544A-7EE6-4342-B048-85BDC9FD1C3A}</a:tableStyleId>
              </a:tblPr>
              <a:tblGrid>
                <a:gridCol w="1164770">
                  <a:extLst>
                    <a:ext uri="{9D8B030D-6E8A-4147-A177-3AD203B41FA5}">
                      <a16:colId xmlns:a16="http://schemas.microsoft.com/office/drawing/2014/main" val="3286543752"/>
                    </a:ext>
                  </a:extLst>
                </a:gridCol>
                <a:gridCol w="819604">
                  <a:extLst>
                    <a:ext uri="{9D8B030D-6E8A-4147-A177-3AD203B41FA5}">
                      <a16:colId xmlns:a16="http://schemas.microsoft.com/office/drawing/2014/main" val="957957534"/>
                    </a:ext>
                  </a:extLst>
                </a:gridCol>
                <a:gridCol w="831850">
                  <a:extLst>
                    <a:ext uri="{9D8B030D-6E8A-4147-A177-3AD203B41FA5}">
                      <a16:colId xmlns:a16="http://schemas.microsoft.com/office/drawing/2014/main" val="2788516395"/>
                    </a:ext>
                  </a:extLst>
                </a:gridCol>
                <a:gridCol w="831850">
                  <a:extLst>
                    <a:ext uri="{9D8B030D-6E8A-4147-A177-3AD203B41FA5}">
                      <a16:colId xmlns:a16="http://schemas.microsoft.com/office/drawing/2014/main" val="3494450614"/>
                    </a:ext>
                  </a:extLst>
                </a:gridCol>
                <a:gridCol w="831850">
                  <a:extLst>
                    <a:ext uri="{9D8B030D-6E8A-4147-A177-3AD203B41FA5}">
                      <a16:colId xmlns:a16="http://schemas.microsoft.com/office/drawing/2014/main" val="271569658"/>
                    </a:ext>
                  </a:extLst>
                </a:gridCol>
                <a:gridCol w="831850">
                  <a:extLst>
                    <a:ext uri="{9D8B030D-6E8A-4147-A177-3AD203B41FA5}">
                      <a16:colId xmlns:a16="http://schemas.microsoft.com/office/drawing/2014/main" val="1191384392"/>
                    </a:ext>
                  </a:extLst>
                </a:gridCol>
                <a:gridCol w="831850">
                  <a:extLst>
                    <a:ext uri="{9D8B030D-6E8A-4147-A177-3AD203B41FA5}">
                      <a16:colId xmlns:a16="http://schemas.microsoft.com/office/drawing/2014/main" val="2765716329"/>
                    </a:ext>
                  </a:extLst>
                </a:gridCol>
                <a:gridCol w="828675">
                  <a:extLst>
                    <a:ext uri="{9D8B030D-6E8A-4147-A177-3AD203B41FA5}">
                      <a16:colId xmlns:a16="http://schemas.microsoft.com/office/drawing/2014/main" val="3777387760"/>
                    </a:ext>
                  </a:extLst>
                </a:gridCol>
                <a:gridCol w="835025">
                  <a:extLst>
                    <a:ext uri="{9D8B030D-6E8A-4147-A177-3AD203B41FA5}">
                      <a16:colId xmlns:a16="http://schemas.microsoft.com/office/drawing/2014/main" val="2634850530"/>
                    </a:ext>
                  </a:extLst>
                </a:gridCol>
                <a:gridCol w="828675">
                  <a:extLst>
                    <a:ext uri="{9D8B030D-6E8A-4147-A177-3AD203B41FA5}">
                      <a16:colId xmlns:a16="http://schemas.microsoft.com/office/drawing/2014/main" val="548469210"/>
                    </a:ext>
                  </a:extLst>
                </a:gridCol>
                <a:gridCol w="831850">
                  <a:extLst>
                    <a:ext uri="{9D8B030D-6E8A-4147-A177-3AD203B41FA5}">
                      <a16:colId xmlns:a16="http://schemas.microsoft.com/office/drawing/2014/main" val="1067487075"/>
                    </a:ext>
                  </a:extLst>
                </a:gridCol>
                <a:gridCol w="831850">
                  <a:extLst>
                    <a:ext uri="{9D8B030D-6E8A-4147-A177-3AD203B41FA5}">
                      <a16:colId xmlns:a16="http://schemas.microsoft.com/office/drawing/2014/main" val="1880836460"/>
                    </a:ext>
                  </a:extLst>
                </a:gridCol>
                <a:gridCol w="825503">
                  <a:extLst>
                    <a:ext uri="{9D8B030D-6E8A-4147-A177-3AD203B41FA5}">
                      <a16:colId xmlns:a16="http://schemas.microsoft.com/office/drawing/2014/main" val="2065207213"/>
                    </a:ext>
                  </a:extLst>
                </a:gridCol>
              </a:tblGrid>
              <a:tr h="459467">
                <a:tc>
                  <a:txBody>
                    <a:bodyPr/>
                    <a:lstStyle/>
                    <a:p>
                      <a:r>
                        <a:rPr lang="en-US" sz="1200" b="1">
                          <a:solidFill>
                            <a:schemeClr val="tx1"/>
                          </a:solidFill>
                        </a:rPr>
                        <a:t>Workstreams</a:t>
                      </a:r>
                    </a:p>
                  </a:txBody>
                  <a:tcPr marR="0" anchor="ctr">
                    <a:lnR w="12700" cmpd="sng">
                      <a:noFill/>
                    </a:lnR>
                    <a:lnB w="9525" cap="flat" cmpd="sng" algn="ctr">
                      <a:noFill/>
                      <a:prstDash val="sysDash"/>
                      <a:round/>
                      <a:headEnd type="none" w="med" len="med"/>
                      <a:tailEnd type="none" w="med" len="med"/>
                    </a:lnB>
                    <a:solidFill>
                      <a:schemeClr val="bg1"/>
                    </a:solidFill>
                  </a:tcPr>
                </a:tc>
                <a:tc>
                  <a:txBody>
                    <a:bodyPr/>
                    <a:lstStyle/>
                    <a:p>
                      <a:pPr algn="ctr"/>
                      <a:r>
                        <a:rPr lang="en-US" sz="1100">
                          <a:solidFill>
                            <a:schemeClr val="bg1"/>
                          </a:solidFill>
                        </a:rPr>
                        <a:t>Oct ’26</a:t>
                      </a:r>
                    </a:p>
                  </a:txBody>
                  <a:tcPr anchor="ctr">
                    <a:lnL w="12700" cmpd="sng">
                      <a:noFill/>
                    </a:lnL>
                    <a:lnR w="12700" cmpd="sng">
                      <a:noFill/>
                    </a:lnR>
                    <a:lnT w="12700" cmpd="sng">
                      <a:noFill/>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solidFill>
                            <a:schemeClr val="bg1"/>
                          </a:solidFill>
                        </a:rPr>
                        <a:t>Nov ’26</a:t>
                      </a:r>
                    </a:p>
                  </a:txBody>
                  <a:tcPr anchor="ctr">
                    <a:lnL w="12700" cmpd="sng">
                      <a:noFill/>
                    </a:lnL>
                    <a:lnR w="12700" cmpd="sng">
                      <a:noFill/>
                    </a:lnR>
                    <a:lnT w="12700" cmpd="sng">
                      <a:noFill/>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solidFill>
                            <a:schemeClr val="bg1"/>
                          </a:solidFill>
                        </a:rPr>
                        <a:t>Dec ‘26</a:t>
                      </a:r>
                    </a:p>
                  </a:txBody>
                  <a:tcPr anchor="ctr">
                    <a:lnL w="12700" cmpd="sng">
                      <a:noFill/>
                    </a:lnL>
                    <a:lnR w="12700" cmpd="sng">
                      <a:noFill/>
                    </a:lnR>
                    <a:lnT w="12700" cmpd="sng">
                      <a:noFill/>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solidFill>
                            <a:schemeClr val="bg1"/>
                          </a:solidFill>
                        </a:rPr>
                        <a:t>Jan ’27</a:t>
                      </a:r>
                    </a:p>
                  </a:txBody>
                  <a:tcPr anchor="ctr">
                    <a:lnL w="12700" cmpd="sng">
                      <a:noFill/>
                    </a:lnL>
                    <a:lnR w="12700" cmpd="sng">
                      <a:noFill/>
                    </a:lnR>
                    <a:lnT w="12700" cmpd="sng">
                      <a:noFill/>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solidFill>
                            <a:schemeClr val="bg1"/>
                          </a:solidFill>
                        </a:rPr>
                        <a:t>Feb ’27</a:t>
                      </a:r>
                    </a:p>
                  </a:txBody>
                  <a:tcPr anchor="ctr">
                    <a:lnL w="12700" cmpd="sng">
                      <a:noFill/>
                    </a:lnL>
                    <a:lnR w="12700" cmpd="sng">
                      <a:noFill/>
                    </a:lnR>
                    <a:lnT w="12700" cmpd="sng">
                      <a:noFill/>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solidFill>
                            <a:schemeClr val="bg1"/>
                          </a:solidFill>
                        </a:rPr>
                        <a:t>Mar ’27</a:t>
                      </a:r>
                    </a:p>
                  </a:txBody>
                  <a:tcPr anchor="ctr">
                    <a:lnL w="12700" cmpd="sng">
                      <a:noFill/>
                    </a:lnL>
                    <a:lnR w="12700" cmpd="sng">
                      <a:noFill/>
                    </a:lnR>
                    <a:lnT w="12700" cmpd="sng">
                      <a:noFill/>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solidFill>
                            <a:schemeClr val="bg1"/>
                          </a:solidFill>
                        </a:rPr>
                        <a:t>Apr ’27</a:t>
                      </a:r>
                    </a:p>
                  </a:txBody>
                  <a:tcPr anchor="ctr">
                    <a:lnL w="12700" cmpd="sng">
                      <a:noFill/>
                    </a:lnL>
                    <a:lnR w="12700" cmpd="sng">
                      <a:noFill/>
                    </a:lnR>
                    <a:lnT w="12700" cmpd="sng">
                      <a:noFill/>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solidFill>
                            <a:schemeClr val="bg1"/>
                          </a:solidFill>
                        </a:rPr>
                        <a:t>May ‘27</a:t>
                      </a:r>
                    </a:p>
                  </a:txBody>
                  <a:tcPr anchor="ctr">
                    <a:lnL w="12700" cmpd="sng">
                      <a:noFill/>
                    </a:lnL>
                    <a:lnR w="12700" cmpd="sng">
                      <a:noFill/>
                    </a:lnR>
                    <a:lnT w="12700" cmpd="sng">
                      <a:noFill/>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solidFill>
                            <a:schemeClr val="bg1"/>
                          </a:solidFill>
                        </a:rPr>
                        <a:t>Jun ’27</a:t>
                      </a:r>
                    </a:p>
                  </a:txBody>
                  <a:tcPr anchor="ctr">
                    <a:lnL w="12700" cmpd="sng">
                      <a:noFill/>
                    </a:lnL>
                    <a:lnR w="12700" cmpd="sng">
                      <a:noFill/>
                    </a:lnR>
                    <a:lnT w="12700" cmpd="sng">
                      <a:noFill/>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solidFill>
                            <a:schemeClr val="bg1"/>
                          </a:solidFill>
                        </a:rPr>
                        <a:t>Jul ’27</a:t>
                      </a:r>
                    </a:p>
                  </a:txBody>
                  <a:tcPr anchor="ctr">
                    <a:lnL w="12700" cmpd="sng">
                      <a:noFill/>
                    </a:lnL>
                    <a:lnR w="12700" cmpd="sng">
                      <a:noFill/>
                    </a:lnR>
                    <a:lnT w="12700" cmpd="sng">
                      <a:noFill/>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solidFill>
                            <a:schemeClr val="bg1"/>
                          </a:solidFill>
                        </a:rPr>
                        <a:t>Aug ‘27</a:t>
                      </a:r>
                    </a:p>
                  </a:txBody>
                  <a:tcPr anchor="ctr">
                    <a:lnL w="12700" cmpd="sng">
                      <a:noFill/>
                    </a:lnL>
                    <a:lnR w="12700" cmpd="sng">
                      <a:noFill/>
                    </a:lnR>
                    <a:lnT w="12700" cmpd="sng">
                      <a:noFill/>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solidFill>
                            <a:schemeClr val="bg1"/>
                          </a:solidFill>
                        </a:rPr>
                        <a:t>Sep‘27</a:t>
                      </a:r>
                    </a:p>
                  </a:txBody>
                  <a:tcPr anchor="ctr">
                    <a:lnL w="12700" cmpd="sng">
                      <a:noFill/>
                    </a:lnL>
                    <a:lnR w="6350" cap="flat" cmpd="sng" algn="ctr">
                      <a:noFill/>
                      <a:prstDash val="sysDash"/>
                      <a:round/>
                      <a:headEnd type="none" w="med" len="med"/>
                      <a:tailEnd type="none" w="med" len="med"/>
                    </a:lnR>
                    <a:lnT w="12700" cmpd="sng">
                      <a:noFill/>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0541297"/>
                  </a:ext>
                </a:extLst>
              </a:tr>
              <a:tr h="559253">
                <a:tc>
                  <a:txBody>
                    <a:bodyPr/>
                    <a:lstStyle/>
                    <a:p>
                      <a:pPr algn="ctr"/>
                      <a:r>
                        <a:rPr lang="en-US" sz="1200" b="1">
                          <a:solidFill>
                            <a:schemeClr val="bg1"/>
                          </a:solidFill>
                        </a:rPr>
                        <a:t>0</a:t>
                      </a:r>
                    </a:p>
                  </a:txBody>
                  <a:tcPr anchor="ctr">
                    <a:lnR w="9525" cap="flat" cmpd="sng" algn="ctr">
                      <a:solidFill>
                        <a:srgbClr val="868686"/>
                      </a:solidFill>
                      <a:prstDash val="sysDash"/>
                      <a:round/>
                      <a:headEnd type="none" w="med" len="med"/>
                      <a:tailEnd type="none" w="med" len="med"/>
                    </a:lnR>
                    <a:lnT w="9525" cap="flat" cmpd="sng" algn="ctr">
                      <a:noFill/>
                      <a:prstDash val="sysDash"/>
                      <a:round/>
                      <a:headEnd type="none" w="med" len="med"/>
                      <a:tailEnd type="none" w="med" len="med"/>
                    </a:lnT>
                    <a:solidFill>
                      <a:srgbClr val="0A4B8C"/>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9525" cap="flat" cmpd="sng" algn="ctr">
                      <a:no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9525" cap="flat" cmpd="sng" algn="ctr">
                      <a:no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9525" cap="flat" cmpd="sng" algn="ctr">
                      <a:no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9525" cap="flat" cmpd="sng" algn="ctr">
                      <a:no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9525" cap="flat" cmpd="sng" algn="ctr">
                      <a:no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9525" cap="flat" cmpd="sng" algn="ctr">
                      <a:no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9525" cap="flat" cmpd="sng" algn="ctr">
                      <a:no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9525" cap="flat" cmpd="sng" algn="ctr">
                      <a:no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9525" cap="flat" cmpd="sng" algn="ctr">
                      <a:no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9525" cap="flat" cmpd="sng" algn="ctr">
                      <a:no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9525" cap="flat" cmpd="sng" algn="ctr">
                      <a:no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9525" cap="flat" cmpd="sng" algn="ctr">
                      <a:no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extLst>
                  <a:ext uri="{0D108BD9-81ED-4DB2-BD59-A6C34878D82A}">
                    <a16:rowId xmlns:a16="http://schemas.microsoft.com/office/drawing/2014/main" val="403347737"/>
                  </a:ext>
                </a:extLst>
              </a:tr>
              <a:tr h="559253">
                <a:tc>
                  <a:txBody>
                    <a:bodyPr/>
                    <a:lstStyle/>
                    <a:p>
                      <a:pPr algn="ctr"/>
                      <a:r>
                        <a:rPr lang="en-US" sz="1200" b="1">
                          <a:solidFill>
                            <a:schemeClr val="bg1"/>
                          </a:solidFill>
                        </a:rPr>
                        <a:t>A</a:t>
                      </a:r>
                    </a:p>
                  </a:txBody>
                  <a:tcPr anchor="ctr">
                    <a:lnR w="9525" cap="flat" cmpd="sng" algn="ctr">
                      <a:solidFill>
                        <a:srgbClr val="868686"/>
                      </a:solidFill>
                      <a:prstDash val="sysDash"/>
                      <a:round/>
                      <a:headEnd type="none" w="med" len="med"/>
                      <a:tailEnd type="none" w="med" len="med"/>
                    </a:lnR>
                    <a:solidFill>
                      <a:srgbClr val="267AC0"/>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extLst>
                  <a:ext uri="{0D108BD9-81ED-4DB2-BD59-A6C34878D82A}">
                    <a16:rowId xmlns:a16="http://schemas.microsoft.com/office/drawing/2014/main" val="2459435062"/>
                  </a:ext>
                </a:extLst>
              </a:tr>
              <a:tr h="559253">
                <a:tc>
                  <a:txBody>
                    <a:bodyPr/>
                    <a:lstStyle/>
                    <a:p>
                      <a:pPr algn="ctr"/>
                      <a:r>
                        <a:rPr lang="en-US" sz="1200" b="1">
                          <a:solidFill>
                            <a:schemeClr val="bg1"/>
                          </a:solidFill>
                        </a:rPr>
                        <a:t>B</a:t>
                      </a:r>
                    </a:p>
                  </a:txBody>
                  <a:tcPr anchor="ctr">
                    <a:lnR w="9525" cap="flat" cmpd="sng" algn="ctr">
                      <a:solidFill>
                        <a:srgbClr val="868686"/>
                      </a:solidFill>
                      <a:prstDash val="sysDash"/>
                      <a:round/>
                      <a:headEnd type="none" w="med" len="med"/>
                      <a:tailEnd type="none" w="med" len="med"/>
                    </a:lnR>
                    <a:solidFill>
                      <a:srgbClr val="0B315E"/>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267AC0"/>
                      </a:solidFill>
                      <a:prstDash val="sysDash"/>
                      <a:round/>
                      <a:headEnd type="none" w="med" len="med"/>
                      <a:tailEnd type="none" w="med" len="med"/>
                    </a:lnT>
                    <a:lnB w="6350" cap="flat" cmpd="sng" algn="ctr">
                      <a:solidFill>
                        <a:srgbClr val="0B315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267AC0"/>
                      </a:solidFill>
                      <a:prstDash val="sysDash"/>
                      <a:round/>
                      <a:headEnd type="none" w="med" len="med"/>
                      <a:tailEnd type="none" w="med" len="med"/>
                    </a:lnT>
                    <a:lnB w="6350" cap="flat" cmpd="sng" algn="ctr">
                      <a:solidFill>
                        <a:srgbClr val="0B315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267AC0"/>
                      </a:solidFill>
                      <a:prstDash val="sysDash"/>
                      <a:round/>
                      <a:headEnd type="none" w="med" len="med"/>
                      <a:tailEnd type="none" w="med" len="med"/>
                    </a:lnT>
                    <a:lnB w="6350" cap="flat" cmpd="sng" algn="ctr">
                      <a:solidFill>
                        <a:srgbClr val="0B315E"/>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267AC0"/>
                      </a:solidFill>
                      <a:prstDash val="sysDash"/>
                      <a:round/>
                      <a:headEnd type="none" w="med" len="med"/>
                      <a:tailEnd type="none" w="med" len="med"/>
                    </a:lnT>
                    <a:lnB w="6350" cap="flat" cmpd="sng" algn="ctr">
                      <a:solidFill>
                        <a:srgbClr val="0B315E"/>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267AC0"/>
                      </a:solidFill>
                      <a:prstDash val="sysDash"/>
                      <a:round/>
                      <a:headEnd type="none" w="med" len="med"/>
                      <a:tailEnd type="none" w="med" len="med"/>
                    </a:lnT>
                    <a:lnB w="6350" cap="flat" cmpd="sng" algn="ctr">
                      <a:solidFill>
                        <a:srgbClr val="0B315E"/>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267AC0"/>
                      </a:solidFill>
                      <a:prstDash val="sysDash"/>
                      <a:round/>
                      <a:headEnd type="none" w="med" len="med"/>
                      <a:tailEnd type="none" w="med" len="med"/>
                    </a:lnT>
                    <a:lnB w="6350" cap="flat" cmpd="sng" algn="ctr">
                      <a:solidFill>
                        <a:srgbClr val="0B315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267AC0"/>
                      </a:solidFill>
                      <a:prstDash val="sysDash"/>
                      <a:round/>
                      <a:headEnd type="none" w="med" len="med"/>
                      <a:tailEnd type="none" w="med" len="med"/>
                    </a:lnT>
                    <a:lnB w="6350" cap="flat" cmpd="sng" algn="ctr">
                      <a:solidFill>
                        <a:srgbClr val="0B315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267AC0"/>
                      </a:solidFill>
                      <a:prstDash val="sysDash"/>
                      <a:round/>
                      <a:headEnd type="none" w="med" len="med"/>
                      <a:tailEnd type="none" w="med" len="med"/>
                    </a:lnT>
                    <a:lnB w="6350" cap="flat" cmpd="sng" algn="ctr">
                      <a:solidFill>
                        <a:srgbClr val="0B315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267AC0"/>
                      </a:solidFill>
                      <a:prstDash val="sysDash"/>
                      <a:round/>
                      <a:headEnd type="none" w="med" len="med"/>
                      <a:tailEnd type="none" w="med" len="med"/>
                    </a:lnT>
                    <a:lnB w="6350" cap="flat" cmpd="sng" algn="ctr">
                      <a:solidFill>
                        <a:srgbClr val="0B315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267AC0"/>
                      </a:solidFill>
                      <a:prstDash val="sysDash"/>
                      <a:round/>
                      <a:headEnd type="none" w="med" len="med"/>
                      <a:tailEnd type="none" w="med" len="med"/>
                    </a:lnT>
                    <a:lnB w="6350" cap="flat" cmpd="sng" algn="ctr">
                      <a:solidFill>
                        <a:srgbClr val="0B315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267AC0"/>
                      </a:solidFill>
                      <a:prstDash val="sysDash"/>
                      <a:round/>
                      <a:headEnd type="none" w="med" len="med"/>
                      <a:tailEnd type="none" w="med" len="med"/>
                    </a:lnT>
                    <a:lnB w="6350" cap="flat" cmpd="sng" algn="ctr">
                      <a:solidFill>
                        <a:srgbClr val="0B315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267AC0"/>
                      </a:solidFill>
                      <a:prstDash val="sysDash"/>
                      <a:round/>
                      <a:headEnd type="none" w="med" len="med"/>
                      <a:tailEnd type="none" w="med" len="med"/>
                    </a:lnT>
                    <a:lnB w="6350" cap="flat" cmpd="sng" algn="ctr">
                      <a:solidFill>
                        <a:srgbClr val="0B315E"/>
                      </a:solidFill>
                      <a:prstDash val="sysDash"/>
                      <a:round/>
                      <a:headEnd type="none" w="med" len="med"/>
                      <a:tailEnd type="none" w="med" len="med"/>
                    </a:lnB>
                    <a:solidFill>
                      <a:schemeClr val="bg1"/>
                    </a:solidFill>
                  </a:tcPr>
                </a:tc>
                <a:extLst>
                  <a:ext uri="{0D108BD9-81ED-4DB2-BD59-A6C34878D82A}">
                    <a16:rowId xmlns:a16="http://schemas.microsoft.com/office/drawing/2014/main" val="3818805527"/>
                  </a:ext>
                </a:extLst>
              </a:tr>
              <a:tr h="559253">
                <a:tc>
                  <a:txBody>
                    <a:bodyPr/>
                    <a:lstStyle/>
                    <a:p>
                      <a:pPr algn="ctr"/>
                      <a:r>
                        <a:rPr lang="en-US" sz="1200" b="1">
                          <a:solidFill>
                            <a:schemeClr val="bg1"/>
                          </a:solidFill>
                        </a:rPr>
                        <a:t>C</a:t>
                      </a:r>
                    </a:p>
                  </a:txBody>
                  <a:tcPr anchor="ctr">
                    <a:lnR w="9525" cap="flat" cmpd="sng" algn="ctr">
                      <a:solidFill>
                        <a:srgbClr val="868686"/>
                      </a:solidFill>
                      <a:prstDash val="sysDash"/>
                      <a:round/>
                      <a:headEnd type="none" w="med" len="med"/>
                      <a:tailEnd type="none" w="med" len="med"/>
                    </a:lnR>
                    <a:solidFill>
                      <a:srgbClr val="00787E"/>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B315E"/>
                      </a:solidFill>
                      <a:prstDash val="sysDash"/>
                      <a:round/>
                      <a:headEnd type="none" w="med" len="med"/>
                      <a:tailEnd type="none" w="med" len="med"/>
                    </a:lnT>
                    <a:lnB w="6350" cap="flat" cmpd="sng" algn="ctr">
                      <a:solidFill>
                        <a:srgbClr val="00787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B315E"/>
                      </a:solidFill>
                      <a:prstDash val="sysDash"/>
                      <a:round/>
                      <a:headEnd type="none" w="med" len="med"/>
                      <a:tailEnd type="none" w="med" len="med"/>
                    </a:lnT>
                    <a:lnB w="6350" cap="flat" cmpd="sng" algn="ctr">
                      <a:solidFill>
                        <a:srgbClr val="00787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B315E"/>
                      </a:solidFill>
                      <a:prstDash val="sysDash"/>
                      <a:round/>
                      <a:headEnd type="none" w="med" len="med"/>
                      <a:tailEnd type="none" w="med" len="med"/>
                    </a:lnT>
                    <a:lnB w="6350" cap="flat" cmpd="sng" algn="ctr">
                      <a:solidFill>
                        <a:srgbClr val="00787E"/>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B315E"/>
                      </a:solidFill>
                      <a:prstDash val="sysDash"/>
                      <a:round/>
                      <a:headEnd type="none" w="med" len="med"/>
                      <a:tailEnd type="none" w="med" len="med"/>
                    </a:lnT>
                    <a:lnB w="6350" cap="flat" cmpd="sng" algn="ctr">
                      <a:solidFill>
                        <a:srgbClr val="00787E"/>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B315E"/>
                      </a:solidFill>
                      <a:prstDash val="sysDash"/>
                      <a:round/>
                      <a:headEnd type="none" w="med" len="med"/>
                      <a:tailEnd type="none" w="med" len="med"/>
                    </a:lnT>
                    <a:lnB w="6350" cap="flat" cmpd="sng" algn="ctr">
                      <a:solidFill>
                        <a:srgbClr val="00787E"/>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B315E"/>
                      </a:solidFill>
                      <a:prstDash val="sysDash"/>
                      <a:round/>
                      <a:headEnd type="none" w="med" len="med"/>
                      <a:tailEnd type="none" w="med" len="med"/>
                    </a:lnT>
                    <a:lnB w="6350" cap="flat" cmpd="sng" algn="ctr">
                      <a:solidFill>
                        <a:srgbClr val="00787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B315E"/>
                      </a:solidFill>
                      <a:prstDash val="sysDash"/>
                      <a:round/>
                      <a:headEnd type="none" w="med" len="med"/>
                      <a:tailEnd type="none" w="med" len="med"/>
                    </a:lnT>
                    <a:lnB w="6350" cap="flat" cmpd="sng" algn="ctr">
                      <a:solidFill>
                        <a:srgbClr val="00787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B315E"/>
                      </a:solidFill>
                      <a:prstDash val="sysDash"/>
                      <a:round/>
                      <a:headEnd type="none" w="med" len="med"/>
                      <a:tailEnd type="none" w="med" len="med"/>
                    </a:lnT>
                    <a:lnB w="6350" cap="flat" cmpd="sng" algn="ctr">
                      <a:solidFill>
                        <a:srgbClr val="00787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B315E"/>
                      </a:solidFill>
                      <a:prstDash val="sysDash"/>
                      <a:round/>
                      <a:headEnd type="none" w="med" len="med"/>
                      <a:tailEnd type="none" w="med" len="med"/>
                    </a:lnT>
                    <a:lnB w="6350" cap="flat" cmpd="sng" algn="ctr">
                      <a:solidFill>
                        <a:srgbClr val="00787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B315E"/>
                      </a:solidFill>
                      <a:prstDash val="sysDash"/>
                      <a:round/>
                      <a:headEnd type="none" w="med" len="med"/>
                      <a:tailEnd type="none" w="med" len="med"/>
                    </a:lnT>
                    <a:lnB w="6350" cap="flat" cmpd="sng" algn="ctr">
                      <a:solidFill>
                        <a:srgbClr val="00787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B315E"/>
                      </a:solidFill>
                      <a:prstDash val="sysDash"/>
                      <a:round/>
                      <a:headEnd type="none" w="med" len="med"/>
                      <a:tailEnd type="none" w="med" len="med"/>
                    </a:lnT>
                    <a:lnB w="6350" cap="flat" cmpd="sng" algn="ctr">
                      <a:solidFill>
                        <a:srgbClr val="00787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B315E"/>
                      </a:solidFill>
                      <a:prstDash val="sysDash"/>
                      <a:round/>
                      <a:headEnd type="none" w="med" len="med"/>
                      <a:tailEnd type="none" w="med" len="med"/>
                    </a:lnT>
                    <a:lnB w="6350" cap="flat" cmpd="sng" algn="ctr">
                      <a:solidFill>
                        <a:srgbClr val="00787E"/>
                      </a:solidFill>
                      <a:prstDash val="sysDash"/>
                      <a:round/>
                      <a:headEnd type="none" w="med" len="med"/>
                      <a:tailEnd type="none" w="med" len="med"/>
                    </a:lnB>
                    <a:solidFill>
                      <a:schemeClr val="bg1"/>
                    </a:solidFill>
                  </a:tcPr>
                </a:tc>
                <a:extLst>
                  <a:ext uri="{0D108BD9-81ED-4DB2-BD59-A6C34878D82A}">
                    <a16:rowId xmlns:a16="http://schemas.microsoft.com/office/drawing/2014/main" val="4061676027"/>
                  </a:ext>
                </a:extLst>
              </a:tr>
              <a:tr h="559253">
                <a:tc>
                  <a:txBody>
                    <a:bodyPr/>
                    <a:lstStyle/>
                    <a:p>
                      <a:pPr algn="ctr"/>
                      <a:r>
                        <a:rPr lang="en-US" sz="1200" b="1">
                          <a:solidFill>
                            <a:schemeClr val="bg1"/>
                          </a:solidFill>
                        </a:rPr>
                        <a:t>D</a:t>
                      </a:r>
                    </a:p>
                  </a:txBody>
                  <a:tcPr anchor="ctr">
                    <a:lnR w="9525" cap="flat" cmpd="sng" algn="ctr">
                      <a:solidFill>
                        <a:srgbClr val="868686"/>
                      </a:solidFill>
                      <a:prstDash val="sysDash"/>
                      <a:round/>
                      <a:headEnd type="none" w="med" len="med"/>
                      <a:tailEnd type="none" w="med" len="med"/>
                    </a:lnR>
                    <a:solidFill>
                      <a:srgbClr val="00A78E"/>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787E"/>
                      </a:solidFill>
                      <a:prstDash val="sysDash"/>
                      <a:round/>
                      <a:headEnd type="none" w="med" len="med"/>
                      <a:tailEnd type="none" w="med" len="med"/>
                    </a:lnT>
                    <a:lnB w="6350" cap="flat" cmpd="sng" algn="ctr">
                      <a:solidFill>
                        <a:srgbClr val="00A78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787E"/>
                      </a:solidFill>
                      <a:prstDash val="sysDash"/>
                      <a:round/>
                      <a:headEnd type="none" w="med" len="med"/>
                      <a:tailEnd type="none" w="med" len="med"/>
                    </a:lnT>
                    <a:lnB w="6350" cap="flat" cmpd="sng" algn="ctr">
                      <a:solidFill>
                        <a:srgbClr val="00A78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787E"/>
                      </a:solidFill>
                      <a:prstDash val="sysDash"/>
                      <a:round/>
                      <a:headEnd type="none" w="med" len="med"/>
                      <a:tailEnd type="none" w="med" len="med"/>
                    </a:lnT>
                    <a:lnB w="6350" cap="flat" cmpd="sng" algn="ctr">
                      <a:solidFill>
                        <a:srgbClr val="00A78E"/>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787E"/>
                      </a:solidFill>
                      <a:prstDash val="sysDash"/>
                      <a:round/>
                      <a:headEnd type="none" w="med" len="med"/>
                      <a:tailEnd type="none" w="med" len="med"/>
                    </a:lnT>
                    <a:lnB w="6350" cap="flat" cmpd="sng" algn="ctr">
                      <a:solidFill>
                        <a:srgbClr val="00A78E"/>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787E"/>
                      </a:solidFill>
                      <a:prstDash val="sysDash"/>
                      <a:round/>
                      <a:headEnd type="none" w="med" len="med"/>
                      <a:tailEnd type="none" w="med" len="med"/>
                    </a:lnT>
                    <a:lnB w="6350" cap="flat" cmpd="sng" algn="ctr">
                      <a:solidFill>
                        <a:srgbClr val="00A78E"/>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787E"/>
                      </a:solidFill>
                      <a:prstDash val="sysDash"/>
                      <a:round/>
                      <a:headEnd type="none" w="med" len="med"/>
                      <a:tailEnd type="none" w="med" len="med"/>
                    </a:lnT>
                    <a:lnB w="6350" cap="flat" cmpd="sng" algn="ctr">
                      <a:solidFill>
                        <a:srgbClr val="00A78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787E"/>
                      </a:solidFill>
                      <a:prstDash val="sysDash"/>
                      <a:round/>
                      <a:headEnd type="none" w="med" len="med"/>
                      <a:tailEnd type="none" w="med" len="med"/>
                    </a:lnT>
                    <a:lnB w="6350" cap="flat" cmpd="sng" algn="ctr">
                      <a:solidFill>
                        <a:srgbClr val="00A78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787E"/>
                      </a:solidFill>
                      <a:prstDash val="sysDash"/>
                      <a:round/>
                      <a:headEnd type="none" w="med" len="med"/>
                      <a:tailEnd type="none" w="med" len="med"/>
                    </a:lnT>
                    <a:lnB w="6350" cap="flat" cmpd="sng" algn="ctr">
                      <a:solidFill>
                        <a:srgbClr val="00A78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787E"/>
                      </a:solidFill>
                      <a:prstDash val="sysDash"/>
                      <a:round/>
                      <a:headEnd type="none" w="med" len="med"/>
                      <a:tailEnd type="none" w="med" len="med"/>
                    </a:lnT>
                    <a:lnB w="6350" cap="flat" cmpd="sng" algn="ctr">
                      <a:solidFill>
                        <a:srgbClr val="00A78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787E"/>
                      </a:solidFill>
                      <a:prstDash val="sysDash"/>
                      <a:round/>
                      <a:headEnd type="none" w="med" len="med"/>
                      <a:tailEnd type="none" w="med" len="med"/>
                    </a:lnT>
                    <a:lnB w="6350" cap="flat" cmpd="sng" algn="ctr">
                      <a:solidFill>
                        <a:srgbClr val="00A78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787E"/>
                      </a:solidFill>
                      <a:prstDash val="sysDash"/>
                      <a:round/>
                      <a:headEnd type="none" w="med" len="med"/>
                      <a:tailEnd type="none" w="med" len="med"/>
                    </a:lnT>
                    <a:lnB w="6350" cap="flat" cmpd="sng" algn="ctr">
                      <a:solidFill>
                        <a:srgbClr val="00A78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787E"/>
                      </a:solidFill>
                      <a:prstDash val="sysDash"/>
                      <a:round/>
                      <a:headEnd type="none" w="med" len="med"/>
                      <a:tailEnd type="none" w="med" len="med"/>
                    </a:lnT>
                    <a:lnB w="6350" cap="flat" cmpd="sng" algn="ctr">
                      <a:solidFill>
                        <a:srgbClr val="00A78E"/>
                      </a:solidFill>
                      <a:prstDash val="sysDash"/>
                      <a:round/>
                      <a:headEnd type="none" w="med" len="med"/>
                      <a:tailEnd type="none" w="med" len="med"/>
                    </a:lnB>
                    <a:solidFill>
                      <a:schemeClr val="bg1"/>
                    </a:solidFill>
                  </a:tcPr>
                </a:tc>
                <a:extLst>
                  <a:ext uri="{0D108BD9-81ED-4DB2-BD59-A6C34878D82A}">
                    <a16:rowId xmlns:a16="http://schemas.microsoft.com/office/drawing/2014/main" val="842420145"/>
                  </a:ext>
                </a:extLst>
              </a:tr>
              <a:tr h="559253">
                <a:tc>
                  <a:txBody>
                    <a:bodyPr/>
                    <a:lstStyle/>
                    <a:p>
                      <a:pPr algn="ctr"/>
                      <a:r>
                        <a:rPr lang="en-US" sz="1200" b="1">
                          <a:solidFill>
                            <a:schemeClr val="bg1"/>
                          </a:solidFill>
                        </a:rPr>
                        <a:t>E</a:t>
                      </a:r>
                    </a:p>
                  </a:txBody>
                  <a:tcPr anchor="ctr">
                    <a:lnR w="9525" cap="flat" cmpd="sng" algn="ctr">
                      <a:solidFill>
                        <a:srgbClr val="868686"/>
                      </a:solidFill>
                      <a:prstDash val="sysDash"/>
                      <a:round/>
                      <a:headEnd type="none" w="med" len="med"/>
                      <a:tailEnd type="none" w="med" len="med"/>
                    </a:lnR>
                    <a:solidFill>
                      <a:srgbClr val="0A4B8C"/>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A78E"/>
                      </a:solid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A78E"/>
                      </a:solid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A78E"/>
                      </a:solid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A78E"/>
                      </a:solid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A78E"/>
                      </a:solid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A78E"/>
                      </a:solid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A78E"/>
                      </a:solid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A78E"/>
                      </a:solid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A78E"/>
                      </a:solid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A78E"/>
                      </a:solid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A78E"/>
                      </a:solid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A78E"/>
                      </a:solid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extLst>
                  <a:ext uri="{0D108BD9-81ED-4DB2-BD59-A6C34878D82A}">
                    <a16:rowId xmlns:a16="http://schemas.microsoft.com/office/drawing/2014/main" val="2116123144"/>
                  </a:ext>
                </a:extLst>
              </a:tr>
              <a:tr h="559253">
                <a:tc>
                  <a:txBody>
                    <a:bodyPr/>
                    <a:lstStyle/>
                    <a:p>
                      <a:pPr algn="ctr"/>
                      <a:r>
                        <a:rPr lang="en-US" sz="1200" b="1">
                          <a:solidFill>
                            <a:schemeClr val="bg1"/>
                          </a:solidFill>
                        </a:rPr>
                        <a:t>F</a:t>
                      </a:r>
                    </a:p>
                  </a:txBody>
                  <a:tcPr anchor="ctr">
                    <a:lnR w="9525" cap="flat" cmpd="sng" algn="ctr">
                      <a:solidFill>
                        <a:srgbClr val="868686"/>
                      </a:solidFill>
                      <a:prstDash val="sysDash"/>
                      <a:round/>
                      <a:headEnd type="none" w="med" len="med"/>
                      <a:tailEnd type="none" w="med" len="med"/>
                    </a:lnR>
                    <a:solidFill>
                      <a:srgbClr val="267AC0"/>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extLst>
                  <a:ext uri="{0D108BD9-81ED-4DB2-BD59-A6C34878D82A}">
                    <a16:rowId xmlns:a16="http://schemas.microsoft.com/office/drawing/2014/main" val="3676472609"/>
                  </a:ext>
                </a:extLst>
              </a:tr>
            </a:tbl>
          </a:graphicData>
        </a:graphic>
      </p:graphicFrame>
      <p:sp>
        <p:nvSpPr>
          <p:cNvPr id="6" name="Text Placeholder 5">
            <a:extLst>
              <a:ext uri="{FF2B5EF4-FFF2-40B4-BE49-F238E27FC236}">
                <a16:creationId xmlns:a16="http://schemas.microsoft.com/office/drawing/2014/main" id="{712F5BCE-80D2-04A2-A54F-659E0E1F9F6A}"/>
              </a:ext>
            </a:extLst>
          </p:cNvPr>
          <p:cNvSpPr>
            <a:spLocks noGrp="1"/>
          </p:cNvSpPr>
          <p:nvPr>
            <p:ph type="body" sz="quarter" idx="10"/>
          </p:nvPr>
        </p:nvSpPr>
        <p:spPr/>
        <p:txBody>
          <a:bodyPr/>
          <a:lstStyle/>
          <a:p>
            <a:r>
              <a:rPr lang="en-US" sz="2800" kern="0">
                <a:solidFill>
                  <a:srgbClr val="FFFFFF"/>
                </a:solidFill>
                <a:cs typeface="CVS Health Sans"/>
              </a:rPr>
              <a:t>Revised Timeline</a:t>
            </a:r>
            <a:endParaRPr lang="en-US" sz="1600" b="0" kern="0">
              <a:solidFill>
                <a:srgbClr val="FF0000"/>
              </a:solidFill>
              <a:highlight>
                <a:srgbClr val="FFFF00"/>
              </a:highlight>
              <a:cs typeface="CVS Health Sans"/>
            </a:endParaRPr>
          </a:p>
        </p:txBody>
      </p:sp>
      <p:cxnSp>
        <p:nvCxnSpPr>
          <p:cNvPr id="16" name="Straight Connector 15">
            <a:extLst>
              <a:ext uri="{FF2B5EF4-FFF2-40B4-BE49-F238E27FC236}">
                <a16:creationId xmlns:a16="http://schemas.microsoft.com/office/drawing/2014/main" id="{BA5548CF-7676-3FEB-F1E9-120CF36652BA}"/>
              </a:ext>
            </a:extLst>
          </p:cNvPr>
          <p:cNvCxnSpPr>
            <a:cxnSpLocks/>
          </p:cNvCxnSpPr>
          <p:nvPr/>
        </p:nvCxnSpPr>
        <p:spPr>
          <a:xfrm>
            <a:off x="531813" y="2710543"/>
            <a:ext cx="1150937" cy="0"/>
          </a:xfrm>
          <a:prstGeom prst="line">
            <a:avLst/>
          </a:prstGeom>
          <a:ln w="12700" cmpd="sng">
            <a:solidFill>
              <a:schemeClr val="bg1"/>
            </a:solidFill>
            <a:headEnd type="ova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9226225-1EA8-2685-2AEF-F44F5D6DE7F9}"/>
              </a:ext>
            </a:extLst>
          </p:cNvPr>
          <p:cNvCxnSpPr>
            <a:cxnSpLocks/>
          </p:cNvCxnSpPr>
          <p:nvPr/>
        </p:nvCxnSpPr>
        <p:spPr>
          <a:xfrm>
            <a:off x="531813" y="3275693"/>
            <a:ext cx="1150937" cy="0"/>
          </a:xfrm>
          <a:prstGeom prst="line">
            <a:avLst/>
          </a:prstGeom>
          <a:ln w="12700" cmpd="sng">
            <a:solidFill>
              <a:schemeClr val="bg1"/>
            </a:solidFill>
            <a:headEnd type="ova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8DB3170-D707-8021-33CE-2A21ABDD8B4C}"/>
              </a:ext>
            </a:extLst>
          </p:cNvPr>
          <p:cNvCxnSpPr>
            <a:cxnSpLocks/>
          </p:cNvCxnSpPr>
          <p:nvPr/>
        </p:nvCxnSpPr>
        <p:spPr>
          <a:xfrm>
            <a:off x="531813" y="3834493"/>
            <a:ext cx="1150937" cy="0"/>
          </a:xfrm>
          <a:prstGeom prst="line">
            <a:avLst/>
          </a:prstGeom>
          <a:ln w="12700" cmpd="sng">
            <a:solidFill>
              <a:schemeClr val="bg1"/>
            </a:solidFill>
            <a:headEnd type="ova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90C3101-2C90-B0A3-E0E7-EF5875F625EE}"/>
              </a:ext>
            </a:extLst>
          </p:cNvPr>
          <p:cNvCxnSpPr>
            <a:cxnSpLocks/>
          </p:cNvCxnSpPr>
          <p:nvPr/>
        </p:nvCxnSpPr>
        <p:spPr>
          <a:xfrm>
            <a:off x="531813" y="4393293"/>
            <a:ext cx="1150937" cy="0"/>
          </a:xfrm>
          <a:prstGeom prst="line">
            <a:avLst/>
          </a:prstGeom>
          <a:ln w="12700" cmpd="sng">
            <a:solidFill>
              <a:schemeClr val="bg1"/>
            </a:solidFill>
            <a:headEnd type="ova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B58FA4C-52B4-830D-0C10-F5FAAA017460}"/>
              </a:ext>
            </a:extLst>
          </p:cNvPr>
          <p:cNvCxnSpPr>
            <a:cxnSpLocks/>
          </p:cNvCxnSpPr>
          <p:nvPr/>
        </p:nvCxnSpPr>
        <p:spPr>
          <a:xfrm>
            <a:off x="531813" y="4945743"/>
            <a:ext cx="1150937" cy="0"/>
          </a:xfrm>
          <a:prstGeom prst="line">
            <a:avLst/>
          </a:prstGeom>
          <a:ln w="12700" cmpd="sng">
            <a:solidFill>
              <a:schemeClr val="bg1"/>
            </a:solidFill>
            <a:headEnd type="ova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18B00AC-2357-935E-54AB-61D7778AE2A8}"/>
              </a:ext>
            </a:extLst>
          </p:cNvPr>
          <p:cNvCxnSpPr>
            <a:cxnSpLocks/>
          </p:cNvCxnSpPr>
          <p:nvPr/>
        </p:nvCxnSpPr>
        <p:spPr>
          <a:xfrm>
            <a:off x="531813" y="5517243"/>
            <a:ext cx="1150937" cy="0"/>
          </a:xfrm>
          <a:prstGeom prst="line">
            <a:avLst/>
          </a:prstGeom>
          <a:ln w="12700" cmpd="sng">
            <a:solidFill>
              <a:schemeClr val="bg1"/>
            </a:solidFill>
            <a:headEnd type="ova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2D9D631-5E8A-1872-6EE0-35C9F223E7D9}"/>
              </a:ext>
            </a:extLst>
          </p:cNvPr>
          <p:cNvCxnSpPr>
            <a:cxnSpLocks/>
          </p:cNvCxnSpPr>
          <p:nvPr/>
        </p:nvCxnSpPr>
        <p:spPr>
          <a:xfrm>
            <a:off x="531813" y="6063338"/>
            <a:ext cx="1150937" cy="0"/>
          </a:xfrm>
          <a:prstGeom prst="line">
            <a:avLst/>
          </a:prstGeom>
          <a:ln w="12700" cmpd="sng">
            <a:solidFill>
              <a:schemeClr val="bg1"/>
            </a:solidFill>
            <a:headEnd type="ova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34A3E610-AB06-1368-2299-85B26164DE88}"/>
              </a:ext>
            </a:extLst>
          </p:cNvPr>
          <p:cNvCxnSpPr>
            <a:cxnSpLocks/>
          </p:cNvCxnSpPr>
          <p:nvPr/>
        </p:nvCxnSpPr>
        <p:spPr>
          <a:xfrm>
            <a:off x="531813" y="2139040"/>
            <a:ext cx="1150937" cy="0"/>
          </a:xfrm>
          <a:prstGeom prst="line">
            <a:avLst/>
          </a:prstGeom>
          <a:ln w="12700" cmpd="sng">
            <a:solidFill>
              <a:schemeClr val="bg1"/>
            </a:solidFill>
            <a:headEnd type="oval"/>
          </a:ln>
        </p:spPr>
        <p:style>
          <a:lnRef idx="1">
            <a:schemeClr val="accent1"/>
          </a:lnRef>
          <a:fillRef idx="0">
            <a:schemeClr val="accent1"/>
          </a:fillRef>
          <a:effectRef idx="0">
            <a:schemeClr val="accent1"/>
          </a:effectRef>
          <a:fontRef idx="minor">
            <a:schemeClr val="tx1"/>
          </a:fontRef>
        </p:style>
      </p:cxnSp>
      <p:grpSp>
        <p:nvGrpSpPr>
          <p:cNvPr id="57" name="Group 56">
            <a:extLst>
              <a:ext uri="{FF2B5EF4-FFF2-40B4-BE49-F238E27FC236}">
                <a16:creationId xmlns:a16="http://schemas.microsoft.com/office/drawing/2014/main" id="{04252ECE-0653-F274-F250-817F940EACB6}"/>
              </a:ext>
            </a:extLst>
          </p:cNvPr>
          <p:cNvGrpSpPr/>
          <p:nvPr/>
        </p:nvGrpSpPr>
        <p:grpSpPr>
          <a:xfrm>
            <a:off x="2230243" y="2200470"/>
            <a:ext cx="1398784" cy="296252"/>
            <a:chOff x="1851474" y="2200470"/>
            <a:chExt cx="1424651" cy="296252"/>
          </a:xfrm>
        </p:grpSpPr>
        <p:sp>
          <p:nvSpPr>
            <p:cNvPr id="56" name="TextBox 55">
              <a:extLst>
                <a:ext uri="{FF2B5EF4-FFF2-40B4-BE49-F238E27FC236}">
                  <a16:creationId xmlns:a16="http://schemas.microsoft.com/office/drawing/2014/main" id="{F250E746-BBA9-E38D-2037-D2317FC46306}"/>
                </a:ext>
              </a:extLst>
            </p:cNvPr>
            <p:cNvSpPr txBox="1"/>
            <p:nvPr/>
          </p:nvSpPr>
          <p:spPr>
            <a:xfrm>
              <a:off x="2047959" y="2200470"/>
              <a:ext cx="1228166" cy="153888"/>
            </a:xfrm>
            <a:prstGeom prst="rect">
              <a:avLst/>
            </a:prstGeom>
            <a:noFill/>
          </p:spPr>
          <p:txBody>
            <a:bodyPr wrap="non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3F3F3F"/>
                  </a:solidFill>
                  <a:effectLst/>
                  <a:uLnTx/>
                  <a:uFillTx/>
                  <a:latin typeface="CVS Health Sans"/>
                  <a:ea typeface="+mn-ea"/>
                  <a:cs typeface="+mn-cs"/>
                </a:rPr>
                <a:t>Pattern Framework Ready</a:t>
              </a:r>
            </a:p>
          </p:txBody>
        </p:sp>
        <p:pic>
          <p:nvPicPr>
            <p:cNvPr id="52" name="Graphic 51" descr="CVS Health logo.">
              <a:extLst>
                <a:ext uri="{FF2B5EF4-FFF2-40B4-BE49-F238E27FC236}">
                  <a16:creationId xmlns:a16="http://schemas.microsoft.com/office/drawing/2014/main" id="{D78E3531-BC4E-6E01-6E33-B9A5653038E2}"/>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t="-1" r="84117" b="-77793"/>
            <a:stretch>
              <a:fillRect/>
            </a:stretch>
          </p:blipFill>
          <p:spPr>
            <a:xfrm>
              <a:off x="1851474" y="2220345"/>
              <a:ext cx="202370" cy="276377"/>
            </a:xfrm>
            <a:prstGeom prst="rect">
              <a:avLst/>
            </a:prstGeom>
          </p:spPr>
        </p:pic>
      </p:grpSp>
      <p:sp>
        <p:nvSpPr>
          <p:cNvPr id="59" name="TextBox 58">
            <a:extLst>
              <a:ext uri="{FF2B5EF4-FFF2-40B4-BE49-F238E27FC236}">
                <a16:creationId xmlns:a16="http://schemas.microsoft.com/office/drawing/2014/main" id="{E916BB8D-F52F-53B0-F389-2AA0E014AD26}"/>
              </a:ext>
            </a:extLst>
          </p:cNvPr>
          <p:cNvSpPr txBox="1"/>
          <p:nvPr/>
        </p:nvSpPr>
        <p:spPr>
          <a:xfrm>
            <a:off x="3521331" y="2193537"/>
            <a:ext cx="2154757" cy="184406"/>
          </a:xfrm>
          <a:prstGeom prst="rect">
            <a:avLst/>
          </a:prstGeom>
          <a:noFill/>
        </p:spPr>
        <p:txBody>
          <a:bodyPr wrap="non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a:ln>
                  <a:noFill/>
                </a:ln>
                <a:solidFill>
                  <a:srgbClr val="3F3F3F"/>
                </a:solidFill>
                <a:effectLst/>
                <a:uLnTx/>
                <a:uFillTx/>
                <a:latin typeface="CVS Health Sans"/>
                <a:ea typeface="+mn-ea"/>
                <a:cs typeface="+mn-cs"/>
              </a:rPr>
              <a:t>Welcome Season Change Freeze</a:t>
            </a:r>
          </a:p>
        </p:txBody>
      </p:sp>
      <p:grpSp>
        <p:nvGrpSpPr>
          <p:cNvPr id="207" name="Group 206">
            <a:extLst>
              <a:ext uri="{FF2B5EF4-FFF2-40B4-BE49-F238E27FC236}">
                <a16:creationId xmlns:a16="http://schemas.microsoft.com/office/drawing/2014/main" id="{12FA913E-F6AA-E1A4-CA8D-812CF34AEA27}"/>
              </a:ext>
            </a:extLst>
          </p:cNvPr>
          <p:cNvGrpSpPr/>
          <p:nvPr/>
        </p:nvGrpSpPr>
        <p:grpSpPr>
          <a:xfrm>
            <a:off x="1697038" y="2400838"/>
            <a:ext cx="9948862" cy="219456"/>
            <a:chOff x="1697038" y="2400838"/>
            <a:chExt cx="9948862" cy="219456"/>
          </a:xfrm>
        </p:grpSpPr>
        <p:sp>
          <p:nvSpPr>
            <p:cNvPr id="40" name="Rectangle: Rounded Corners 39">
              <a:extLst>
                <a:ext uri="{FF2B5EF4-FFF2-40B4-BE49-F238E27FC236}">
                  <a16:creationId xmlns:a16="http://schemas.microsoft.com/office/drawing/2014/main" id="{A951C21E-C18D-E5C6-01E5-428515B638C5}"/>
                </a:ext>
              </a:extLst>
            </p:cNvPr>
            <p:cNvSpPr/>
            <p:nvPr/>
          </p:nvSpPr>
          <p:spPr bwMode="gray">
            <a:xfrm>
              <a:off x="1697038" y="2400838"/>
              <a:ext cx="9948862" cy="219456"/>
            </a:xfrm>
            <a:prstGeom prst="roundRect">
              <a:avLst>
                <a:gd name="adj" fmla="val 50000"/>
              </a:avLst>
            </a:prstGeom>
            <a:solidFill>
              <a:srgbClr val="0A4B8C"/>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61" name="TextBox 60">
              <a:extLst>
                <a:ext uri="{FF2B5EF4-FFF2-40B4-BE49-F238E27FC236}">
                  <a16:creationId xmlns:a16="http://schemas.microsoft.com/office/drawing/2014/main" id="{66DFEA7D-9CDB-352E-AE62-5D6D9A3241C2}"/>
                </a:ext>
              </a:extLst>
            </p:cNvPr>
            <p:cNvSpPr txBox="1"/>
            <p:nvPr/>
          </p:nvSpPr>
          <p:spPr>
            <a:xfrm>
              <a:off x="6172935" y="2449011"/>
              <a:ext cx="997068" cy="12311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VS Health Sans" panose="020B0504020202020204" pitchFamily="34" charset="0"/>
                  <a:ea typeface="+mn-ea"/>
                  <a:cs typeface="+mn-cs"/>
                </a:rPr>
                <a:t>Project Management</a:t>
              </a:r>
            </a:p>
          </p:txBody>
        </p:sp>
      </p:grpSp>
      <p:sp>
        <p:nvSpPr>
          <p:cNvPr id="47" name="Rectangle: Rounded Corners 46">
            <a:extLst>
              <a:ext uri="{FF2B5EF4-FFF2-40B4-BE49-F238E27FC236}">
                <a16:creationId xmlns:a16="http://schemas.microsoft.com/office/drawing/2014/main" id="{FC15F6EA-D72F-4797-4B6F-F950D740CD68}"/>
              </a:ext>
            </a:extLst>
          </p:cNvPr>
          <p:cNvSpPr/>
          <p:nvPr/>
        </p:nvSpPr>
        <p:spPr bwMode="gray">
          <a:xfrm>
            <a:off x="1697037" y="2736890"/>
            <a:ext cx="2468880" cy="146304"/>
          </a:xfrm>
          <a:prstGeom prst="roundRect">
            <a:avLst>
              <a:gd name="adj" fmla="val 50000"/>
            </a:avLst>
          </a:prstGeom>
          <a:solidFill>
            <a:srgbClr val="267AC0"/>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defRPr/>
            </a:pPr>
            <a:r>
              <a:rPr lang="en-US" sz="800" kern="0">
                <a:solidFill>
                  <a:prstClr val="white"/>
                </a:solidFill>
              </a:rPr>
              <a:t>Architecture Assessment</a:t>
            </a:r>
          </a:p>
        </p:txBody>
      </p:sp>
      <p:grpSp>
        <p:nvGrpSpPr>
          <p:cNvPr id="48" name="Group 47">
            <a:extLst>
              <a:ext uri="{FF2B5EF4-FFF2-40B4-BE49-F238E27FC236}">
                <a16:creationId xmlns:a16="http://schemas.microsoft.com/office/drawing/2014/main" id="{713FB0AC-E21C-54B3-AA40-85F34D7A3FDC}"/>
              </a:ext>
            </a:extLst>
          </p:cNvPr>
          <p:cNvGrpSpPr/>
          <p:nvPr/>
        </p:nvGrpSpPr>
        <p:grpSpPr>
          <a:xfrm>
            <a:off x="4031805" y="2742536"/>
            <a:ext cx="118872" cy="118872"/>
            <a:chOff x="11523849" y="2329537"/>
            <a:chExt cx="118872" cy="178308"/>
          </a:xfrm>
        </p:grpSpPr>
        <p:sp>
          <p:nvSpPr>
            <p:cNvPr id="49" name="Oval 48">
              <a:extLst>
                <a:ext uri="{FF2B5EF4-FFF2-40B4-BE49-F238E27FC236}">
                  <a16:creationId xmlns:a16="http://schemas.microsoft.com/office/drawing/2014/main" id="{D79A03FD-E062-5CE0-FEA1-5F2F9F2B3AEC}"/>
                </a:ext>
              </a:extLst>
            </p:cNvPr>
            <p:cNvSpPr/>
            <p:nvPr/>
          </p:nvSpPr>
          <p:spPr bwMode="gray">
            <a:xfrm>
              <a:off x="11523849" y="2329537"/>
              <a:ext cx="118872" cy="178308"/>
            </a:xfrm>
            <a:prstGeom prst="ellipse">
              <a:avLst/>
            </a:prstGeom>
            <a:solidFill>
              <a:srgbClr val="267AC0"/>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50" name="Arrow: Chevron 49">
              <a:extLst>
                <a:ext uri="{FF2B5EF4-FFF2-40B4-BE49-F238E27FC236}">
                  <a16:creationId xmlns:a16="http://schemas.microsoft.com/office/drawing/2014/main" id="{BFE8E72B-B90F-9E91-B6CF-7AF9BBE3BB8A}"/>
                </a:ext>
              </a:extLst>
            </p:cNvPr>
            <p:cNvSpPr/>
            <p:nvPr/>
          </p:nvSpPr>
          <p:spPr bwMode="gray">
            <a:xfrm>
              <a:off x="11555853" y="2370686"/>
              <a:ext cx="54864" cy="96012"/>
            </a:xfrm>
            <a:prstGeom prst="chevron">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grpSp>
        <p:nvGrpSpPr>
          <p:cNvPr id="63" name="Group 62">
            <a:extLst>
              <a:ext uri="{FF2B5EF4-FFF2-40B4-BE49-F238E27FC236}">
                <a16:creationId xmlns:a16="http://schemas.microsoft.com/office/drawing/2014/main" id="{770DC2D5-4319-30A4-3E77-37303B223C2C}"/>
              </a:ext>
            </a:extLst>
          </p:cNvPr>
          <p:cNvGrpSpPr/>
          <p:nvPr/>
        </p:nvGrpSpPr>
        <p:grpSpPr>
          <a:xfrm>
            <a:off x="1974051" y="3095185"/>
            <a:ext cx="1317027" cy="276377"/>
            <a:chOff x="1817993" y="2220345"/>
            <a:chExt cx="1317027" cy="276377"/>
          </a:xfrm>
        </p:grpSpPr>
        <p:sp>
          <p:nvSpPr>
            <p:cNvPr id="64" name="TextBox 63">
              <a:extLst>
                <a:ext uri="{FF2B5EF4-FFF2-40B4-BE49-F238E27FC236}">
                  <a16:creationId xmlns:a16="http://schemas.microsoft.com/office/drawing/2014/main" id="{86931139-BA06-BDA4-25E1-2BBC4BD9AD40}"/>
                </a:ext>
              </a:extLst>
            </p:cNvPr>
            <p:cNvSpPr txBox="1"/>
            <p:nvPr/>
          </p:nvSpPr>
          <p:spPr>
            <a:xfrm>
              <a:off x="1817993" y="2224525"/>
              <a:ext cx="1317027" cy="143593"/>
            </a:xfrm>
            <a:prstGeom prst="rect">
              <a:avLst/>
            </a:prstGeom>
            <a:noFill/>
          </p:spPr>
          <p:txBody>
            <a:bodyPr wrap="non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3F3F3F"/>
                  </a:solidFill>
                  <a:effectLst/>
                  <a:uLnTx/>
                  <a:uFillTx/>
                  <a:latin typeface="CVS Health Sans"/>
                  <a:ea typeface="+mn-ea"/>
                  <a:cs typeface="+mn-cs"/>
                </a:rPr>
                <a:t>Multi-cloud platform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3F3F3F"/>
                  </a:solidFill>
                  <a:effectLst/>
                  <a:uLnTx/>
                  <a:uFillTx/>
                  <a:latin typeface="CVS Health Sans"/>
                  <a:ea typeface="+mn-ea"/>
                  <a:cs typeface="+mn-cs"/>
                </a:rPr>
                <a:t>Ready</a:t>
              </a:r>
            </a:p>
          </p:txBody>
        </p:sp>
        <p:pic>
          <p:nvPicPr>
            <p:cNvPr id="66" name="Graphic 65" descr="CVS Health logo.">
              <a:extLst>
                <a:ext uri="{FF2B5EF4-FFF2-40B4-BE49-F238E27FC236}">
                  <a16:creationId xmlns:a16="http://schemas.microsoft.com/office/drawing/2014/main" id="{7990CA1E-A6A4-3AA3-0239-316A0F1E9CC2}"/>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t="-1" r="84117" b="-77793"/>
            <a:stretch>
              <a:fillRect/>
            </a:stretch>
          </p:blipFill>
          <p:spPr>
            <a:xfrm>
              <a:off x="1832268" y="2220345"/>
              <a:ext cx="202370" cy="276377"/>
            </a:xfrm>
            <a:prstGeom prst="rect">
              <a:avLst/>
            </a:prstGeom>
          </p:spPr>
        </p:pic>
      </p:grpSp>
      <p:grpSp>
        <p:nvGrpSpPr>
          <p:cNvPr id="68" name="Group 67">
            <a:extLst>
              <a:ext uri="{FF2B5EF4-FFF2-40B4-BE49-F238E27FC236}">
                <a16:creationId xmlns:a16="http://schemas.microsoft.com/office/drawing/2014/main" id="{3D1F9664-DA13-FCC0-24E4-85D10A557F90}"/>
              </a:ext>
            </a:extLst>
          </p:cNvPr>
          <p:cNvGrpSpPr/>
          <p:nvPr/>
        </p:nvGrpSpPr>
        <p:grpSpPr>
          <a:xfrm>
            <a:off x="3111319" y="3075835"/>
            <a:ext cx="1426366" cy="295727"/>
            <a:chOff x="1609640" y="2200995"/>
            <a:chExt cx="1426366" cy="295727"/>
          </a:xfrm>
        </p:grpSpPr>
        <p:sp>
          <p:nvSpPr>
            <p:cNvPr id="70" name="TextBox 69">
              <a:extLst>
                <a:ext uri="{FF2B5EF4-FFF2-40B4-BE49-F238E27FC236}">
                  <a16:creationId xmlns:a16="http://schemas.microsoft.com/office/drawing/2014/main" id="{7ABBC7ED-613C-679E-390C-32928C0A57B2}"/>
                </a:ext>
              </a:extLst>
            </p:cNvPr>
            <p:cNvSpPr txBox="1"/>
            <p:nvPr/>
          </p:nvSpPr>
          <p:spPr>
            <a:xfrm>
              <a:off x="1624495" y="2200995"/>
              <a:ext cx="1411511" cy="199858"/>
            </a:xfrm>
            <a:prstGeom prst="rect">
              <a:avLst/>
            </a:prstGeom>
            <a:noFill/>
          </p:spPr>
          <p:txBody>
            <a:bodyPr wrap="non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3F3F3F"/>
                  </a:solidFill>
                  <a:effectLst/>
                  <a:uLnTx/>
                  <a:uFillTx/>
                  <a:latin typeface="CVS Health Sans"/>
                  <a:ea typeface="+mn-ea"/>
                  <a:cs typeface="+mn-cs"/>
                </a:rPr>
                <a:t>HF Migration Complete</a:t>
              </a:r>
            </a:p>
          </p:txBody>
        </p:sp>
        <p:pic>
          <p:nvPicPr>
            <p:cNvPr id="71" name="Graphic 70" descr="CVS Health logo.">
              <a:extLst>
                <a:ext uri="{FF2B5EF4-FFF2-40B4-BE49-F238E27FC236}">
                  <a16:creationId xmlns:a16="http://schemas.microsoft.com/office/drawing/2014/main" id="{653F6843-1E5F-516E-9E96-D6EF74750B6B}"/>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t="-1" r="84117" b="-77793"/>
            <a:stretch>
              <a:fillRect/>
            </a:stretch>
          </p:blipFill>
          <p:spPr>
            <a:xfrm>
              <a:off x="1609640" y="2220345"/>
              <a:ext cx="202370" cy="276377"/>
            </a:xfrm>
            <a:prstGeom prst="rect">
              <a:avLst/>
            </a:prstGeom>
          </p:spPr>
        </p:pic>
      </p:grpSp>
      <p:sp>
        <p:nvSpPr>
          <p:cNvPr id="87" name="Rectangle: Rounded Corners 86">
            <a:extLst>
              <a:ext uri="{FF2B5EF4-FFF2-40B4-BE49-F238E27FC236}">
                <a16:creationId xmlns:a16="http://schemas.microsoft.com/office/drawing/2014/main" id="{9C0AC2F9-9980-3164-36E6-05816CEBFF55}"/>
              </a:ext>
            </a:extLst>
          </p:cNvPr>
          <p:cNvSpPr/>
          <p:nvPr/>
        </p:nvSpPr>
        <p:spPr bwMode="gray">
          <a:xfrm>
            <a:off x="1697037" y="3626691"/>
            <a:ext cx="1646778" cy="146304"/>
          </a:xfrm>
          <a:prstGeom prst="roundRect">
            <a:avLst>
              <a:gd name="adj" fmla="val 50000"/>
            </a:avLst>
          </a:prstGeom>
          <a:solidFill>
            <a:srgbClr val="0A4B8C"/>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74" name="Rectangle: Rounded Corners 73">
            <a:extLst>
              <a:ext uri="{FF2B5EF4-FFF2-40B4-BE49-F238E27FC236}">
                <a16:creationId xmlns:a16="http://schemas.microsoft.com/office/drawing/2014/main" id="{02BEA2B1-72C1-07CB-3AD0-89323B1085FB}"/>
              </a:ext>
            </a:extLst>
          </p:cNvPr>
          <p:cNvSpPr/>
          <p:nvPr/>
        </p:nvSpPr>
        <p:spPr bwMode="gray">
          <a:xfrm>
            <a:off x="1697037" y="3303637"/>
            <a:ext cx="1646778" cy="146304"/>
          </a:xfrm>
          <a:prstGeom prst="roundRect">
            <a:avLst>
              <a:gd name="adj" fmla="val 50000"/>
            </a:avLst>
          </a:prstGeom>
          <a:solidFill>
            <a:srgbClr val="0A4B8C"/>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nvGrpSpPr>
          <p:cNvPr id="75" name="Group 74">
            <a:extLst>
              <a:ext uri="{FF2B5EF4-FFF2-40B4-BE49-F238E27FC236}">
                <a16:creationId xmlns:a16="http://schemas.microsoft.com/office/drawing/2014/main" id="{24093622-92C1-4060-C9DE-CAF68F498567}"/>
              </a:ext>
            </a:extLst>
          </p:cNvPr>
          <p:cNvGrpSpPr/>
          <p:nvPr/>
        </p:nvGrpSpPr>
        <p:grpSpPr>
          <a:xfrm>
            <a:off x="3192754" y="3317352"/>
            <a:ext cx="118872" cy="118872"/>
            <a:chOff x="11459934" y="2346516"/>
            <a:chExt cx="152400" cy="152400"/>
          </a:xfrm>
        </p:grpSpPr>
        <p:sp>
          <p:nvSpPr>
            <p:cNvPr id="76" name="Oval 75">
              <a:extLst>
                <a:ext uri="{FF2B5EF4-FFF2-40B4-BE49-F238E27FC236}">
                  <a16:creationId xmlns:a16="http://schemas.microsoft.com/office/drawing/2014/main" id="{0FB35730-1A9A-B29B-8340-92C399D8D289}"/>
                </a:ext>
              </a:extLst>
            </p:cNvPr>
            <p:cNvSpPr/>
            <p:nvPr/>
          </p:nvSpPr>
          <p:spPr bwMode="gray">
            <a:xfrm>
              <a:off x="11459934" y="2346516"/>
              <a:ext cx="152400" cy="152400"/>
            </a:xfrm>
            <a:prstGeom prst="ellipse">
              <a:avLst/>
            </a:prstGeom>
            <a:solidFill>
              <a:srgbClr val="0A4B8C"/>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77" name="Arrow: Chevron 76">
              <a:extLst>
                <a:ext uri="{FF2B5EF4-FFF2-40B4-BE49-F238E27FC236}">
                  <a16:creationId xmlns:a16="http://schemas.microsoft.com/office/drawing/2014/main" id="{343D11D8-81B3-783D-B1FE-1ACCF9862E22}"/>
                </a:ext>
              </a:extLst>
            </p:cNvPr>
            <p:cNvSpPr/>
            <p:nvPr/>
          </p:nvSpPr>
          <p:spPr bwMode="gray">
            <a:xfrm>
              <a:off x="11508032" y="2382704"/>
              <a:ext cx="65358" cy="80023"/>
            </a:xfrm>
            <a:prstGeom prst="chevron">
              <a:avLst/>
            </a:prstGeom>
            <a:solidFill>
              <a:srgbClr val="F4642A"/>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sp>
        <p:nvSpPr>
          <p:cNvPr id="84" name="TextBox 83">
            <a:extLst>
              <a:ext uri="{FF2B5EF4-FFF2-40B4-BE49-F238E27FC236}">
                <a16:creationId xmlns:a16="http://schemas.microsoft.com/office/drawing/2014/main" id="{2248C6CA-CB52-D0E3-534B-897F0DABCC93}"/>
              </a:ext>
            </a:extLst>
          </p:cNvPr>
          <p:cNvSpPr txBox="1"/>
          <p:nvPr/>
        </p:nvSpPr>
        <p:spPr>
          <a:xfrm>
            <a:off x="1762395" y="3303636"/>
            <a:ext cx="1411511" cy="146304"/>
          </a:xfrm>
          <a:prstGeom prst="rect">
            <a:avLst/>
          </a:prstGeom>
          <a:no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white"/>
                </a:solidFill>
                <a:effectLst/>
                <a:uLnTx/>
                <a:uFillTx/>
                <a:latin typeface="CVS Health Sans"/>
                <a:ea typeface="+mn-ea"/>
                <a:cs typeface="+mn-cs"/>
              </a:rPr>
              <a:t>Inventory, Routing, Tier 1 Data Landing</a:t>
            </a:r>
          </a:p>
        </p:txBody>
      </p:sp>
      <p:sp>
        <p:nvSpPr>
          <p:cNvPr id="85" name="TextBox 84">
            <a:extLst>
              <a:ext uri="{FF2B5EF4-FFF2-40B4-BE49-F238E27FC236}">
                <a16:creationId xmlns:a16="http://schemas.microsoft.com/office/drawing/2014/main" id="{F09E011B-EAC4-7BF2-AA0B-E7C162BC7698}"/>
              </a:ext>
            </a:extLst>
          </p:cNvPr>
          <p:cNvSpPr txBox="1"/>
          <p:nvPr/>
        </p:nvSpPr>
        <p:spPr>
          <a:xfrm>
            <a:off x="1762395" y="3638808"/>
            <a:ext cx="1394002" cy="122071"/>
          </a:xfrm>
          <a:prstGeom prst="rect">
            <a:avLst/>
          </a:prstGeom>
          <a:no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white"/>
                </a:solidFill>
                <a:effectLst/>
                <a:uLnTx/>
                <a:uFillTx/>
                <a:latin typeface="CVS Health Sans"/>
                <a:ea typeface="+mn-ea"/>
                <a:cs typeface="+mn-cs"/>
              </a:rPr>
              <a:t>Bronze design &amp; validation</a:t>
            </a:r>
          </a:p>
        </p:txBody>
      </p:sp>
      <p:grpSp>
        <p:nvGrpSpPr>
          <p:cNvPr id="88" name="Group 87">
            <a:extLst>
              <a:ext uri="{FF2B5EF4-FFF2-40B4-BE49-F238E27FC236}">
                <a16:creationId xmlns:a16="http://schemas.microsoft.com/office/drawing/2014/main" id="{16DED92C-92DE-0C01-25A1-2E81CA25DB10}"/>
              </a:ext>
            </a:extLst>
          </p:cNvPr>
          <p:cNvGrpSpPr/>
          <p:nvPr/>
        </p:nvGrpSpPr>
        <p:grpSpPr>
          <a:xfrm>
            <a:off x="3196647" y="3635401"/>
            <a:ext cx="118872" cy="118872"/>
            <a:chOff x="11478469" y="2343150"/>
            <a:chExt cx="152400" cy="152400"/>
          </a:xfrm>
        </p:grpSpPr>
        <p:sp>
          <p:nvSpPr>
            <p:cNvPr id="89" name="Oval 88">
              <a:extLst>
                <a:ext uri="{FF2B5EF4-FFF2-40B4-BE49-F238E27FC236}">
                  <a16:creationId xmlns:a16="http://schemas.microsoft.com/office/drawing/2014/main" id="{2FAE38C7-1FB8-F773-1BB2-44C31B9EA764}"/>
                </a:ext>
              </a:extLst>
            </p:cNvPr>
            <p:cNvSpPr/>
            <p:nvPr/>
          </p:nvSpPr>
          <p:spPr bwMode="gray">
            <a:xfrm>
              <a:off x="11478469" y="2343150"/>
              <a:ext cx="152400" cy="152400"/>
            </a:xfrm>
            <a:prstGeom prst="ellipse">
              <a:avLst/>
            </a:prstGeom>
            <a:solidFill>
              <a:srgbClr val="0A4B8C"/>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90" name="Arrow: Chevron 89">
              <a:extLst>
                <a:ext uri="{FF2B5EF4-FFF2-40B4-BE49-F238E27FC236}">
                  <a16:creationId xmlns:a16="http://schemas.microsoft.com/office/drawing/2014/main" id="{D3304AF6-1DAE-E4D6-41D7-80175692C391}"/>
                </a:ext>
              </a:extLst>
            </p:cNvPr>
            <p:cNvSpPr/>
            <p:nvPr/>
          </p:nvSpPr>
          <p:spPr bwMode="gray">
            <a:xfrm>
              <a:off x="11526567" y="2379338"/>
              <a:ext cx="65358" cy="80023"/>
            </a:xfrm>
            <a:prstGeom prst="chevron">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sp>
        <p:nvSpPr>
          <p:cNvPr id="94" name="Rectangle: Rounded Corners 93">
            <a:extLst>
              <a:ext uri="{FF2B5EF4-FFF2-40B4-BE49-F238E27FC236}">
                <a16:creationId xmlns:a16="http://schemas.microsoft.com/office/drawing/2014/main" id="{2D5978A8-5B18-7F55-8CD9-AD71C660C415}"/>
              </a:ext>
            </a:extLst>
          </p:cNvPr>
          <p:cNvSpPr/>
          <p:nvPr/>
        </p:nvSpPr>
        <p:spPr bwMode="gray">
          <a:xfrm>
            <a:off x="3343752" y="3621434"/>
            <a:ext cx="2481180" cy="146304"/>
          </a:xfrm>
          <a:prstGeom prst="roundRect">
            <a:avLst>
              <a:gd name="adj" fmla="val 50000"/>
            </a:avLst>
          </a:prstGeom>
          <a:solidFill>
            <a:srgbClr val="0A4B8C"/>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95" name="Rectangle: Rounded Corners 94">
            <a:extLst>
              <a:ext uri="{FF2B5EF4-FFF2-40B4-BE49-F238E27FC236}">
                <a16:creationId xmlns:a16="http://schemas.microsoft.com/office/drawing/2014/main" id="{00281B1C-523F-D52A-ABF6-C1EF2FA91424}"/>
              </a:ext>
            </a:extLst>
          </p:cNvPr>
          <p:cNvSpPr/>
          <p:nvPr/>
        </p:nvSpPr>
        <p:spPr bwMode="gray">
          <a:xfrm>
            <a:off x="4167772" y="3303637"/>
            <a:ext cx="1646778" cy="146304"/>
          </a:xfrm>
          <a:prstGeom prst="roundRect">
            <a:avLst>
              <a:gd name="adj" fmla="val 50000"/>
            </a:avLst>
          </a:prstGeom>
          <a:solidFill>
            <a:srgbClr val="0A4B8C"/>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nvGrpSpPr>
          <p:cNvPr id="96" name="Group 95">
            <a:extLst>
              <a:ext uri="{FF2B5EF4-FFF2-40B4-BE49-F238E27FC236}">
                <a16:creationId xmlns:a16="http://schemas.microsoft.com/office/drawing/2014/main" id="{58B49B90-1BEB-0EEA-B94D-82D9422B5AD5}"/>
              </a:ext>
            </a:extLst>
          </p:cNvPr>
          <p:cNvGrpSpPr/>
          <p:nvPr/>
        </p:nvGrpSpPr>
        <p:grpSpPr>
          <a:xfrm>
            <a:off x="5661729" y="3314307"/>
            <a:ext cx="118872" cy="118872"/>
            <a:chOff x="11478469" y="2343150"/>
            <a:chExt cx="152400" cy="152400"/>
          </a:xfrm>
        </p:grpSpPr>
        <p:sp>
          <p:nvSpPr>
            <p:cNvPr id="102" name="Oval 101">
              <a:extLst>
                <a:ext uri="{FF2B5EF4-FFF2-40B4-BE49-F238E27FC236}">
                  <a16:creationId xmlns:a16="http://schemas.microsoft.com/office/drawing/2014/main" id="{0DDDFA64-5AC9-0726-EF76-483BC0573A26}"/>
                </a:ext>
              </a:extLst>
            </p:cNvPr>
            <p:cNvSpPr/>
            <p:nvPr/>
          </p:nvSpPr>
          <p:spPr bwMode="gray">
            <a:xfrm>
              <a:off x="11478469" y="2343150"/>
              <a:ext cx="152400" cy="152400"/>
            </a:xfrm>
            <a:prstGeom prst="ellipse">
              <a:avLst/>
            </a:prstGeom>
            <a:solidFill>
              <a:srgbClr val="0A4B8C"/>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03" name="Arrow: Chevron 102">
              <a:extLst>
                <a:ext uri="{FF2B5EF4-FFF2-40B4-BE49-F238E27FC236}">
                  <a16:creationId xmlns:a16="http://schemas.microsoft.com/office/drawing/2014/main" id="{AE414E95-6E9F-5B68-8205-2A1E1ECDABA2}"/>
                </a:ext>
              </a:extLst>
            </p:cNvPr>
            <p:cNvSpPr/>
            <p:nvPr/>
          </p:nvSpPr>
          <p:spPr bwMode="gray">
            <a:xfrm>
              <a:off x="11526567" y="2379338"/>
              <a:ext cx="54864" cy="80023"/>
            </a:xfrm>
            <a:prstGeom prst="chevron">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sp>
        <p:nvSpPr>
          <p:cNvPr id="97" name="TextBox 96">
            <a:extLst>
              <a:ext uri="{FF2B5EF4-FFF2-40B4-BE49-F238E27FC236}">
                <a16:creationId xmlns:a16="http://schemas.microsoft.com/office/drawing/2014/main" id="{F8B0E263-50CF-1B9D-1EDB-21A95AEE66EC}"/>
              </a:ext>
            </a:extLst>
          </p:cNvPr>
          <p:cNvSpPr txBox="1"/>
          <p:nvPr/>
        </p:nvSpPr>
        <p:spPr>
          <a:xfrm>
            <a:off x="4142674" y="3304207"/>
            <a:ext cx="1494840" cy="146304"/>
          </a:xfrm>
          <a:prstGeom prst="rect">
            <a:avLst/>
          </a:prstGeom>
          <a:no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prstClr val="white"/>
                </a:solidFill>
                <a:effectLst/>
                <a:uLnTx/>
                <a:uFillTx/>
                <a:latin typeface="CVS Health Sans" panose="020B0504020202020204" pitchFamily="34" charset="0"/>
                <a:ea typeface="+mn-ea"/>
                <a:cs typeface="+mn-cs"/>
              </a:rPr>
              <a:t>Contracts, Templates &amp; Security</a:t>
            </a:r>
          </a:p>
        </p:txBody>
      </p:sp>
      <p:sp>
        <p:nvSpPr>
          <p:cNvPr id="98" name="TextBox 97">
            <a:extLst>
              <a:ext uri="{FF2B5EF4-FFF2-40B4-BE49-F238E27FC236}">
                <a16:creationId xmlns:a16="http://schemas.microsoft.com/office/drawing/2014/main" id="{4C5791C3-DF3E-F35E-3E2A-B9269578EE74}"/>
              </a:ext>
            </a:extLst>
          </p:cNvPr>
          <p:cNvSpPr txBox="1"/>
          <p:nvPr/>
        </p:nvSpPr>
        <p:spPr>
          <a:xfrm>
            <a:off x="3356593" y="3623720"/>
            <a:ext cx="2280921" cy="146304"/>
          </a:xfrm>
          <a:prstGeom prst="rect">
            <a:avLst/>
          </a:prstGeom>
          <a:no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white"/>
                </a:solidFill>
                <a:effectLst/>
                <a:uLnTx/>
                <a:uFillTx/>
                <a:latin typeface="CVS Health Sans"/>
                <a:ea typeface="+mn-ea"/>
                <a:cs typeface="+mn-cs"/>
              </a:rPr>
              <a:t>Tier 1 rollout &amp; SLA</a:t>
            </a:r>
          </a:p>
        </p:txBody>
      </p:sp>
      <p:grpSp>
        <p:nvGrpSpPr>
          <p:cNvPr id="99" name="Group 98">
            <a:extLst>
              <a:ext uri="{FF2B5EF4-FFF2-40B4-BE49-F238E27FC236}">
                <a16:creationId xmlns:a16="http://schemas.microsoft.com/office/drawing/2014/main" id="{F757368B-C027-111E-7A45-BF8EAEF2DF73}"/>
              </a:ext>
            </a:extLst>
          </p:cNvPr>
          <p:cNvGrpSpPr/>
          <p:nvPr/>
        </p:nvGrpSpPr>
        <p:grpSpPr>
          <a:xfrm>
            <a:off x="5657659" y="3635150"/>
            <a:ext cx="118872" cy="118872"/>
            <a:chOff x="11478469" y="2343150"/>
            <a:chExt cx="152400" cy="152400"/>
          </a:xfrm>
        </p:grpSpPr>
        <p:sp>
          <p:nvSpPr>
            <p:cNvPr id="100" name="Oval 99">
              <a:extLst>
                <a:ext uri="{FF2B5EF4-FFF2-40B4-BE49-F238E27FC236}">
                  <a16:creationId xmlns:a16="http://schemas.microsoft.com/office/drawing/2014/main" id="{E47B4E30-2E2A-49F8-02D9-829070416AD6}"/>
                </a:ext>
              </a:extLst>
            </p:cNvPr>
            <p:cNvSpPr/>
            <p:nvPr/>
          </p:nvSpPr>
          <p:spPr bwMode="gray">
            <a:xfrm>
              <a:off x="11478469" y="2343150"/>
              <a:ext cx="152400" cy="152400"/>
            </a:xfrm>
            <a:prstGeom prst="ellipse">
              <a:avLst/>
            </a:prstGeom>
            <a:solidFill>
              <a:srgbClr val="0A4B8C"/>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01" name="Arrow: Chevron 100">
              <a:extLst>
                <a:ext uri="{FF2B5EF4-FFF2-40B4-BE49-F238E27FC236}">
                  <a16:creationId xmlns:a16="http://schemas.microsoft.com/office/drawing/2014/main" id="{3E875749-9E54-7A17-2FC9-D838C3E56A9B}"/>
                </a:ext>
              </a:extLst>
            </p:cNvPr>
            <p:cNvSpPr/>
            <p:nvPr/>
          </p:nvSpPr>
          <p:spPr bwMode="gray">
            <a:xfrm>
              <a:off x="11526567" y="2379338"/>
              <a:ext cx="65358" cy="80023"/>
            </a:xfrm>
            <a:prstGeom prst="chevron">
              <a:avLst/>
            </a:prstGeom>
            <a:solidFill>
              <a:srgbClr val="F4642A"/>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sp>
        <p:nvSpPr>
          <p:cNvPr id="105" name="Rectangle: Rounded Corners 104">
            <a:extLst>
              <a:ext uri="{FF2B5EF4-FFF2-40B4-BE49-F238E27FC236}">
                <a16:creationId xmlns:a16="http://schemas.microsoft.com/office/drawing/2014/main" id="{2C8E0E39-AAE6-FE2C-3810-3611AEAB44C9}"/>
              </a:ext>
            </a:extLst>
          </p:cNvPr>
          <p:cNvSpPr/>
          <p:nvPr/>
        </p:nvSpPr>
        <p:spPr bwMode="gray">
          <a:xfrm>
            <a:off x="5824932" y="3626565"/>
            <a:ext cx="2489482" cy="146304"/>
          </a:xfrm>
          <a:prstGeom prst="roundRect">
            <a:avLst>
              <a:gd name="adj" fmla="val 50000"/>
            </a:avLst>
          </a:prstGeom>
          <a:solidFill>
            <a:srgbClr val="0A4B8C"/>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06" name="Rectangle: Rounded Corners 105">
            <a:extLst>
              <a:ext uri="{FF2B5EF4-FFF2-40B4-BE49-F238E27FC236}">
                <a16:creationId xmlns:a16="http://schemas.microsoft.com/office/drawing/2014/main" id="{0D1BD7CE-1BAD-3F9D-08BB-40912C17415E}"/>
              </a:ext>
            </a:extLst>
          </p:cNvPr>
          <p:cNvSpPr/>
          <p:nvPr/>
        </p:nvSpPr>
        <p:spPr bwMode="gray">
          <a:xfrm>
            <a:off x="5003308" y="3463418"/>
            <a:ext cx="1646778" cy="146304"/>
          </a:xfrm>
          <a:prstGeom prst="roundRect">
            <a:avLst>
              <a:gd name="adj" fmla="val 50000"/>
            </a:avLst>
          </a:prstGeom>
          <a:solidFill>
            <a:srgbClr val="0A4B8C"/>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nvGrpSpPr>
          <p:cNvPr id="107" name="Group 106">
            <a:extLst>
              <a:ext uri="{FF2B5EF4-FFF2-40B4-BE49-F238E27FC236}">
                <a16:creationId xmlns:a16="http://schemas.microsoft.com/office/drawing/2014/main" id="{4155CF0D-7C13-51E1-A807-E54172CA6C9A}"/>
              </a:ext>
            </a:extLst>
          </p:cNvPr>
          <p:cNvGrpSpPr/>
          <p:nvPr/>
        </p:nvGrpSpPr>
        <p:grpSpPr>
          <a:xfrm>
            <a:off x="6494858" y="3473386"/>
            <a:ext cx="118872" cy="118872"/>
            <a:chOff x="11478469" y="2343150"/>
            <a:chExt cx="152400" cy="152400"/>
          </a:xfrm>
        </p:grpSpPr>
        <p:sp>
          <p:nvSpPr>
            <p:cNvPr id="114" name="Oval 113">
              <a:extLst>
                <a:ext uri="{FF2B5EF4-FFF2-40B4-BE49-F238E27FC236}">
                  <a16:creationId xmlns:a16="http://schemas.microsoft.com/office/drawing/2014/main" id="{071E0E22-BC15-D616-F059-39C309FC8124}"/>
                </a:ext>
              </a:extLst>
            </p:cNvPr>
            <p:cNvSpPr/>
            <p:nvPr/>
          </p:nvSpPr>
          <p:spPr bwMode="gray">
            <a:xfrm>
              <a:off x="11478469" y="2343150"/>
              <a:ext cx="152400" cy="152400"/>
            </a:xfrm>
            <a:prstGeom prst="ellipse">
              <a:avLst/>
            </a:prstGeom>
            <a:solidFill>
              <a:srgbClr val="0A4B8C"/>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16" name="Arrow: Chevron 115">
              <a:extLst>
                <a:ext uri="{FF2B5EF4-FFF2-40B4-BE49-F238E27FC236}">
                  <a16:creationId xmlns:a16="http://schemas.microsoft.com/office/drawing/2014/main" id="{502F0E9D-431E-04D7-0D63-350DC9A4BCBD}"/>
                </a:ext>
              </a:extLst>
            </p:cNvPr>
            <p:cNvSpPr/>
            <p:nvPr/>
          </p:nvSpPr>
          <p:spPr bwMode="gray">
            <a:xfrm>
              <a:off x="11526567" y="2379338"/>
              <a:ext cx="65358" cy="80023"/>
            </a:xfrm>
            <a:prstGeom prst="chevron">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sp>
        <p:nvSpPr>
          <p:cNvPr id="108" name="TextBox 107">
            <a:extLst>
              <a:ext uri="{FF2B5EF4-FFF2-40B4-BE49-F238E27FC236}">
                <a16:creationId xmlns:a16="http://schemas.microsoft.com/office/drawing/2014/main" id="{1095769C-60A8-C0E6-0893-ACEA2DD9E22C}"/>
              </a:ext>
            </a:extLst>
          </p:cNvPr>
          <p:cNvSpPr txBox="1"/>
          <p:nvPr/>
        </p:nvSpPr>
        <p:spPr>
          <a:xfrm>
            <a:off x="5045646" y="3463418"/>
            <a:ext cx="1409974" cy="146304"/>
          </a:xfrm>
          <a:prstGeom prst="rect">
            <a:avLst/>
          </a:prstGeom>
          <a:no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white"/>
                </a:solidFill>
                <a:effectLst/>
                <a:uLnTx/>
                <a:uFillTx/>
                <a:latin typeface="CVS Health Sans"/>
                <a:ea typeface="+mn-ea"/>
                <a:cs typeface="+mn-cs"/>
              </a:rPr>
              <a:t>AI-assisted onboarding &amp; handoff</a:t>
            </a:r>
          </a:p>
        </p:txBody>
      </p:sp>
      <p:sp>
        <p:nvSpPr>
          <p:cNvPr id="109" name="TextBox 108">
            <a:extLst>
              <a:ext uri="{FF2B5EF4-FFF2-40B4-BE49-F238E27FC236}">
                <a16:creationId xmlns:a16="http://schemas.microsoft.com/office/drawing/2014/main" id="{CFB7CF4B-10AE-8AEE-AAE8-4117AA45CABF}"/>
              </a:ext>
            </a:extLst>
          </p:cNvPr>
          <p:cNvSpPr txBox="1"/>
          <p:nvPr/>
        </p:nvSpPr>
        <p:spPr>
          <a:xfrm>
            <a:off x="5862763" y="3638682"/>
            <a:ext cx="2250218" cy="122071"/>
          </a:xfrm>
          <a:prstGeom prst="rect">
            <a:avLst/>
          </a:prstGeom>
          <a:no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white"/>
                </a:solidFill>
                <a:effectLst/>
                <a:uLnTx/>
                <a:uFillTx/>
                <a:latin typeface="CVS Health Sans"/>
                <a:ea typeface="+mn-ea"/>
                <a:cs typeface="+mn-cs"/>
              </a:rPr>
              <a:t>Tier 2 &amp; hand-off</a:t>
            </a:r>
          </a:p>
        </p:txBody>
      </p:sp>
      <p:grpSp>
        <p:nvGrpSpPr>
          <p:cNvPr id="110" name="Group 109">
            <a:extLst>
              <a:ext uri="{FF2B5EF4-FFF2-40B4-BE49-F238E27FC236}">
                <a16:creationId xmlns:a16="http://schemas.microsoft.com/office/drawing/2014/main" id="{3686BC0F-F5C4-1DD4-BBB7-CE066BD83746}"/>
              </a:ext>
            </a:extLst>
          </p:cNvPr>
          <p:cNvGrpSpPr/>
          <p:nvPr/>
        </p:nvGrpSpPr>
        <p:grpSpPr>
          <a:xfrm>
            <a:off x="8162157" y="3639612"/>
            <a:ext cx="118872" cy="118872"/>
            <a:chOff x="11478469" y="2343149"/>
            <a:chExt cx="152400" cy="152400"/>
          </a:xfrm>
        </p:grpSpPr>
        <p:sp>
          <p:nvSpPr>
            <p:cNvPr id="111" name="Oval 110">
              <a:extLst>
                <a:ext uri="{FF2B5EF4-FFF2-40B4-BE49-F238E27FC236}">
                  <a16:creationId xmlns:a16="http://schemas.microsoft.com/office/drawing/2014/main" id="{C15BA33E-849A-8684-C497-DD270589CA73}"/>
                </a:ext>
              </a:extLst>
            </p:cNvPr>
            <p:cNvSpPr/>
            <p:nvPr/>
          </p:nvSpPr>
          <p:spPr bwMode="gray">
            <a:xfrm>
              <a:off x="11478469" y="2343149"/>
              <a:ext cx="152400" cy="152400"/>
            </a:xfrm>
            <a:prstGeom prst="ellipse">
              <a:avLst/>
            </a:prstGeom>
            <a:solidFill>
              <a:srgbClr val="0A4B8C"/>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12" name="Arrow: Chevron 111">
              <a:extLst>
                <a:ext uri="{FF2B5EF4-FFF2-40B4-BE49-F238E27FC236}">
                  <a16:creationId xmlns:a16="http://schemas.microsoft.com/office/drawing/2014/main" id="{8ADE2047-C3CD-9880-770D-BA78EDE84BE2}"/>
                </a:ext>
              </a:extLst>
            </p:cNvPr>
            <p:cNvSpPr/>
            <p:nvPr/>
          </p:nvSpPr>
          <p:spPr bwMode="gray">
            <a:xfrm>
              <a:off x="11526566" y="2382246"/>
              <a:ext cx="65358" cy="82062"/>
            </a:xfrm>
            <a:prstGeom prst="chevron">
              <a:avLst/>
            </a:prstGeom>
            <a:solidFill>
              <a:srgbClr val="F4642A"/>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grpSp>
        <p:nvGrpSpPr>
          <p:cNvPr id="162" name="Group 161">
            <a:extLst>
              <a:ext uri="{FF2B5EF4-FFF2-40B4-BE49-F238E27FC236}">
                <a16:creationId xmlns:a16="http://schemas.microsoft.com/office/drawing/2014/main" id="{E1FAE85E-70A8-9A93-D02C-9F0E72EB2E7A}"/>
              </a:ext>
            </a:extLst>
          </p:cNvPr>
          <p:cNvGrpSpPr/>
          <p:nvPr/>
        </p:nvGrpSpPr>
        <p:grpSpPr>
          <a:xfrm>
            <a:off x="1697037" y="3971387"/>
            <a:ext cx="7438940" cy="215444"/>
            <a:chOff x="1697037" y="3971387"/>
            <a:chExt cx="7438940" cy="215444"/>
          </a:xfrm>
        </p:grpSpPr>
        <p:grpSp>
          <p:nvGrpSpPr>
            <p:cNvPr id="134" name="Group 133">
              <a:extLst>
                <a:ext uri="{FF2B5EF4-FFF2-40B4-BE49-F238E27FC236}">
                  <a16:creationId xmlns:a16="http://schemas.microsoft.com/office/drawing/2014/main" id="{14AA0C4E-92D4-61A1-D514-9B64319DCB47}"/>
                </a:ext>
              </a:extLst>
            </p:cNvPr>
            <p:cNvGrpSpPr/>
            <p:nvPr/>
          </p:nvGrpSpPr>
          <p:grpSpPr>
            <a:xfrm>
              <a:off x="1697037" y="3971387"/>
              <a:ext cx="2478042" cy="215444"/>
              <a:chOff x="1697037" y="3971387"/>
              <a:chExt cx="2478042" cy="215444"/>
            </a:xfrm>
          </p:grpSpPr>
          <p:sp>
            <p:nvSpPr>
              <p:cNvPr id="122" name="Rectangle: Rounded Corners 121">
                <a:extLst>
                  <a:ext uri="{FF2B5EF4-FFF2-40B4-BE49-F238E27FC236}">
                    <a16:creationId xmlns:a16="http://schemas.microsoft.com/office/drawing/2014/main" id="{966BD0C1-952A-773E-0E3D-FA1B5F8FAEEF}"/>
                  </a:ext>
                </a:extLst>
              </p:cNvPr>
              <p:cNvSpPr/>
              <p:nvPr/>
            </p:nvSpPr>
            <p:spPr bwMode="gray">
              <a:xfrm>
                <a:off x="1697037" y="3971387"/>
                <a:ext cx="2478042" cy="215444"/>
              </a:xfrm>
              <a:prstGeom prst="roundRect">
                <a:avLst>
                  <a:gd name="adj" fmla="val 50000"/>
                </a:avLst>
              </a:prstGeom>
              <a:solidFill>
                <a:srgbClr val="00787E"/>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nvGrpSpPr>
              <p:cNvPr id="123" name="Group 122">
                <a:extLst>
                  <a:ext uri="{FF2B5EF4-FFF2-40B4-BE49-F238E27FC236}">
                    <a16:creationId xmlns:a16="http://schemas.microsoft.com/office/drawing/2014/main" id="{1493C4C8-3568-2032-141D-1A2B6AB3129E}"/>
                  </a:ext>
                </a:extLst>
              </p:cNvPr>
              <p:cNvGrpSpPr/>
              <p:nvPr/>
            </p:nvGrpSpPr>
            <p:grpSpPr>
              <a:xfrm>
                <a:off x="3991723" y="4002909"/>
                <a:ext cx="152400" cy="152400"/>
                <a:chOff x="11478469" y="2343150"/>
                <a:chExt cx="152400" cy="152400"/>
              </a:xfrm>
            </p:grpSpPr>
            <p:sp>
              <p:nvSpPr>
                <p:cNvPr id="125" name="Oval 124">
                  <a:extLst>
                    <a:ext uri="{FF2B5EF4-FFF2-40B4-BE49-F238E27FC236}">
                      <a16:creationId xmlns:a16="http://schemas.microsoft.com/office/drawing/2014/main" id="{5DDB1E46-D918-8637-E44D-3D0DDF6B71C6}"/>
                    </a:ext>
                  </a:extLst>
                </p:cNvPr>
                <p:cNvSpPr/>
                <p:nvPr/>
              </p:nvSpPr>
              <p:spPr bwMode="gray">
                <a:xfrm>
                  <a:off x="11478469" y="2343150"/>
                  <a:ext cx="152400" cy="152400"/>
                </a:xfrm>
                <a:prstGeom prst="ellipse">
                  <a:avLst/>
                </a:prstGeom>
                <a:solidFill>
                  <a:srgbClr val="00787E"/>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26" name="Arrow: Chevron 125">
                  <a:extLst>
                    <a:ext uri="{FF2B5EF4-FFF2-40B4-BE49-F238E27FC236}">
                      <a16:creationId xmlns:a16="http://schemas.microsoft.com/office/drawing/2014/main" id="{4E8053B3-A15E-7995-BFCC-A98514BDBAC3}"/>
                    </a:ext>
                  </a:extLst>
                </p:cNvPr>
                <p:cNvSpPr/>
                <p:nvPr/>
              </p:nvSpPr>
              <p:spPr bwMode="gray">
                <a:xfrm>
                  <a:off x="11526567" y="2379338"/>
                  <a:ext cx="65358" cy="80023"/>
                </a:xfrm>
                <a:prstGeom prst="chevron">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sp>
            <p:nvSpPr>
              <p:cNvPr id="124" name="TextBox 123">
                <a:extLst>
                  <a:ext uri="{FF2B5EF4-FFF2-40B4-BE49-F238E27FC236}">
                    <a16:creationId xmlns:a16="http://schemas.microsoft.com/office/drawing/2014/main" id="{864CBFEA-442B-962D-CCC0-F3DDEF6C475A}"/>
                  </a:ext>
                </a:extLst>
              </p:cNvPr>
              <p:cNvSpPr txBox="1"/>
              <p:nvPr/>
            </p:nvSpPr>
            <p:spPr>
              <a:xfrm>
                <a:off x="1835943" y="3971387"/>
                <a:ext cx="2155780" cy="215444"/>
              </a:xfrm>
              <a:prstGeom prst="rect">
                <a:avLst/>
              </a:prstGeom>
              <a:noFill/>
            </p:spPr>
            <p:txBody>
              <a:bodyPr wrap="non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VS Health Sans"/>
                    <a:ea typeface="+mn-ea"/>
                    <a:cs typeface="+mn-cs"/>
                  </a:rPr>
                  <a:t>Silver Design &amp; Validation</a:t>
                </a:r>
              </a:p>
            </p:txBody>
          </p:sp>
        </p:grpSp>
        <p:grpSp>
          <p:nvGrpSpPr>
            <p:cNvPr id="135" name="Group 134">
              <a:extLst>
                <a:ext uri="{FF2B5EF4-FFF2-40B4-BE49-F238E27FC236}">
                  <a16:creationId xmlns:a16="http://schemas.microsoft.com/office/drawing/2014/main" id="{48DCAAFD-53CB-3A1A-6C51-45C799342305}"/>
                </a:ext>
              </a:extLst>
            </p:cNvPr>
            <p:cNvGrpSpPr/>
            <p:nvPr/>
          </p:nvGrpSpPr>
          <p:grpSpPr>
            <a:xfrm>
              <a:off x="4167141" y="3971387"/>
              <a:ext cx="2478042" cy="215444"/>
              <a:chOff x="1697037" y="3971387"/>
              <a:chExt cx="2478042" cy="215444"/>
            </a:xfrm>
          </p:grpSpPr>
          <p:sp>
            <p:nvSpPr>
              <p:cNvPr id="136" name="Rectangle: Rounded Corners 135">
                <a:extLst>
                  <a:ext uri="{FF2B5EF4-FFF2-40B4-BE49-F238E27FC236}">
                    <a16:creationId xmlns:a16="http://schemas.microsoft.com/office/drawing/2014/main" id="{C62963BF-327F-9680-4AF0-F570EF3DFD18}"/>
                  </a:ext>
                </a:extLst>
              </p:cNvPr>
              <p:cNvSpPr/>
              <p:nvPr/>
            </p:nvSpPr>
            <p:spPr bwMode="gray">
              <a:xfrm>
                <a:off x="1697037" y="3971387"/>
                <a:ext cx="2478042" cy="215444"/>
              </a:xfrm>
              <a:prstGeom prst="roundRect">
                <a:avLst>
                  <a:gd name="adj" fmla="val 50000"/>
                </a:avLst>
              </a:prstGeom>
              <a:solidFill>
                <a:srgbClr val="00787E"/>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nvGrpSpPr>
              <p:cNvPr id="137" name="Group 136">
                <a:extLst>
                  <a:ext uri="{FF2B5EF4-FFF2-40B4-BE49-F238E27FC236}">
                    <a16:creationId xmlns:a16="http://schemas.microsoft.com/office/drawing/2014/main" id="{7D54B5C4-1286-2A6F-209E-065B4FA3B37D}"/>
                  </a:ext>
                </a:extLst>
              </p:cNvPr>
              <p:cNvGrpSpPr/>
              <p:nvPr/>
            </p:nvGrpSpPr>
            <p:grpSpPr>
              <a:xfrm>
                <a:off x="3991723" y="4002909"/>
                <a:ext cx="152400" cy="152400"/>
                <a:chOff x="11478469" y="2343150"/>
                <a:chExt cx="152400" cy="152400"/>
              </a:xfrm>
            </p:grpSpPr>
            <p:sp>
              <p:nvSpPr>
                <p:cNvPr id="139" name="Oval 138">
                  <a:extLst>
                    <a:ext uri="{FF2B5EF4-FFF2-40B4-BE49-F238E27FC236}">
                      <a16:creationId xmlns:a16="http://schemas.microsoft.com/office/drawing/2014/main" id="{427778BC-1074-30F3-39FE-9B5FB3845242}"/>
                    </a:ext>
                  </a:extLst>
                </p:cNvPr>
                <p:cNvSpPr/>
                <p:nvPr/>
              </p:nvSpPr>
              <p:spPr bwMode="gray">
                <a:xfrm>
                  <a:off x="11478469" y="2343150"/>
                  <a:ext cx="152400" cy="152400"/>
                </a:xfrm>
                <a:prstGeom prst="ellipse">
                  <a:avLst/>
                </a:prstGeom>
                <a:solidFill>
                  <a:srgbClr val="00787E"/>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41" name="Arrow: Chevron 140">
                  <a:extLst>
                    <a:ext uri="{FF2B5EF4-FFF2-40B4-BE49-F238E27FC236}">
                      <a16:creationId xmlns:a16="http://schemas.microsoft.com/office/drawing/2014/main" id="{BE350029-DF04-6042-E561-2352CA580A54}"/>
                    </a:ext>
                  </a:extLst>
                </p:cNvPr>
                <p:cNvSpPr/>
                <p:nvPr/>
              </p:nvSpPr>
              <p:spPr bwMode="gray">
                <a:xfrm>
                  <a:off x="11526567" y="2379338"/>
                  <a:ext cx="65358" cy="80023"/>
                </a:xfrm>
                <a:prstGeom prst="chevron">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sp>
            <p:nvSpPr>
              <p:cNvPr id="138" name="TextBox 137">
                <a:extLst>
                  <a:ext uri="{FF2B5EF4-FFF2-40B4-BE49-F238E27FC236}">
                    <a16:creationId xmlns:a16="http://schemas.microsoft.com/office/drawing/2014/main" id="{513FFD89-25F2-7EEB-F90A-108694EF2F3E}"/>
                  </a:ext>
                </a:extLst>
              </p:cNvPr>
              <p:cNvSpPr txBox="1"/>
              <p:nvPr/>
            </p:nvSpPr>
            <p:spPr>
              <a:xfrm>
                <a:off x="1835943" y="3971387"/>
                <a:ext cx="2155780" cy="215444"/>
              </a:xfrm>
              <a:prstGeom prst="rect">
                <a:avLst/>
              </a:prstGeom>
              <a:noFill/>
            </p:spPr>
            <p:txBody>
              <a:bodyPr wrap="non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VS Health Sans"/>
                    <a:ea typeface="+mn-ea"/>
                    <a:cs typeface="+mn-cs"/>
                  </a:rPr>
                  <a:t>Tier 1 Rollout &amp; SLA</a:t>
                </a:r>
              </a:p>
            </p:txBody>
          </p:sp>
        </p:grpSp>
        <p:grpSp>
          <p:nvGrpSpPr>
            <p:cNvPr id="144" name="Group 143">
              <a:extLst>
                <a:ext uri="{FF2B5EF4-FFF2-40B4-BE49-F238E27FC236}">
                  <a16:creationId xmlns:a16="http://schemas.microsoft.com/office/drawing/2014/main" id="{0D86691D-AA3D-A2C6-1B4D-6A063D031484}"/>
                </a:ext>
              </a:extLst>
            </p:cNvPr>
            <p:cNvGrpSpPr/>
            <p:nvPr/>
          </p:nvGrpSpPr>
          <p:grpSpPr>
            <a:xfrm>
              <a:off x="6657935" y="3971387"/>
              <a:ext cx="2478042" cy="215444"/>
              <a:chOff x="1697037" y="3971387"/>
              <a:chExt cx="2478042" cy="215444"/>
            </a:xfrm>
          </p:grpSpPr>
          <p:sp>
            <p:nvSpPr>
              <p:cNvPr id="146" name="Rectangle: Rounded Corners 145">
                <a:extLst>
                  <a:ext uri="{FF2B5EF4-FFF2-40B4-BE49-F238E27FC236}">
                    <a16:creationId xmlns:a16="http://schemas.microsoft.com/office/drawing/2014/main" id="{769D7553-8C0B-DE09-CE56-4F0971D9CF97}"/>
                  </a:ext>
                </a:extLst>
              </p:cNvPr>
              <p:cNvSpPr/>
              <p:nvPr/>
            </p:nvSpPr>
            <p:spPr bwMode="gray">
              <a:xfrm>
                <a:off x="1697037" y="3971387"/>
                <a:ext cx="2478042" cy="215444"/>
              </a:xfrm>
              <a:prstGeom prst="roundRect">
                <a:avLst>
                  <a:gd name="adj" fmla="val 50000"/>
                </a:avLst>
              </a:prstGeom>
              <a:solidFill>
                <a:srgbClr val="00787E"/>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nvGrpSpPr>
              <p:cNvPr id="148" name="Group 147">
                <a:extLst>
                  <a:ext uri="{FF2B5EF4-FFF2-40B4-BE49-F238E27FC236}">
                    <a16:creationId xmlns:a16="http://schemas.microsoft.com/office/drawing/2014/main" id="{566A75F0-89BD-C2B1-9E2E-F4D2BFD6DB21}"/>
                  </a:ext>
                </a:extLst>
              </p:cNvPr>
              <p:cNvGrpSpPr/>
              <p:nvPr/>
            </p:nvGrpSpPr>
            <p:grpSpPr>
              <a:xfrm>
                <a:off x="3991723" y="4002909"/>
                <a:ext cx="152400" cy="152400"/>
                <a:chOff x="11478469" y="2343150"/>
                <a:chExt cx="152400" cy="152400"/>
              </a:xfrm>
            </p:grpSpPr>
            <p:sp>
              <p:nvSpPr>
                <p:cNvPr id="152" name="Oval 151">
                  <a:extLst>
                    <a:ext uri="{FF2B5EF4-FFF2-40B4-BE49-F238E27FC236}">
                      <a16:creationId xmlns:a16="http://schemas.microsoft.com/office/drawing/2014/main" id="{1E216E39-357F-372E-183E-08273C745D52}"/>
                    </a:ext>
                  </a:extLst>
                </p:cNvPr>
                <p:cNvSpPr/>
                <p:nvPr/>
              </p:nvSpPr>
              <p:spPr bwMode="gray">
                <a:xfrm>
                  <a:off x="11478469" y="2343150"/>
                  <a:ext cx="152400" cy="152400"/>
                </a:xfrm>
                <a:prstGeom prst="ellipse">
                  <a:avLst/>
                </a:prstGeom>
                <a:solidFill>
                  <a:srgbClr val="00787E"/>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54" name="Arrow: Chevron 153">
                  <a:extLst>
                    <a:ext uri="{FF2B5EF4-FFF2-40B4-BE49-F238E27FC236}">
                      <a16:creationId xmlns:a16="http://schemas.microsoft.com/office/drawing/2014/main" id="{34D5E759-C5C4-C8DC-76C8-D5ADEB2B946A}"/>
                    </a:ext>
                  </a:extLst>
                </p:cNvPr>
                <p:cNvSpPr/>
                <p:nvPr/>
              </p:nvSpPr>
              <p:spPr bwMode="gray">
                <a:xfrm>
                  <a:off x="11526567" y="2379338"/>
                  <a:ext cx="65358" cy="80023"/>
                </a:xfrm>
                <a:prstGeom prst="chevron">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sp>
            <p:nvSpPr>
              <p:cNvPr id="150" name="TextBox 149">
                <a:extLst>
                  <a:ext uri="{FF2B5EF4-FFF2-40B4-BE49-F238E27FC236}">
                    <a16:creationId xmlns:a16="http://schemas.microsoft.com/office/drawing/2014/main" id="{D3838081-9F7B-5B71-32F7-DAC4718E292D}"/>
                  </a:ext>
                </a:extLst>
              </p:cNvPr>
              <p:cNvSpPr txBox="1"/>
              <p:nvPr/>
            </p:nvSpPr>
            <p:spPr>
              <a:xfrm>
                <a:off x="1835943" y="3971387"/>
                <a:ext cx="2155780" cy="215444"/>
              </a:xfrm>
              <a:prstGeom prst="rect">
                <a:avLst/>
              </a:prstGeom>
              <a:noFill/>
            </p:spPr>
            <p:txBody>
              <a:bodyPr wrap="non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VS Health Sans"/>
                    <a:ea typeface="+mn-ea"/>
                    <a:cs typeface="+mn-cs"/>
                  </a:rPr>
                  <a:t>Tier 2 &amp; Hand-off</a:t>
                </a:r>
              </a:p>
            </p:txBody>
          </p:sp>
        </p:grpSp>
      </p:grpSp>
      <p:grpSp>
        <p:nvGrpSpPr>
          <p:cNvPr id="156" name="Group 155">
            <a:extLst>
              <a:ext uri="{FF2B5EF4-FFF2-40B4-BE49-F238E27FC236}">
                <a16:creationId xmlns:a16="http://schemas.microsoft.com/office/drawing/2014/main" id="{E874F608-9044-48BC-EA7C-2DEC4572B03C}"/>
              </a:ext>
            </a:extLst>
          </p:cNvPr>
          <p:cNvGrpSpPr/>
          <p:nvPr/>
        </p:nvGrpSpPr>
        <p:grpSpPr>
          <a:xfrm>
            <a:off x="6168296" y="4244454"/>
            <a:ext cx="1776892" cy="276377"/>
            <a:chOff x="1784562" y="2220345"/>
            <a:chExt cx="1776892" cy="276377"/>
          </a:xfrm>
        </p:grpSpPr>
        <p:sp>
          <p:nvSpPr>
            <p:cNvPr id="158" name="TextBox 157">
              <a:extLst>
                <a:ext uri="{FF2B5EF4-FFF2-40B4-BE49-F238E27FC236}">
                  <a16:creationId xmlns:a16="http://schemas.microsoft.com/office/drawing/2014/main" id="{DB60DEBF-28CD-360B-FA04-EE2DA60BB7D5}"/>
                </a:ext>
              </a:extLst>
            </p:cNvPr>
            <p:cNvSpPr txBox="1"/>
            <p:nvPr/>
          </p:nvSpPr>
          <p:spPr>
            <a:xfrm>
              <a:off x="1971537" y="2220729"/>
              <a:ext cx="1589917" cy="146305"/>
            </a:xfrm>
            <a:prstGeom prst="rect">
              <a:avLst/>
            </a:prstGeom>
            <a:noFill/>
          </p:spPr>
          <p:txBody>
            <a:bodyPr wrap="non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3F3F3F"/>
                  </a:solidFill>
                  <a:effectLst/>
                  <a:uLnTx/>
                  <a:uFillTx/>
                  <a:latin typeface="CVS Health Sans"/>
                  <a:ea typeface="+mn-ea"/>
                  <a:cs typeface="+mn-cs"/>
                </a:rPr>
                <a:t>Splunk Indexes </a:t>
              </a:r>
              <a:r>
                <a:rPr lang="en-US" sz="800">
                  <a:solidFill>
                    <a:srgbClr val="3F3F3F"/>
                  </a:solidFill>
                  <a:latin typeface="CVS Health Sans"/>
                </a:rPr>
                <a:t> </a:t>
              </a:r>
              <a:r>
                <a:rPr kumimoji="0" lang="en-US" sz="800" b="0" i="0" u="none" strike="noStrike" kern="1200" cap="none" spc="0" normalizeH="0" baseline="0" noProof="0">
                  <a:ln>
                    <a:noFill/>
                  </a:ln>
                  <a:solidFill>
                    <a:srgbClr val="3F3F3F"/>
                  </a:solidFill>
                  <a:effectLst/>
                  <a:uLnTx/>
                  <a:uFillTx/>
                  <a:latin typeface="CVS Health Sans"/>
                  <a:ea typeface="+mn-ea"/>
                  <a:cs typeface="+mn-cs"/>
                </a:rPr>
                <a:t>Flowing to Bronze</a:t>
              </a:r>
            </a:p>
          </p:txBody>
        </p:sp>
        <p:pic>
          <p:nvPicPr>
            <p:cNvPr id="160" name="Graphic 159" descr="CVS Health logo.">
              <a:extLst>
                <a:ext uri="{FF2B5EF4-FFF2-40B4-BE49-F238E27FC236}">
                  <a16:creationId xmlns:a16="http://schemas.microsoft.com/office/drawing/2014/main" id="{861996DE-D82B-74C4-AF42-2A291C6F6FB8}"/>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t="-1" r="84117" b="-77793"/>
            <a:stretch>
              <a:fillRect/>
            </a:stretch>
          </p:blipFill>
          <p:spPr>
            <a:xfrm>
              <a:off x="1784562" y="2220345"/>
              <a:ext cx="202370" cy="276377"/>
            </a:xfrm>
            <a:prstGeom prst="rect">
              <a:avLst/>
            </a:prstGeom>
          </p:spPr>
        </p:pic>
      </p:grpSp>
      <p:grpSp>
        <p:nvGrpSpPr>
          <p:cNvPr id="166" name="Group 165">
            <a:extLst>
              <a:ext uri="{FF2B5EF4-FFF2-40B4-BE49-F238E27FC236}">
                <a16:creationId xmlns:a16="http://schemas.microsoft.com/office/drawing/2014/main" id="{C222AA69-F5E7-84BA-B03D-A0845803E9A3}"/>
              </a:ext>
            </a:extLst>
          </p:cNvPr>
          <p:cNvGrpSpPr/>
          <p:nvPr/>
        </p:nvGrpSpPr>
        <p:grpSpPr>
          <a:xfrm>
            <a:off x="1622712" y="4425386"/>
            <a:ext cx="2166052" cy="215444"/>
            <a:chOff x="3134995" y="3971387"/>
            <a:chExt cx="1040084" cy="215444"/>
          </a:xfrm>
        </p:grpSpPr>
        <p:sp>
          <p:nvSpPr>
            <p:cNvPr id="194" name="Rectangle: Rounded Corners 193">
              <a:extLst>
                <a:ext uri="{FF2B5EF4-FFF2-40B4-BE49-F238E27FC236}">
                  <a16:creationId xmlns:a16="http://schemas.microsoft.com/office/drawing/2014/main" id="{1DA36A89-1697-3F77-CCDF-6B9B7208E8DA}"/>
                </a:ext>
              </a:extLst>
            </p:cNvPr>
            <p:cNvSpPr/>
            <p:nvPr/>
          </p:nvSpPr>
          <p:spPr bwMode="gray">
            <a:xfrm>
              <a:off x="3170684" y="3971387"/>
              <a:ext cx="1004395" cy="215444"/>
            </a:xfrm>
            <a:prstGeom prst="roundRect">
              <a:avLst>
                <a:gd name="adj" fmla="val 50000"/>
              </a:avLst>
            </a:prstGeom>
            <a:solidFill>
              <a:srgbClr val="00A78E"/>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nvGrpSpPr>
            <p:cNvPr id="196" name="Group 195">
              <a:extLst>
                <a:ext uri="{FF2B5EF4-FFF2-40B4-BE49-F238E27FC236}">
                  <a16:creationId xmlns:a16="http://schemas.microsoft.com/office/drawing/2014/main" id="{1AF70DCC-ED94-B497-214F-36123299CA68}"/>
                </a:ext>
              </a:extLst>
            </p:cNvPr>
            <p:cNvGrpSpPr/>
            <p:nvPr/>
          </p:nvGrpSpPr>
          <p:grpSpPr>
            <a:xfrm>
              <a:off x="4079897" y="4002909"/>
              <a:ext cx="74642" cy="152400"/>
              <a:chOff x="11566643" y="2343150"/>
              <a:chExt cx="74642" cy="152400"/>
            </a:xfrm>
          </p:grpSpPr>
          <p:sp>
            <p:nvSpPr>
              <p:cNvPr id="200" name="Oval 199">
                <a:extLst>
                  <a:ext uri="{FF2B5EF4-FFF2-40B4-BE49-F238E27FC236}">
                    <a16:creationId xmlns:a16="http://schemas.microsoft.com/office/drawing/2014/main" id="{6ECC1E57-548C-C377-B13D-DD9E12F7CB78}"/>
                  </a:ext>
                </a:extLst>
              </p:cNvPr>
              <p:cNvSpPr/>
              <p:nvPr/>
            </p:nvSpPr>
            <p:spPr bwMode="gray">
              <a:xfrm>
                <a:off x="11566643" y="2343150"/>
                <a:ext cx="74642" cy="152400"/>
              </a:xfrm>
              <a:prstGeom prst="ellipse">
                <a:avLst/>
              </a:prstGeom>
              <a:solidFill>
                <a:srgbClr val="00A78E"/>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201" name="Arrow: Chevron 200">
                <a:extLst>
                  <a:ext uri="{FF2B5EF4-FFF2-40B4-BE49-F238E27FC236}">
                    <a16:creationId xmlns:a16="http://schemas.microsoft.com/office/drawing/2014/main" id="{0049BDDA-FF83-5BF5-7469-98E4EC8C56E0}"/>
                  </a:ext>
                </a:extLst>
              </p:cNvPr>
              <p:cNvSpPr/>
              <p:nvPr/>
            </p:nvSpPr>
            <p:spPr bwMode="gray">
              <a:xfrm>
                <a:off x="11590988" y="2383086"/>
                <a:ext cx="30735" cy="82296"/>
              </a:xfrm>
              <a:prstGeom prst="chevron">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sp>
          <p:nvSpPr>
            <p:cNvPr id="198" name="TextBox 197">
              <a:extLst>
                <a:ext uri="{FF2B5EF4-FFF2-40B4-BE49-F238E27FC236}">
                  <a16:creationId xmlns:a16="http://schemas.microsoft.com/office/drawing/2014/main" id="{15031E58-C327-F843-8740-6A3D564813F8}"/>
                </a:ext>
              </a:extLst>
            </p:cNvPr>
            <p:cNvSpPr txBox="1"/>
            <p:nvPr/>
          </p:nvSpPr>
          <p:spPr>
            <a:xfrm>
              <a:off x="3134995" y="4011863"/>
              <a:ext cx="946511" cy="117373"/>
            </a:xfrm>
            <a:prstGeom prst="rect">
              <a:avLst/>
            </a:prstGeom>
            <a:no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VS Health Sans"/>
                  <a:ea typeface="+mn-ea"/>
                  <a:cs typeface="+mn-cs"/>
                </a:rPr>
                <a:t>Rationalization &amp; Prioritization</a:t>
              </a:r>
            </a:p>
          </p:txBody>
        </p:sp>
      </p:grpSp>
      <p:grpSp>
        <p:nvGrpSpPr>
          <p:cNvPr id="170" name="Group 169">
            <a:extLst>
              <a:ext uri="{FF2B5EF4-FFF2-40B4-BE49-F238E27FC236}">
                <a16:creationId xmlns:a16="http://schemas.microsoft.com/office/drawing/2014/main" id="{FC42C2CD-2C3D-0E74-8367-028B19915CAE}"/>
              </a:ext>
            </a:extLst>
          </p:cNvPr>
          <p:cNvGrpSpPr/>
          <p:nvPr/>
        </p:nvGrpSpPr>
        <p:grpSpPr>
          <a:xfrm>
            <a:off x="2510851" y="4702447"/>
            <a:ext cx="2534795" cy="182880"/>
            <a:chOff x="-785819" y="3971387"/>
            <a:chExt cx="4960898" cy="215444"/>
          </a:xfrm>
        </p:grpSpPr>
        <p:sp>
          <p:nvSpPr>
            <p:cNvPr id="173" name="Rectangle: Rounded Corners 172">
              <a:extLst>
                <a:ext uri="{FF2B5EF4-FFF2-40B4-BE49-F238E27FC236}">
                  <a16:creationId xmlns:a16="http://schemas.microsoft.com/office/drawing/2014/main" id="{2282A2C8-CD80-D32D-FF26-3ECB73E0526F}"/>
                </a:ext>
              </a:extLst>
            </p:cNvPr>
            <p:cNvSpPr/>
            <p:nvPr/>
          </p:nvSpPr>
          <p:spPr bwMode="gray">
            <a:xfrm>
              <a:off x="-785819" y="3971387"/>
              <a:ext cx="4960898" cy="215444"/>
            </a:xfrm>
            <a:prstGeom prst="roundRect">
              <a:avLst>
                <a:gd name="adj" fmla="val 50000"/>
              </a:avLst>
            </a:prstGeom>
            <a:solidFill>
              <a:srgbClr val="00A78E"/>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78" name="TextBox 177">
              <a:extLst>
                <a:ext uri="{FF2B5EF4-FFF2-40B4-BE49-F238E27FC236}">
                  <a16:creationId xmlns:a16="http://schemas.microsoft.com/office/drawing/2014/main" id="{2B7181B2-462E-46EB-41CB-B1EA07E409C9}"/>
                </a:ext>
              </a:extLst>
            </p:cNvPr>
            <p:cNvSpPr txBox="1"/>
            <p:nvPr/>
          </p:nvSpPr>
          <p:spPr>
            <a:xfrm>
              <a:off x="-752008" y="3971387"/>
              <a:ext cx="4743731" cy="215444"/>
            </a:xfrm>
            <a:prstGeom prst="rect">
              <a:avLst/>
            </a:prstGeom>
            <a:noFill/>
          </p:spPr>
          <p:txBody>
            <a:bodyPr wrap="non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VS Health Sans"/>
                  <a:ea typeface="+mn-ea"/>
                  <a:cs typeface="+mn-cs"/>
                </a:rPr>
                <a:t>Tier 1 Analytics, Migration, Validation</a:t>
              </a:r>
            </a:p>
          </p:txBody>
        </p:sp>
      </p:grpSp>
      <p:grpSp>
        <p:nvGrpSpPr>
          <p:cNvPr id="204" name="Group 203">
            <a:extLst>
              <a:ext uri="{FF2B5EF4-FFF2-40B4-BE49-F238E27FC236}">
                <a16:creationId xmlns:a16="http://schemas.microsoft.com/office/drawing/2014/main" id="{7BFC1535-9299-EB2D-D34E-355581160572}"/>
              </a:ext>
            </a:extLst>
          </p:cNvPr>
          <p:cNvGrpSpPr/>
          <p:nvPr/>
        </p:nvGrpSpPr>
        <p:grpSpPr>
          <a:xfrm>
            <a:off x="8112725" y="4225104"/>
            <a:ext cx="1464245" cy="295727"/>
            <a:chOff x="1784562" y="2200995"/>
            <a:chExt cx="1464245" cy="295727"/>
          </a:xfrm>
        </p:grpSpPr>
        <p:sp>
          <p:nvSpPr>
            <p:cNvPr id="205" name="TextBox 204">
              <a:extLst>
                <a:ext uri="{FF2B5EF4-FFF2-40B4-BE49-F238E27FC236}">
                  <a16:creationId xmlns:a16="http://schemas.microsoft.com/office/drawing/2014/main" id="{1751E35D-A3DB-856B-F41F-6B53739E2E9D}"/>
                </a:ext>
              </a:extLst>
            </p:cNvPr>
            <p:cNvSpPr txBox="1"/>
            <p:nvPr/>
          </p:nvSpPr>
          <p:spPr>
            <a:xfrm>
              <a:off x="1887558" y="2200995"/>
              <a:ext cx="1361249" cy="168379"/>
            </a:xfrm>
            <a:prstGeom prst="rect">
              <a:avLst/>
            </a:prstGeom>
            <a:noFill/>
          </p:spPr>
          <p:txBody>
            <a:bodyPr wrap="non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3F3F3F"/>
                  </a:solidFill>
                  <a:effectLst/>
                  <a:uLnTx/>
                  <a:uFillTx/>
                  <a:latin typeface="CVS Health Sans"/>
                  <a:ea typeface="+mn-ea"/>
                  <a:cs typeface="+mn-cs"/>
                </a:rPr>
                <a:t>Security data integrated</a:t>
              </a:r>
            </a:p>
          </p:txBody>
        </p:sp>
        <p:pic>
          <p:nvPicPr>
            <p:cNvPr id="206" name="Graphic 205" descr="CVS Health logo.">
              <a:extLst>
                <a:ext uri="{FF2B5EF4-FFF2-40B4-BE49-F238E27FC236}">
                  <a16:creationId xmlns:a16="http://schemas.microsoft.com/office/drawing/2014/main" id="{6AD180E4-82E3-79EC-6E95-6D11C7EF7D28}"/>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t="-1" r="84117" b="-77793"/>
            <a:stretch>
              <a:fillRect/>
            </a:stretch>
          </p:blipFill>
          <p:spPr>
            <a:xfrm>
              <a:off x="1784562" y="2220345"/>
              <a:ext cx="202370" cy="276377"/>
            </a:xfrm>
            <a:prstGeom prst="rect">
              <a:avLst/>
            </a:prstGeom>
          </p:spPr>
        </p:pic>
      </p:grpSp>
      <p:grpSp>
        <p:nvGrpSpPr>
          <p:cNvPr id="208" name="Group 207">
            <a:extLst>
              <a:ext uri="{FF2B5EF4-FFF2-40B4-BE49-F238E27FC236}">
                <a16:creationId xmlns:a16="http://schemas.microsoft.com/office/drawing/2014/main" id="{8210FBDB-08A8-EEF6-85B2-BF7E233A6489}"/>
              </a:ext>
            </a:extLst>
          </p:cNvPr>
          <p:cNvGrpSpPr/>
          <p:nvPr/>
        </p:nvGrpSpPr>
        <p:grpSpPr>
          <a:xfrm>
            <a:off x="2528362" y="5228169"/>
            <a:ext cx="9117537" cy="219456"/>
            <a:chOff x="2528362" y="2400838"/>
            <a:chExt cx="9117537" cy="219456"/>
          </a:xfrm>
        </p:grpSpPr>
        <p:sp>
          <p:nvSpPr>
            <p:cNvPr id="209" name="Rectangle: Rounded Corners 208">
              <a:extLst>
                <a:ext uri="{FF2B5EF4-FFF2-40B4-BE49-F238E27FC236}">
                  <a16:creationId xmlns:a16="http://schemas.microsoft.com/office/drawing/2014/main" id="{2A93C221-4103-B61B-B40F-E45B339422FF}"/>
                </a:ext>
              </a:extLst>
            </p:cNvPr>
            <p:cNvSpPr/>
            <p:nvPr/>
          </p:nvSpPr>
          <p:spPr bwMode="gray">
            <a:xfrm>
              <a:off x="2528362" y="2400838"/>
              <a:ext cx="9117537" cy="219456"/>
            </a:xfrm>
            <a:prstGeom prst="roundRect">
              <a:avLst>
                <a:gd name="adj" fmla="val 50000"/>
              </a:avLst>
            </a:prstGeom>
            <a:solidFill>
              <a:srgbClr val="0A4B8C"/>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210" name="TextBox 209">
              <a:extLst>
                <a:ext uri="{FF2B5EF4-FFF2-40B4-BE49-F238E27FC236}">
                  <a16:creationId xmlns:a16="http://schemas.microsoft.com/office/drawing/2014/main" id="{4FF55207-3A53-CB98-B735-5A32376BD67E}"/>
                </a:ext>
              </a:extLst>
            </p:cNvPr>
            <p:cNvSpPr txBox="1"/>
            <p:nvPr/>
          </p:nvSpPr>
          <p:spPr>
            <a:xfrm>
              <a:off x="6078044" y="2449011"/>
              <a:ext cx="2018181" cy="12311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VS Health Sans" panose="020B0504020202020204" pitchFamily="34" charset="0"/>
                  <a:ea typeface="+mn-ea"/>
                  <a:cs typeface="+mn-cs"/>
                </a:rPr>
                <a:t>Change Management and Power User Migration</a:t>
              </a:r>
            </a:p>
          </p:txBody>
        </p:sp>
      </p:grpSp>
      <p:grpSp>
        <p:nvGrpSpPr>
          <p:cNvPr id="213" name="Group 212">
            <a:extLst>
              <a:ext uri="{FF2B5EF4-FFF2-40B4-BE49-F238E27FC236}">
                <a16:creationId xmlns:a16="http://schemas.microsoft.com/office/drawing/2014/main" id="{A5C64E45-7A09-A3DC-9A37-1C50C8DE6A3D}"/>
              </a:ext>
            </a:extLst>
          </p:cNvPr>
          <p:cNvGrpSpPr/>
          <p:nvPr/>
        </p:nvGrpSpPr>
        <p:grpSpPr>
          <a:xfrm>
            <a:off x="10161260" y="5564799"/>
            <a:ext cx="1451097" cy="282566"/>
            <a:chOff x="1134469" y="2273358"/>
            <a:chExt cx="1451097" cy="282566"/>
          </a:xfrm>
        </p:grpSpPr>
        <p:sp>
          <p:nvSpPr>
            <p:cNvPr id="214" name="TextBox 213">
              <a:extLst>
                <a:ext uri="{FF2B5EF4-FFF2-40B4-BE49-F238E27FC236}">
                  <a16:creationId xmlns:a16="http://schemas.microsoft.com/office/drawing/2014/main" id="{3D1D620B-39DB-A23F-5E99-16E768AF0274}"/>
                </a:ext>
              </a:extLst>
            </p:cNvPr>
            <p:cNvSpPr txBox="1"/>
            <p:nvPr/>
          </p:nvSpPr>
          <p:spPr>
            <a:xfrm>
              <a:off x="1134469" y="2273358"/>
              <a:ext cx="1294571" cy="168379"/>
            </a:xfrm>
            <a:prstGeom prst="rect">
              <a:avLst/>
            </a:prstGeom>
            <a:noFill/>
          </p:spPr>
          <p:txBody>
            <a:bodyPr wrap="non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3F3F3F"/>
                  </a:solidFill>
                  <a:effectLst/>
                  <a:uLnTx/>
                  <a:uFillTx/>
                  <a:latin typeface="CVS Health Sans"/>
                  <a:ea typeface="+mn-ea"/>
                  <a:cs typeface="+mn-cs"/>
                </a:rPr>
                <a:t>User adoption &amp; support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3F3F3F"/>
                  </a:solidFill>
                  <a:effectLst/>
                  <a:uLnTx/>
                  <a:uFillTx/>
                  <a:latin typeface="CVS Health Sans"/>
                  <a:ea typeface="+mn-ea"/>
                  <a:cs typeface="+mn-cs"/>
                </a:rPr>
                <a:t>Model Operational</a:t>
              </a:r>
            </a:p>
          </p:txBody>
        </p:sp>
        <p:pic>
          <p:nvPicPr>
            <p:cNvPr id="215" name="Graphic 214" descr="CVS Health logo.">
              <a:extLst>
                <a:ext uri="{FF2B5EF4-FFF2-40B4-BE49-F238E27FC236}">
                  <a16:creationId xmlns:a16="http://schemas.microsoft.com/office/drawing/2014/main" id="{DD12A481-0133-AD62-FF4C-D9551E7755D3}"/>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t="-1" r="84117" b="-77793"/>
            <a:stretch>
              <a:fillRect/>
            </a:stretch>
          </p:blipFill>
          <p:spPr>
            <a:xfrm>
              <a:off x="2383196" y="2279547"/>
              <a:ext cx="202370" cy="276377"/>
            </a:xfrm>
            <a:prstGeom prst="rect">
              <a:avLst/>
            </a:prstGeom>
          </p:spPr>
        </p:pic>
      </p:grpSp>
      <p:grpSp>
        <p:nvGrpSpPr>
          <p:cNvPr id="231" name="Group 230">
            <a:extLst>
              <a:ext uri="{FF2B5EF4-FFF2-40B4-BE49-F238E27FC236}">
                <a16:creationId xmlns:a16="http://schemas.microsoft.com/office/drawing/2014/main" id="{F16F8F3E-97E5-4120-6DF1-620BCBFF5699}"/>
              </a:ext>
            </a:extLst>
          </p:cNvPr>
          <p:cNvGrpSpPr/>
          <p:nvPr/>
        </p:nvGrpSpPr>
        <p:grpSpPr>
          <a:xfrm>
            <a:off x="9991189" y="5786154"/>
            <a:ext cx="1654710" cy="223237"/>
            <a:chOff x="9991189" y="5703030"/>
            <a:chExt cx="1654710" cy="223237"/>
          </a:xfrm>
        </p:grpSpPr>
        <p:grpSp>
          <p:nvGrpSpPr>
            <p:cNvPr id="216" name="Group 215">
              <a:extLst>
                <a:ext uri="{FF2B5EF4-FFF2-40B4-BE49-F238E27FC236}">
                  <a16:creationId xmlns:a16="http://schemas.microsoft.com/office/drawing/2014/main" id="{3F5DB3B2-A25C-3F53-FEA8-5A6628B3F9F2}"/>
                </a:ext>
              </a:extLst>
            </p:cNvPr>
            <p:cNvGrpSpPr/>
            <p:nvPr/>
          </p:nvGrpSpPr>
          <p:grpSpPr>
            <a:xfrm>
              <a:off x="9991189" y="5703030"/>
              <a:ext cx="831327" cy="223237"/>
              <a:chOff x="2512488" y="2765047"/>
              <a:chExt cx="831327" cy="223237"/>
            </a:xfrm>
          </p:grpSpPr>
          <p:sp>
            <p:nvSpPr>
              <p:cNvPr id="217" name="Rectangle: Rounded Corners 216">
                <a:extLst>
                  <a:ext uri="{FF2B5EF4-FFF2-40B4-BE49-F238E27FC236}">
                    <a16:creationId xmlns:a16="http://schemas.microsoft.com/office/drawing/2014/main" id="{4DE997E6-CD5F-2B02-E110-08CAA4B86A44}"/>
                  </a:ext>
                </a:extLst>
              </p:cNvPr>
              <p:cNvSpPr/>
              <p:nvPr/>
            </p:nvSpPr>
            <p:spPr bwMode="gray">
              <a:xfrm>
                <a:off x="2512488" y="2768828"/>
                <a:ext cx="831327" cy="219456"/>
              </a:xfrm>
              <a:prstGeom prst="roundRect">
                <a:avLst>
                  <a:gd name="adj" fmla="val 50000"/>
                </a:avLst>
              </a:prstGeom>
              <a:solidFill>
                <a:srgbClr val="267AC0"/>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nvGrpSpPr>
              <p:cNvPr id="218" name="Group 217">
                <a:extLst>
                  <a:ext uri="{FF2B5EF4-FFF2-40B4-BE49-F238E27FC236}">
                    <a16:creationId xmlns:a16="http://schemas.microsoft.com/office/drawing/2014/main" id="{BE3401A0-0799-6497-BB9B-E1CBE4267F4B}"/>
                  </a:ext>
                </a:extLst>
              </p:cNvPr>
              <p:cNvGrpSpPr/>
              <p:nvPr/>
            </p:nvGrpSpPr>
            <p:grpSpPr>
              <a:xfrm>
                <a:off x="3156397" y="2802356"/>
                <a:ext cx="152400" cy="152400"/>
                <a:chOff x="11478469" y="2343150"/>
                <a:chExt cx="152400" cy="152400"/>
              </a:xfrm>
            </p:grpSpPr>
            <p:sp>
              <p:nvSpPr>
                <p:cNvPr id="220" name="Oval 219">
                  <a:extLst>
                    <a:ext uri="{FF2B5EF4-FFF2-40B4-BE49-F238E27FC236}">
                      <a16:creationId xmlns:a16="http://schemas.microsoft.com/office/drawing/2014/main" id="{57D24858-5107-B424-7804-A6572A5A5F31}"/>
                    </a:ext>
                  </a:extLst>
                </p:cNvPr>
                <p:cNvSpPr/>
                <p:nvPr/>
              </p:nvSpPr>
              <p:spPr bwMode="gray">
                <a:xfrm>
                  <a:off x="11478469" y="2343150"/>
                  <a:ext cx="152400" cy="152400"/>
                </a:xfrm>
                <a:prstGeom prst="ellipse">
                  <a:avLst/>
                </a:prstGeom>
                <a:solidFill>
                  <a:srgbClr val="267AC0"/>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221" name="Arrow: Chevron 220">
                  <a:extLst>
                    <a:ext uri="{FF2B5EF4-FFF2-40B4-BE49-F238E27FC236}">
                      <a16:creationId xmlns:a16="http://schemas.microsoft.com/office/drawing/2014/main" id="{2C1223A1-9FC1-30BF-5CA2-D99EA2F9FC18}"/>
                    </a:ext>
                  </a:extLst>
                </p:cNvPr>
                <p:cNvSpPr/>
                <p:nvPr/>
              </p:nvSpPr>
              <p:spPr bwMode="gray">
                <a:xfrm>
                  <a:off x="11526567" y="2379338"/>
                  <a:ext cx="65358" cy="80023"/>
                </a:xfrm>
                <a:prstGeom prst="chevron">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sp>
            <p:nvSpPr>
              <p:cNvPr id="219" name="TextBox 218">
                <a:extLst>
                  <a:ext uri="{FF2B5EF4-FFF2-40B4-BE49-F238E27FC236}">
                    <a16:creationId xmlns:a16="http://schemas.microsoft.com/office/drawing/2014/main" id="{D73EAE44-9BD0-311D-FC48-447F08F8C85D}"/>
                  </a:ext>
                </a:extLst>
              </p:cNvPr>
              <p:cNvSpPr txBox="1"/>
              <p:nvPr/>
            </p:nvSpPr>
            <p:spPr>
              <a:xfrm>
                <a:off x="2531601" y="2765047"/>
                <a:ext cx="601127" cy="95709"/>
              </a:xfrm>
              <a:prstGeom prst="rect">
                <a:avLst/>
              </a:prstGeom>
              <a:noFill/>
            </p:spPr>
            <p:txBody>
              <a:bodyPr wrap="non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VS Health Sans"/>
                    <a:ea typeface="+mn-ea"/>
                    <a:cs typeface="+mn-cs"/>
                  </a:rPr>
                  <a:t>Cutover</a:t>
                </a:r>
              </a:p>
            </p:txBody>
          </p:sp>
          <p:sp>
            <p:nvSpPr>
              <p:cNvPr id="2" name="TextBox 1">
                <a:extLst>
                  <a:ext uri="{FF2B5EF4-FFF2-40B4-BE49-F238E27FC236}">
                    <a16:creationId xmlns:a16="http://schemas.microsoft.com/office/drawing/2014/main" id="{C339A65D-963F-1181-032D-CAC3F84359EB}"/>
                  </a:ext>
                </a:extLst>
              </p:cNvPr>
              <p:cNvSpPr txBox="1"/>
              <p:nvPr/>
            </p:nvSpPr>
            <p:spPr>
              <a:xfrm>
                <a:off x="2531601" y="2860756"/>
                <a:ext cx="601127" cy="95709"/>
              </a:xfrm>
              <a:prstGeom prst="rect">
                <a:avLst/>
              </a:prstGeom>
              <a:noFill/>
            </p:spPr>
            <p:txBody>
              <a:bodyPr wrap="non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VS Health Sans"/>
                    <a:ea typeface="+mn-ea"/>
                    <a:cs typeface="+mn-cs"/>
                  </a:rPr>
                  <a:t>support</a:t>
                </a:r>
              </a:p>
            </p:txBody>
          </p:sp>
        </p:grpSp>
        <p:grpSp>
          <p:nvGrpSpPr>
            <p:cNvPr id="222" name="Group 221">
              <a:extLst>
                <a:ext uri="{FF2B5EF4-FFF2-40B4-BE49-F238E27FC236}">
                  <a16:creationId xmlns:a16="http://schemas.microsoft.com/office/drawing/2014/main" id="{B0D8A4BC-DEBC-74CC-0ABC-4446F7C70CD0}"/>
                </a:ext>
              </a:extLst>
            </p:cNvPr>
            <p:cNvGrpSpPr/>
            <p:nvPr/>
          </p:nvGrpSpPr>
          <p:grpSpPr>
            <a:xfrm>
              <a:off x="10822516" y="5703030"/>
              <a:ext cx="823383" cy="223237"/>
              <a:chOff x="2512488" y="2765047"/>
              <a:chExt cx="831327" cy="223237"/>
            </a:xfrm>
          </p:grpSpPr>
          <p:sp>
            <p:nvSpPr>
              <p:cNvPr id="223" name="Rectangle: Rounded Corners 222">
                <a:extLst>
                  <a:ext uri="{FF2B5EF4-FFF2-40B4-BE49-F238E27FC236}">
                    <a16:creationId xmlns:a16="http://schemas.microsoft.com/office/drawing/2014/main" id="{5CB2A3ED-6868-A9C6-1F51-D6BC12235CE9}"/>
                  </a:ext>
                </a:extLst>
              </p:cNvPr>
              <p:cNvSpPr/>
              <p:nvPr/>
            </p:nvSpPr>
            <p:spPr bwMode="gray">
              <a:xfrm>
                <a:off x="2512488" y="2768828"/>
                <a:ext cx="831327" cy="219456"/>
              </a:xfrm>
              <a:prstGeom prst="roundRect">
                <a:avLst>
                  <a:gd name="adj" fmla="val 50000"/>
                </a:avLst>
              </a:prstGeom>
              <a:solidFill>
                <a:srgbClr val="267AC0"/>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nvGrpSpPr>
              <p:cNvPr id="224" name="Group 223">
                <a:extLst>
                  <a:ext uri="{FF2B5EF4-FFF2-40B4-BE49-F238E27FC236}">
                    <a16:creationId xmlns:a16="http://schemas.microsoft.com/office/drawing/2014/main" id="{9802B89B-E188-8BFB-14CA-729D990505AA}"/>
                  </a:ext>
                </a:extLst>
              </p:cNvPr>
              <p:cNvGrpSpPr/>
              <p:nvPr/>
            </p:nvGrpSpPr>
            <p:grpSpPr>
              <a:xfrm>
                <a:off x="3156397" y="2802356"/>
                <a:ext cx="152400" cy="152400"/>
                <a:chOff x="11478469" y="2343150"/>
                <a:chExt cx="152400" cy="152400"/>
              </a:xfrm>
            </p:grpSpPr>
            <p:sp>
              <p:nvSpPr>
                <p:cNvPr id="226" name="Oval 225">
                  <a:extLst>
                    <a:ext uri="{FF2B5EF4-FFF2-40B4-BE49-F238E27FC236}">
                      <a16:creationId xmlns:a16="http://schemas.microsoft.com/office/drawing/2014/main" id="{289DADD4-9224-B02B-B02E-6C15DA3AF69C}"/>
                    </a:ext>
                  </a:extLst>
                </p:cNvPr>
                <p:cNvSpPr/>
                <p:nvPr/>
              </p:nvSpPr>
              <p:spPr bwMode="gray">
                <a:xfrm>
                  <a:off x="11478469" y="2343150"/>
                  <a:ext cx="152400" cy="152400"/>
                </a:xfrm>
                <a:prstGeom prst="ellipse">
                  <a:avLst/>
                </a:prstGeom>
                <a:solidFill>
                  <a:srgbClr val="267AC0"/>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227" name="Arrow: Chevron 226">
                  <a:extLst>
                    <a:ext uri="{FF2B5EF4-FFF2-40B4-BE49-F238E27FC236}">
                      <a16:creationId xmlns:a16="http://schemas.microsoft.com/office/drawing/2014/main" id="{7020753A-7C36-D615-19B1-9680B60FF778}"/>
                    </a:ext>
                  </a:extLst>
                </p:cNvPr>
                <p:cNvSpPr/>
                <p:nvPr/>
              </p:nvSpPr>
              <p:spPr bwMode="gray">
                <a:xfrm>
                  <a:off x="11526567" y="2379338"/>
                  <a:ext cx="65358" cy="80023"/>
                </a:xfrm>
                <a:prstGeom prst="chevron">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sp>
            <p:nvSpPr>
              <p:cNvPr id="225" name="TextBox 224">
                <a:extLst>
                  <a:ext uri="{FF2B5EF4-FFF2-40B4-BE49-F238E27FC236}">
                    <a16:creationId xmlns:a16="http://schemas.microsoft.com/office/drawing/2014/main" id="{82A645C4-F543-F5AE-1839-6CC3E9CE1BC8}"/>
                  </a:ext>
                </a:extLst>
              </p:cNvPr>
              <p:cNvSpPr txBox="1"/>
              <p:nvPr/>
            </p:nvSpPr>
            <p:spPr>
              <a:xfrm>
                <a:off x="2591479" y="2765047"/>
                <a:ext cx="532552" cy="119879"/>
              </a:xfrm>
              <a:prstGeom prst="rect">
                <a:avLst/>
              </a:prstGeom>
              <a:noFill/>
            </p:spPr>
            <p:txBody>
              <a:bodyPr wrap="non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VS Health Sans"/>
                    <a:ea typeface="+mn-ea"/>
                    <a:cs typeface="+mn-cs"/>
                  </a:rPr>
                  <a:t>Transition </a:t>
                </a:r>
              </a:p>
            </p:txBody>
          </p:sp>
          <p:sp>
            <p:nvSpPr>
              <p:cNvPr id="3" name="TextBox 2">
                <a:extLst>
                  <a:ext uri="{FF2B5EF4-FFF2-40B4-BE49-F238E27FC236}">
                    <a16:creationId xmlns:a16="http://schemas.microsoft.com/office/drawing/2014/main" id="{9A530C95-4942-31CA-D81D-ECD3F1C63CA3}"/>
                  </a:ext>
                </a:extLst>
              </p:cNvPr>
              <p:cNvSpPr txBox="1"/>
              <p:nvPr/>
            </p:nvSpPr>
            <p:spPr>
              <a:xfrm>
                <a:off x="2591479" y="2860756"/>
                <a:ext cx="532552" cy="119879"/>
              </a:xfrm>
              <a:prstGeom prst="rect">
                <a:avLst/>
              </a:prstGeom>
              <a:noFill/>
            </p:spPr>
            <p:txBody>
              <a:bodyPr wrap="non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VS Health Sans"/>
                    <a:ea typeface="+mn-ea"/>
                    <a:cs typeface="+mn-cs"/>
                  </a:rPr>
                  <a:t>&amp; Handoff</a:t>
                </a:r>
              </a:p>
            </p:txBody>
          </p:sp>
        </p:grpSp>
      </p:grpSp>
      <p:grpSp>
        <p:nvGrpSpPr>
          <p:cNvPr id="228" name="Group 227">
            <a:extLst>
              <a:ext uri="{FF2B5EF4-FFF2-40B4-BE49-F238E27FC236}">
                <a16:creationId xmlns:a16="http://schemas.microsoft.com/office/drawing/2014/main" id="{5B48141C-0EBF-A03A-5ABB-5A95A6B0E1F3}"/>
              </a:ext>
            </a:extLst>
          </p:cNvPr>
          <p:cNvGrpSpPr/>
          <p:nvPr/>
        </p:nvGrpSpPr>
        <p:grpSpPr>
          <a:xfrm>
            <a:off x="10079841" y="6103151"/>
            <a:ext cx="1577172" cy="295727"/>
            <a:chOff x="1784562" y="2200995"/>
            <a:chExt cx="1577172" cy="295727"/>
          </a:xfrm>
        </p:grpSpPr>
        <p:sp>
          <p:nvSpPr>
            <p:cNvPr id="229" name="TextBox 228">
              <a:extLst>
                <a:ext uri="{FF2B5EF4-FFF2-40B4-BE49-F238E27FC236}">
                  <a16:creationId xmlns:a16="http://schemas.microsoft.com/office/drawing/2014/main" id="{5C484959-0D6F-54F7-3566-8A2E6F3C17D5}"/>
                </a:ext>
              </a:extLst>
            </p:cNvPr>
            <p:cNvSpPr txBox="1"/>
            <p:nvPr/>
          </p:nvSpPr>
          <p:spPr>
            <a:xfrm>
              <a:off x="2014775" y="2200995"/>
              <a:ext cx="1346959" cy="168379"/>
            </a:xfrm>
            <a:prstGeom prst="rect">
              <a:avLst/>
            </a:prstGeom>
            <a:solidFill>
              <a:schemeClr val="bg1"/>
            </a:solidFill>
          </p:spPr>
          <p:txBody>
            <a:bodyPr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3F3F3F"/>
                  </a:solidFill>
                  <a:effectLst/>
                  <a:uLnTx/>
                  <a:uFillTx/>
                  <a:latin typeface="CVS Health Sans"/>
                  <a:ea typeface="+mn-ea"/>
                  <a:cs typeface="+mn-cs"/>
                </a:rPr>
                <a:t>CVS Data Lake Milestone</a:t>
              </a:r>
            </a:p>
          </p:txBody>
        </p:sp>
        <p:pic>
          <p:nvPicPr>
            <p:cNvPr id="230" name="Graphic 229" descr="CVS Health logo.">
              <a:extLst>
                <a:ext uri="{FF2B5EF4-FFF2-40B4-BE49-F238E27FC236}">
                  <a16:creationId xmlns:a16="http://schemas.microsoft.com/office/drawing/2014/main" id="{5F57253D-C243-F445-EC2C-08327035D36B}"/>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t="-1" r="84117" b="-77793"/>
            <a:stretch>
              <a:fillRect/>
            </a:stretch>
          </p:blipFill>
          <p:spPr>
            <a:xfrm>
              <a:off x="1784562" y="2220345"/>
              <a:ext cx="202370" cy="276377"/>
            </a:xfrm>
            <a:prstGeom prst="rect">
              <a:avLst/>
            </a:prstGeom>
          </p:spPr>
        </p:pic>
      </p:grpSp>
      <p:grpSp>
        <p:nvGrpSpPr>
          <p:cNvPr id="10" name="Group 9">
            <a:extLst>
              <a:ext uri="{FF2B5EF4-FFF2-40B4-BE49-F238E27FC236}">
                <a16:creationId xmlns:a16="http://schemas.microsoft.com/office/drawing/2014/main" id="{9E2AC4E2-AF69-B0DE-E1C3-255EABCECCF2}"/>
              </a:ext>
            </a:extLst>
          </p:cNvPr>
          <p:cNvGrpSpPr/>
          <p:nvPr/>
        </p:nvGrpSpPr>
        <p:grpSpPr>
          <a:xfrm>
            <a:off x="1784562" y="4996837"/>
            <a:ext cx="1559190" cy="215444"/>
            <a:chOff x="1784562" y="4996837"/>
            <a:chExt cx="1559190" cy="215444"/>
          </a:xfrm>
        </p:grpSpPr>
        <p:sp>
          <p:nvSpPr>
            <p:cNvPr id="7" name="Rectangle: Rounded Corners 6">
              <a:extLst>
                <a:ext uri="{FF2B5EF4-FFF2-40B4-BE49-F238E27FC236}">
                  <a16:creationId xmlns:a16="http://schemas.microsoft.com/office/drawing/2014/main" id="{E631A8AA-4F07-B0B0-0E4F-3FE6CB1B7511}"/>
                </a:ext>
              </a:extLst>
            </p:cNvPr>
            <p:cNvSpPr/>
            <p:nvPr/>
          </p:nvSpPr>
          <p:spPr bwMode="gray">
            <a:xfrm>
              <a:off x="1784562" y="4996837"/>
              <a:ext cx="1559190" cy="215444"/>
            </a:xfrm>
            <a:prstGeom prst="roundRect">
              <a:avLst>
                <a:gd name="adj" fmla="val 50000"/>
              </a:avLst>
            </a:prstGeom>
            <a:solidFill>
              <a:srgbClr val="0A4B8C"/>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nvGrpSpPr>
            <p:cNvPr id="8" name="Group 7">
              <a:extLst>
                <a:ext uri="{FF2B5EF4-FFF2-40B4-BE49-F238E27FC236}">
                  <a16:creationId xmlns:a16="http://schemas.microsoft.com/office/drawing/2014/main" id="{9F925EC3-AF8C-A56B-CBAB-A41E7F136AF2}"/>
                </a:ext>
              </a:extLst>
            </p:cNvPr>
            <p:cNvGrpSpPr/>
            <p:nvPr/>
          </p:nvGrpSpPr>
          <p:grpSpPr>
            <a:xfrm>
              <a:off x="3118555" y="5028359"/>
              <a:ext cx="152400" cy="152400"/>
              <a:chOff x="11478469" y="2343150"/>
              <a:chExt cx="152400" cy="152400"/>
            </a:xfrm>
          </p:grpSpPr>
          <p:sp>
            <p:nvSpPr>
              <p:cNvPr id="13" name="Oval 12">
                <a:extLst>
                  <a:ext uri="{FF2B5EF4-FFF2-40B4-BE49-F238E27FC236}">
                    <a16:creationId xmlns:a16="http://schemas.microsoft.com/office/drawing/2014/main" id="{46F33156-F82D-652A-AACF-09550A5654D1}"/>
                  </a:ext>
                </a:extLst>
              </p:cNvPr>
              <p:cNvSpPr/>
              <p:nvPr/>
            </p:nvSpPr>
            <p:spPr bwMode="gray">
              <a:xfrm>
                <a:off x="11478469" y="2343150"/>
                <a:ext cx="152400" cy="152400"/>
              </a:xfrm>
              <a:prstGeom prst="ellipse">
                <a:avLst/>
              </a:prstGeom>
              <a:solidFill>
                <a:srgbClr val="0A4B8C"/>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4" name="Arrow: Chevron 13">
                <a:extLst>
                  <a:ext uri="{FF2B5EF4-FFF2-40B4-BE49-F238E27FC236}">
                    <a16:creationId xmlns:a16="http://schemas.microsoft.com/office/drawing/2014/main" id="{1946D723-1C9C-0FBD-F312-5C3845BA1CDA}"/>
                  </a:ext>
                </a:extLst>
              </p:cNvPr>
              <p:cNvSpPr/>
              <p:nvPr/>
            </p:nvSpPr>
            <p:spPr bwMode="gray">
              <a:xfrm>
                <a:off x="11526567" y="2379338"/>
                <a:ext cx="65358" cy="80023"/>
              </a:xfrm>
              <a:prstGeom prst="chevron">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sp>
          <p:nvSpPr>
            <p:cNvPr id="9" name="TextBox 8">
              <a:extLst>
                <a:ext uri="{FF2B5EF4-FFF2-40B4-BE49-F238E27FC236}">
                  <a16:creationId xmlns:a16="http://schemas.microsoft.com/office/drawing/2014/main" id="{0318DD87-39C1-AAFF-DFB6-99CDDFE3E33B}"/>
                </a:ext>
              </a:extLst>
            </p:cNvPr>
            <p:cNvSpPr txBox="1"/>
            <p:nvPr/>
          </p:nvSpPr>
          <p:spPr>
            <a:xfrm>
              <a:off x="1821593" y="4996837"/>
              <a:ext cx="1085157" cy="215444"/>
            </a:xfrm>
            <a:prstGeom prst="rect">
              <a:avLst/>
            </a:prstGeom>
            <a:no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VS Health Sans"/>
                  <a:ea typeface="+mn-ea"/>
                  <a:cs typeface="+mn-cs"/>
                </a:rPr>
                <a:t>Communication Plan</a:t>
              </a:r>
            </a:p>
          </p:txBody>
        </p:sp>
      </p:grpSp>
      <p:grpSp>
        <p:nvGrpSpPr>
          <p:cNvPr id="55" name="Group 54">
            <a:extLst>
              <a:ext uri="{FF2B5EF4-FFF2-40B4-BE49-F238E27FC236}">
                <a16:creationId xmlns:a16="http://schemas.microsoft.com/office/drawing/2014/main" id="{EF25D142-BF37-F223-92B3-1CFBA4470C76}"/>
              </a:ext>
            </a:extLst>
          </p:cNvPr>
          <p:cNvGrpSpPr/>
          <p:nvPr/>
        </p:nvGrpSpPr>
        <p:grpSpPr>
          <a:xfrm>
            <a:off x="4108443" y="6174518"/>
            <a:ext cx="152400" cy="155448"/>
            <a:chOff x="11459934" y="2346516"/>
            <a:chExt cx="152400" cy="152400"/>
          </a:xfrm>
        </p:grpSpPr>
        <p:sp>
          <p:nvSpPr>
            <p:cNvPr id="58" name="Oval 57">
              <a:extLst>
                <a:ext uri="{FF2B5EF4-FFF2-40B4-BE49-F238E27FC236}">
                  <a16:creationId xmlns:a16="http://schemas.microsoft.com/office/drawing/2014/main" id="{8EBAE7D5-4F77-72FA-436E-22705CAEEBC3}"/>
                </a:ext>
              </a:extLst>
            </p:cNvPr>
            <p:cNvSpPr/>
            <p:nvPr/>
          </p:nvSpPr>
          <p:spPr bwMode="gray">
            <a:xfrm>
              <a:off x="11459934" y="2346516"/>
              <a:ext cx="152400" cy="152400"/>
            </a:xfrm>
            <a:prstGeom prst="ellipse">
              <a:avLst/>
            </a:prstGeom>
            <a:solidFill>
              <a:srgbClr val="0A4B8C"/>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60" name="Arrow: Chevron 59">
              <a:extLst>
                <a:ext uri="{FF2B5EF4-FFF2-40B4-BE49-F238E27FC236}">
                  <a16:creationId xmlns:a16="http://schemas.microsoft.com/office/drawing/2014/main" id="{B30FE05B-3B4D-B4D4-33EA-40EF472AB857}"/>
                </a:ext>
              </a:extLst>
            </p:cNvPr>
            <p:cNvSpPr/>
            <p:nvPr/>
          </p:nvSpPr>
          <p:spPr bwMode="gray">
            <a:xfrm>
              <a:off x="11508032" y="2382704"/>
              <a:ext cx="65358" cy="80023"/>
            </a:xfrm>
            <a:prstGeom prst="chevron">
              <a:avLst/>
            </a:prstGeom>
            <a:solidFill>
              <a:srgbClr val="F4642A"/>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sp>
        <p:nvSpPr>
          <p:cNvPr id="65" name="TextBox 64">
            <a:extLst>
              <a:ext uri="{FF2B5EF4-FFF2-40B4-BE49-F238E27FC236}">
                <a16:creationId xmlns:a16="http://schemas.microsoft.com/office/drawing/2014/main" id="{D324C5DD-6FB5-FEE7-C59C-1941D664BD16}"/>
              </a:ext>
            </a:extLst>
          </p:cNvPr>
          <p:cNvSpPr txBox="1"/>
          <p:nvPr/>
        </p:nvSpPr>
        <p:spPr>
          <a:xfrm>
            <a:off x="4193514" y="6125010"/>
            <a:ext cx="2196367"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3F3F3F"/>
                </a:solidFill>
                <a:effectLst/>
                <a:uLnTx/>
                <a:uFillTx/>
                <a:latin typeface="CVS Health Sans"/>
                <a:ea typeface="+mn-ea"/>
                <a:cs typeface="+mn-cs"/>
              </a:rPr>
              <a:t>Tier 1, 2, 3 </a:t>
            </a:r>
            <a:r>
              <a:rPr kumimoji="0" lang="en-US" sz="1000" b="0" i="1" u="none" strike="noStrike" kern="1200" cap="none" spc="0" normalizeH="0" baseline="0" noProof="0" err="1">
                <a:ln>
                  <a:noFill/>
                </a:ln>
                <a:solidFill>
                  <a:srgbClr val="3F3F3F"/>
                </a:solidFill>
                <a:effectLst/>
                <a:uLnTx/>
                <a:uFillTx/>
                <a:latin typeface="CVS Health Sans"/>
                <a:ea typeface="+mn-ea"/>
                <a:cs typeface="+mn-cs"/>
              </a:rPr>
              <a:t>etc</a:t>
            </a:r>
            <a:r>
              <a:rPr kumimoji="0" lang="en-US" sz="1000" b="0" i="1" u="none" strike="noStrike" kern="1200" cap="none" spc="0" normalizeH="0" baseline="0" noProof="0">
                <a:ln>
                  <a:noFill/>
                </a:ln>
                <a:solidFill>
                  <a:srgbClr val="3F3F3F"/>
                </a:solidFill>
                <a:effectLst/>
                <a:uLnTx/>
                <a:uFillTx/>
                <a:latin typeface="CVS Health Sans"/>
                <a:ea typeface="+mn-ea"/>
                <a:cs typeface="+mn-cs"/>
              </a:rPr>
              <a:t> milestones</a:t>
            </a:r>
          </a:p>
        </p:txBody>
      </p:sp>
      <p:grpSp>
        <p:nvGrpSpPr>
          <p:cNvPr id="67" name="Group 66">
            <a:extLst>
              <a:ext uri="{FF2B5EF4-FFF2-40B4-BE49-F238E27FC236}">
                <a16:creationId xmlns:a16="http://schemas.microsoft.com/office/drawing/2014/main" id="{C6C55876-B980-361C-9F88-1B9C93ED2B3D}"/>
              </a:ext>
            </a:extLst>
          </p:cNvPr>
          <p:cNvGrpSpPr/>
          <p:nvPr/>
        </p:nvGrpSpPr>
        <p:grpSpPr>
          <a:xfrm>
            <a:off x="7344293" y="5114797"/>
            <a:ext cx="152400" cy="155448"/>
            <a:chOff x="11459934" y="2346516"/>
            <a:chExt cx="152400" cy="152400"/>
          </a:xfrm>
        </p:grpSpPr>
        <p:sp>
          <p:nvSpPr>
            <p:cNvPr id="69" name="Oval 68">
              <a:extLst>
                <a:ext uri="{FF2B5EF4-FFF2-40B4-BE49-F238E27FC236}">
                  <a16:creationId xmlns:a16="http://schemas.microsoft.com/office/drawing/2014/main" id="{8791489B-4F64-0EEB-27C4-635A07874931}"/>
                </a:ext>
              </a:extLst>
            </p:cNvPr>
            <p:cNvSpPr/>
            <p:nvPr/>
          </p:nvSpPr>
          <p:spPr bwMode="gray">
            <a:xfrm>
              <a:off x="11459934" y="2346516"/>
              <a:ext cx="152400" cy="152400"/>
            </a:xfrm>
            <a:prstGeom prst="ellipse">
              <a:avLst/>
            </a:prstGeom>
            <a:solidFill>
              <a:srgbClr val="0A4B8C"/>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72" name="Arrow: Chevron 71">
              <a:extLst>
                <a:ext uri="{FF2B5EF4-FFF2-40B4-BE49-F238E27FC236}">
                  <a16:creationId xmlns:a16="http://schemas.microsoft.com/office/drawing/2014/main" id="{8C6227BD-AB7F-453E-4FF8-980A336D5137}"/>
                </a:ext>
              </a:extLst>
            </p:cNvPr>
            <p:cNvSpPr/>
            <p:nvPr/>
          </p:nvSpPr>
          <p:spPr bwMode="gray">
            <a:xfrm>
              <a:off x="11508032" y="2382704"/>
              <a:ext cx="65358" cy="80023"/>
            </a:xfrm>
            <a:prstGeom prst="chevron">
              <a:avLst/>
            </a:prstGeom>
            <a:solidFill>
              <a:srgbClr val="F4642A"/>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grpSp>
        <p:nvGrpSpPr>
          <p:cNvPr id="83" name="Group 82">
            <a:extLst>
              <a:ext uri="{FF2B5EF4-FFF2-40B4-BE49-F238E27FC236}">
                <a16:creationId xmlns:a16="http://schemas.microsoft.com/office/drawing/2014/main" id="{42336199-6B87-08C8-347E-558D19B41C12}"/>
              </a:ext>
            </a:extLst>
          </p:cNvPr>
          <p:cNvGrpSpPr/>
          <p:nvPr/>
        </p:nvGrpSpPr>
        <p:grpSpPr>
          <a:xfrm>
            <a:off x="9002974" y="5114797"/>
            <a:ext cx="152400" cy="155448"/>
            <a:chOff x="11459934" y="2346516"/>
            <a:chExt cx="152400" cy="152400"/>
          </a:xfrm>
        </p:grpSpPr>
        <p:sp>
          <p:nvSpPr>
            <p:cNvPr id="86" name="Oval 85">
              <a:extLst>
                <a:ext uri="{FF2B5EF4-FFF2-40B4-BE49-F238E27FC236}">
                  <a16:creationId xmlns:a16="http://schemas.microsoft.com/office/drawing/2014/main" id="{019F1398-B50C-1CAC-68E4-9D806D936022}"/>
                </a:ext>
              </a:extLst>
            </p:cNvPr>
            <p:cNvSpPr/>
            <p:nvPr/>
          </p:nvSpPr>
          <p:spPr bwMode="gray">
            <a:xfrm>
              <a:off x="11459934" y="2346516"/>
              <a:ext cx="152400" cy="152400"/>
            </a:xfrm>
            <a:prstGeom prst="ellipse">
              <a:avLst/>
            </a:prstGeom>
            <a:solidFill>
              <a:srgbClr val="0A4B8C"/>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91" name="Arrow: Chevron 90">
              <a:extLst>
                <a:ext uri="{FF2B5EF4-FFF2-40B4-BE49-F238E27FC236}">
                  <a16:creationId xmlns:a16="http://schemas.microsoft.com/office/drawing/2014/main" id="{7C7DCEA9-6F92-7901-05A4-DF8A5BE7EA48}"/>
                </a:ext>
              </a:extLst>
            </p:cNvPr>
            <p:cNvSpPr/>
            <p:nvPr/>
          </p:nvSpPr>
          <p:spPr bwMode="gray">
            <a:xfrm>
              <a:off x="11508032" y="2382704"/>
              <a:ext cx="65358" cy="80023"/>
            </a:xfrm>
            <a:prstGeom prst="chevron">
              <a:avLst/>
            </a:prstGeom>
            <a:solidFill>
              <a:srgbClr val="F4642A"/>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grpSp>
        <p:nvGrpSpPr>
          <p:cNvPr id="113" name="Group 112">
            <a:extLst>
              <a:ext uri="{FF2B5EF4-FFF2-40B4-BE49-F238E27FC236}">
                <a16:creationId xmlns:a16="http://schemas.microsoft.com/office/drawing/2014/main" id="{31F64C5E-1B3B-02DF-C352-F067209A93D7}"/>
              </a:ext>
            </a:extLst>
          </p:cNvPr>
          <p:cNvGrpSpPr/>
          <p:nvPr/>
        </p:nvGrpSpPr>
        <p:grpSpPr>
          <a:xfrm>
            <a:off x="11430748" y="5256569"/>
            <a:ext cx="152400" cy="155448"/>
            <a:chOff x="11459934" y="2346516"/>
            <a:chExt cx="152400" cy="152400"/>
          </a:xfrm>
        </p:grpSpPr>
        <p:sp>
          <p:nvSpPr>
            <p:cNvPr id="115" name="Oval 114">
              <a:extLst>
                <a:ext uri="{FF2B5EF4-FFF2-40B4-BE49-F238E27FC236}">
                  <a16:creationId xmlns:a16="http://schemas.microsoft.com/office/drawing/2014/main" id="{DA2A87CF-122C-DC9E-A455-9BC386B204C7}"/>
                </a:ext>
              </a:extLst>
            </p:cNvPr>
            <p:cNvSpPr/>
            <p:nvPr/>
          </p:nvSpPr>
          <p:spPr bwMode="gray">
            <a:xfrm>
              <a:off x="11459934" y="2346516"/>
              <a:ext cx="152400" cy="152400"/>
            </a:xfrm>
            <a:prstGeom prst="ellipse">
              <a:avLst/>
            </a:prstGeom>
            <a:solidFill>
              <a:srgbClr val="0A4B8C"/>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17" name="Arrow: Chevron 116">
              <a:extLst>
                <a:ext uri="{FF2B5EF4-FFF2-40B4-BE49-F238E27FC236}">
                  <a16:creationId xmlns:a16="http://schemas.microsoft.com/office/drawing/2014/main" id="{1D84FFA1-4BC2-3BC1-8C13-ACB9CBF78AB8}"/>
                </a:ext>
              </a:extLst>
            </p:cNvPr>
            <p:cNvSpPr/>
            <p:nvPr/>
          </p:nvSpPr>
          <p:spPr bwMode="gray">
            <a:xfrm>
              <a:off x="11508032" y="2382704"/>
              <a:ext cx="65358" cy="80023"/>
            </a:xfrm>
            <a:prstGeom prst="chevron">
              <a:avLst/>
            </a:prstGeom>
            <a:solidFill>
              <a:srgbClr val="F4642A"/>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sp>
        <p:nvSpPr>
          <p:cNvPr id="147" name="Rectangle: Rounded Corners 146">
            <a:extLst>
              <a:ext uri="{FF2B5EF4-FFF2-40B4-BE49-F238E27FC236}">
                <a16:creationId xmlns:a16="http://schemas.microsoft.com/office/drawing/2014/main" id="{3AEC9645-6ACC-2AE5-7EEA-928946FAAB9B}"/>
              </a:ext>
            </a:extLst>
          </p:cNvPr>
          <p:cNvSpPr/>
          <p:nvPr/>
        </p:nvSpPr>
        <p:spPr bwMode="gray">
          <a:xfrm>
            <a:off x="2423160" y="2921002"/>
            <a:ext cx="2560320" cy="145570"/>
          </a:xfrm>
          <a:prstGeom prst="roundRect">
            <a:avLst>
              <a:gd name="adj" fmla="val 50000"/>
            </a:avLst>
          </a:prstGeom>
          <a:solidFill>
            <a:srgbClr val="267AC0"/>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defRPr/>
            </a:pPr>
            <a:r>
              <a:rPr lang="en-US" sz="800" kern="0">
                <a:solidFill>
                  <a:prstClr val="white"/>
                </a:solidFill>
              </a:rPr>
              <a:t>Remediation Actions</a:t>
            </a: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nvGrpSpPr>
          <p:cNvPr id="5" name="Group 4">
            <a:extLst>
              <a:ext uri="{FF2B5EF4-FFF2-40B4-BE49-F238E27FC236}">
                <a16:creationId xmlns:a16="http://schemas.microsoft.com/office/drawing/2014/main" id="{F14AA566-C303-D5E9-7123-0B3ADC4474B2}"/>
              </a:ext>
            </a:extLst>
          </p:cNvPr>
          <p:cNvGrpSpPr/>
          <p:nvPr/>
        </p:nvGrpSpPr>
        <p:grpSpPr>
          <a:xfrm>
            <a:off x="4846525" y="2926731"/>
            <a:ext cx="118872" cy="118873"/>
            <a:chOff x="4861765" y="2934351"/>
            <a:chExt cx="118872" cy="118873"/>
          </a:xfrm>
        </p:grpSpPr>
        <p:sp>
          <p:nvSpPr>
            <p:cNvPr id="153" name="Oval 152">
              <a:extLst>
                <a:ext uri="{FF2B5EF4-FFF2-40B4-BE49-F238E27FC236}">
                  <a16:creationId xmlns:a16="http://schemas.microsoft.com/office/drawing/2014/main" id="{E7AF7479-3546-E8DE-711B-6B3B24B0BC1F}"/>
                </a:ext>
              </a:extLst>
            </p:cNvPr>
            <p:cNvSpPr/>
            <p:nvPr/>
          </p:nvSpPr>
          <p:spPr bwMode="gray">
            <a:xfrm>
              <a:off x="4861765" y="2934351"/>
              <a:ext cx="118872" cy="118873"/>
            </a:xfrm>
            <a:prstGeom prst="ellipse">
              <a:avLst/>
            </a:prstGeom>
            <a:solidFill>
              <a:srgbClr val="267AC0"/>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55" name="Arrow: Chevron 154">
              <a:extLst>
                <a:ext uri="{FF2B5EF4-FFF2-40B4-BE49-F238E27FC236}">
                  <a16:creationId xmlns:a16="http://schemas.microsoft.com/office/drawing/2014/main" id="{DB140243-DF5A-DCB0-0C7D-52E435EE1CC0}"/>
                </a:ext>
              </a:extLst>
            </p:cNvPr>
            <p:cNvSpPr/>
            <p:nvPr/>
          </p:nvSpPr>
          <p:spPr bwMode="gray">
            <a:xfrm>
              <a:off x="4893769" y="2961783"/>
              <a:ext cx="54864" cy="64008"/>
            </a:xfrm>
            <a:prstGeom prst="chevron">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sp>
        <p:nvSpPr>
          <p:cNvPr id="163" name="Rectangle: Rounded Corners 162">
            <a:extLst>
              <a:ext uri="{FF2B5EF4-FFF2-40B4-BE49-F238E27FC236}">
                <a16:creationId xmlns:a16="http://schemas.microsoft.com/office/drawing/2014/main" id="{141785C1-E448-10A1-216F-68CDE35E25FC}"/>
              </a:ext>
            </a:extLst>
          </p:cNvPr>
          <p:cNvSpPr/>
          <p:nvPr/>
        </p:nvSpPr>
        <p:spPr bwMode="gray">
          <a:xfrm>
            <a:off x="3350371" y="3463418"/>
            <a:ext cx="1627135" cy="146304"/>
          </a:xfrm>
          <a:prstGeom prst="roundRect">
            <a:avLst>
              <a:gd name="adj" fmla="val 50000"/>
            </a:avLst>
          </a:prstGeom>
          <a:solidFill>
            <a:srgbClr val="0A4B8C"/>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68" name="TextBox 167">
            <a:extLst>
              <a:ext uri="{FF2B5EF4-FFF2-40B4-BE49-F238E27FC236}">
                <a16:creationId xmlns:a16="http://schemas.microsoft.com/office/drawing/2014/main" id="{438F3EE9-810A-1354-2D81-A2098AA1B168}"/>
              </a:ext>
            </a:extLst>
          </p:cNvPr>
          <p:cNvSpPr txBox="1"/>
          <p:nvPr/>
        </p:nvSpPr>
        <p:spPr>
          <a:xfrm>
            <a:off x="3356964" y="3463418"/>
            <a:ext cx="1447387" cy="146304"/>
          </a:xfrm>
          <a:prstGeom prst="rect">
            <a:avLst/>
          </a:prstGeom>
          <a:no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white"/>
                </a:solidFill>
                <a:effectLst/>
                <a:uLnTx/>
                <a:uFillTx/>
                <a:latin typeface="CVS Health Sans"/>
                <a:ea typeface="+mn-ea"/>
                <a:cs typeface="+mn-cs"/>
              </a:rPr>
              <a:t>Inventory, Routing, Tier 2 Data Landing</a:t>
            </a:r>
          </a:p>
        </p:txBody>
      </p:sp>
      <p:grpSp>
        <p:nvGrpSpPr>
          <p:cNvPr id="183" name="Group 182">
            <a:extLst>
              <a:ext uri="{FF2B5EF4-FFF2-40B4-BE49-F238E27FC236}">
                <a16:creationId xmlns:a16="http://schemas.microsoft.com/office/drawing/2014/main" id="{E8AB542C-F65E-C04F-EE88-C65E36E3EA9A}"/>
              </a:ext>
            </a:extLst>
          </p:cNvPr>
          <p:cNvGrpSpPr/>
          <p:nvPr/>
        </p:nvGrpSpPr>
        <p:grpSpPr>
          <a:xfrm>
            <a:off x="4821728" y="3475463"/>
            <a:ext cx="118872" cy="118872"/>
            <a:chOff x="11459934" y="2346516"/>
            <a:chExt cx="152400" cy="152400"/>
          </a:xfrm>
        </p:grpSpPr>
        <p:sp>
          <p:nvSpPr>
            <p:cNvPr id="184" name="Oval 183">
              <a:extLst>
                <a:ext uri="{FF2B5EF4-FFF2-40B4-BE49-F238E27FC236}">
                  <a16:creationId xmlns:a16="http://schemas.microsoft.com/office/drawing/2014/main" id="{CF5B4A4B-FFC2-F431-9F89-9D061D38D3E1}"/>
                </a:ext>
              </a:extLst>
            </p:cNvPr>
            <p:cNvSpPr/>
            <p:nvPr/>
          </p:nvSpPr>
          <p:spPr bwMode="gray">
            <a:xfrm>
              <a:off x="11459934" y="2346516"/>
              <a:ext cx="152400" cy="152400"/>
            </a:xfrm>
            <a:prstGeom prst="ellipse">
              <a:avLst/>
            </a:prstGeom>
            <a:solidFill>
              <a:srgbClr val="0A4B8C"/>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85" name="Arrow: Chevron 184">
              <a:extLst>
                <a:ext uri="{FF2B5EF4-FFF2-40B4-BE49-F238E27FC236}">
                  <a16:creationId xmlns:a16="http://schemas.microsoft.com/office/drawing/2014/main" id="{1950818C-B90C-FC8E-7DBC-39727E2493E7}"/>
                </a:ext>
              </a:extLst>
            </p:cNvPr>
            <p:cNvSpPr/>
            <p:nvPr/>
          </p:nvSpPr>
          <p:spPr bwMode="gray">
            <a:xfrm>
              <a:off x="11508032" y="2382704"/>
              <a:ext cx="65358" cy="80023"/>
            </a:xfrm>
            <a:prstGeom prst="chevron">
              <a:avLst/>
            </a:prstGeom>
            <a:solidFill>
              <a:srgbClr val="F4642A"/>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grpSp>
        <p:nvGrpSpPr>
          <p:cNvPr id="129" name="Group 128">
            <a:extLst>
              <a:ext uri="{FF2B5EF4-FFF2-40B4-BE49-F238E27FC236}">
                <a16:creationId xmlns:a16="http://schemas.microsoft.com/office/drawing/2014/main" id="{06765249-AE8D-A9A4-38B2-7FB560491DCE}"/>
              </a:ext>
            </a:extLst>
          </p:cNvPr>
          <p:cNvGrpSpPr/>
          <p:nvPr/>
        </p:nvGrpSpPr>
        <p:grpSpPr>
          <a:xfrm>
            <a:off x="5082244" y="4702447"/>
            <a:ext cx="2357941" cy="182880"/>
            <a:chOff x="-785819" y="3971387"/>
            <a:chExt cx="4960898" cy="215444"/>
          </a:xfrm>
        </p:grpSpPr>
        <p:sp>
          <p:nvSpPr>
            <p:cNvPr id="130" name="Rectangle: Rounded Corners 129">
              <a:extLst>
                <a:ext uri="{FF2B5EF4-FFF2-40B4-BE49-F238E27FC236}">
                  <a16:creationId xmlns:a16="http://schemas.microsoft.com/office/drawing/2014/main" id="{C9D091BA-E93A-5DFC-7269-94730A0F312B}"/>
                </a:ext>
              </a:extLst>
            </p:cNvPr>
            <p:cNvSpPr/>
            <p:nvPr/>
          </p:nvSpPr>
          <p:spPr bwMode="gray">
            <a:xfrm>
              <a:off x="-785819" y="3971387"/>
              <a:ext cx="4960898" cy="215444"/>
            </a:xfrm>
            <a:prstGeom prst="roundRect">
              <a:avLst>
                <a:gd name="adj" fmla="val 50000"/>
              </a:avLst>
            </a:prstGeom>
            <a:solidFill>
              <a:srgbClr val="00A78E"/>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31" name="TextBox 130">
              <a:extLst>
                <a:ext uri="{FF2B5EF4-FFF2-40B4-BE49-F238E27FC236}">
                  <a16:creationId xmlns:a16="http://schemas.microsoft.com/office/drawing/2014/main" id="{756F52F4-BC34-F697-39BA-FF3C307833C2}"/>
                </a:ext>
              </a:extLst>
            </p:cNvPr>
            <p:cNvSpPr txBox="1"/>
            <p:nvPr/>
          </p:nvSpPr>
          <p:spPr>
            <a:xfrm>
              <a:off x="-752008" y="3971387"/>
              <a:ext cx="4743731" cy="215444"/>
            </a:xfrm>
            <a:prstGeom prst="rect">
              <a:avLst/>
            </a:prstGeom>
            <a:noFill/>
          </p:spPr>
          <p:txBody>
            <a:bodyPr wrap="non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VS Health Sans"/>
                  <a:ea typeface="+mn-ea"/>
                  <a:cs typeface="+mn-cs"/>
                </a:rPr>
                <a:t>Tier 2 Analytics, Migration, Validation </a:t>
              </a:r>
            </a:p>
          </p:txBody>
        </p:sp>
      </p:grpSp>
      <p:grpSp>
        <p:nvGrpSpPr>
          <p:cNvPr id="142" name="Group 141">
            <a:extLst>
              <a:ext uri="{FF2B5EF4-FFF2-40B4-BE49-F238E27FC236}">
                <a16:creationId xmlns:a16="http://schemas.microsoft.com/office/drawing/2014/main" id="{952538E1-44F0-D0C6-42A9-ACBE2EC581A8}"/>
              </a:ext>
            </a:extLst>
          </p:cNvPr>
          <p:cNvGrpSpPr/>
          <p:nvPr/>
        </p:nvGrpSpPr>
        <p:grpSpPr>
          <a:xfrm>
            <a:off x="7535994" y="4702447"/>
            <a:ext cx="2357941" cy="182880"/>
            <a:chOff x="-785819" y="3971387"/>
            <a:chExt cx="4960898" cy="215444"/>
          </a:xfrm>
        </p:grpSpPr>
        <p:sp>
          <p:nvSpPr>
            <p:cNvPr id="143" name="Rectangle: Rounded Corners 142">
              <a:extLst>
                <a:ext uri="{FF2B5EF4-FFF2-40B4-BE49-F238E27FC236}">
                  <a16:creationId xmlns:a16="http://schemas.microsoft.com/office/drawing/2014/main" id="{C9BC9FC5-61DA-06D4-B698-5BA956124E0A}"/>
                </a:ext>
              </a:extLst>
            </p:cNvPr>
            <p:cNvSpPr/>
            <p:nvPr/>
          </p:nvSpPr>
          <p:spPr bwMode="gray">
            <a:xfrm>
              <a:off x="-785819" y="3971387"/>
              <a:ext cx="4960898" cy="215444"/>
            </a:xfrm>
            <a:prstGeom prst="roundRect">
              <a:avLst>
                <a:gd name="adj" fmla="val 50000"/>
              </a:avLst>
            </a:prstGeom>
            <a:solidFill>
              <a:srgbClr val="00A78E"/>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57" name="TextBox 156">
              <a:extLst>
                <a:ext uri="{FF2B5EF4-FFF2-40B4-BE49-F238E27FC236}">
                  <a16:creationId xmlns:a16="http://schemas.microsoft.com/office/drawing/2014/main" id="{7FC16EF9-723B-EFAD-5C94-43BB7348B627}"/>
                </a:ext>
              </a:extLst>
            </p:cNvPr>
            <p:cNvSpPr txBox="1"/>
            <p:nvPr/>
          </p:nvSpPr>
          <p:spPr>
            <a:xfrm>
              <a:off x="-752008" y="3971387"/>
              <a:ext cx="4743731" cy="215444"/>
            </a:xfrm>
            <a:prstGeom prst="rect">
              <a:avLst/>
            </a:prstGeom>
            <a:noFill/>
          </p:spPr>
          <p:txBody>
            <a:bodyPr wrap="non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VS Health Sans"/>
                  <a:ea typeface="+mn-ea"/>
                  <a:cs typeface="+mn-cs"/>
                </a:rPr>
                <a:t>Tier 3 Analytics, Migration, Validation </a:t>
              </a:r>
            </a:p>
          </p:txBody>
        </p:sp>
      </p:grpSp>
      <p:grpSp>
        <p:nvGrpSpPr>
          <p:cNvPr id="73" name="Group 72">
            <a:extLst>
              <a:ext uri="{FF2B5EF4-FFF2-40B4-BE49-F238E27FC236}">
                <a16:creationId xmlns:a16="http://schemas.microsoft.com/office/drawing/2014/main" id="{9E7D920F-392E-C17A-E163-9B80053C0C26}"/>
              </a:ext>
            </a:extLst>
          </p:cNvPr>
          <p:cNvGrpSpPr/>
          <p:nvPr/>
        </p:nvGrpSpPr>
        <p:grpSpPr>
          <a:xfrm>
            <a:off x="9782302" y="4724131"/>
            <a:ext cx="152400" cy="155448"/>
            <a:chOff x="11459934" y="2346516"/>
            <a:chExt cx="152400" cy="152400"/>
          </a:xfrm>
        </p:grpSpPr>
        <p:sp>
          <p:nvSpPr>
            <p:cNvPr id="78" name="Oval 77">
              <a:extLst>
                <a:ext uri="{FF2B5EF4-FFF2-40B4-BE49-F238E27FC236}">
                  <a16:creationId xmlns:a16="http://schemas.microsoft.com/office/drawing/2014/main" id="{2B2A529C-7C2C-F20F-726B-CBED08FCB054}"/>
                </a:ext>
              </a:extLst>
            </p:cNvPr>
            <p:cNvSpPr/>
            <p:nvPr/>
          </p:nvSpPr>
          <p:spPr bwMode="gray">
            <a:xfrm>
              <a:off x="11459934" y="2346516"/>
              <a:ext cx="152400" cy="152400"/>
            </a:xfrm>
            <a:prstGeom prst="ellipse">
              <a:avLst/>
            </a:prstGeom>
            <a:solidFill>
              <a:srgbClr val="0A4B8C"/>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79" name="Arrow: Chevron 78">
              <a:extLst>
                <a:ext uri="{FF2B5EF4-FFF2-40B4-BE49-F238E27FC236}">
                  <a16:creationId xmlns:a16="http://schemas.microsoft.com/office/drawing/2014/main" id="{B2E73BC6-98BE-8CDC-D007-4E3092E4B3EB}"/>
                </a:ext>
              </a:extLst>
            </p:cNvPr>
            <p:cNvSpPr/>
            <p:nvPr/>
          </p:nvSpPr>
          <p:spPr bwMode="gray">
            <a:xfrm>
              <a:off x="11508032" y="2382704"/>
              <a:ext cx="65358" cy="80023"/>
            </a:xfrm>
            <a:prstGeom prst="chevron">
              <a:avLst/>
            </a:prstGeom>
            <a:solidFill>
              <a:srgbClr val="F4642A"/>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grpSp>
        <p:nvGrpSpPr>
          <p:cNvPr id="80" name="Group 79">
            <a:extLst>
              <a:ext uri="{FF2B5EF4-FFF2-40B4-BE49-F238E27FC236}">
                <a16:creationId xmlns:a16="http://schemas.microsoft.com/office/drawing/2014/main" id="{18519A6B-541A-7057-1DD7-BCB6393C5BF9}"/>
              </a:ext>
            </a:extLst>
          </p:cNvPr>
          <p:cNvGrpSpPr/>
          <p:nvPr/>
        </p:nvGrpSpPr>
        <p:grpSpPr>
          <a:xfrm>
            <a:off x="7326629" y="4728196"/>
            <a:ext cx="152400" cy="155448"/>
            <a:chOff x="11459934" y="2346516"/>
            <a:chExt cx="152400" cy="152400"/>
          </a:xfrm>
        </p:grpSpPr>
        <p:sp>
          <p:nvSpPr>
            <p:cNvPr id="81" name="Oval 80">
              <a:extLst>
                <a:ext uri="{FF2B5EF4-FFF2-40B4-BE49-F238E27FC236}">
                  <a16:creationId xmlns:a16="http://schemas.microsoft.com/office/drawing/2014/main" id="{B70A46D1-C45D-900A-B17F-28C64248165C}"/>
                </a:ext>
              </a:extLst>
            </p:cNvPr>
            <p:cNvSpPr/>
            <p:nvPr/>
          </p:nvSpPr>
          <p:spPr bwMode="gray">
            <a:xfrm>
              <a:off x="11459934" y="2346516"/>
              <a:ext cx="152400" cy="152400"/>
            </a:xfrm>
            <a:prstGeom prst="ellipse">
              <a:avLst/>
            </a:prstGeom>
            <a:solidFill>
              <a:srgbClr val="0A4B8C"/>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82" name="Arrow: Chevron 81">
              <a:extLst>
                <a:ext uri="{FF2B5EF4-FFF2-40B4-BE49-F238E27FC236}">
                  <a16:creationId xmlns:a16="http://schemas.microsoft.com/office/drawing/2014/main" id="{9B9E99AA-D55A-1B53-80E6-79B4B56F8213}"/>
                </a:ext>
              </a:extLst>
            </p:cNvPr>
            <p:cNvSpPr/>
            <p:nvPr/>
          </p:nvSpPr>
          <p:spPr bwMode="gray">
            <a:xfrm>
              <a:off x="11508032" y="2382704"/>
              <a:ext cx="65358" cy="80023"/>
            </a:xfrm>
            <a:prstGeom prst="chevron">
              <a:avLst/>
            </a:prstGeom>
            <a:solidFill>
              <a:srgbClr val="F4642A"/>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grpSp>
        <p:nvGrpSpPr>
          <p:cNvPr id="92" name="Group 91">
            <a:extLst>
              <a:ext uri="{FF2B5EF4-FFF2-40B4-BE49-F238E27FC236}">
                <a16:creationId xmlns:a16="http://schemas.microsoft.com/office/drawing/2014/main" id="{F6264390-D463-9980-B12E-8E1C981D70F1}"/>
              </a:ext>
            </a:extLst>
          </p:cNvPr>
          <p:cNvGrpSpPr/>
          <p:nvPr/>
        </p:nvGrpSpPr>
        <p:grpSpPr>
          <a:xfrm>
            <a:off x="4927108" y="4728196"/>
            <a:ext cx="152400" cy="155448"/>
            <a:chOff x="11459934" y="2346516"/>
            <a:chExt cx="152400" cy="152400"/>
          </a:xfrm>
        </p:grpSpPr>
        <p:sp>
          <p:nvSpPr>
            <p:cNvPr id="93" name="Oval 92">
              <a:extLst>
                <a:ext uri="{FF2B5EF4-FFF2-40B4-BE49-F238E27FC236}">
                  <a16:creationId xmlns:a16="http://schemas.microsoft.com/office/drawing/2014/main" id="{81F64836-1C55-A01E-6886-3F00916501E6}"/>
                </a:ext>
              </a:extLst>
            </p:cNvPr>
            <p:cNvSpPr/>
            <p:nvPr/>
          </p:nvSpPr>
          <p:spPr bwMode="gray">
            <a:xfrm>
              <a:off x="11459934" y="2346516"/>
              <a:ext cx="152400" cy="152400"/>
            </a:xfrm>
            <a:prstGeom prst="ellipse">
              <a:avLst/>
            </a:prstGeom>
            <a:solidFill>
              <a:srgbClr val="0A4B8C"/>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04" name="Arrow: Chevron 103">
              <a:extLst>
                <a:ext uri="{FF2B5EF4-FFF2-40B4-BE49-F238E27FC236}">
                  <a16:creationId xmlns:a16="http://schemas.microsoft.com/office/drawing/2014/main" id="{6FC84070-E0A7-3865-9C17-650EE617F883}"/>
                </a:ext>
              </a:extLst>
            </p:cNvPr>
            <p:cNvSpPr/>
            <p:nvPr/>
          </p:nvSpPr>
          <p:spPr bwMode="gray">
            <a:xfrm>
              <a:off x="11508032" y="2382704"/>
              <a:ext cx="65358" cy="80023"/>
            </a:xfrm>
            <a:prstGeom prst="chevron">
              <a:avLst/>
            </a:prstGeom>
            <a:solidFill>
              <a:srgbClr val="F4642A"/>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cxnSp>
        <p:nvCxnSpPr>
          <p:cNvPr id="15" name="Straight Arrow Connector 14">
            <a:extLst>
              <a:ext uri="{FF2B5EF4-FFF2-40B4-BE49-F238E27FC236}">
                <a16:creationId xmlns:a16="http://schemas.microsoft.com/office/drawing/2014/main" id="{B721AFB3-C3BD-65B7-6208-1B005A6175CD}"/>
              </a:ext>
            </a:extLst>
          </p:cNvPr>
          <p:cNvCxnSpPr/>
          <p:nvPr/>
        </p:nvCxnSpPr>
        <p:spPr>
          <a:xfrm>
            <a:off x="8625015" y="6032448"/>
            <a:ext cx="3385751" cy="0"/>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4571027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A00BE21-CD7A-8E05-C22A-F322C9CCE1FA}"/>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ED284C5-3DC2-CABE-FE19-405B086A1403}"/>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5" name="thinkcell data - do not delete" hidden="1">
                        <a:extLst>
                          <a:ext uri="{FF2B5EF4-FFF2-40B4-BE49-F238E27FC236}">
                            <a16:creationId xmlns:a16="http://schemas.microsoft.com/office/drawing/2014/main" id="{1ED284C5-3DC2-CABE-FE19-405B086A140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3"/>
          <p:cNvSpPr>
            <a:spLocks noGrp="1"/>
          </p:cNvSpPr>
          <p:nvPr>
            <p:ph type="title"/>
          </p:nvPr>
        </p:nvSpPr>
        <p:spPr>
          <a:xfrm>
            <a:off x="557931" y="584200"/>
            <a:ext cx="6449044" cy="1000000"/>
          </a:xfrm>
        </p:spPr>
        <p:txBody>
          <a:bodyPr vert="horz" rIns="0"/>
          <a:lstStyle/>
          <a:p>
            <a:r>
              <a:rPr lang="en-US"/>
              <a:t>Workstream A</a:t>
            </a:r>
            <a:br>
              <a:rPr lang="en-US"/>
            </a:br>
            <a:r>
              <a:rPr lang="en-US" sz="2000" b="0"/>
              <a:t>Key Objectives</a:t>
            </a:r>
            <a:endParaRPr lang="en-US" sz="2000"/>
          </a:p>
        </p:txBody>
      </p:sp>
      <p:sp>
        <p:nvSpPr>
          <p:cNvPr id="20" name="Objective Card 1"/>
          <p:cNvSpPr/>
          <p:nvPr/>
        </p:nvSpPr>
        <p:spPr bwMode="gray">
          <a:xfrm>
            <a:off x="557931" y="1850000"/>
            <a:ext cx="7000000" cy="800000"/>
          </a:xfrm>
          <a:prstGeom prst="rect">
            <a:avLst/>
          </a:prstGeom>
          <a:solidFill>
            <a:schemeClr val="bg1">
              <a:lumMod val="95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lIns="740000" tIns="45720" rIns="137160" bIns="45720" rtlCol="0" anchor="ctr">
            <a:noAutofit/>
          </a:bodyPr>
          <a:lstStyle/>
          <a:p>
            <a:pPr>
              <a:spcBef>
                <a:spcPts val="0"/>
              </a:spcBef>
              <a:spcAft>
                <a:spcPts val="200"/>
              </a:spcAft>
            </a:pPr>
            <a:r>
              <a:rPr lang="en-US" sz="1300" b="1">
                <a:solidFill>
                  <a:srgbClr val="0A4B8C"/>
                </a:solidFill>
              </a:rPr>
              <a:t>Validate Enterprise Scalability</a:t>
            </a:r>
          </a:p>
          <a:p>
            <a:pPr>
              <a:spcBef>
                <a:spcPts val="0"/>
              </a:spcBef>
              <a:spcAft>
                <a:spcPts val="0"/>
              </a:spcAft>
            </a:pPr>
            <a:r>
              <a:rPr lang="en-US" sz="1100" b="0">
                <a:solidFill>
                  <a:schemeClr val="tx2"/>
                </a:solidFill>
              </a:rPr>
              <a:t>Confirm the Azure and Databricks platform’s ability to securely and efficiently ingest and process observability and security telemetry at enterprise scale (up to 400 TB/day).</a:t>
            </a:r>
          </a:p>
        </p:txBody>
      </p:sp>
      <p:sp>
        <p:nvSpPr>
          <p:cNvPr id="21" name="Objective Number 1"/>
          <p:cNvSpPr/>
          <p:nvPr/>
        </p:nvSpPr>
        <p:spPr bwMode="gray">
          <a:xfrm>
            <a:off x="717931" y="2040000"/>
            <a:ext cx="420000" cy="420000"/>
          </a:xfrm>
          <a:prstGeom prst="ellipse">
            <a:avLst/>
          </a:prstGeom>
          <a:solidFill>
            <a:srgbClr val="0A4B8C"/>
          </a:solidFill>
          <a:ln>
            <a:noFill/>
          </a:ln>
          <a:effectLst/>
        </p:spPr>
        <p:txBody>
          <a:bodyPr lIns="0" tIns="0" rIns="0" bIns="0" rtlCol="0" anchor="ctr"/>
          <a:lstStyle/>
          <a:p>
            <a:pPr algn="ctr">
              <a:spcBef>
                <a:spcPts val="0"/>
              </a:spcBef>
              <a:spcAft>
                <a:spcPts val="0"/>
              </a:spcAft>
            </a:pPr>
            <a:r>
              <a:rPr lang="en-US" sz="1600" b="1">
                <a:solidFill>
                  <a:schemeClr val="bg1"/>
                </a:solidFill>
              </a:rPr>
              <a:t>1</a:t>
            </a:r>
          </a:p>
        </p:txBody>
      </p:sp>
      <p:sp>
        <p:nvSpPr>
          <p:cNvPr id="22" name="Objective Card 2"/>
          <p:cNvSpPr/>
          <p:nvPr/>
        </p:nvSpPr>
        <p:spPr bwMode="gray">
          <a:xfrm>
            <a:off x="557931" y="2720000"/>
            <a:ext cx="7000000" cy="800000"/>
          </a:xfrm>
          <a:prstGeom prst="rect">
            <a:avLst/>
          </a:prstGeom>
          <a:solidFill>
            <a:schemeClr val="bg1">
              <a:lumMod val="95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lIns="740000" tIns="45720" rIns="137160" bIns="45720" rtlCol="0" anchor="ctr">
            <a:noAutofit/>
          </a:bodyPr>
          <a:lstStyle/>
          <a:p>
            <a:pPr>
              <a:spcBef>
                <a:spcPts val="0"/>
              </a:spcBef>
              <a:spcAft>
                <a:spcPts val="200"/>
              </a:spcAft>
            </a:pPr>
            <a:r>
              <a:rPr lang="en-US" sz="1300" b="1">
                <a:solidFill>
                  <a:srgbClr val="0A4B8C"/>
                </a:solidFill>
              </a:rPr>
              <a:t>Strengthen Security &amp; Governance</a:t>
            </a:r>
          </a:p>
          <a:p>
            <a:pPr>
              <a:spcBef>
                <a:spcPts val="0"/>
              </a:spcBef>
              <a:spcAft>
                <a:spcPts val="0"/>
              </a:spcAft>
            </a:pPr>
            <a:r>
              <a:rPr lang="en-US" sz="1100" b="0">
                <a:solidFill>
                  <a:schemeClr val="tx2"/>
                </a:solidFill>
              </a:rPr>
              <a:t>Assess the end-to-end security architecture, including Unity Catalog taxonomy, data protection, and Zero Trust controls, to ensure compliance with CVS policies.</a:t>
            </a:r>
          </a:p>
        </p:txBody>
      </p:sp>
      <p:sp>
        <p:nvSpPr>
          <p:cNvPr id="23" name="Objective Number 2"/>
          <p:cNvSpPr/>
          <p:nvPr/>
        </p:nvSpPr>
        <p:spPr bwMode="gray">
          <a:xfrm>
            <a:off x="717931" y="2910000"/>
            <a:ext cx="420000" cy="420000"/>
          </a:xfrm>
          <a:prstGeom prst="ellipse">
            <a:avLst/>
          </a:prstGeom>
          <a:solidFill>
            <a:srgbClr val="0A4B8C"/>
          </a:solidFill>
          <a:ln>
            <a:noFill/>
          </a:ln>
          <a:effectLst/>
        </p:spPr>
        <p:txBody>
          <a:bodyPr lIns="0" tIns="0" rIns="0" bIns="0" rtlCol="0" anchor="ctr"/>
          <a:lstStyle/>
          <a:p>
            <a:pPr algn="ctr">
              <a:spcBef>
                <a:spcPts val="0"/>
              </a:spcBef>
              <a:spcAft>
                <a:spcPts val="0"/>
              </a:spcAft>
            </a:pPr>
            <a:r>
              <a:rPr lang="en-US" sz="1600" b="1">
                <a:solidFill>
                  <a:schemeClr val="bg1"/>
                </a:solidFill>
              </a:rPr>
              <a:t>2</a:t>
            </a:r>
          </a:p>
        </p:txBody>
      </p:sp>
      <p:sp>
        <p:nvSpPr>
          <p:cNvPr id="24" name="Objective Card 3"/>
          <p:cNvSpPr/>
          <p:nvPr/>
        </p:nvSpPr>
        <p:spPr bwMode="gray">
          <a:xfrm>
            <a:off x="557931" y="3590000"/>
            <a:ext cx="7000000" cy="800000"/>
          </a:xfrm>
          <a:prstGeom prst="rect">
            <a:avLst/>
          </a:prstGeom>
          <a:solidFill>
            <a:schemeClr val="bg1">
              <a:lumMod val="95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lIns="740000" tIns="45720" rIns="137160" bIns="45720" rtlCol="0" anchor="ctr">
            <a:noAutofit/>
          </a:bodyPr>
          <a:lstStyle/>
          <a:p>
            <a:pPr>
              <a:spcBef>
                <a:spcPts val="0"/>
              </a:spcBef>
              <a:spcAft>
                <a:spcPts val="200"/>
              </a:spcAft>
            </a:pPr>
            <a:r>
              <a:rPr lang="en-US" sz="1300" b="1">
                <a:solidFill>
                  <a:srgbClr val="0A4B8C"/>
                </a:solidFill>
              </a:rPr>
              <a:t>Identify &amp; Remediate Critical Gaps</a:t>
            </a:r>
          </a:p>
          <a:p>
            <a:pPr>
              <a:spcBef>
                <a:spcPts val="0"/>
              </a:spcBef>
              <a:spcAft>
                <a:spcPts val="0"/>
              </a:spcAft>
            </a:pPr>
            <a:r>
              <a:rPr lang="en-US" sz="1100" b="0">
                <a:solidFill>
                  <a:schemeClr val="tx2"/>
                </a:solidFill>
              </a:rPr>
              <a:t>Systematically identify and address architectural gaps, misconfigurations, and risks within the current environment to prevent future performance and security issues.</a:t>
            </a:r>
          </a:p>
        </p:txBody>
      </p:sp>
      <p:sp>
        <p:nvSpPr>
          <p:cNvPr id="25" name="Objective Number 3"/>
          <p:cNvSpPr/>
          <p:nvPr/>
        </p:nvSpPr>
        <p:spPr bwMode="gray">
          <a:xfrm>
            <a:off x="717931" y="3780000"/>
            <a:ext cx="420000" cy="420000"/>
          </a:xfrm>
          <a:prstGeom prst="ellipse">
            <a:avLst/>
          </a:prstGeom>
          <a:solidFill>
            <a:srgbClr val="0A4B8C"/>
          </a:solidFill>
          <a:ln>
            <a:noFill/>
          </a:ln>
          <a:effectLst/>
        </p:spPr>
        <p:txBody>
          <a:bodyPr lIns="0" tIns="0" rIns="0" bIns="0" rtlCol="0" anchor="ctr"/>
          <a:lstStyle/>
          <a:p>
            <a:pPr algn="ctr">
              <a:spcBef>
                <a:spcPts val="0"/>
              </a:spcBef>
              <a:spcAft>
                <a:spcPts val="0"/>
              </a:spcAft>
            </a:pPr>
            <a:r>
              <a:rPr lang="en-US" sz="1600" b="1">
                <a:solidFill>
                  <a:schemeClr val="bg1"/>
                </a:solidFill>
              </a:rPr>
              <a:t>3</a:t>
            </a:r>
          </a:p>
        </p:txBody>
      </p:sp>
      <p:sp>
        <p:nvSpPr>
          <p:cNvPr id="26" name="Objective Card 4"/>
          <p:cNvSpPr/>
          <p:nvPr/>
        </p:nvSpPr>
        <p:spPr bwMode="gray">
          <a:xfrm>
            <a:off x="557931" y="4460000"/>
            <a:ext cx="7000000" cy="800000"/>
          </a:xfrm>
          <a:prstGeom prst="rect">
            <a:avLst/>
          </a:prstGeom>
          <a:solidFill>
            <a:schemeClr val="bg1">
              <a:lumMod val="95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lIns="740000" tIns="45720" rIns="137160" bIns="45720" rtlCol="0" anchor="ctr">
            <a:noAutofit/>
          </a:bodyPr>
          <a:lstStyle/>
          <a:p>
            <a:pPr>
              <a:spcBef>
                <a:spcPts val="0"/>
              </a:spcBef>
              <a:spcAft>
                <a:spcPts val="200"/>
              </a:spcAft>
            </a:pPr>
            <a:r>
              <a:rPr lang="en-US" sz="1300" b="1">
                <a:solidFill>
                  <a:srgbClr val="0A4B8C"/>
                </a:solidFill>
              </a:rPr>
              <a:t>Define the Target-State Blueprint</a:t>
            </a:r>
          </a:p>
          <a:p>
            <a:pPr>
              <a:spcBef>
                <a:spcPts val="0"/>
              </a:spcBef>
              <a:spcAft>
                <a:spcPts val="0"/>
              </a:spcAft>
            </a:pPr>
            <a:r>
              <a:rPr lang="en-US" sz="1100" b="0">
                <a:solidFill>
                  <a:schemeClr val="tx2"/>
                </a:solidFill>
              </a:rPr>
              <a:t>Design and document a robust, scalable target-state architecture and create a strategic Day 1 Go-Live plan and a Day 2 roadmap for future enhancements.</a:t>
            </a:r>
          </a:p>
        </p:txBody>
      </p:sp>
      <p:sp>
        <p:nvSpPr>
          <p:cNvPr id="27" name="Objective Number 4"/>
          <p:cNvSpPr/>
          <p:nvPr/>
        </p:nvSpPr>
        <p:spPr bwMode="gray">
          <a:xfrm>
            <a:off x="717931" y="4650000"/>
            <a:ext cx="420000" cy="420000"/>
          </a:xfrm>
          <a:prstGeom prst="ellipse">
            <a:avLst/>
          </a:prstGeom>
          <a:solidFill>
            <a:srgbClr val="0A4B8C"/>
          </a:solidFill>
          <a:ln>
            <a:noFill/>
          </a:ln>
          <a:effectLst/>
        </p:spPr>
        <p:txBody>
          <a:bodyPr lIns="0" tIns="0" rIns="0" bIns="0" rtlCol="0" anchor="ctr"/>
          <a:lstStyle/>
          <a:p>
            <a:pPr algn="ctr">
              <a:spcBef>
                <a:spcPts val="0"/>
              </a:spcBef>
              <a:spcAft>
                <a:spcPts val="0"/>
              </a:spcAft>
            </a:pPr>
            <a:r>
              <a:rPr lang="en-US" sz="1600" b="1">
                <a:solidFill>
                  <a:schemeClr val="bg1"/>
                </a:solidFill>
              </a:rPr>
              <a:t>4</a:t>
            </a:r>
          </a:p>
        </p:txBody>
      </p:sp>
      <p:sp>
        <p:nvSpPr>
          <p:cNvPr id="28" name="Objective Card 5"/>
          <p:cNvSpPr/>
          <p:nvPr/>
        </p:nvSpPr>
        <p:spPr bwMode="gray">
          <a:xfrm>
            <a:off x="557931" y="5330000"/>
            <a:ext cx="7000000" cy="800000"/>
          </a:xfrm>
          <a:prstGeom prst="rect">
            <a:avLst/>
          </a:prstGeom>
          <a:solidFill>
            <a:schemeClr val="bg1">
              <a:lumMod val="95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lIns="740000" tIns="45720" rIns="137160" bIns="45720" rtlCol="0" anchor="ctr">
            <a:noAutofit/>
          </a:bodyPr>
          <a:lstStyle/>
          <a:p>
            <a:pPr>
              <a:spcBef>
                <a:spcPts val="0"/>
              </a:spcBef>
              <a:spcAft>
                <a:spcPts val="200"/>
              </a:spcAft>
            </a:pPr>
            <a:r>
              <a:rPr lang="en-US" sz="1300" b="1">
                <a:solidFill>
                  <a:srgbClr val="0A4B8C"/>
                </a:solidFill>
              </a:rPr>
              <a:t>Enable Downstream Success</a:t>
            </a:r>
          </a:p>
          <a:p>
            <a:pPr>
              <a:spcBef>
                <a:spcPts val="0"/>
              </a:spcBef>
              <a:spcAft>
                <a:spcPts val="0"/>
              </a:spcAft>
            </a:pPr>
            <a:r>
              <a:rPr lang="en-US" sz="1100" b="0">
                <a:solidFill>
                  <a:schemeClr val="tx2"/>
                </a:solidFill>
              </a:rPr>
              <a:t>Provide a fully validated, secure, and documented architectural foundation and a formal handoff package to ensure Workstreams B, C, and D can build upon a stable environment.</a:t>
            </a:r>
          </a:p>
        </p:txBody>
      </p:sp>
      <p:sp>
        <p:nvSpPr>
          <p:cNvPr id="29" name="Objective Number 5"/>
          <p:cNvSpPr/>
          <p:nvPr/>
        </p:nvSpPr>
        <p:spPr bwMode="gray">
          <a:xfrm>
            <a:off x="717931" y="5520000"/>
            <a:ext cx="420000" cy="420000"/>
          </a:xfrm>
          <a:prstGeom prst="ellipse">
            <a:avLst/>
          </a:prstGeom>
          <a:solidFill>
            <a:srgbClr val="0A4B8C"/>
          </a:solidFill>
          <a:ln>
            <a:noFill/>
          </a:ln>
          <a:effectLst/>
        </p:spPr>
        <p:txBody>
          <a:bodyPr lIns="0" tIns="0" rIns="0" bIns="0" rtlCol="0" anchor="ctr"/>
          <a:lstStyle/>
          <a:p>
            <a:pPr algn="ctr">
              <a:spcBef>
                <a:spcPts val="0"/>
              </a:spcBef>
              <a:spcAft>
                <a:spcPts val="0"/>
              </a:spcAft>
            </a:pPr>
            <a:r>
              <a:rPr lang="en-US" sz="1600" b="1">
                <a:solidFill>
                  <a:schemeClr val="bg1"/>
                </a:solidFill>
              </a:rPr>
              <a:t>5</a:t>
            </a:r>
          </a:p>
        </p:txBody>
      </p:sp>
    </p:spTree>
    <p:extLst>
      <p:ext uri="{BB962C8B-B14F-4D97-AF65-F5344CB8AC3E}">
        <p14:creationId xmlns:p14="http://schemas.microsoft.com/office/powerpoint/2010/main" val="17234570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B7AC3E9-9449-D877-C5CE-774BE7BF0AD1}"/>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5" name="thinkcell data - do not delete" hidden="1">
                        <a:extLst>
                          <a:ext uri="{FF2B5EF4-FFF2-40B4-BE49-F238E27FC236}">
                            <a16:creationId xmlns:a16="http://schemas.microsoft.com/office/drawing/2014/main" id="{CB7AC3E9-9449-D877-C5CE-774BE7BF0AD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8AF5BF87-879E-F4C0-8228-522D92B8CE28}"/>
              </a:ext>
            </a:extLst>
          </p:cNvPr>
          <p:cNvSpPr>
            <a:spLocks noGrp="1"/>
          </p:cNvSpPr>
          <p:nvPr>
            <p:ph type="title"/>
          </p:nvPr>
        </p:nvSpPr>
        <p:spPr/>
        <p:txBody>
          <a:bodyPr vert="horz" rIns="0"/>
          <a:lstStyle/>
          <a:p>
            <a:r>
              <a:rPr lang="en-US"/>
              <a:t>Workstream A - Architecture Review &amp; Remediation (1/2)</a:t>
            </a:r>
            <a:br>
              <a:rPr lang="en-US"/>
            </a:br>
            <a:r>
              <a:rPr lang="en-US" sz="1600" b="0"/>
              <a:t>Diagnose and Plan – From the SOW and other planning documents</a:t>
            </a:r>
          </a:p>
        </p:txBody>
      </p:sp>
      <p:sp>
        <p:nvSpPr>
          <p:cNvPr id="10" name="Rectangle: Top Corners Rounded 9">
            <a:extLst>
              <a:ext uri="{FF2B5EF4-FFF2-40B4-BE49-F238E27FC236}">
                <a16:creationId xmlns:a16="http://schemas.microsoft.com/office/drawing/2014/main" id="{18FF3C9D-5880-9026-2269-B02BC9488CDF}"/>
              </a:ext>
            </a:extLst>
          </p:cNvPr>
          <p:cNvSpPr>
            <a:spLocks/>
          </p:cNvSpPr>
          <p:nvPr/>
        </p:nvSpPr>
        <p:spPr bwMode="gray">
          <a:xfrm rot="5400000">
            <a:off x="-1682250" y="3199815"/>
            <a:ext cx="4682069" cy="1317568"/>
          </a:xfrm>
          <a:prstGeom prst="round2SameRect">
            <a:avLst>
              <a:gd name="adj1" fmla="val 9976"/>
              <a:gd name="adj2" fmla="val 0"/>
            </a:avLst>
          </a:prstGeom>
          <a:gradFill flip="none" rotWithShape="1">
            <a:gsLst>
              <a:gs pos="0">
                <a:srgbClr val="267AC0"/>
              </a:gs>
              <a:gs pos="100000">
                <a:srgbClr val="0A4B8C"/>
              </a:gs>
            </a:gsLst>
            <a:lin ang="54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sp>
        <p:nvSpPr>
          <p:cNvPr id="12" name="Rectangle: Rounded Corners 11">
            <a:extLst>
              <a:ext uri="{FF2B5EF4-FFF2-40B4-BE49-F238E27FC236}">
                <a16:creationId xmlns:a16="http://schemas.microsoft.com/office/drawing/2014/main" id="{62C81903-66B6-C1B0-3581-7DE5E989ED15}"/>
              </a:ext>
            </a:extLst>
          </p:cNvPr>
          <p:cNvSpPr/>
          <p:nvPr/>
        </p:nvSpPr>
        <p:spPr bwMode="gray">
          <a:xfrm>
            <a:off x="6296424" y="1645920"/>
            <a:ext cx="5360592" cy="1463040"/>
          </a:xfrm>
          <a:prstGeom prst="roundRect">
            <a:avLst>
              <a:gd name="adj" fmla="val 2895"/>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tIns="45720" rIns="0" bIns="45720" rtlCol="0" anchor="ctr" anchorCtr="0"/>
          <a:lstStyle/>
          <a:p>
            <a:pPr defTabSz="457063" fontAlgn="ctr">
              <a:defRPr/>
            </a:pPr>
            <a:r>
              <a:rPr lang="en-US" sz="1000" b="1">
                <a:solidFill>
                  <a:srgbClr val="00A78E"/>
                </a:solidFill>
              </a:rPr>
              <a:t>Description: </a:t>
            </a:r>
            <a:r>
              <a:rPr lang="en-US" sz="1000">
                <a:solidFill>
                  <a:schemeClr val="tx2"/>
                </a:solidFill>
              </a:rPr>
              <a:t>Architecture Assessment</a:t>
            </a:r>
          </a:p>
          <a:p>
            <a:pPr defTabSz="457063" fontAlgn="ctr">
              <a:defRPr/>
            </a:pPr>
            <a:r>
              <a:rPr lang="en-US" sz="1000" b="1">
                <a:solidFill>
                  <a:srgbClr val="00A78E"/>
                </a:solidFill>
              </a:rPr>
              <a:t>Timing:</a:t>
            </a:r>
            <a:endParaRPr lang="en-US" sz="700" b="1">
              <a:solidFill>
                <a:srgbClr val="00A78E"/>
              </a:solidFill>
            </a:endParaRPr>
          </a:p>
          <a:p>
            <a:pPr defTabSz="457063" fontAlgn="ctr">
              <a:defRPr/>
            </a:pPr>
            <a:endParaRPr lang="en-US" sz="700" b="1">
              <a:solidFill>
                <a:schemeClr val="tx2"/>
              </a:solidFill>
            </a:endParaRPr>
          </a:p>
          <a:p>
            <a:pPr defTabSz="457063" fontAlgn="ctr">
              <a:defRPr/>
            </a:pPr>
            <a:endParaRPr lang="en-US" sz="700" b="1">
              <a:solidFill>
                <a:schemeClr val="tx2"/>
              </a:solidFill>
            </a:endParaRPr>
          </a:p>
          <a:p>
            <a:r>
              <a:rPr lang="en-US" sz="1000" b="1">
                <a:solidFill>
                  <a:srgbClr val="00A78E"/>
                </a:solidFill>
              </a:rPr>
              <a:t>Deliverables: </a:t>
            </a:r>
          </a:p>
          <a:p>
            <a:pPr marL="91440" indent="-91440">
              <a:buFont typeface="Arial" panose="020B0604020202020204" pitchFamily="34" charset="0"/>
              <a:buChar char="•"/>
            </a:pPr>
            <a:r>
              <a:rPr lang="en-US" sz="1000">
                <a:solidFill>
                  <a:schemeClr val="tx2"/>
                </a:solidFill>
              </a:rPr>
              <a:t>Current-State Architecture Assessment Report (PPT/DOC) summarizing activities performed</a:t>
            </a:r>
          </a:p>
          <a:p>
            <a:pPr marL="91440" indent="-91440">
              <a:buFont typeface="Arial" panose="020B0604020202020204" pitchFamily="34" charset="0"/>
              <a:buChar char="•"/>
            </a:pPr>
            <a:r>
              <a:rPr lang="en-US" sz="1000">
                <a:solidFill>
                  <a:schemeClr val="tx2"/>
                </a:solidFill>
              </a:rPr>
              <a:t>Unity Catalog and Data Lifecycle Recommendations (PPT/DOC)</a:t>
            </a:r>
          </a:p>
          <a:p>
            <a:pPr marL="91440" indent="-91440">
              <a:buFont typeface="Arial" panose="020B0604020202020204" pitchFamily="34" charset="0"/>
              <a:buChar char="•"/>
            </a:pPr>
            <a:r>
              <a:rPr lang="en-US" sz="1000">
                <a:solidFill>
                  <a:schemeClr val="tx2"/>
                </a:solidFill>
              </a:rPr>
              <a:t>Performance and Scalability Validation Results (PPT/XLS)</a:t>
            </a:r>
          </a:p>
          <a:p>
            <a:pPr marL="91440" indent="-91440">
              <a:buFont typeface="Arial" panose="020B0604020202020204" pitchFamily="34" charset="0"/>
              <a:buChar char="•"/>
            </a:pPr>
            <a:r>
              <a:rPr lang="en-US" sz="1000">
                <a:solidFill>
                  <a:schemeClr val="tx2"/>
                </a:solidFill>
              </a:rPr>
              <a:t>Day 1 Go-Live Architecture and Day 2 Roadmap Recommendations (PPT/DOC)</a:t>
            </a:r>
          </a:p>
        </p:txBody>
      </p:sp>
      <p:sp>
        <p:nvSpPr>
          <p:cNvPr id="17" name="TextBox 16">
            <a:extLst>
              <a:ext uri="{FF2B5EF4-FFF2-40B4-BE49-F238E27FC236}">
                <a16:creationId xmlns:a16="http://schemas.microsoft.com/office/drawing/2014/main" id="{5CB7C395-2E80-542B-FE56-509359984D42}"/>
              </a:ext>
            </a:extLst>
          </p:cNvPr>
          <p:cNvSpPr txBox="1"/>
          <p:nvPr/>
        </p:nvSpPr>
        <p:spPr>
          <a:xfrm>
            <a:off x="543485" y="1619164"/>
            <a:ext cx="690958"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Scope</a:t>
            </a:r>
          </a:p>
        </p:txBody>
      </p:sp>
      <p:sp>
        <p:nvSpPr>
          <p:cNvPr id="19" name="TextBox 18">
            <a:extLst>
              <a:ext uri="{FF2B5EF4-FFF2-40B4-BE49-F238E27FC236}">
                <a16:creationId xmlns:a16="http://schemas.microsoft.com/office/drawing/2014/main" id="{0DB76CA1-413A-E76C-E20F-11439D3BB9D2}"/>
              </a:ext>
            </a:extLst>
          </p:cNvPr>
          <p:cNvSpPr txBox="1"/>
          <p:nvPr/>
        </p:nvSpPr>
        <p:spPr>
          <a:xfrm>
            <a:off x="1366593" y="1619164"/>
            <a:ext cx="4693922" cy="615553"/>
          </a:xfrm>
          <a:prstGeom prst="rect">
            <a:avLst/>
          </a:prstGeom>
          <a:noFill/>
        </p:spPr>
        <p:txBody>
          <a:bodyPr wrap="square" lIns="0" tIns="0" rIns="0" bIns="0">
            <a:spAutoFit/>
          </a:bodyPr>
          <a:lstStyle/>
          <a:p>
            <a:pPr algn="l"/>
            <a:r>
              <a:rPr lang="en-US" sz="1000">
                <a:solidFill>
                  <a:schemeClr val="tx2"/>
                </a:solidFill>
              </a:rPr>
              <a:t>Assess Azure, Databricks architectures (infrastructure &amp; Medallion), Unity Catalog taxonomy to identify gaps for performance and scalability.  Define target-state recommendations, </a:t>
            </a:r>
            <a:r>
              <a:rPr lang="en-US" sz="1000" err="1">
                <a:solidFill>
                  <a:schemeClr val="tx2"/>
                </a:solidFill>
              </a:rPr>
              <a:t>DataOps</a:t>
            </a:r>
            <a:r>
              <a:rPr lang="en-US" sz="1000">
                <a:solidFill>
                  <a:schemeClr val="tx2"/>
                </a:solidFill>
              </a:rPr>
              <a:t> practices, and risk remediation plan.  Execute security and risk remediation plan. </a:t>
            </a:r>
          </a:p>
        </p:txBody>
      </p:sp>
      <p:sp>
        <p:nvSpPr>
          <p:cNvPr id="22" name="TextBox 21">
            <a:extLst>
              <a:ext uri="{FF2B5EF4-FFF2-40B4-BE49-F238E27FC236}">
                <a16:creationId xmlns:a16="http://schemas.microsoft.com/office/drawing/2014/main" id="{6A781481-0843-05A1-E94D-1B7204C096FC}"/>
              </a:ext>
            </a:extLst>
          </p:cNvPr>
          <p:cNvSpPr txBox="1"/>
          <p:nvPr/>
        </p:nvSpPr>
        <p:spPr>
          <a:xfrm>
            <a:off x="543485" y="2389071"/>
            <a:ext cx="721899"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Objective</a:t>
            </a:r>
          </a:p>
        </p:txBody>
      </p:sp>
      <p:sp>
        <p:nvSpPr>
          <p:cNvPr id="24" name="TextBox 23">
            <a:extLst>
              <a:ext uri="{FF2B5EF4-FFF2-40B4-BE49-F238E27FC236}">
                <a16:creationId xmlns:a16="http://schemas.microsoft.com/office/drawing/2014/main" id="{F246D702-30CC-DBC5-1864-DAEE3B454584}"/>
              </a:ext>
            </a:extLst>
          </p:cNvPr>
          <p:cNvSpPr txBox="1"/>
          <p:nvPr/>
        </p:nvSpPr>
        <p:spPr>
          <a:xfrm>
            <a:off x="1366593" y="2389071"/>
            <a:ext cx="4575208" cy="307777"/>
          </a:xfrm>
          <a:prstGeom prst="rect">
            <a:avLst/>
          </a:prstGeom>
          <a:noFill/>
        </p:spPr>
        <p:txBody>
          <a:bodyPr wrap="square" lIns="0" tIns="0" rIns="0" bIns="0">
            <a:spAutoFit/>
          </a:bodyPr>
          <a:lstStyle/>
          <a:p>
            <a:pPr algn="l"/>
            <a:r>
              <a:rPr lang="en-US" sz="1000">
                <a:solidFill>
                  <a:schemeClr val="tx2"/>
                </a:solidFill>
              </a:rPr>
              <a:t>Validate scalability, security architecture and fitness of the current Databricks platform at enterprise scale and remediate findings.</a:t>
            </a:r>
          </a:p>
        </p:txBody>
      </p:sp>
      <p:sp>
        <p:nvSpPr>
          <p:cNvPr id="25" name="TextBox 24">
            <a:extLst>
              <a:ext uri="{FF2B5EF4-FFF2-40B4-BE49-F238E27FC236}">
                <a16:creationId xmlns:a16="http://schemas.microsoft.com/office/drawing/2014/main" id="{D01F02D8-D4D0-7A1D-CC94-2420DAE5CFD1}"/>
              </a:ext>
            </a:extLst>
          </p:cNvPr>
          <p:cNvSpPr txBox="1"/>
          <p:nvPr/>
        </p:nvSpPr>
        <p:spPr>
          <a:xfrm>
            <a:off x="543486" y="2846277"/>
            <a:ext cx="731982" cy="369332"/>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Key Activities</a:t>
            </a:r>
          </a:p>
        </p:txBody>
      </p:sp>
      <p:sp>
        <p:nvSpPr>
          <p:cNvPr id="26" name="TextBox 25">
            <a:extLst>
              <a:ext uri="{FF2B5EF4-FFF2-40B4-BE49-F238E27FC236}">
                <a16:creationId xmlns:a16="http://schemas.microsoft.com/office/drawing/2014/main" id="{6DF805A8-0DE8-27D5-27BB-61873FC5FAD2}"/>
              </a:ext>
            </a:extLst>
          </p:cNvPr>
          <p:cNvSpPr txBox="1"/>
          <p:nvPr/>
        </p:nvSpPr>
        <p:spPr>
          <a:xfrm>
            <a:off x="1366593" y="2846277"/>
            <a:ext cx="4748460" cy="3231654"/>
          </a:xfrm>
          <a:prstGeom prst="rect">
            <a:avLst/>
          </a:prstGeom>
          <a:noFill/>
        </p:spPr>
        <p:txBody>
          <a:bodyPr wrap="square" lIns="0" tIns="0" rIns="0" bIns="0">
            <a:spAutoFit/>
          </a:bodyPr>
          <a:lstStyle/>
          <a:p>
            <a:pPr marL="137160" lvl="1" indent="-137160">
              <a:spcAft>
                <a:spcPts val="300"/>
              </a:spcAft>
              <a:buFont typeface="Arial" panose="020B0604020202020204" pitchFamily="34" charset="0"/>
              <a:buChar char="•"/>
            </a:pPr>
            <a:r>
              <a:rPr lang="en-US" sz="1000" b="1" kern="1500">
                <a:solidFill>
                  <a:schemeClr val="tx2"/>
                </a:solidFill>
              </a:rPr>
              <a:t>Review Unity Catalog Taxonomy, Medallion Architecture, and Data Lifecycle: </a:t>
            </a:r>
            <a:r>
              <a:rPr lang="en-US" sz="1000" kern="1500">
                <a:solidFill>
                  <a:schemeClr val="tx2"/>
                </a:solidFill>
              </a:rPr>
              <a:t>Databricks data access model (canonical tables, commence Medallion architecture review and discussions, row/column filtering, RBAC/ABAC, workspace isolation, chargeback) across downstream use cases</a:t>
            </a:r>
          </a:p>
          <a:p>
            <a:pPr marL="137160" lvl="1" indent="-137160">
              <a:spcAft>
                <a:spcPts val="300"/>
              </a:spcAft>
              <a:buFont typeface="Arial" panose="020B0604020202020204" pitchFamily="34" charset="0"/>
              <a:buChar char="•"/>
            </a:pPr>
            <a:r>
              <a:rPr lang="en-US" sz="1000" b="1" kern="1500">
                <a:solidFill>
                  <a:schemeClr val="tx2"/>
                </a:solidFill>
              </a:rPr>
              <a:t>Review &amp; Validate Security Architecture: </a:t>
            </a:r>
            <a:r>
              <a:rPr lang="en-US" sz="1000" kern="1500">
                <a:solidFill>
                  <a:schemeClr val="tx2"/>
                </a:solidFill>
              </a:rPr>
              <a:t>Threat model, Zero Trust controls, data exfiltration controls, pipeline compliance checkpoints, platform attestation (assumption that KPMG will be provided Databricks security implementation guidelines by CVS)</a:t>
            </a:r>
          </a:p>
          <a:p>
            <a:pPr marL="137160" lvl="1" indent="-137160">
              <a:spcAft>
                <a:spcPts val="300"/>
              </a:spcAft>
              <a:buFont typeface="Arial" panose="020B0604020202020204" pitchFamily="34" charset="0"/>
              <a:buChar char="•"/>
            </a:pPr>
            <a:r>
              <a:rPr lang="en-US" sz="1000" b="1" kern="1500">
                <a:solidFill>
                  <a:schemeClr val="tx2"/>
                </a:solidFill>
              </a:rPr>
              <a:t>Review &amp; Validate Encryption Posture: </a:t>
            </a:r>
            <a:r>
              <a:rPr lang="en-US" sz="1000" kern="1500">
                <a:solidFill>
                  <a:schemeClr val="tx2"/>
                </a:solidFill>
              </a:rPr>
              <a:t>Row-level encryption options, CMK at rest, TLS 1.3 in transit</a:t>
            </a:r>
          </a:p>
          <a:p>
            <a:pPr marL="137160" lvl="1" indent="-137160">
              <a:spcAft>
                <a:spcPts val="300"/>
              </a:spcAft>
              <a:buFont typeface="Arial" panose="020B0604020202020204" pitchFamily="34" charset="0"/>
              <a:buChar char="•"/>
            </a:pPr>
            <a:r>
              <a:rPr lang="en-US" sz="1000" b="1" kern="1500">
                <a:solidFill>
                  <a:schemeClr val="tx2"/>
                </a:solidFill>
              </a:rPr>
              <a:t>Review &amp; Validate Data Protection + Disaster Recovery: </a:t>
            </a:r>
            <a:r>
              <a:rPr lang="en-US" sz="1000" kern="1500">
                <a:solidFill>
                  <a:schemeClr val="tx2"/>
                </a:solidFill>
              </a:rPr>
              <a:t>Regions, recovery, redundancy</a:t>
            </a:r>
          </a:p>
          <a:p>
            <a:pPr marL="137160" lvl="1" indent="-137160">
              <a:spcAft>
                <a:spcPts val="300"/>
              </a:spcAft>
              <a:buFont typeface="Arial" panose="020B0604020202020204" pitchFamily="34" charset="0"/>
              <a:buChar char="•"/>
            </a:pPr>
            <a:r>
              <a:rPr lang="en-US" sz="1000" b="1" kern="1500">
                <a:solidFill>
                  <a:schemeClr val="tx2"/>
                </a:solidFill>
              </a:rPr>
              <a:t>Review &amp; Validate Scalability and Resilience for High-Volume Data: </a:t>
            </a:r>
            <a:r>
              <a:rPr lang="en-US" sz="1000" kern="1500">
                <a:solidFill>
                  <a:schemeClr val="tx2"/>
                </a:solidFill>
              </a:rPr>
              <a:t>400TB/day, 1k+ source, priority users, ingestion (</a:t>
            </a:r>
            <a:r>
              <a:rPr lang="en-US" sz="1000" kern="1500" err="1">
                <a:solidFill>
                  <a:schemeClr val="tx2"/>
                </a:solidFill>
              </a:rPr>
              <a:t>EventGrid</a:t>
            </a:r>
            <a:r>
              <a:rPr lang="en-US" sz="1000" kern="1500">
                <a:solidFill>
                  <a:schemeClr val="tx2"/>
                </a:solidFill>
              </a:rPr>
              <a:t> &amp; Autoloader), compute storage, and resiliency</a:t>
            </a:r>
          </a:p>
          <a:p>
            <a:pPr marL="137160" lvl="1" indent="-137160">
              <a:spcAft>
                <a:spcPts val="300"/>
              </a:spcAft>
              <a:buFont typeface="Arial" panose="020B0604020202020204" pitchFamily="34" charset="0"/>
              <a:buChar char="•"/>
            </a:pPr>
            <a:r>
              <a:rPr lang="en-US" sz="1000" b="1" kern="1500">
                <a:solidFill>
                  <a:schemeClr val="tx2"/>
                </a:solidFill>
              </a:rPr>
              <a:t>Review &amp; Validate Git &amp; CI/CD Approach: </a:t>
            </a:r>
            <a:r>
              <a:rPr lang="en-US" sz="1000" kern="1500">
                <a:solidFill>
                  <a:schemeClr val="tx2"/>
                </a:solidFill>
              </a:rPr>
              <a:t>Define target recommendations</a:t>
            </a:r>
          </a:p>
          <a:p>
            <a:pPr marL="137160" lvl="1" indent="-137160">
              <a:spcAft>
                <a:spcPts val="300"/>
              </a:spcAft>
              <a:buFont typeface="Arial" panose="020B0604020202020204" pitchFamily="34" charset="0"/>
              <a:buChar char="•"/>
            </a:pPr>
            <a:r>
              <a:rPr lang="en-US" sz="1000" b="1" kern="1500">
                <a:solidFill>
                  <a:schemeClr val="tx2"/>
                </a:solidFill>
              </a:rPr>
              <a:t>Remediation: </a:t>
            </a:r>
            <a:r>
              <a:rPr lang="en-US" sz="1000" kern="1500">
                <a:solidFill>
                  <a:schemeClr val="tx2"/>
                </a:solidFill>
              </a:rPr>
              <a:t>Support remediation and/or implementation of key findings; including </a:t>
            </a:r>
            <a:r>
              <a:rPr lang="en-US" sz="1000" kern="1500" err="1">
                <a:solidFill>
                  <a:schemeClr val="tx2"/>
                </a:solidFill>
              </a:rPr>
              <a:t>Lovelytics</a:t>
            </a:r>
            <a:r>
              <a:rPr lang="en-US" sz="1000" kern="1500">
                <a:solidFill>
                  <a:schemeClr val="tx2"/>
                </a:solidFill>
              </a:rPr>
              <a:t> assessment</a:t>
            </a:r>
          </a:p>
          <a:p>
            <a:pPr marL="137160" lvl="1" indent="-137160">
              <a:spcAft>
                <a:spcPts val="300"/>
              </a:spcAft>
              <a:buFont typeface="Arial" panose="020B0604020202020204" pitchFamily="34" charset="0"/>
              <a:buChar char="•"/>
            </a:pPr>
            <a:r>
              <a:rPr lang="en-US" sz="1000"/>
              <a:t>Set-up of security specific workspaces is in scope; resolution of security gaps across entire Databricks platform is currently not in scope</a:t>
            </a:r>
          </a:p>
          <a:p>
            <a:pPr marL="0" lvl="1">
              <a:spcAft>
                <a:spcPts val="300"/>
              </a:spcAft>
            </a:pPr>
            <a:endParaRPr lang="en-US" sz="1000" kern="1500">
              <a:solidFill>
                <a:schemeClr val="tx2"/>
              </a:solidFill>
            </a:endParaRPr>
          </a:p>
        </p:txBody>
      </p:sp>
      <p:grpSp>
        <p:nvGrpSpPr>
          <p:cNvPr id="28" name="Group 27">
            <a:extLst>
              <a:ext uri="{FF2B5EF4-FFF2-40B4-BE49-F238E27FC236}">
                <a16:creationId xmlns:a16="http://schemas.microsoft.com/office/drawing/2014/main" id="{A5CF9796-AC4F-62BA-E20C-7B8AD88D2928}"/>
              </a:ext>
            </a:extLst>
          </p:cNvPr>
          <p:cNvGrpSpPr/>
          <p:nvPr/>
        </p:nvGrpSpPr>
        <p:grpSpPr>
          <a:xfrm>
            <a:off x="533403" y="2309431"/>
            <a:ext cx="5562600" cy="4926"/>
            <a:chOff x="533400" y="1886078"/>
            <a:chExt cx="5562600" cy="4926"/>
          </a:xfrm>
        </p:grpSpPr>
        <p:cxnSp>
          <p:nvCxnSpPr>
            <p:cNvPr id="30" name="Straight Connector 29">
              <a:extLst>
                <a:ext uri="{FF2B5EF4-FFF2-40B4-BE49-F238E27FC236}">
                  <a16:creationId xmlns:a16="http://schemas.microsoft.com/office/drawing/2014/main" id="{D9484445-ED9B-CA39-A7AB-A91A7FCB357D}"/>
                </a:ext>
              </a:extLst>
            </p:cNvPr>
            <p:cNvCxnSpPr/>
            <p:nvPr/>
          </p:nvCxnSpPr>
          <p:spPr>
            <a:xfrm>
              <a:off x="553507" y="1891004"/>
              <a:ext cx="5542493"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33C1756-5198-7CF1-54B2-A7FD9C7B8416}"/>
                </a:ext>
              </a:extLst>
            </p:cNvPr>
            <p:cNvCxnSpPr>
              <a:cxnSpLocks/>
            </p:cNvCxnSpPr>
            <p:nvPr/>
          </p:nvCxnSpPr>
          <p:spPr>
            <a:xfrm>
              <a:off x="533400" y="1886078"/>
              <a:ext cx="784166"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C3073B2B-D3D5-ABA1-E2AF-B94D6C6387C1}"/>
              </a:ext>
            </a:extLst>
          </p:cNvPr>
          <p:cNvGrpSpPr/>
          <p:nvPr/>
        </p:nvGrpSpPr>
        <p:grpSpPr>
          <a:xfrm>
            <a:off x="533403" y="2771562"/>
            <a:ext cx="5562600" cy="0"/>
            <a:chOff x="533400" y="2463561"/>
            <a:chExt cx="5562600" cy="0"/>
          </a:xfrm>
        </p:grpSpPr>
        <p:cxnSp>
          <p:nvCxnSpPr>
            <p:cNvPr id="33" name="Straight Connector 32">
              <a:extLst>
                <a:ext uri="{FF2B5EF4-FFF2-40B4-BE49-F238E27FC236}">
                  <a16:creationId xmlns:a16="http://schemas.microsoft.com/office/drawing/2014/main" id="{831B4F60-110E-67F7-7BB8-C44E7D66FCEE}"/>
                </a:ext>
              </a:extLst>
            </p:cNvPr>
            <p:cNvCxnSpPr/>
            <p:nvPr/>
          </p:nvCxnSpPr>
          <p:spPr>
            <a:xfrm>
              <a:off x="553507" y="2463561"/>
              <a:ext cx="5542493"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3EC217B-72A5-78CF-67E6-3B2071D4FE47}"/>
                </a:ext>
              </a:extLst>
            </p:cNvPr>
            <p:cNvCxnSpPr>
              <a:cxnSpLocks/>
            </p:cNvCxnSpPr>
            <p:nvPr/>
          </p:nvCxnSpPr>
          <p:spPr>
            <a:xfrm>
              <a:off x="533400" y="2463561"/>
              <a:ext cx="784166"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sp>
        <p:nvSpPr>
          <p:cNvPr id="38" name="Rectangle 37">
            <a:extLst>
              <a:ext uri="{FF2B5EF4-FFF2-40B4-BE49-F238E27FC236}">
                <a16:creationId xmlns:a16="http://schemas.microsoft.com/office/drawing/2014/main" id="{2D888622-9BE7-28E8-E27A-00E6228607EB}"/>
              </a:ext>
            </a:extLst>
          </p:cNvPr>
          <p:cNvSpPr/>
          <p:nvPr/>
        </p:nvSpPr>
        <p:spPr bwMode="gray">
          <a:xfrm>
            <a:off x="589357" y="6199632"/>
            <a:ext cx="10963656" cy="137160"/>
          </a:xfrm>
          <a:prstGeom prst="rect">
            <a:avLst/>
          </a:prstGeom>
          <a:noFill/>
          <a:ln>
            <a:noFill/>
            <a:miter lim="800000"/>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lstStyle/>
          <a:p>
            <a:r>
              <a:rPr lang="en-US" sz="800">
                <a:solidFill>
                  <a:schemeClr val="tx2"/>
                </a:solidFill>
              </a:rPr>
              <a:t>Source: CVS_Databricks_SOW_Draft_v5 JAS_CVS_REDLINE, CVS Databricks Staffing Model_V4.xlsx</a:t>
            </a:r>
          </a:p>
        </p:txBody>
      </p:sp>
      <p:sp>
        <p:nvSpPr>
          <p:cNvPr id="39" name="Rectangle: Rounded Corners 38">
            <a:extLst>
              <a:ext uri="{FF2B5EF4-FFF2-40B4-BE49-F238E27FC236}">
                <a16:creationId xmlns:a16="http://schemas.microsoft.com/office/drawing/2014/main" id="{5B46A63F-C576-3575-78AA-250F10E20CFE}"/>
              </a:ext>
            </a:extLst>
          </p:cNvPr>
          <p:cNvSpPr/>
          <p:nvPr/>
        </p:nvSpPr>
        <p:spPr bwMode="gray">
          <a:xfrm>
            <a:off x="6296424" y="4306960"/>
            <a:ext cx="5360592" cy="1005840"/>
          </a:xfrm>
          <a:prstGeom prst="roundRect">
            <a:avLst>
              <a:gd name="adj" fmla="val 3961"/>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tIns="0" bIns="0" rtlCol="0" anchor="ctr" anchorCtr="0"/>
          <a:lstStyle/>
          <a:p>
            <a:pPr defTabSz="457063" fontAlgn="ctr">
              <a:defRPr/>
            </a:pPr>
            <a:r>
              <a:rPr lang="en-US" sz="1000" b="1">
                <a:solidFill>
                  <a:srgbClr val="00A78E"/>
                </a:solidFill>
              </a:rPr>
              <a:t>Description: </a:t>
            </a:r>
            <a:r>
              <a:rPr lang="en-US" sz="1000">
                <a:solidFill>
                  <a:schemeClr val="tx2"/>
                </a:solidFill>
              </a:rPr>
              <a:t>Remediation Actions</a:t>
            </a:r>
          </a:p>
          <a:p>
            <a:pPr defTabSz="457063" fontAlgn="ctr">
              <a:defRPr/>
            </a:pPr>
            <a:r>
              <a:rPr lang="en-US" sz="1000" b="1">
                <a:solidFill>
                  <a:srgbClr val="00A78E"/>
                </a:solidFill>
              </a:rPr>
              <a:t>Timing:</a:t>
            </a:r>
            <a:endParaRPr lang="en-US" sz="700" b="1">
              <a:solidFill>
                <a:srgbClr val="00A78E"/>
              </a:solidFill>
            </a:endParaRPr>
          </a:p>
          <a:p>
            <a:pPr defTabSz="457063" fontAlgn="ctr">
              <a:defRPr/>
            </a:pPr>
            <a:endParaRPr lang="en-US" sz="700" b="1">
              <a:solidFill>
                <a:schemeClr val="tx2"/>
              </a:solidFill>
            </a:endParaRPr>
          </a:p>
          <a:p>
            <a:pPr defTabSz="457063" fontAlgn="ctr">
              <a:defRPr/>
            </a:pPr>
            <a:endParaRPr lang="en-US" sz="700" b="1">
              <a:solidFill>
                <a:schemeClr val="tx2"/>
              </a:solidFill>
            </a:endParaRPr>
          </a:p>
          <a:p>
            <a:r>
              <a:rPr lang="en-US" sz="1000" b="1">
                <a:solidFill>
                  <a:srgbClr val="00A78E"/>
                </a:solidFill>
              </a:rPr>
              <a:t>Deliverables: </a:t>
            </a:r>
          </a:p>
          <a:p>
            <a:pPr marL="91440" indent="-91440">
              <a:buFont typeface="Arial" panose="020B0604020202020204" pitchFamily="34" charset="0"/>
              <a:buChar char="•"/>
            </a:pPr>
            <a:r>
              <a:rPr lang="en-US" sz="1000">
                <a:solidFill>
                  <a:schemeClr val="tx2"/>
                </a:solidFill>
              </a:rPr>
              <a:t>Architecture Remediation Tracker and Demonstrated Remediation Evidence (XLS/DOC)</a:t>
            </a:r>
          </a:p>
          <a:p>
            <a:pPr marL="91440" indent="-91440">
              <a:buFont typeface="Arial" panose="020B0604020202020204" pitchFamily="34" charset="0"/>
              <a:buChar char="•"/>
            </a:pPr>
            <a:r>
              <a:rPr lang="en-US" sz="1000">
                <a:solidFill>
                  <a:schemeClr val="tx2"/>
                </a:solidFill>
              </a:rPr>
              <a:t>Workstream B-E Handoff Package (PPT/DOC)</a:t>
            </a:r>
          </a:p>
        </p:txBody>
      </p:sp>
      <p:sp>
        <p:nvSpPr>
          <p:cNvPr id="41" name="TextBox 40">
            <a:extLst>
              <a:ext uri="{FF2B5EF4-FFF2-40B4-BE49-F238E27FC236}">
                <a16:creationId xmlns:a16="http://schemas.microsoft.com/office/drawing/2014/main" id="{47FB7E17-976D-05CC-BA9C-C5CFB5004B47}"/>
              </a:ext>
            </a:extLst>
          </p:cNvPr>
          <p:cNvSpPr txBox="1"/>
          <p:nvPr/>
        </p:nvSpPr>
        <p:spPr>
          <a:xfrm>
            <a:off x="11155680" y="1645920"/>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00" b="1" kern="1500">
                <a:solidFill>
                  <a:schemeClr val="bg1"/>
                </a:solidFill>
              </a:rPr>
              <a:t>A.1</a:t>
            </a:r>
          </a:p>
        </p:txBody>
      </p:sp>
      <p:sp>
        <p:nvSpPr>
          <p:cNvPr id="43" name="TextBox 42">
            <a:extLst>
              <a:ext uri="{FF2B5EF4-FFF2-40B4-BE49-F238E27FC236}">
                <a16:creationId xmlns:a16="http://schemas.microsoft.com/office/drawing/2014/main" id="{CB8398B3-7736-5CEB-DAD4-0A8FBD3D6218}"/>
              </a:ext>
            </a:extLst>
          </p:cNvPr>
          <p:cNvSpPr txBox="1"/>
          <p:nvPr/>
        </p:nvSpPr>
        <p:spPr>
          <a:xfrm>
            <a:off x="11155680" y="4306960"/>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00" b="1" kern="1500">
                <a:solidFill>
                  <a:schemeClr val="bg1"/>
                </a:solidFill>
              </a:rPr>
              <a:t>A.2</a:t>
            </a:r>
          </a:p>
        </p:txBody>
      </p:sp>
      <p:graphicFrame>
        <p:nvGraphicFramePr>
          <p:cNvPr id="4" name="Table 3">
            <a:extLst>
              <a:ext uri="{FF2B5EF4-FFF2-40B4-BE49-F238E27FC236}">
                <a16:creationId xmlns:a16="http://schemas.microsoft.com/office/drawing/2014/main" id="{18181BF7-04DC-34CE-E573-5A2CFDA61022}"/>
              </a:ext>
            </a:extLst>
          </p:cNvPr>
          <p:cNvGraphicFramePr>
            <a:graphicFrameLocks noGrp="1"/>
          </p:cNvGraphicFramePr>
          <p:nvPr/>
        </p:nvGraphicFramePr>
        <p:xfrm>
          <a:off x="6358767" y="2055648"/>
          <a:ext cx="5235902" cy="182880"/>
        </p:xfrm>
        <a:graphic>
          <a:graphicData uri="http://schemas.openxmlformats.org/drawingml/2006/table">
            <a:tbl>
              <a:tblPr firstRow="1" bandRow="1">
                <a:tableStyleId>{5C22544A-7EE6-4342-B048-85BDC9FD1C3A}</a:tableStyleId>
              </a:tblPr>
              <a:tblGrid>
                <a:gridCol w="373993">
                  <a:extLst>
                    <a:ext uri="{9D8B030D-6E8A-4147-A177-3AD203B41FA5}">
                      <a16:colId xmlns:a16="http://schemas.microsoft.com/office/drawing/2014/main" val="4234389670"/>
                    </a:ext>
                  </a:extLst>
                </a:gridCol>
                <a:gridCol w="373993">
                  <a:extLst>
                    <a:ext uri="{9D8B030D-6E8A-4147-A177-3AD203B41FA5}">
                      <a16:colId xmlns:a16="http://schemas.microsoft.com/office/drawing/2014/main" val="2872415959"/>
                    </a:ext>
                  </a:extLst>
                </a:gridCol>
                <a:gridCol w="373993">
                  <a:extLst>
                    <a:ext uri="{9D8B030D-6E8A-4147-A177-3AD203B41FA5}">
                      <a16:colId xmlns:a16="http://schemas.microsoft.com/office/drawing/2014/main" val="2224089828"/>
                    </a:ext>
                  </a:extLst>
                </a:gridCol>
                <a:gridCol w="373993">
                  <a:extLst>
                    <a:ext uri="{9D8B030D-6E8A-4147-A177-3AD203B41FA5}">
                      <a16:colId xmlns:a16="http://schemas.microsoft.com/office/drawing/2014/main" val="3195761835"/>
                    </a:ext>
                  </a:extLst>
                </a:gridCol>
                <a:gridCol w="373993">
                  <a:extLst>
                    <a:ext uri="{9D8B030D-6E8A-4147-A177-3AD203B41FA5}">
                      <a16:colId xmlns:a16="http://schemas.microsoft.com/office/drawing/2014/main" val="1412581894"/>
                    </a:ext>
                  </a:extLst>
                </a:gridCol>
                <a:gridCol w="373993">
                  <a:extLst>
                    <a:ext uri="{9D8B030D-6E8A-4147-A177-3AD203B41FA5}">
                      <a16:colId xmlns:a16="http://schemas.microsoft.com/office/drawing/2014/main" val="2093679262"/>
                    </a:ext>
                  </a:extLst>
                </a:gridCol>
                <a:gridCol w="373993">
                  <a:extLst>
                    <a:ext uri="{9D8B030D-6E8A-4147-A177-3AD203B41FA5}">
                      <a16:colId xmlns:a16="http://schemas.microsoft.com/office/drawing/2014/main" val="4172650658"/>
                    </a:ext>
                  </a:extLst>
                </a:gridCol>
                <a:gridCol w="373993">
                  <a:extLst>
                    <a:ext uri="{9D8B030D-6E8A-4147-A177-3AD203B41FA5}">
                      <a16:colId xmlns:a16="http://schemas.microsoft.com/office/drawing/2014/main" val="4085553167"/>
                    </a:ext>
                  </a:extLst>
                </a:gridCol>
                <a:gridCol w="373993">
                  <a:extLst>
                    <a:ext uri="{9D8B030D-6E8A-4147-A177-3AD203B41FA5}">
                      <a16:colId xmlns:a16="http://schemas.microsoft.com/office/drawing/2014/main" val="3035667041"/>
                    </a:ext>
                  </a:extLst>
                </a:gridCol>
                <a:gridCol w="373993">
                  <a:extLst>
                    <a:ext uri="{9D8B030D-6E8A-4147-A177-3AD203B41FA5}">
                      <a16:colId xmlns:a16="http://schemas.microsoft.com/office/drawing/2014/main" val="1382053115"/>
                    </a:ext>
                  </a:extLst>
                </a:gridCol>
                <a:gridCol w="373993">
                  <a:extLst>
                    <a:ext uri="{9D8B030D-6E8A-4147-A177-3AD203B41FA5}">
                      <a16:colId xmlns:a16="http://schemas.microsoft.com/office/drawing/2014/main" val="243945664"/>
                    </a:ext>
                  </a:extLst>
                </a:gridCol>
                <a:gridCol w="373993">
                  <a:extLst>
                    <a:ext uri="{9D8B030D-6E8A-4147-A177-3AD203B41FA5}">
                      <a16:colId xmlns:a16="http://schemas.microsoft.com/office/drawing/2014/main" val="4035638086"/>
                    </a:ext>
                  </a:extLst>
                </a:gridCol>
                <a:gridCol w="373993">
                  <a:extLst>
                    <a:ext uri="{9D8B030D-6E8A-4147-A177-3AD203B41FA5}">
                      <a16:colId xmlns:a16="http://schemas.microsoft.com/office/drawing/2014/main" val="340677872"/>
                    </a:ext>
                  </a:extLst>
                </a:gridCol>
                <a:gridCol w="373993">
                  <a:extLst>
                    <a:ext uri="{9D8B030D-6E8A-4147-A177-3AD203B41FA5}">
                      <a16:colId xmlns:a16="http://schemas.microsoft.com/office/drawing/2014/main" val="2803820301"/>
                    </a:ext>
                  </a:extLst>
                </a:gridCol>
              </a:tblGrid>
              <a:tr h="182880">
                <a:tc>
                  <a:txBody>
                    <a:bodyPr/>
                    <a:lstStyle/>
                    <a:p>
                      <a:pPr algn="ctr"/>
                      <a:r>
                        <a:rPr lang="en-US" sz="900"/>
                        <a:t>Sep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Oct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Nov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Dec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Jan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Feb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Mar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Apr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May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Jul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Aug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Sep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Oct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extLst>
                  <a:ext uri="{0D108BD9-81ED-4DB2-BD59-A6C34878D82A}">
                    <a16:rowId xmlns:a16="http://schemas.microsoft.com/office/drawing/2014/main" val="3394829782"/>
                  </a:ext>
                </a:extLst>
              </a:tr>
            </a:tbl>
          </a:graphicData>
        </a:graphic>
      </p:graphicFrame>
      <p:graphicFrame>
        <p:nvGraphicFramePr>
          <p:cNvPr id="8" name="Table 7">
            <a:extLst>
              <a:ext uri="{FF2B5EF4-FFF2-40B4-BE49-F238E27FC236}">
                <a16:creationId xmlns:a16="http://schemas.microsoft.com/office/drawing/2014/main" id="{DA4421F8-F98B-30E6-2269-02E8FB332DE2}"/>
              </a:ext>
            </a:extLst>
          </p:cNvPr>
          <p:cNvGraphicFramePr>
            <a:graphicFrameLocks noGrp="1"/>
          </p:cNvGraphicFramePr>
          <p:nvPr/>
        </p:nvGraphicFramePr>
        <p:xfrm>
          <a:off x="6358767" y="4648969"/>
          <a:ext cx="5235902" cy="182880"/>
        </p:xfrm>
        <a:graphic>
          <a:graphicData uri="http://schemas.openxmlformats.org/drawingml/2006/table">
            <a:tbl>
              <a:tblPr firstRow="1" bandRow="1">
                <a:tableStyleId>{5C22544A-7EE6-4342-B048-85BDC9FD1C3A}</a:tableStyleId>
              </a:tblPr>
              <a:tblGrid>
                <a:gridCol w="373993">
                  <a:extLst>
                    <a:ext uri="{9D8B030D-6E8A-4147-A177-3AD203B41FA5}">
                      <a16:colId xmlns:a16="http://schemas.microsoft.com/office/drawing/2014/main" val="4234389670"/>
                    </a:ext>
                  </a:extLst>
                </a:gridCol>
                <a:gridCol w="373993">
                  <a:extLst>
                    <a:ext uri="{9D8B030D-6E8A-4147-A177-3AD203B41FA5}">
                      <a16:colId xmlns:a16="http://schemas.microsoft.com/office/drawing/2014/main" val="2872415959"/>
                    </a:ext>
                  </a:extLst>
                </a:gridCol>
                <a:gridCol w="373993">
                  <a:extLst>
                    <a:ext uri="{9D8B030D-6E8A-4147-A177-3AD203B41FA5}">
                      <a16:colId xmlns:a16="http://schemas.microsoft.com/office/drawing/2014/main" val="2224089828"/>
                    </a:ext>
                  </a:extLst>
                </a:gridCol>
                <a:gridCol w="373993">
                  <a:extLst>
                    <a:ext uri="{9D8B030D-6E8A-4147-A177-3AD203B41FA5}">
                      <a16:colId xmlns:a16="http://schemas.microsoft.com/office/drawing/2014/main" val="3195761835"/>
                    </a:ext>
                  </a:extLst>
                </a:gridCol>
                <a:gridCol w="373993">
                  <a:extLst>
                    <a:ext uri="{9D8B030D-6E8A-4147-A177-3AD203B41FA5}">
                      <a16:colId xmlns:a16="http://schemas.microsoft.com/office/drawing/2014/main" val="1412581894"/>
                    </a:ext>
                  </a:extLst>
                </a:gridCol>
                <a:gridCol w="373993">
                  <a:extLst>
                    <a:ext uri="{9D8B030D-6E8A-4147-A177-3AD203B41FA5}">
                      <a16:colId xmlns:a16="http://schemas.microsoft.com/office/drawing/2014/main" val="2093679262"/>
                    </a:ext>
                  </a:extLst>
                </a:gridCol>
                <a:gridCol w="373993">
                  <a:extLst>
                    <a:ext uri="{9D8B030D-6E8A-4147-A177-3AD203B41FA5}">
                      <a16:colId xmlns:a16="http://schemas.microsoft.com/office/drawing/2014/main" val="4172650658"/>
                    </a:ext>
                  </a:extLst>
                </a:gridCol>
                <a:gridCol w="373993">
                  <a:extLst>
                    <a:ext uri="{9D8B030D-6E8A-4147-A177-3AD203B41FA5}">
                      <a16:colId xmlns:a16="http://schemas.microsoft.com/office/drawing/2014/main" val="4085553167"/>
                    </a:ext>
                  </a:extLst>
                </a:gridCol>
                <a:gridCol w="373993">
                  <a:extLst>
                    <a:ext uri="{9D8B030D-6E8A-4147-A177-3AD203B41FA5}">
                      <a16:colId xmlns:a16="http://schemas.microsoft.com/office/drawing/2014/main" val="3035667041"/>
                    </a:ext>
                  </a:extLst>
                </a:gridCol>
                <a:gridCol w="373993">
                  <a:extLst>
                    <a:ext uri="{9D8B030D-6E8A-4147-A177-3AD203B41FA5}">
                      <a16:colId xmlns:a16="http://schemas.microsoft.com/office/drawing/2014/main" val="1382053115"/>
                    </a:ext>
                  </a:extLst>
                </a:gridCol>
                <a:gridCol w="373993">
                  <a:extLst>
                    <a:ext uri="{9D8B030D-6E8A-4147-A177-3AD203B41FA5}">
                      <a16:colId xmlns:a16="http://schemas.microsoft.com/office/drawing/2014/main" val="243945664"/>
                    </a:ext>
                  </a:extLst>
                </a:gridCol>
                <a:gridCol w="373993">
                  <a:extLst>
                    <a:ext uri="{9D8B030D-6E8A-4147-A177-3AD203B41FA5}">
                      <a16:colId xmlns:a16="http://schemas.microsoft.com/office/drawing/2014/main" val="4035638086"/>
                    </a:ext>
                  </a:extLst>
                </a:gridCol>
                <a:gridCol w="373993">
                  <a:extLst>
                    <a:ext uri="{9D8B030D-6E8A-4147-A177-3AD203B41FA5}">
                      <a16:colId xmlns:a16="http://schemas.microsoft.com/office/drawing/2014/main" val="340677872"/>
                    </a:ext>
                  </a:extLst>
                </a:gridCol>
                <a:gridCol w="373993">
                  <a:extLst>
                    <a:ext uri="{9D8B030D-6E8A-4147-A177-3AD203B41FA5}">
                      <a16:colId xmlns:a16="http://schemas.microsoft.com/office/drawing/2014/main" val="1557492592"/>
                    </a:ext>
                  </a:extLst>
                </a:gridCol>
              </a:tblGrid>
              <a:tr h="182880">
                <a:tc>
                  <a:txBody>
                    <a:bodyPr/>
                    <a:lstStyle/>
                    <a:p>
                      <a:pPr algn="ctr"/>
                      <a:r>
                        <a:rPr lang="en-US" sz="900"/>
                        <a:t>Sep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Oct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Nov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Dec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Jan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Feb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Mar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Apr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May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Jul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Aug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Sep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Oct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extLst>
                  <a:ext uri="{0D108BD9-81ED-4DB2-BD59-A6C34878D82A}">
                    <a16:rowId xmlns:a16="http://schemas.microsoft.com/office/drawing/2014/main" val="3394829782"/>
                  </a:ext>
                </a:extLst>
              </a:tr>
            </a:tbl>
          </a:graphicData>
        </a:graphic>
      </p:graphicFrame>
      <p:sp>
        <p:nvSpPr>
          <p:cNvPr id="13" name="TextBox 12">
            <a:extLst>
              <a:ext uri="{FF2B5EF4-FFF2-40B4-BE49-F238E27FC236}">
                <a16:creationId xmlns:a16="http://schemas.microsoft.com/office/drawing/2014/main" id="{E84DD2F7-C622-801E-B358-CB7FFEF8DA6D}"/>
              </a:ext>
            </a:extLst>
          </p:cNvPr>
          <p:cNvSpPr txBox="1"/>
          <p:nvPr/>
        </p:nvSpPr>
        <p:spPr>
          <a:xfrm>
            <a:off x="6301525" y="1463040"/>
            <a:ext cx="5355000"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rgbClr val="0B315E"/>
                </a:solidFill>
                <a:effectLst/>
                <a:uLnTx/>
                <a:uFillTx/>
                <a:latin typeface="CVS Health Sans"/>
                <a:ea typeface="+mn-ea"/>
                <a:cs typeface="+mn-cs"/>
              </a:rPr>
              <a:t>Milestone</a:t>
            </a:r>
            <a:r>
              <a:rPr lang="en-US" sz="900" b="0">
                <a:solidFill>
                  <a:schemeClr val="tx2"/>
                </a:solidFill>
              </a:rPr>
              <a:t>   Aligned to SOW §5 and Microsoft ECIF milestone sign-off</a:t>
            </a:r>
          </a:p>
        </p:txBody>
      </p:sp>
      <p:sp>
        <p:nvSpPr>
          <p:cNvPr id="50" name="Definition of Done A.1"/>
          <p:cNvSpPr/>
          <p:nvPr/>
        </p:nvSpPr>
        <p:spPr bwMode="gray">
          <a:xfrm>
            <a:off x="6296424" y="3144960"/>
            <a:ext cx="5360592" cy="1090000"/>
          </a:xfrm>
          <a:prstGeom prst="roundRect">
            <a:avLst>
              <a:gd name="adj" fmla="val 3961"/>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tIns="27432" rIns="45720" bIns="9144" rtlCol="0" anchor="t">
            <a:noAutofit/>
          </a:bodyPr>
          <a:lstStyle/>
          <a:p>
            <a:pPr>
              <a:spcBef>
                <a:spcPts val="0"/>
              </a:spcBef>
              <a:spcAft>
                <a:spcPts val="0"/>
              </a:spcAft>
            </a:pPr>
            <a:r>
              <a:rPr lang="en-US" sz="1000" b="1">
                <a:solidFill>
                  <a:srgbClr val="00A78E"/>
                </a:solidFill>
              </a:rPr>
              <a:t>Definition of Done (due Dec 7, 2026):</a:t>
            </a:r>
          </a:p>
          <a:p>
            <a:pPr marL="91440" indent="-91440">
              <a:spcBef>
                <a:spcPts val="0"/>
              </a:spcBef>
              <a:spcAft>
                <a:spcPts val="100"/>
              </a:spcAft>
              <a:buFont typeface="Arial" panose="020B0604020202020204" pitchFamily="34" charset="0"/>
              <a:buChar char="•"/>
            </a:pPr>
            <a:r>
              <a:rPr lang="en-US" sz="900">
                <a:solidFill>
                  <a:schemeClr val="tx2"/>
                </a:solidFill>
              </a:rPr>
              <a:t>Current-State Architecture Assessment Report delivered and accepted by CVS stakeholders</a:t>
            </a:r>
          </a:p>
          <a:p>
            <a:pPr marL="91440" indent="-91440">
              <a:spcBef>
                <a:spcPts val="0"/>
              </a:spcBef>
              <a:spcAft>
                <a:spcPts val="100"/>
              </a:spcAft>
              <a:buFont typeface="Arial" panose="020B0604020202020204" pitchFamily="34" charset="0"/>
              <a:buChar char="•"/>
            </a:pPr>
            <a:r>
              <a:rPr lang="en-US" sz="900">
                <a:solidFill>
                  <a:schemeClr val="tx2"/>
                </a:solidFill>
              </a:rPr>
              <a:t>Security, Governance, and FinOps Findings Register (XLS) created, populated with initial findings, and reviewed with CVS</a:t>
            </a:r>
          </a:p>
          <a:p>
            <a:pPr marL="91440" indent="-91440">
              <a:spcBef>
                <a:spcPts val="0"/>
              </a:spcBef>
              <a:spcAft>
                <a:spcPts val="100"/>
              </a:spcAft>
              <a:buFont typeface="Arial" panose="020B0604020202020204" pitchFamily="34" charset="0"/>
              <a:buChar char="•"/>
            </a:pPr>
            <a:r>
              <a:rPr lang="en-US" sz="900">
                <a:solidFill>
                  <a:schemeClr val="tx2"/>
                </a:solidFill>
              </a:rPr>
              <a:t>Unity Catalog and Data Lifecycle Recommendations delivered</a:t>
            </a:r>
          </a:p>
          <a:p>
            <a:pPr marL="91440" indent="-91440">
              <a:spcBef>
                <a:spcPts val="0"/>
              </a:spcBef>
              <a:spcAft>
                <a:spcPts val="100"/>
              </a:spcAft>
              <a:buFont typeface="Arial" panose="020B0604020202020204" pitchFamily="34" charset="0"/>
              <a:buChar char="•"/>
            </a:pPr>
            <a:r>
              <a:rPr lang="en-US" sz="900">
                <a:solidFill>
                  <a:schemeClr val="tx2"/>
                </a:solidFill>
              </a:rPr>
              <a:t>Day 1 Go-Live Architecture and Day 2 Roadmap Recommendations presented to and accepted by the CVS architecture team</a:t>
            </a:r>
          </a:p>
        </p:txBody>
      </p:sp>
      <p:sp>
        <p:nvSpPr>
          <p:cNvPr id="51" name="Definition of Done A.2"/>
          <p:cNvSpPr/>
          <p:nvPr/>
        </p:nvSpPr>
        <p:spPr bwMode="gray">
          <a:xfrm>
            <a:off x="6296424" y="5348800"/>
            <a:ext cx="5360592" cy="790000"/>
          </a:xfrm>
          <a:prstGeom prst="roundRect">
            <a:avLst>
              <a:gd name="adj" fmla="val 3961"/>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tIns="27432" rIns="45720" bIns="9144" rtlCol="0" anchor="t">
            <a:noAutofit/>
          </a:bodyPr>
          <a:lstStyle/>
          <a:p>
            <a:pPr>
              <a:spcBef>
                <a:spcPts val="0"/>
              </a:spcBef>
              <a:spcAft>
                <a:spcPts val="0"/>
              </a:spcAft>
            </a:pPr>
            <a:r>
              <a:rPr lang="en-US" sz="1000" b="1">
                <a:solidFill>
                  <a:srgbClr val="00A78E"/>
                </a:solidFill>
              </a:rPr>
              <a:t>Definition of Done – 90-day window (due Jan 18, 2027):</a:t>
            </a:r>
          </a:p>
          <a:p>
            <a:pPr marL="91440" indent="-91440">
              <a:spcBef>
                <a:spcPts val="0"/>
              </a:spcBef>
              <a:spcAft>
                <a:spcPts val="100"/>
              </a:spcAft>
              <a:buFont typeface="Arial" panose="020B0604020202020204" pitchFamily="34" charset="0"/>
              <a:buChar char="•"/>
            </a:pPr>
            <a:r>
              <a:rPr lang="en-US" sz="900">
                <a:solidFill>
                  <a:schemeClr val="tx2"/>
                </a:solidFill>
              </a:rPr>
              <a:t>Architecture Remediation Tracker created; highest-priority remediation tasks required to unblock Workstream B before the change freeze completed and demonstrated to CVS</a:t>
            </a:r>
          </a:p>
          <a:p>
            <a:pPr marL="91440" indent="-91440">
              <a:spcBef>
                <a:spcPts val="0"/>
              </a:spcBef>
              <a:spcAft>
                <a:spcPts val="100"/>
              </a:spcAft>
              <a:buFont typeface="Arial" panose="020B0604020202020204" pitchFamily="34" charset="0"/>
              <a:buChar char="•"/>
            </a:pPr>
            <a:r>
              <a:rPr lang="en-US" sz="900">
                <a:solidFill>
                  <a:schemeClr val="tx2"/>
                </a:solidFill>
              </a:rPr>
              <a:t>Workstream B-E Handoff Package (validated architecture patterns, security standards, operational guidelines) formally delivered to and accepted by downstream workstream leads</a:t>
            </a:r>
          </a:p>
        </p:txBody>
      </p:sp>
    </p:spTree>
    <p:extLst>
      <p:ext uri="{BB962C8B-B14F-4D97-AF65-F5344CB8AC3E}">
        <p14:creationId xmlns:p14="http://schemas.microsoft.com/office/powerpoint/2010/main" val="6017599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21DB23AD-4B77-81EF-C852-4A2A1EB3DB7B}"/>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4" name="thinkcell data - do not delete" hidden="1">
                        <a:extLst>
                          <a:ext uri="{FF2B5EF4-FFF2-40B4-BE49-F238E27FC236}">
                            <a16:creationId xmlns:a16="http://schemas.microsoft.com/office/drawing/2014/main" id="{21DB23AD-4B77-81EF-C852-4A2A1EB3DB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1241A5AF-4645-DBA7-CC19-062BFC2AF405}"/>
              </a:ext>
            </a:extLst>
          </p:cNvPr>
          <p:cNvSpPr>
            <a:spLocks noGrp="1"/>
          </p:cNvSpPr>
          <p:nvPr>
            <p:ph type="title"/>
          </p:nvPr>
        </p:nvSpPr>
        <p:spPr>
          <a:xfrm>
            <a:off x="587375" y="594870"/>
            <a:ext cx="10965638" cy="633431"/>
          </a:xfrm>
        </p:spPr>
        <p:txBody>
          <a:bodyPr vert="horz" rIns="0"/>
          <a:lstStyle/>
          <a:p>
            <a:r>
              <a:rPr lang="en-US"/>
              <a:t>Workstream A - Architecture Review &amp; Remediation (2/2)</a:t>
            </a:r>
            <a:br>
              <a:rPr lang="en-US"/>
            </a:br>
            <a:r>
              <a:rPr lang="en-US" sz="1600" b="0"/>
              <a:t>Diagnose and Plan – Planning </a:t>
            </a:r>
          </a:p>
        </p:txBody>
      </p:sp>
      <p:sp>
        <p:nvSpPr>
          <p:cNvPr id="20" name="Rectangle: Top Corners Rounded 19">
            <a:extLst>
              <a:ext uri="{FF2B5EF4-FFF2-40B4-BE49-F238E27FC236}">
                <a16:creationId xmlns:a16="http://schemas.microsoft.com/office/drawing/2014/main" id="{6B23DFA2-1154-E9F9-0B70-3A7FC7738791}"/>
              </a:ext>
            </a:extLst>
          </p:cNvPr>
          <p:cNvSpPr/>
          <p:nvPr/>
        </p:nvSpPr>
        <p:spPr bwMode="gray">
          <a:xfrm rot="5400000">
            <a:off x="-1524006" y="2912536"/>
            <a:ext cx="4682069" cy="1634065"/>
          </a:xfrm>
          <a:prstGeom prst="round2SameRect">
            <a:avLst>
              <a:gd name="adj1" fmla="val 9976"/>
              <a:gd name="adj2" fmla="val 0"/>
            </a:avLst>
          </a:prstGeom>
          <a:gradFill flip="none" rotWithShape="1">
            <a:gsLst>
              <a:gs pos="0">
                <a:srgbClr val="267AC0"/>
              </a:gs>
              <a:gs pos="100000">
                <a:srgbClr val="0A4B8C"/>
              </a:gs>
            </a:gsLst>
            <a:lin ang="54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graphicFrame>
        <p:nvGraphicFramePr>
          <p:cNvPr id="22" name="Content Placeholder 6">
            <a:extLst>
              <a:ext uri="{FF2B5EF4-FFF2-40B4-BE49-F238E27FC236}">
                <a16:creationId xmlns:a16="http://schemas.microsoft.com/office/drawing/2014/main" id="{489284EA-00F0-EA39-5149-1AB646A5BC36}"/>
              </a:ext>
            </a:extLst>
          </p:cNvPr>
          <p:cNvGraphicFramePr>
            <a:graphicFrameLocks/>
          </p:cNvGraphicFramePr>
          <p:nvPr>
            <p:extLst>
              <p:ext uri="{D42A27DB-BD31-4B8C-83A1-F6EECF244321}">
                <p14:modId xmlns:p14="http://schemas.microsoft.com/office/powerpoint/2010/main" val="805972387"/>
              </p:ext>
            </p:extLst>
          </p:nvPr>
        </p:nvGraphicFramePr>
        <p:xfrm>
          <a:off x="538691" y="1509730"/>
          <a:ext cx="11133137" cy="2046270"/>
        </p:xfrm>
        <a:graphic>
          <a:graphicData uri="http://schemas.openxmlformats.org/drawingml/2006/table">
            <a:tbl>
              <a:tblPr firstRow="1" bandRow="1">
                <a:tableStyleId>{2D5ABB26-0587-4C30-8999-92F81FD0307C}</a:tableStyleId>
              </a:tblPr>
              <a:tblGrid>
                <a:gridCol w="1099371">
                  <a:extLst>
                    <a:ext uri="{9D8B030D-6E8A-4147-A177-3AD203B41FA5}">
                      <a16:colId xmlns:a16="http://schemas.microsoft.com/office/drawing/2014/main" val="1699332636"/>
                    </a:ext>
                  </a:extLst>
                </a:gridCol>
                <a:gridCol w="10033766">
                  <a:extLst>
                    <a:ext uri="{9D8B030D-6E8A-4147-A177-3AD203B41FA5}">
                      <a16:colId xmlns:a16="http://schemas.microsoft.com/office/drawing/2014/main" val="2684621038"/>
                    </a:ext>
                  </a:extLst>
                </a:gridCol>
              </a:tblGrid>
              <a:tr h="491790">
                <a:tc>
                  <a:txBody>
                    <a:bodyPr/>
                    <a:lstStyle/>
                    <a:p>
                      <a:pPr>
                        <a:lnSpc>
                          <a:spcPct val="90000"/>
                        </a:lnSpc>
                      </a:pPr>
                      <a:r>
                        <a:rPr lang="en-US" sz="1050" b="1">
                          <a:solidFill>
                            <a:schemeClr val="bg1"/>
                          </a:solidFill>
                        </a:rPr>
                        <a:t>Key “Do Now” activities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Prioritization or Agile Sprint plan with Dependency map</a:t>
                      </a:r>
                    </a:p>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Finalize staffing and roles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3144615"/>
                  </a:ext>
                </a:extLst>
              </a:tr>
              <a:tr h="581441">
                <a:tc>
                  <a:txBody>
                    <a:bodyPr/>
                    <a:lstStyle/>
                    <a:p>
                      <a:pPr>
                        <a:lnSpc>
                          <a:spcPct val="90000"/>
                        </a:lnSpc>
                      </a:pPr>
                      <a:r>
                        <a:rPr lang="en-US" sz="1050" b="1">
                          <a:solidFill>
                            <a:schemeClr val="bg1"/>
                          </a:solidFill>
                        </a:rPr>
                        <a:t>Upstream Prerequisites</a:t>
                      </a:r>
                    </a:p>
                    <a:p>
                      <a:pPr>
                        <a:lnSpc>
                          <a:spcPct val="90000"/>
                        </a:lnSpc>
                      </a:pPr>
                      <a:endParaRPr lang="en-US" sz="1050" b="1">
                        <a:solidFill>
                          <a:schemeClr val="bg1"/>
                        </a:solidFill>
                      </a:endParaRP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1" i="0">
                          <a:solidFill>
                            <a:schemeClr val="tx2"/>
                          </a:solidFill>
                        </a:rPr>
                        <a:t>CVS Infrastructure &amp; Access: </a:t>
                      </a:r>
                      <a:r>
                        <a:rPr lang="en-US" sz="1000" b="0" i="0">
                          <a:solidFill>
                            <a:schemeClr val="tx2"/>
                          </a:solidFill>
                        </a:rPr>
                        <a:t>Timely provisioning of Azure subscriptions and opening of mandatory network ports by Dec 1</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1" i="0" err="1">
                          <a:solidFill>
                            <a:schemeClr val="tx2"/>
                          </a:solidFill>
                        </a:rPr>
                        <a:t>Lovelytics</a:t>
                      </a:r>
                      <a:r>
                        <a:rPr lang="en-US" sz="1000" b="1" i="0">
                          <a:solidFill>
                            <a:schemeClr val="tx2"/>
                          </a:solidFill>
                        </a:rPr>
                        <a:t> Assessment Delivery: </a:t>
                      </a:r>
                      <a:r>
                        <a:rPr lang="en-US" sz="1000" b="0" i="0">
                          <a:solidFill>
                            <a:schemeClr val="tx2"/>
                          </a:solidFill>
                        </a:rPr>
                        <a:t>Delivery of the current-state Unity Catalog taxonomy and IAM findings from Amit Gonsalves</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1" i="0">
                          <a:solidFill>
                            <a:schemeClr val="tx2"/>
                          </a:solidFill>
                        </a:rPr>
                        <a:t>Stakeholder Consensus: </a:t>
                      </a:r>
                      <a:r>
                        <a:rPr lang="en-US" sz="1000" b="0" i="0">
                          <a:solidFill>
                            <a:schemeClr val="tx2"/>
                          </a:solidFill>
                        </a:rPr>
                        <a:t>Formal agreement from CVS Architecture Leads (Chuck Markham, Sean Elliot, Adam Plotzker) for 26-50 Bronze Delta table model</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1" i="0">
                          <a:solidFill>
                            <a:schemeClr val="tx2"/>
                          </a:solidFill>
                        </a:rPr>
                        <a:t>Security &amp; Compliance Guidelines: </a:t>
                      </a:r>
                      <a:r>
                        <a:rPr lang="en-US" sz="1000" b="0" i="0">
                          <a:solidFill>
                            <a:schemeClr val="tx2"/>
                          </a:solidFill>
                        </a:rPr>
                        <a:t>Provision of CVS threat models, data classification policies, and PHI masking rules from Cyber Defense (Sonia Arista)</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7196652"/>
                  </a:ext>
                </a:extLst>
              </a:tr>
              <a:tr h="581441">
                <a:tc>
                  <a:txBody>
                    <a:bodyPr/>
                    <a:lstStyle/>
                    <a:p>
                      <a:pPr>
                        <a:lnSpc>
                          <a:spcPct val="90000"/>
                        </a:lnSpc>
                      </a:pPr>
                      <a:r>
                        <a:rPr lang="en-US" sz="1050" b="1">
                          <a:solidFill>
                            <a:schemeClr val="bg1"/>
                          </a:solidFill>
                        </a:rPr>
                        <a:t>Downstream Workstream Hand-offs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1" i="0">
                          <a:solidFill>
                            <a:schemeClr val="tx2"/>
                          </a:solidFill>
                        </a:rPr>
                        <a:t>To B1 (Source Rationalization): </a:t>
                      </a:r>
                      <a:r>
                        <a:rPr lang="en-US" sz="1000" b="0" i="0">
                          <a:solidFill>
                            <a:schemeClr val="tx2"/>
                          </a:solidFill>
                        </a:rPr>
                        <a:t>Canonical metadata standards, ODCS contracting templates, and Unity Catalog namespace hierarchy</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1" i="0">
                          <a:solidFill>
                            <a:schemeClr val="tx2"/>
                          </a:solidFill>
                        </a:rPr>
                        <a:t>To B2 (Bronze Landing): </a:t>
                      </a:r>
                      <a:r>
                        <a:rPr lang="en-US" sz="1000" b="0" i="0">
                          <a:solidFill>
                            <a:schemeClr val="tx2"/>
                          </a:solidFill>
                        </a:rPr>
                        <a:t>Validated Auto Loader + Event Grid push notification patterns, ADLS Gen2 folder hierarchy, and throughput validation benchmarks</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1" i="0">
                          <a:solidFill>
                            <a:schemeClr val="tx2"/>
                          </a:solidFill>
                        </a:rPr>
                        <a:t>To C (Pipeline Enablement): </a:t>
                      </a:r>
                      <a:r>
                        <a:rPr lang="en-US" sz="1000" b="0" i="0">
                          <a:solidFill>
                            <a:schemeClr val="tx2"/>
                          </a:solidFill>
                        </a:rPr>
                        <a:t>Medallion data architecture, DLT pipeline templates, PHI masking standards, and Gold workspace isolation models</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1" i="0">
                          <a:solidFill>
                            <a:schemeClr val="tx2"/>
                          </a:solidFill>
                        </a:rPr>
                        <a:t>To D (Observability Migration): </a:t>
                      </a:r>
                      <a:r>
                        <a:rPr lang="en-US" sz="1000" b="0" i="0">
                          <a:solidFill>
                            <a:schemeClr val="tx2"/>
                          </a:solidFill>
                        </a:rPr>
                        <a:t>Confirmed ES and AIOps platform scope boundaries, query performance guidelines, and Silver domain table prerequisites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3949764"/>
                  </a:ext>
                </a:extLst>
              </a:tr>
            </a:tbl>
          </a:graphicData>
        </a:graphic>
      </p:graphicFrame>
      <p:graphicFrame>
        <p:nvGraphicFramePr>
          <p:cNvPr id="24" name="Content Placeholder 6">
            <a:extLst>
              <a:ext uri="{FF2B5EF4-FFF2-40B4-BE49-F238E27FC236}">
                <a16:creationId xmlns:a16="http://schemas.microsoft.com/office/drawing/2014/main" id="{E3D17210-38A1-9874-7C7E-4E1CF4764239}"/>
              </a:ext>
            </a:extLst>
          </p:cNvPr>
          <p:cNvGraphicFramePr>
            <a:graphicFrameLocks/>
          </p:cNvGraphicFramePr>
          <p:nvPr>
            <p:extLst>
              <p:ext uri="{D42A27DB-BD31-4B8C-83A1-F6EECF244321}">
                <p14:modId xmlns:p14="http://schemas.microsoft.com/office/powerpoint/2010/main" val="2167773038"/>
              </p:ext>
            </p:extLst>
          </p:nvPr>
        </p:nvGraphicFramePr>
        <p:xfrm>
          <a:off x="540940" y="3912868"/>
          <a:ext cx="11142396" cy="1907066"/>
        </p:xfrm>
        <a:graphic>
          <a:graphicData uri="http://schemas.openxmlformats.org/drawingml/2006/table">
            <a:tbl>
              <a:tblPr firstRow="1" bandRow="1">
                <a:tableStyleId>{2D5ABB26-0587-4C30-8999-92F81FD0307C}</a:tableStyleId>
              </a:tblPr>
              <a:tblGrid>
                <a:gridCol w="1108868">
                  <a:extLst>
                    <a:ext uri="{9D8B030D-6E8A-4147-A177-3AD203B41FA5}">
                      <a16:colId xmlns:a16="http://schemas.microsoft.com/office/drawing/2014/main" val="2393725290"/>
                    </a:ext>
                  </a:extLst>
                </a:gridCol>
                <a:gridCol w="3328592">
                  <a:extLst>
                    <a:ext uri="{9D8B030D-6E8A-4147-A177-3AD203B41FA5}">
                      <a16:colId xmlns:a16="http://schemas.microsoft.com/office/drawing/2014/main" val="1699332636"/>
                    </a:ext>
                  </a:extLst>
                </a:gridCol>
                <a:gridCol w="3378200">
                  <a:extLst>
                    <a:ext uri="{9D8B030D-6E8A-4147-A177-3AD203B41FA5}">
                      <a16:colId xmlns:a16="http://schemas.microsoft.com/office/drawing/2014/main" val="2684621038"/>
                    </a:ext>
                  </a:extLst>
                </a:gridCol>
                <a:gridCol w="3326736">
                  <a:extLst>
                    <a:ext uri="{9D8B030D-6E8A-4147-A177-3AD203B41FA5}">
                      <a16:colId xmlns:a16="http://schemas.microsoft.com/office/drawing/2014/main" val="1078624516"/>
                    </a:ext>
                  </a:extLst>
                </a:gridCol>
              </a:tblGrid>
              <a:tr h="418626">
                <a:tc>
                  <a:txBody>
                    <a:bodyPr/>
                    <a:lstStyle/>
                    <a:p>
                      <a:r>
                        <a:rPr lang="en-US" sz="1050" b="1">
                          <a:solidFill>
                            <a:schemeClr val="bg1"/>
                          </a:solidFill>
                        </a:rPr>
                        <a:t>Epic</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457063" rtl="0" eaLnBrk="1" fontAlgn="ctr" latinLnBrk="0" hangingPunct="1"/>
                      <a:r>
                        <a:rPr lang="en-US" sz="1000" b="1" kern="1500">
                          <a:solidFill>
                            <a:srgbClr val="0A4B8C"/>
                          </a:solidFill>
                          <a:latin typeface="+mn-lt"/>
                          <a:ea typeface="+mn-ea"/>
                          <a:cs typeface="+mn-cs"/>
                        </a:rPr>
                        <a:t>1. Databricks Architecture Assessment </a:t>
                      </a:r>
                      <a:br>
                        <a:rPr lang="en-US" sz="1000" b="1" kern="1500">
                          <a:solidFill>
                            <a:srgbClr val="0A4B8C"/>
                          </a:solidFill>
                          <a:latin typeface="+mn-lt"/>
                          <a:ea typeface="+mn-ea"/>
                          <a:cs typeface="+mn-cs"/>
                        </a:rPr>
                      </a:br>
                      <a:r>
                        <a:rPr lang="en-US" sz="1000" b="1" kern="1500">
                          <a:solidFill>
                            <a:srgbClr val="0A4B8C"/>
                          </a:solidFill>
                          <a:latin typeface="+mn-lt"/>
                          <a:ea typeface="+mn-ea"/>
                          <a:cs typeface="+mn-cs"/>
                        </a:rPr>
                        <a:t>&amp; Gap Analysis</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a:solidFill>
                            <a:srgbClr val="0A4B8C"/>
                          </a:solidFill>
                          <a:latin typeface="+mn-lt"/>
                          <a:ea typeface="+mn-ea"/>
                          <a:cs typeface="+mn-cs"/>
                        </a:rPr>
                        <a:t>2. Architecture Remediation &amp; Critical </a:t>
                      </a:r>
                      <a:br>
                        <a:rPr lang="en-US" sz="1000" b="1" kern="1500">
                          <a:solidFill>
                            <a:srgbClr val="0A4B8C"/>
                          </a:solidFill>
                          <a:latin typeface="+mn-lt"/>
                          <a:ea typeface="+mn-ea"/>
                          <a:cs typeface="+mn-cs"/>
                        </a:rPr>
                      </a:br>
                      <a:r>
                        <a:rPr lang="en-US" sz="1000" b="1" kern="1500">
                          <a:solidFill>
                            <a:srgbClr val="0A4B8C"/>
                          </a:solidFill>
                          <a:latin typeface="+mn-lt"/>
                          <a:ea typeface="+mn-ea"/>
                          <a:cs typeface="+mn-cs"/>
                        </a:rPr>
                        <a:t>Infrastructure Implementation</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a:solidFill>
                            <a:srgbClr val="0A4B8C"/>
                          </a:solidFill>
                          <a:latin typeface="+mn-lt"/>
                          <a:ea typeface="+mn-ea"/>
                          <a:cs typeface="+mn-cs"/>
                        </a:rPr>
                        <a:t>3. Architectural Foundation &amp; Handoff to </a:t>
                      </a:r>
                      <a:br>
                        <a:rPr lang="en-US" sz="1000" b="1" kern="1500">
                          <a:solidFill>
                            <a:srgbClr val="0A4B8C"/>
                          </a:solidFill>
                          <a:latin typeface="+mn-lt"/>
                          <a:ea typeface="+mn-ea"/>
                          <a:cs typeface="+mn-cs"/>
                        </a:rPr>
                      </a:br>
                      <a:r>
                        <a:rPr lang="en-US" sz="1000" b="1" kern="1500">
                          <a:solidFill>
                            <a:srgbClr val="0A4B8C"/>
                          </a:solidFill>
                          <a:latin typeface="+mn-lt"/>
                          <a:ea typeface="+mn-ea"/>
                          <a:cs typeface="+mn-cs"/>
                        </a:rPr>
                        <a:t>Downstream Workstreams</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3144615"/>
                  </a:ext>
                </a:extLst>
              </a:tr>
              <a:tr h="892014">
                <a:tc>
                  <a:txBody>
                    <a:bodyPr/>
                    <a:lstStyle/>
                    <a:p>
                      <a:r>
                        <a:rPr lang="en-US" sz="1050" b="1">
                          <a:solidFill>
                            <a:schemeClr val="bg1"/>
                          </a:solidFill>
                        </a:rPr>
                        <a:t>Features</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defTabSz="457063" rtl="0" eaLnBrk="1" fontAlgn="ctr" latinLnBrk="0" hangingPunct="1">
                        <a:spcAft>
                          <a:spcPts val="200"/>
                        </a:spcAft>
                        <a:buFont typeface="Arial" panose="020B0604020202020204" pitchFamily="34" charset="0"/>
                        <a:buChar char="•"/>
                      </a:pPr>
                      <a:r>
                        <a:rPr lang="en-US" sz="1000" b="0" kern="1500">
                          <a:solidFill>
                            <a:schemeClr val="tx2"/>
                          </a:solidFill>
                          <a:latin typeface="+mn-lt"/>
                          <a:ea typeface="+mn-ea"/>
                          <a:cs typeface="+mn-cs"/>
                        </a:rPr>
                        <a:t>1.1: Establish Environment Access &amp; Inventory</a:t>
                      </a:r>
                    </a:p>
                    <a:p>
                      <a:pPr marL="137160" indent="-137160" algn="l" defTabSz="457063" rtl="0" eaLnBrk="1" fontAlgn="ctr" latinLnBrk="0" hangingPunct="1">
                        <a:spcAft>
                          <a:spcPts val="200"/>
                        </a:spcAft>
                        <a:buFont typeface="Arial" panose="020B0604020202020204" pitchFamily="34" charset="0"/>
                        <a:buChar char="•"/>
                      </a:pPr>
                      <a:r>
                        <a:rPr lang="en-US" sz="1000" b="0" kern="1500">
                          <a:solidFill>
                            <a:schemeClr val="tx2"/>
                          </a:solidFill>
                          <a:latin typeface="+mn-lt"/>
                          <a:ea typeface="+mn-ea"/>
                          <a:cs typeface="+mn-cs"/>
                        </a:rPr>
                        <a:t>1.2: Review &amp; Validate Unity Catalog &amp; Data Lifecycle</a:t>
                      </a:r>
                    </a:p>
                    <a:p>
                      <a:pPr marL="137160" indent="-137160" algn="l" defTabSz="457063" rtl="0" eaLnBrk="1" fontAlgn="ctr" latinLnBrk="0" hangingPunct="1">
                        <a:spcAft>
                          <a:spcPts val="200"/>
                        </a:spcAft>
                        <a:buFont typeface="Arial" panose="020B0604020202020204" pitchFamily="34" charset="0"/>
                        <a:buChar char="•"/>
                      </a:pPr>
                      <a:r>
                        <a:rPr lang="en-US" sz="1000" b="0" kern="1500">
                          <a:solidFill>
                            <a:schemeClr val="tx2"/>
                          </a:solidFill>
                          <a:latin typeface="+mn-lt"/>
                          <a:ea typeface="+mn-ea"/>
                          <a:cs typeface="+mn-cs"/>
                        </a:rPr>
                        <a:t>1.3: Review &amp; Validate Security Architecture</a:t>
                      </a:r>
                    </a:p>
                    <a:p>
                      <a:pPr marL="137160" indent="-137160" algn="l" defTabSz="457063" rtl="0" eaLnBrk="1" fontAlgn="ctr" latinLnBrk="0" hangingPunct="1">
                        <a:spcAft>
                          <a:spcPts val="200"/>
                        </a:spcAft>
                        <a:buFont typeface="Arial" panose="020B0604020202020204" pitchFamily="34" charset="0"/>
                        <a:buChar char="•"/>
                      </a:pPr>
                      <a:r>
                        <a:rPr lang="en-US" sz="1000" b="0" kern="1500">
                          <a:solidFill>
                            <a:schemeClr val="tx2"/>
                          </a:solidFill>
                          <a:latin typeface="+mn-lt"/>
                          <a:ea typeface="+mn-ea"/>
                          <a:cs typeface="+mn-cs"/>
                        </a:rPr>
                        <a:t>1.4: Review &amp; Validate Encryption Posture</a:t>
                      </a:r>
                    </a:p>
                    <a:p>
                      <a:pPr marL="137160" indent="-137160" algn="l" defTabSz="457063" rtl="0" eaLnBrk="1" fontAlgn="ctr" latinLnBrk="0" hangingPunct="1">
                        <a:spcAft>
                          <a:spcPts val="200"/>
                        </a:spcAft>
                        <a:buFont typeface="Arial" panose="020B0604020202020204" pitchFamily="34" charset="0"/>
                        <a:buChar char="•"/>
                      </a:pPr>
                      <a:r>
                        <a:rPr lang="en-US" sz="1000" b="0" kern="1500">
                          <a:solidFill>
                            <a:schemeClr val="tx2"/>
                          </a:solidFill>
                          <a:latin typeface="+mn-lt"/>
                          <a:ea typeface="+mn-ea"/>
                          <a:cs typeface="+mn-cs"/>
                        </a:rPr>
                        <a:t>1.5: Review &amp; Validate Data Protection &amp; Recovery</a:t>
                      </a:r>
                    </a:p>
                    <a:p>
                      <a:pPr marL="137160" indent="-137160" algn="l" defTabSz="457063" rtl="0" eaLnBrk="1" fontAlgn="ctr" latinLnBrk="0" hangingPunct="1">
                        <a:spcAft>
                          <a:spcPts val="200"/>
                        </a:spcAft>
                        <a:buFont typeface="Arial" panose="020B0604020202020204" pitchFamily="34" charset="0"/>
                        <a:buChar char="•"/>
                      </a:pPr>
                      <a:r>
                        <a:rPr lang="en-US" sz="1000" b="0" kern="1500">
                          <a:solidFill>
                            <a:schemeClr val="tx2"/>
                          </a:solidFill>
                          <a:latin typeface="+mn-lt"/>
                          <a:ea typeface="+mn-ea"/>
                          <a:cs typeface="+mn-cs"/>
                        </a:rPr>
                        <a:t>1.6: Review &amp; Validate Scalability &amp; Resilience</a:t>
                      </a:r>
                    </a:p>
                    <a:p>
                      <a:pPr marL="137160" indent="-137160" algn="l" defTabSz="457063" rtl="0" eaLnBrk="1" fontAlgn="ctr" latinLnBrk="0" hangingPunct="1">
                        <a:spcAft>
                          <a:spcPts val="200"/>
                        </a:spcAft>
                        <a:buFont typeface="Arial" panose="020B0604020202020204" pitchFamily="34" charset="0"/>
                        <a:buChar char="•"/>
                      </a:pPr>
                      <a:r>
                        <a:rPr lang="en-US" sz="1000" b="0" kern="1500">
                          <a:solidFill>
                            <a:schemeClr val="tx2"/>
                          </a:solidFill>
                          <a:latin typeface="+mn-lt"/>
                          <a:ea typeface="+mn-ea"/>
                          <a:cs typeface="+mn-cs"/>
                        </a:rPr>
                        <a:t>1.7: Review &amp; Validate Git &amp; CI/CD Approach</a:t>
                      </a:r>
                    </a:p>
                    <a:p>
                      <a:pPr marL="137160" indent="-137160" algn="l" defTabSz="457063" rtl="0" eaLnBrk="1" fontAlgn="ctr" latinLnBrk="0" hangingPunct="1">
                        <a:spcAft>
                          <a:spcPts val="200"/>
                        </a:spcAft>
                        <a:buFont typeface="Arial" panose="020B0604020202020204" pitchFamily="34" charset="0"/>
                        <a:buChar char="•"/>
                      </a:pPr>
                      <a:r>
                        <a:rPr lang="en-US" sz="1000" b="0" kern="1500">
                          <a:solidFill>
                            <a:schemeClr val="tx2"/>
                          </a:solidFill>
                          <a:latin typeface="+mn-lt"/>
                          <a:ea typeface="+mn-ea"/>
                          <a:cs typeface="+mn-cs"/>
                        </a:rPr>
                        <a:t>1.8: Generate Findings Register</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2.1: Clarify &amp; Plan for Dec Change Freeze</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2.2: Coordinate Firewall &amp; Network Port Clearance</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2.3: Secure Azure Data Flow Authorization</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2.4: Implement Tanium &amp; </a:t>
                      </a:r>
                      <a:r>
                        <a:rPr lang="en-US" sz="1000" b="0" kern="1500" err="1">
                          <a:solidFill>
                            <a:schemeClr val="tx2"/>
                          </a:solidFill>
                          <a:latin typeface="+mn-lt"/>
                          <a:ea typeface="+mn-ea"/>
                          <a:cs typeface="+mn-cs"/>
                        </a:rPr>
                        <a:t>NiFi</a:t>
                      </a:r>
                      <a:r>
                        <a:rPr lang="en-US" sz="1000" b="0" kern="1500">
                          <a:solidFill>
                            <a:schemeClr val="tx2"/>
                          </a:solidFill>
                          <a:latin typeface="+mn-lt"/>
                          <a:ea typeface="+mn-ea"/>
                          <a:cs typeface="+mn-cs"/>
                        </a:rPr>
                        <a:t> Ingestion Pathways</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2.5: Validate Autoloader Scalability &amp; Prod. Readiness</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2.6: Validate PHI Masking Pipeline</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2.7: Validate CI/CD Pipeline Production-</a:t>
                      </a:r>
                      <a:br>
                        <a:rPr lang="en-US" sz="1000" b="0" kern="1500">
                          <a:solidFill>
                            <a:schemeClr val="tx2"/>
                          </a:solidFill>
                          <a:latin typeface="+mn-lt"/>
                          <a:ea typeface="+mn-ea"/>
                          <a:cs typeface="+mn-cs"/>
                        </a:rPr>
                      </a:br>
                      <a:r>
                        <a:rPr lang="en-US" sz="1000" b="0" kern="1500">
                          <a:solidFill>
                            <a:schemeClr val="tx2"/>
                          </a:solidFill>
                          <a:latin typeface="+mn-lt"/>
                          <a:ea typeface="+mn-ea"/>
                          <a:cs typeface="+mn-cs"/>
                        </a:rPr>
                        <a:t>Grade Standards</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3.1: Define &amp; Align Medallion Architecture</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3.2: Finalize Bronze-Layer Table Structure Decisions</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3.3: Finalize Silver Taxonomy &amp; Governance Model</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3.4: Submit Final Architecture Changes to ARB</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3.5: Deliver Day 1 Go-Live Architecture &amp; Day 2 Roadmap</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3.6: Prepare &amp; Deliver Workstream B–E </a:t>
                      </a:r>
                      <a:br>
                        <a:rPr lang="en-US" sz="1000" b="0" kern="1500">
                          <a:solidFill>
                            <a:schemeClr val="tx2"/>
                          </a:solidFill>
                          <a:latin typeface="+mn-lt"/>
                          <a:ea typeface="+mn-ea"/>
                          <a:cs typeface="+mn-cs"/>
                        </a:rPr>
                      </a:br>
                      <a:r>
                        <a:rPr lang="en-US" sz="1000" b="0" kern="1500">
                          <a:solidFill>
                            <a:schemeClr val="tx2"/>
                          </a:solidFill>
                          <a:latin typeface="+mn-lt"/>
                          <a:ea typeface="+mn-ea"/>
                          <a:cs typeface="+mn-cs"/>
                        </a:rPr>
                        <a:t>Handoff Package</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3.7: Conduct Knowledge Transfer</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7196652"/>
                  </a:ext>
                </a:extLst>
              </a:tr>
            </a:tbl>
          </a:graphicData>
        </a:graphic>
      </p:graphicFrame>
      <p:grpSp>
        <p:nvGrpSpPr>
          <p:cNvPr id="25" name="Group 24">
            <a:extLst>
              <a:ext uri="{FF2B5EF4-FFF2-40B4-BE49-F238E27FC236}">
                <a16:creationId xmlns:a16="http://schemas.microsoft.com/office/drawing/2014/main" id="{BFC3153B-7E2F-1965-B925-D58510D345D7}"/>
              </a:ext>
            </a:extLst>
          </p:cNvPr>
          <p:cNvGrpSpPr/>
          <p:nvPr/>
        </p:nvGrpSpPr>
        <p:grpSpPr>
          <a:xfrm>
            <a:off x="542658" y="2003692"/>
            <a:ext cx="11125201" cy="0"/>
            <a:chOff x="531813" y="3716075"/>
            <a:chExt cx="11125201" cy="0"/>
          </a:xfrm>
        </p:grpSpPr>
        <p:cxnSp>
          <p:nvCxnSpPr>
            <p:cNvPr id="26" name="Straight Connector 25">
              <a:extLst>
                <a:ext uri="{FF2B5EF4-FFF2-40B4-BE49-F238E27FC236}">
                  <a16:creationId xmlns:a16="http://schemas.microsoft.com/office/drawing/2014/main" id="{672D0E88-7EC0-9A56-2C30-F84655BF8697}"/>
                </a:ext>
              </a:extLst>
            </p:cNvPr>
            <p:cNvCxnSpPr>
              <a:cxnSpLocks/>
            </p:cNvCxnSpPr>
            <p:nvPr/>
          </p:nvCxnSpPr>
          <p:spPr>
            <a:xfrm>
              <a:off x="553507" y="3716075"/>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7BAD34E-C0C4-79D0-6AEB-E9C503B1BFCA}"/>
                </a:ext>
              </a:extLst>
            </p:cNvPr>
            <p:cNvCxnSpPr>
              <a:cxnSpLocks/>
            </p:cNvCxnSpPr>
            <p:nvPr/>
          </p:nvCxnSpPr>
          <p:spPr>
            <a:xfrm>
              <a:off x="531813" y="3716075"/>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8477254F-718E-5AEC-0969-BA6C96DA53C5}"/>
              </a:ext>
            </a:extLst>
          </p:cNvPr>
          <p:cNvGrpSpPr/>
          <p:nvPr/>
        </p:nvGrpSpPr>
        <p:grpSpPr>
          <a:xfrm>
            <a:off x="542658" y="4305117"/>
            <a:ext cx="11125201" cy="999"/>
            <a:chOff x="531813" y="5259957"/>
            <a:chExt cx="11125201" cy="999"/>
          </a:xfrm>
        </p:grpSpPr>
        <p:cxnSp>
          <p:nvCxnSpPr>
            <p:cNvPr id="29" name="Straight Connector 28">
              <a:extLst>
                <a:ext uri="{FF2B5EF4-FFF2-40B4-BE49-F238E27FC236}">
                  <a16:creationId xmlns:a16="http://schemas.microsoft.com/office/drawing/2014/main" id="{0E58E2FE-10F7-0EA7-CF63-09E00F77092C}"/>
                </a:ext>
              </a:extLst>
            </p:cNvPr>
            <p:cNvCxnSpPr>
              <a:cxnSpLocks/>
            </p:cNvCxnSpPr>
            <p:nvPr/>
          </p:nvCxnSpPr>
          <p:spPr>
            <a:xfrm>
              <a:off x="553507" y="5260956"/>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7DA3B17-2BF1-AB7F-A28E-AAD3F1A64E3B}"/>
                </a:ext>
              </a:extLst>
            </p:cNvPr>
            <p:cNvCxnSpPr>
              <a:cxnSpLocks/>
            </p:cNvCxnSpPr>
            <p:nvPr/>
          </p:nvCxnSpPr>
          <p:spPr>
            <a:xfrm>
              <a:off x="531813" y="5259957"/>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1" name="Group 30">
            <a:extLst>
              <a:ext uri="{FF2B5EF4-FFF2-40B4-BE49-F238E27FC236}">
                <a16:creationId xmlns:a16="http://schemas.microsoft.com/office/drawing/2014/main" id="{FB70FE2D-2C3C-56B3-5460-04E82BB13AD8}"/>
              </a:ext>
            </a:extLst>
          </p:cNvPr>
          <p:cNvGrpSpPr/>
          <p:nvPr/>
        </p:nvGrpSpPr>
        <p:grpSpPr>
          <a:xfrm>
            <a:off x="542658" y="3912869"/>
            <a:ext cx="11125201" cy="1"/>
            <a:chOff x="531813" y="4848012"/>
            <a:chExt cx="11125201" cy="1"/>
          </a:xfrm>
        </p:grpSpPr>
        <p:cxnSp>
          <p:nvCxnSpPr>
            <p:cNvPr id="32" name="Straight Connector 31">
              <a:extLst>
                <a:ext uri="{FF2B5EF4-FFF2-40B4-BE49-F238E27FC236}">
                  <a16:creationId xmlns:a16="http://schemas.microsoft.com/office/drawing/2014/main" id="{82B87553-5959-3DF8-A9D0-A59D49FFDF4C}"/>
                </a:ext>
              </a:extLst>
            </p:cNvPr>
            <p:cNvCxnSpPr>
              <a:cxnSpLocks/>
            </p:cNvCxnSpPr>
            <p:nvPr/>
          </p:nvCxnSpPr>
          <p:spPr>
            <a:xfrm>
              <a:off x="553507" y="4848013"/>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359385D-2966-1223-1E7C-0D9F0654067E}"/>
                </a:ext>
              </a:extLst>
            </p:cNvPr>
            <p:cNvCxnSpPr>
              <a:cxnSpLocks/>
            </p:cNvCxnSpPr>
            <p:nvPr/>
          </p:nvCxnSpPr>
          <p:spPr>
            <a:xfrm>
              <a:off x="531813" y="4848012"/>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A785C06E-2E93-64CB-17A5-75B7AB51D2FE}"/>
              </a:ext>
            </a:extLst>
          </p:cNvPr>
          <p:cNvGrpSpPr/>
          <p:nvPr/>
        </p:nvGrpSpPr>
        <p:grpSpPr>
          <a:xfrm>
            <a:off x="542658" y="2817277"/>
            <a:ext cx="11127580" cy="1695"/>
            <a:chOff x="529432" y="4264661"/>
            <a:chExt cx="11127580" cy="1695"/>
          </a:xfrm>
        </p:grpSpPr>
        <p:cxnSp>
          <p:nvCxnSpPr>
            <p:cNvPr id="35" name="Straight Connector 34">
              <a:extLst>
                <a:ext uri="{FF2B5EF4-FFF2-40B4-BE49-F238E27FC236}">
                  <a16:creationId xmlns:a16="http://schemas.microsoft.com/office/drawing/2014/main" id="{47885B02-DF21-45A7-6C2F-D03686830F98}"/>
                </a:ext>
              </a:extLst>
            </p:cNvPr>
            <p:cNvCxnSpPr>
              <a:cxnSpLocks/>
            </p:cNvCxnSpPr>
            <p:nvPr/>
          </p:nvCxnSpPr>
          <p:spPr>
            <a:xfrm>
              <a:off x="553505" y="4264661"/>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F7D5763-3C4F-0717-1711-F1308738C310}"/>
                </a:ext>
              </a:extLst>
            </p:cNvPr>
            <p:cNvCxnSpPr>
              <a:cxnSpLocks/>
            </p:cNvCxnSpPr>
            <p:nvPr/>
          </p:nvCxnSpPr>
          <p:spPr>
            <a:xfrm>
              <a:off x="529432" y="4266356"/>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sp>
        <p:nvSpPr>
          <p:cNvPr id="38" name="Rectangle 37">
            <a:extLst>
              <a:ext uri="{FF2B5EF4-FFF2-40B4-BE49-F238E27FC236}">
                <a16:creationId xmlns:a16="http://schemas.microsoft.com/office/drawing/2014/main" id="{74F8B0AD-240A-55E4-B9D1-162624F438CE}"/>
              </a:ext>
            </a:extLst>
          </p:cNvPr>
          <p:cNvSpPr/>
          <p:nvPr/>
        </p:nvSpPr>
        <p:spPr bwMode="gray">
          <a:xfrm>
            <a:off x="589357" y="6199632"/>
            <a:ext cx="10963656" cy="137160"/>
          </a:xfrm>
          <a:prstGeom prst="rect">
            <a:avLst/>
          </a:prstGeom>
          <a:noFill/>
          <a:ln>
            <a:noFill/>
            <a:miter lim="800000"/>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lstStyle/>
          <a:p>
            <a:r>
              <a:rPr lang="en-US" sz="800">
                <a:solidFill>
                  <a:schemeClr val="tx1"/>
                </a:solidFill>
              </a:rPr>
              <a:t>Source: Current KPMG planning, subject to change</a:t>
            </a:r>
          </a:p>
        </p:txBody>
      </p:sp>
    </p:spTree>
    <p:extLst>
      <p:ext uri="{BB962C8B-B14F-4D97-AF65-F5344CB8AC3E}">
        <p14:creationId xmlns:p14="http://schemas.microsoft.com/office/powerpoint/2010/main" val="1360541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6A3CFE8E-7D46-D4B2-11B9-6EB2A9A0887A}"/>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4" name="thinkcell data - do not delete" hidden="1">
                        <a:extLst>
                          <a:ext uri="{FF2B5EF4-FFF2-40B4-BE49-F238E27FC236}">
                            <a16:creationId xmlns:a16="http://schemas.microsoft.com/office/drawing/2014/main" id="{6A3CFE8E-7D46-D4B2-11B9-6EB2A9A088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p:txBody>
          <a:bodyPr vert="horz" rIns="0"/>
          <a:lstStyle/>
          <a:p>
            <a:r>
              <a:rPr lang="en-US"/>
              <a:t>Workstream A – Approach</a:t>
            </a:r>
            <a:br>
              <a:rPr lang="en-US"/>
            </a:br>
            <a:r>
              <a:rPr lang="en-US" sz="1600" b="0"/>
              <a:t>From assessment to an actionable roadmap</a:t>
            </a:r>
            <a:endParaRPr lang="en-US" sz="1600"/>
          </a:p>
        </p:txBody>
      </p:sp>
      <p:sp>
        <p:nvSpPr>
          <p:cNvPr id="2" name="Content Placeholder 1"/>
          <p:cNvSpPr>
            <a:spLocks noGrp="1"/>
          </p:cNvSpPr>
          <p:nvPr>
            <p:ph idx="1"/>
          </p:nvPr>
        </p:nvSpPr>
        <p:spPr>
          <a:xfrm>
            <a:off x="587375" y="1494292"/>
            <a:ext cx="11028363" cy="700000"/>
          </a:xfrm>
        </p:spPr>
        <p:txBody>
          <a:bodyPr>
            <a:normAutofit/>
          </a:bodyPr>
          <a:lstStyle/>
          <a:p>
            <a:pPr>
              <a:spcBef>
                <a:spcPts val="0"/>
              </a:spcBef>
            </a:pPr>
            <a:r>
              <a:rPr lang="en-US" sz="1200" b="0"/>
              <a:t>Our approach for Workstream A is a </a:t>
            </a:r>
            <a:r>
              <a:rPr lang="en-US" sz="1200" b="1"/>
              <a:t>multi-phased methodology</a:t>
            </a:r>
            <a:r>
              <a:rPr lang="en-US" sz="1200" b="0"/>
              <a:t> designed to move from assessment to a concrete, actionable roadmap. We will collaboratively diagnose the current state, design the target architecture, and execute remediation to build a secure and scalable foundation.</a:t>
            </a:r>
          </a:p>
        </p:txBody>
      </p:sp>
      <p:sp>
        <p:nvSpPr>
          <p:cNvPr id="10" name="Phase Card 10"/>
          <p:cNvSpPr/>
          <p:nvPr/>
        </p:nvSpPr>
        <p:spPr bwMode="gray">
          <a:xfrm>
            <a:off x="587375" y="2260000"/>
            <a:ext cx="3474720" cy="3815436"/>
          </a:xfrm>
          <a:prstGeom prst="rect">
            <a:avLst/>
          </a:prstGeom>
          <a:solidFill>
            <a:schemeClr val="bg1">
              <a:lumMod val="95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lIns="137160" tIns="91440" rIns="137160" bIns="9144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3F3F3F"/>
                </a:solidFill>
                <a:effectLst/>
                <a:uLnTx/>
                <a:uFillTx/>
                <a:latin typeface="CVS Health Sans"/>
                <a:ea typeface="+mn-ea"/>
                <a:cs typeface="+mn-cs"/>
              </a:rPr>
              <a:t>1. Discover &amp; Assess</a:t>
            </a:r>
          </a:p>
          <a:p>
            <a:pPr marL="0" marR="0" lvl="0" indent="0" algn="l" defTabSz="914400" rtl="0" eaLnBrk="1" fontAlgn="auto" latinLnBrk="0" hangingPunct="1">
              <a:lnSpc>
                <a:spcPct val="100000"/>
              </a:lnSpc>
              <a:spcBef>
                <a:spcPts val="1200"/>
              </a:spcBef>
              <a:spcAft>
                <a:spcPts val="300"/>
              </a:spcAft>
              <a:buClrTx/>
              <a:buSzTx/>
              <a:buFontTx/>
              <a:buNone/>
              <a:tabLst/>
              <a:defRPr/>
            </a:pPr>
            <a:r>
              <a:rPr kumimoji="0" lang="en-US" sz="1300" b="1" i="0" u="none" strike="noStrike" kern="1200" cap="none" spc="0" normalizeH="0" baseline="0" noProof="0">
                <a:ln>
                  <a:noFill/>
                </a:ln>
                <a:solidFill>
                  <a:srgbClr val="0A4B8C"/>
                </a:solidFill>
                <a:effectLst/>
                <a:uLnTx/>
                <a:uFillTx/>
                <a:latin typeface="CVS Health Sans"/>
                <a:ea typeface="+mn-ea"/>
                <a:cs typeface="+mn-cs"/>
              </a:rPr>
              <a:t>Key Activities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3F3F3F"/>
                </a:solidFill>
                <a:effectLst/>
                <a:uLnTx/>
                <a:uFillTx/>
                <a:latin typeface="CVS Health Sans"/>
                <a:ea typeface="+mn-ea"/>
                <a:cs typeface="+mn-cs"/>
              </a:rPr>
              <a:t>Current-State Documentation Review</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3F3F3F"/>
                </a:solidFill>
                <a:effectLst/>
                <a:uLnTx/>
                <a:uFillTx/>
                <a:latin typeface="CVS Health Sans"/>
                <a:ea typeface="+mn-ea"/>
                <a:cs typeface="+mn-cs"/>
              </a:rPr>
              <a:t>Stakeholder Interviews &amp; Workshops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3F3F3F"/>
                </a:solidFill>
                <a:effectLst/>
                <a:uLnTx/>
                <a:uFillTx/>
                <a:latin typeface="CVS Health Sans"/>
                <a:ea typeface="+mn-ea"/>
                <a:cs typeface="+mn-cs"/>
              </a:rPr>
              <a:t>Technical Environment Analysis</a:t>
            </a:r>
          </a:p>
          <a:p>
            <a:pPr marL="0" marR="0" lvl="0" indent="0" algn="l" defTabSz="914400" rtl="0" eaLnBrk="1" fontAlgn="auto" latinLnBrk="0" hangingPunct="1">
              <a:lnSpc>
                <a:spcPct val="100000"/>
              </a:lnSpc>
              <a:spcBef>
                <a:spcPts val="1400"/>
              </a:spcBef>
              <a:spcAft>
                <a:spcPts val="300"/>
              </a:spcAft>
              <a:buClrTx/>
              <a:buSzTx/>
              <a:buFontTx/>
              <a:buNone/>
              <a:tabLst/>
              <a:defRPr/>
            </a:pPr>
            <a:r>
              <a:rPr kumimoji="0" lang="en-US" sz="1300" b="1" i="0" u="none" strike="noStrike" kern="1200" cap="none" spc="0" normalizeH="0" baseline="0" noProof="0">
                <a:ln>
                  <a:noFill/>
                </a:ln>
                <a:solidFill>
                  <a:srgbClr val="0A4B8C"/>
                </a:solidFill>
                <a:effectLst/>
                <a:uLnTx/>
                <a:uFillTx/>
                <a:latin typeface="CVS Health Sans"/>
                <a:ea typeface="+mn-ea"/>
                <a:cs typeface="+mn-cs"/>
              </a:rPr>
              <a:t>Description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3F3F3F"/>
                </a:solidFill>
                <a:effectLst/>
                <a:uLnTx/>
                <a:uFillTx/>
                <a:latin typeface="CVS Health Sans"/>
                <a:ea typeface="+mn-ea"/>
                <a:cs typeface="+mn-cs"/>
              </a:rPr>
              <a:t>We will begin by reviewing all existing architecture, security, and process documentation. This is followed by a series of deep-dive workshops with CVS’s technical SMEs to map the current landscape across seven key domains, including Unity Catalog, security posture, and data lifecycle management.</a:t>
            </a:r>
          </a:p>
        </p:txBody>
      </p:sp>
      <p:sp>
        <p:nvSpPr>
          <p:cNvPr id="11" name="Phase Card 11"/>
          <p:cNvSpPr/>
          <p:nvPr/>
        </p:nvSpPr>
        <p:spPr bwMode="gray">
          <a:xfrm>
            <a:off x="4364197" y="2260000"/>
            <a:ext cx="3474720" cy="3815436"/>
          </a:xfrm>
          <a:prstGeom prst="rect">
            <a:avLst/>
          </a:prstGeom>
          <a:solidFill>
            <a:schemeClr val="bg1">
              <a:lumMod val="95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lIns="137160" tIns="91440" rIns="137160" bIns="9144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3F3F3F"/>
                </a:solidFill>
                <a:effectLst/>
                <a:uLnTx/>
                <a:uFillTx/>
                <a:latin typeface="CVS Health Sans"/>
                <a:ea typeface="+mn-ea"/>
                <a:cs typeface="+mn-cs"/>
              </a:rPr>
              <a:t>2. Analyze &amp; Design</a:t>
            </a:r>
          </a:p>
          <a:p>
            <a:pPr marL="0" marR="0" lvl="0" indent="0" algn="l" defTabSz="914400" rtl="0" eaLnBrk="1" fontAlgn="auto" latinLnBrk="0" hangingPunct="1">
              <a:lnSpc>
                <a:spcPct val="100000"/>
              </a:lnSpc>
              <a:spcBef>
                <a:spcPts val="1200"/>
              </a:spcBef>
              <a:spcAft>
                <a:spcPts val="300"/>
              </a:spcAft>
              <a:buClrTx/>
              <a:buSzTx/>
              <a:buFontTx/>
              <a:buNone/>
              <a:tabLst/>
              <a:defRPr/>
            </a:pPr>
            <a:r>
              <a:rPr kumimoji="0" lang="en-US" sz="1300" b="1" i="0" u="none" strike="noStrike" kern="1200" cap="none" spc="0" normalizeH="0" baseline="0" noProof="0">
                <a:ln>
                  <a:noFill/>
                </a:ln>
                <a:solidFill>
                  <a:srgbClr val="0A4B8C"/>
                </a:solidFill>
                <a:effectLst/>
                <a:uLnTx/>
                <a:uFillTx/>
                <a:latin typeface="CVS Health Sans"/>
                <a:ea typeface="+mn-ea"/>
                <a:cs typeface="+mn-cs"/>
              </a:rPr>
              <a:t>Key Activities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3F3F3F"/>
                </a:solidFill>
                <a:effectLst/>
                <a:uLnTx/>
                <a:uFillTx/>
                <a:latin typeface="CVS Health Sans"/>
                <a:ea typeface="+mn-ea"/>
                <a:cs typeface="+mn-cs"/>
              </a:rPr>
              <a:t>Gap Analysis &amp; Findings Registration</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3F3F3F"/>
                </a:solidFill>
                <a:effectLst/>
                <a:uLnTx/>
                <a:uFillTx/>
                <a:latin typeface="CVS Health Sans"/>
                <a:ea typeface="+mn-ea"/>
                <a:cs typeface="+mn-cs"/>
              </a:rPr>
              <a:t>Target-State Architecture Design</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3F3F3F"/>
                </a:solidFill>
                <a:effectLst/>
                <a:uLnTx/>
                <a:uFillTx/>
                <a:latin typeface="CVS Health Sans"/>
                <a:ea typeface="+mn-ea"/>
                <a:cs typeface="+mn-cs"/>
              </a:rPr>
              <a:t>Remediation &amp; Risk Planning</a:t>
            </a:r>
          </a:p>
          <a:p>
            <a:pPr marL="0" marR="0" lvl="0" indent="0" algn="l" defTabSz="914400" rtl="0" eaLnBrk="1" fontAlgn="auto" latinLnBrk="0" hangingPunct="1">
              <a:lnSpc>
                <a:spcPct val="100000"/>
              </a:lnSpc>
              <a:spcBef>
                <a:spcPts val="1400"/>
              </a:spcBef>
              <a:spcAft>
                <a:spcPts val="300"/>
              </a:spcAft>
              <a:buClrTx/>
              <a:buSzTx/>
              <a:buFontTx/>
              <a:buNone/>
              <a:tabLst/>
              <a:defRPr/>
            </a:pPr>
            <a:r>
              <a:rPr kumimoji="0" lang="en-US" sz="1300" b="1" i="0" u="none" strike="noStrike" kern="1200" cap="none" spc="0" normalizeH="0" baseline="0" noProof="0">
                <a:ln>
                  <a:noFill/>
                </a:ln>
                <a:solidFill>
                  <a:srgbClr val="0A4B8C"/>
                </a:solidFill>
                <a:effectLst/>
                <a:uLnTx/>
                <a:uFillTx/>
                <a:latin typeface="CVS Health Sans"/>
                <a:ea typeface="+mn-ea"/>
                <a:cs typeface="+mn-cs"/>
              </a:rPr>
              <a:t>Description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3F3F3F"/>
                </a:solidFill>
                <a:effectLst/>
                <a:uLnTx/>
                <a:uFillTx/>
                <a:latin typeface="CVS Health Sans"/>
                <a:ea typeface="+mn-ea"/>
                <a:cs typeface="+mn-cs"/>
              </a:rPr>
              <a:t>Based on our findings, we will perform a gap analysis to identify areas of risk and opportunity. We will then design a target-state architecture, create a prioritized remediation plan, and develop a strategic Day 1 Go-Live architecture and Day 2 roadmap.</a:t>
            </a:r>
          </a:p>
        </p:txBody>
      </p:sp>
      <p:sp>
        <p:nvSpPr>
          <p:cNvPr id="12" name="Phase Card 12"/>
          <p:cNvSpPr/>
          <p:nvPr/>
        </p:nvSpPr>
        <p:spPr bwMode="gray">
          <a:xfrm>
            <a:off x="8141018" y="2260000"/>
            <a:ext cx="3474720" cy="3815436"/>
          </a:xfrm>
          <a:prstGeom prst="rect">
            <a:avLst/>
          </a:prstGeom>
          <a:solidFill>
            <a:schemeClr val="bg1">
              <a:lumMod val="95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lIns="137160" tIns="91440" rIns="137160" bIns="9144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3F3F3F"/>
                </a:solidFill>
                <a:effectLst/>
                <a:uLnTx/>
                <a:uFillTx/>
                <a:latin typeface="CVS Health Sans"/>
                <a:ea typeface="+mn-ea"/>
                <a:cs typeface="+mn-cs"/>
              </a:rPr>
              <a:t>3. Validate &amp; Remediate</a:t>
            </a:r>
          </a:p>
          <a:p>
            <a:pPr marL="0" marR="0" lvl="0" indent="0" algn="l" defTabSz="914400" rtl="0" eaLnBrk="1" fontAlgn="auto" latinLnBrk="0" hangingPunct="1">
              <a:lnSpc>
                <a:spcPct val="100000"/>
              </a:lnSpc>
              <a:spcBef>
                <a:spcPts val="1200"/>
              </a:spcBef>
              <a:spcAft>
                <a:spcPts val="300"/>
              </a:spcAft>
              <a:buClrTx/>
              <a:buSzTx/>
              <a:buFontTx/>
              <a:buNone/>
              <a:tabLst/>
              <a:defRPr/>
            </a:pPr>
            <a:r>
              <a:rPr kumimoji="0" lang="en-US" sz="1300" b="1" i="0" u="none" strike="noStrike" kern="1200" cap="none" spc="0" normalizeH="0" baseline="0" noProof="0">
                <a:ln>
                  <a:noFill/>
                </a:ln>
                <a:solidFill>
                  <a:srgbClr val="0A4B8C"/>
                </a:solidFill>
                <a:effectLst/>
                <a:uLnTx/>
                <a:uFillTx/>
                <a:latin typeface="CVS Health Sans"/>
                <a:ea typeface="+mn-ea"/>
                <a:cs typeface="+mn-cs"/>
              </a:rPr>
              <a:t>Key Activities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3F3F3F"/>
                </a:solidFill>
                <a:effectLst/>
                <a:uLnTx/>
                <a:uFillTx/>
                <a:latin typeface="CVS Health Sans"/>
                <a:ea typeface="+mn-ea"/>
                <a:cs typeface="+mn-cs"/>
              </a:rPr>
              <a:t>Pilot Validation &amp; Performance Testing</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3F3F3F"/>
                </a:solidFill>
                <a:effectLst/>
                <a:uLnTx/>
                <a:uFillTx/>
                <a:latin typeface="CVS Health Sans"/>
                <a:ea typeface="+mn-ea"/>
                <a:cs typeface="+mn-cs"/>
              </a:rPr>
              <a:t>Execute Remediation Plan</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3F3F3F"/>
                </a:solidFill>
                <a:effectLst/>
                <a:uLnTx/>
                <a:uFillTx/>
                <a:latin typeface="CVS Health Sans"/>
                <a:ea typeface="+mn-ea"/>
                <a:cs typeface="+mn-cs"/>
              </a:rPr>
              <a:t>Handoff to Downstream Workstreams</a:t>
            </a:r>
          </a:p>
          <a:p>
            <a:pPr marL="0" marR="0" lvl="0" indent="0" algn="l" defTabSz="914400" rtl="0" eaLnBrk="1" fontAlgn="auto" latinLnBrk="0" hangingPunct="1">
              <a:lnSpc>
                <a:spcPct val="100000"/>
              </a:lnSpc>
              <a:spcBef>
                <a:spcPts val="1400"/>
              </a:spcBef>
              <a:spcAft>
                <a:spcPts val="300"/>
              </a:spcAft>
              <a:buClrTx/>
              <a:buSzTx/>
              <a:buFontTx/>
              <a:buNone/>
              <a:tabLst/>
              <a:defRPr/>
            </a:pPr>
            <a:r>
              <a:rPr kumimoji="0" lang="en-US" sz="1300" b="1" i="0" u="none" strike="noStrike" kern="1200" cap="none" spc="0" normalizeH="0" baseline="0" noProof="0">
                <a:ln>
                  <a:noFill/>
                </a:ln>
                <a:solidFill>
                  <a:srgbClr val="0A4B8C"/>
                </a:solidFill>
                <a:effectLst/>
                <a:uLnTx/>
                <a:uFillTx/>
                <a:latin typeface="CVS Health Sans"/>
                <a:ea typeface="+mn-ea"/>
                <a:cs typeface="+mn-cs"/>
              </a:rPr>
              <a:t>Description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3F3F3F"/>
                </a:solidFill>
                <a:effectLst/>
                <a:uLnTx/>
                <a:uFillTx/>
                <a:latin typeface="CVS Health Sans"/>
                <a:ea typeface="+mn-ea"/>
                <a:cs typeface="+mn-cs"/>
              </a:rPr>
              <a:t>The proposed architecture will be validated through performance and scalability testing to ensure it can handle the projected 400 TB/day data volume. We will then execute on the remediation plan and conclude with a formal handoff of the validated architecture and standards to Workstreams B, C, and D.</a:t>
            </a:r>
          </a:p>
        </p:txBody>
      </p:sp>
      <p:cxnSp>
        <p:nvCxnSpPr>
          <p:cNvPr id="13" name="Straight Connector 13"/>
          <p:cNvCxnSpPr>
            <a:cxnSpLocks/>
          </p:cNvCxnSpPr>
          <p:nvPr/>
        </p:nvCxnSpPr>
        <p:spPr>
          <a:xfrm>
            <a:off x="4213146" y="2510000"/>
            <a:ext cx="0" cy="3315436"/>
          </a:xfrm>
          <a:prstGeom prst="line">
            <a:avLst/>
          </a:prstGeom>
          <a:ln w="12700" cmpd="sng">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Arrow: Chevron 14"/>
          <p:cNvSpPr/>
          <p:nvPr/>
        </p:nvSpPr>
        <p:spPr bwMode="gray">
          <a:xfrm>
            <a:off x="4075986" y="3984838"/>
            <a:ext cx="274320" cy="365760"/>
          </a:xfrm>
          <a:prstGeom prst="chevron">
            <a:avLst/>
          </a:prstGeom>
          <a:solidFill>
            <a:schemeClr val="tx2"/>
          </a:solidFill>
          <a:ln w="19050">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cxnSp>
        <p:nvCxnSpPr>
          <p:cNvPr id="15" name="Straight Connector 15"/>
          <p:cNvCxnSpPr>
            <a:cxnSpLocks/>
          </p:cNvCxnSpPr>
          <p:nvPr/>
        </p:nvCxnSpPr>
        <p:spPr>
          <a:xfrm>
            <a:off x="7989967" y="2510000"/>
            <a:ext cx="0" cy="3315436"/>
          </a:xfrm>
          <a:prstGeom prst="line">
            <a:avLst/>
          </a:prstGeom>
          <a:ln w="12700" cmpd="sng">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Arrow: Chevron 16"/>
          <p:cNvSpPr/>
          <p:nvPr/>
        </p:nvSpPr>
        <p:spPr bwMode="gray">
          <a:xfrm>
            <a:off x="7852807" y="3984838"/>
            <a:ext cx="274320" cy="365760"/>
          </a:xfrm>
          <a:prstGeom prst="chevron">
            <a:avLst/>
          </a:prstGeom>
          <a:solidFill>
            <a:schemeClr val="tx2"/>
          </a:solidFill>
          <a:ln w="19050">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Tree>
    <p:extLst>
      <p:ext uri="{BB962C8B-B14F-4D97-AF65-F5344CB8AC3E}">
        <p14:creationId xmlns:p14="http://schemas.microsoft.com/office/powerpoint/2010/main" val="2401556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C2D19134-5464-6593-F864-5F7ACCDDD228}"/>
              </a:ext>
            </a:extLst>
          </p:cNvPr>
          <p:cNvGraphicFramePr>
            <a:graphicFrameLocks/>
          </p:cNvGraphicFramePr>
          <p:nvPr>
            <p:custDataLst>
              <p:tags r:id="rId1"/>
            </p:custDataLst>
            <p:extLst>
              <p:ext uri="{D42A27DB-BD31-4B8C-83A1-F6EECF244321}">
                <p14:modId xmlns:p14="http://schemas.microsoft.com/office/powerpoint/2010/main" val="18485811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4" name="thinkcell data - do not delete" hidden="1">
                        <a:extLst>
                          <a:ext uri="{FF2B5EF4-FFF2-40B4-BE49-F238E27FC236}">
                            <a16:creationId xmlns:a16="http://schemas.microsoft.com/office/drawing/2014/main" id="{C2D19134-5464-6593-F864-5F7ACCDDD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59119C2D-0303-E3FF-CB6A-94BCDA9134F1}"/>
              </a:ext>
            </a:extLst>
          </p:cNvPr>
          <p:cNvSpPr>
            <a:spLocks noGrp="1"/>
          </p:cNvSpPr>
          <p:nvPr>
            <p:ph type="title"/>
          </p:nvPr>
        </p:nvSpPr>
        <p:spPr/>
        <p:txBody>
          <a:bodyPr vert="horz" rIns="0"/>
          <a:lstStyle/>
          <a:p>
            <a:r>
              <a:rPr lang="en-US"/>
              <a:t>Workstream A – Assessment Framework</a:t>
            </a:r>
            <a:br>
              <a:rPr lang="en-US"/>
            </a:br>
            <a:r>
              <a:rPr lang="en-US" sz="1400" b="0"/>
              <a:t>Key components of Databricks Architecture</a:t>
            </a:r>
          </a:p>
        </p:txBody>
      </p:sp>
      <p:grpSp>
        <p:nvGrpSpPr>
          <p:cNvPr id="37" name="Group 36">
            <a:extLst>
              <a:ext uri="{FF2B5EF4-FFF2-40B4-BE49-F238E27FC236}">
                <a16:creationId xmlns:a16="http://schemas.microsoft.com/office/drawing/2014/main" id="{CADC5DE4-1810-393B-038E-766DD96DC4D0}"/>
              </a:ext>
            </a:extLst>
          </p:cNvPr>
          <p:cNvGrpSpPr/>
          <p:nvPr/>
        </p:nvGrpSpPr>
        <p:grpSpPr>
          <a:xfrm>
            <a:off x="546109" y="1862921"/>
            <a:ext cx="11099790" cy="4559456"/>
            <a:chOff x="1209629" y="1655085"/>
            <a:chExt cx="9816881" cy="4165979"/>
          </a:xfrm>
        </p:grpSpPr>
        <p:pic>
          <p:nvPicPr>
            <p:cNvPr id="42" name="Picture 41">
              <a:extLst>
                <a:ext uri="{FF2B5EF4-FFF2-40B4-BE49-F238E27FC236}">
                  <a16:creationId xmlns:a16="http://schemas.microsoft.com/office/drawing/2014/main" id="{5A198340-1E64-C8AF-82BE-AD4237C0D753}"/>
                </a:ext>
              </a:extLst>
            </p:cNvPr>
            <p:cNvPicPr>
              <a:picLocks noChangeAspect="1"/>
            </p:cNvPicPr>
            <p:nvPr/>
          </p:nvPicPr>
          <p:blipFill rotWithShape="1">
            <a:blip r:embed="rId5" cstate="print">
              <a:duotone>
                <a:schemeClr val="accent5">
                  <a:shade val="45000"/>
                  <a:satMod val="135000"/>
                </a:schemeClr>
                <a:prstClr val="white"/>
              </a:duotone>
              <a:extLst>
                <a:ext uri="{BEBA8EAE-BF5A-486C-A8C5-ECC9F3942E4B}">
                  <a14:imgProps xmlns:a14="http://schemas.microsoft.com/office/drawing/2010/main">
                    <a14:imgLayer r:embed="rId6">
                      <a14:imgEffect>
                        <a14:colorTemperature colorTemp="5300"/>
                      </a14:imgEffect>
                      <a14:imgEffect>
                        <a14:saturation sat="400000"/>
                      </a14:imgEffect>
                    </a14:imgLayer>
                  </a14:imgProps>
                </a:ext>
                <a:ext uri="{28A0092B-C50C-407E-A947-70E740481C1C}">
                  <a14:useLocalDpi xmlns:a14="http://schemas.microsoft.com/office/drawing/2010/main" val="0"/>
                </a:ext>
              </a:extLst>
            </a:blip>
            <a:srcRect l="55423" t="3412" r="15320" b="37196"/>
            <a:stretch/>
          </p:blipFill>
          <p:spPr>
            <a:xfrm>
              <a:off x="4791907" y="2278737"/>
              <a:ext cx="1966594" cy="2281250"/>
            </a:xfrm>
            <a:custGeom>
              <a:avLst/>
              <a:gdLst>
                <a:gd name="connsiteX0" fmla="*/ 871535 w 1743070"/>
                <a:gd name="connsiteY0" fmla="*/ 0 h 2021962"/>
                <a:gd name="connsiteX1" fmla="*/ 1743070 w 1743070"/>
                <a:gd name="connsiteY1" fmla="*/ 524699 h 2021962"/>
                <a:gd name="connsiteX2" fmla="*/ 1743070 w 1743070"/>
                <a:gd name="connsiteY2" fmla="*/ 1497263 h 2021962"/>
                <a:gd name="connsiteX3" fmla="*/ 871535 w 1743070"/>
                <a:gd name="connsiteY3" fmla="*/ 2021962 h 2021962"/>
                <a:gd name="connsiteX4" fmla="*/ 0 w 1743070"/>
                <a:gd name="connsiteY4" fmla="*/ 1497263 h 2021962"/>
                <a:gd name="connsiteX5" fmla="*/ 0 w 1743070"/>
                <a:gd name="connsiteY5" fmla="*/ 524699 h 2021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43070" h="2021962">
                  <a:moveTo>
                    <a:pt x="871535" y="0"/>
                  </a:moveTo>
                  <a:lnTo>
                    <a:pt x="1743070" y="524699"/>
                  </a:lnTo>
                  <a:lnTo>
                    <a:pt x="1743070" y="1497263"/>
                  </a:lnTo>
                  <a:lnTo>
                    <a:pt x="871535" y="2021962"/>
                  </a:lnTo>
                  <a:lnTo>
                    <a:pt x="0" y="1497263"/>
                  </a:lnTo>
                  <a:lnTo>
                    <a:pt x="0" y="524699"/>
                  </a:lnTo>
                  <a:close/>
                </a:path>
              </a:pathLst>
            </a:custGeom>
          </p:spPr>
        </p:pic>
        <p:sp>
          <p:nvSpPr>
            <p:cNvPr id="43" name="Hexagon 42">
              <a:extLst>
                <a:ext uri="{FF2B5EF4-FFF2-40B4-BE49-F238E27FC236}">
                  <a16:creationId xmlns:a16="http://schemas.microsoft.com/office/drawing/2014/main" id="{401FA08D-8146-EF4C-2CDE-4241EA1422EE}"/>
                </a:ext>
              </a:extLst>
            </p:cNvPr>
            <p:cNvSpPr/>
            <p:nvPr/>
          </p:nvSpPr>
          <p:spPr>
            <a:xfrm rot="16200000">
              <a:off x="4400848" y="2202038"/>
              <a:ext cx="2748714" cy="2369580"/>
            </a:xfrm>
            <a:prstGeom prst="hexagon">
              <a:avLst>
                <a:gd name="adj" fmla="val 30102"/>
                <a:gd name="vf" fmla="val 115470"/>
              </a:avLst>
            </a:prstGeom>
            <a:noFill/>
            <a:ln w="38100">
              <a:solidFill>
                <a:srgbClr val="ACEAFF"/>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500" b="0" i="0" u="none" strike="noStrike" kern="1200" cap="none" spc="0" normalizeH="0" baseline="0" noProof="0" err="1">
                <a:ln>
                  <a:noFill/>
                </a:ln>
                <a:solidFill>
                  <a:prstClr val="white"/>
                </a:solidFill>
                <a:effectLst/>
                <a:uLnTx/>
                <a:uFillTx/>
                <a:latin typeface="Arial"/>
                <a:ea typeface="+mn-ea"/>
                <a:cs typeface="+mn-cs"/>
              </a:endParaRPr>
            </a:p>
          </p:txBody>
        </p:sp>
        <p:sp>
          <p:nvSpPr>
            <p:cNvPr id="44" name="TextBox 7">
              <a:extLst>
                <a:ext uri="{FF2B5EF4-FFF2-40B4-BE49-F238E27FC236}">
                  <a16:creationId xmlns:a16="http://schemas.microsoft.com/office/drawing/2014/main" id="{3AF469F1-1232-405B-F5A5-3A6C0E418506}"/>
                </a:ext>
              </a:extLst>
            </p:cNvPr>
            <p:cNvSpPr txBox="1"/>
            <p:nvPr/>
          </p:nvSpPr>
          <p:spPr>
            <a:xfrm>
              <a:off x="1354233" y="1655085"/>
              <a:ext cx="3157079" cy="889404"/>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0"/>
                </a:spcBef>
                <a:spcAft>
                  <a:spcPts val="300"/>
                </a:spcAft>
                <a:buClrTx/>
                <a:buSzTx/>
                <a:buFontTx/>
                <a:buNone/>
                <a:tabLst/>
                <a:defRPr/>
              </a:pPr>
              <a:r>
                <a:rPr lang="en-US" sz="2000" b="1">
                  <a:solidFill>
                    <a:srgbClr val="1E49E2"/>
                  </a:solidFill>
                  <a:latin typeface="KPMG Bold"/>
                </a:rPr>
                <a:t>Data Architecture </a:t>
              </a:r>
              <a:endParaRPr kumimoji="0" lang="en-US" sz="2000" b="1" i="0" u="none" strike="noStrike" kern="1200" cap="none" spc="0" normalizeH="0" baseline="0" noProof="0">
                <a:ln>
                  <a:noFill/>
                </a:ln>
                <a:solidFill>
                  <a:srgbClr val="1E49E2"/>
                </a:solidFill>
                <a:effectLst/>
                <a:uLnTx/>
                <a:uFillTx/>
                <a:latin typeface="KPMG Bold"/>
                <a:ea typeface="+mn-ea"/>
                <a:cs typeface="+mn-cs"/>
              </a:endParaRPr>
            </a:p>
            <a:p>
              <a:pPr marL="171450" marR="0" lvl="0" indent="-171450" algn="l" defTabSz="914400" rtl="0" eaLnBrk="1" fontAlgn="auto" latinLnBrk="0" hangingPunct="1">
                <a:lnSpc>
                  <a:spcPct val="11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Data Modeling</a:t>
              </a:r>
            </a:p>
            <a:p>
              <a:pPr marL="171450" lvl="0" indent="-171450">
                <a:lnSpc>
                  <a:spcPct val="110000"/>
                </a:lnSpc>
                <a:spcAft>
                  <a:spcPts val="300"/>
                </a:spcAft>
                <a:buFont typeface="Arial" panose="020B0604020202020204" pitchFamily="34" charset="0"/>
                <a:buChar char="•"/>
                <a:defRPr/>
              </a:pPr>
              <a:r>
                <a:rPr lang="en-US" sz="1050">
                  <a:solidFill>
                    <a:srgbClr val="000000"/>
                  </a:solidFill>
                </a:rPr>
                <a:t>Data Context and Semantics</a:t>
              </a:r>
            </a:p>
            <a:p>
              <a:pPr marL="171450" lvl="0" indent="-171450">
                <a:lnSpc>
                  <a:spcPct val="110000"/>
                </a:lnSpc>
                <a:spcAft>
                  <a:spcPts val="300"/>
                </a:spcAft>
                <a:buFont typeface="Arial" panose="020B0604020202020204" pitchFamily="34" charset="0"/>
                <a:buChar char="•"/>
                <a:defRPr/>
              </a:pPr>
              <a:r>
                <a:rPr lang="en-US" sz="1050">
                  <a:solidFill>
                    <a:srgbClr val="000000"/>
                  </a:solidFill>
                </a:rPr>
                <a:t>Data Products</a:t>
              </a:r>
              <a:endParaRPr kumimoji="0" lang="en-GB" sz="1050" b="0" i="0" u="none" strike="noStrike" kern="1200" cap="none" spc="0" normalizeH="0" baseline="0" noProof="0">
                <a:ln>
                  <a:noFill/>
                </a:ln>
                <a:solidFill>
                  <a:srgbClr val="000000"/>
                </a:solidFill>
                <a:effectLst/>
                <a:uLnTx/>
                <a:uFillTx/>
                <a:latin typeface="Arial"/>
                <a:ea typeface="+mn-ea"/>
                <a:cs typeface="+mn-cs"/>
              </a:endParaRPr>
            </a:p>
          </p:txBody>
        </p:sp>
        <p:sp>
          <p:nvSpPr>
            <p:cNvPr id="45" name="Rectangle 44">
              <a:extLst>
                <a:ext uri="{FF2B5EF4-FFF2-40B4-BE49-F238E27FC236}">
                  <a16:creationId xmlns:a16="http://schemas.microsoft.com/office/drawing/2014/main" id="{CE96EF3D-8BC4-71AF-C1B9-2E0928A29E01}"/>
                </a:ext>
              </a:extLst>
            </p:cNvPr>
            <p:cNvSpPr/>
            <p:nvPr/>
          </p:nvSpPr>
          <p:spPr>
            <a:xfrm>
              <a:off x="4486426" y="2615090"/>
              <a:ext cx="153134" cy="1531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500" b="0" i="0" u="none" strike="noStrike" kern="1200" cap="none" spc="0" normalizeH="0" baseline="0" noProof="0" err="1">
                <a:ln>
                  <a:noFill/>
                </a:ln>
                <a:solidFill>
                  <a:prstClr val="white"/>
                </a:solidFill>
                <a:effectLst/>
                <a:uLnTx/>
                <a:uFillTx/>
                <a:latin typeface="Arial"/>
                <a:ea typeface="+mn-ea"/>
                <a:cs typeface="+mn-cs"/>
              </a:endParaRPr>
            </a:p>
          </p:txBody>
        </p:sp>
        <p:sp>
          <p:nvSpPr>
            <p:cNvPr id="46" name="TextBox 11">
              <a:extLst>
                <a:ext uri="{FF2B5EF4-FFF2-40B4-BE49-F238E27FC236}">
                  <a16:creationId xmlns:a16="http://schemas.microsoft.com/office/drawing/2014/main" id="{99535DB6-E3C5-80C7-0081-7FEB83A815F7}"/>
                </a:ext>
              </a:extLst>
            </p:cNvPr>
            <p:cNvSpPr txBox="1"/>
            <p:nvPr/>
          </p:nvSpPr>
          <p:spPr>
            <a:xfrm>
              <a:off x="5051434" y="2819733"/>
              <a:ext cx="1464612" cy="1047529"/>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300"/>
                </a:spcAft>
                <a:buClrTx/>
                <a:buSzTx/>
                <a:buFontTx/>
                <a:buNone/>
                <a:tabLst/>
                <a:defRPr/>
              </a:pPr>
              <a:r>
                <a:rPr lang="en-US" sz="2400">
                  <a:solidFill>
                    <a:prstClr val="white"/>
                  </a:solidFill>
                  <a:latin typeface="KPMG Bold"/>
                </a:rPr>
                <a:t>Databricks Architecture</a:t>
              </a: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2400" b="0" i="0" u="none" strike="noStrike" kern="1200" cap="none" spc="0" normalizeH="0" baseline="0" noProof="0">
                  <a:ln>
                    <a:noFill/>
                  </a:ln>
                  <a:solidFill>
                    <a:prstClr val="white"/>
                  </a:solidFill>
                  <a:effectLst/>
                  <a:uLnTx/>
                  <a:uFillTx/>
                  <a:latin typeface="KPMG Bold"/>
                  <a:ea typeface="+mn-ea"/>
                  <a:cs typeface="+mn-cs"/>
                </a:rPr>
                <a:t>Components</a:t>
              </a:r>
              <a:endParaRPr kumimoji="0" lang="en-GB" sz="2400" b="0" i="0" u="none" strike="noStrike" kern="1200" cap="none" spc="0" normalizeH="0" baseline="0" noProof="0">
                <a:ln>
                  <a:noFill/>
                </a:ln>
                <a:solidFill>
                  <a:prstClr val="white"/>
                </a:solidFill>
                <a:effectLst/>
                <a:uLnTx/>
                <a:uFillTx/>
                <a:latin typeface="KPMG Bold"/>
                <a:ea typeface="+mn-ea"/>
                <a:cs typeface="+mn-cs"/>
              </a:endParaRPr>
            </a:p>
          </p:txBody>
        </p:sp>
        <p:sp>
          <p:nvSpPr>
            <p:cNvPr id="47" name="TextBox 12">
              <a:extLst>
                <a:ext uri="{FF2B5EF4-FFF2-40B4-BE49-F238E27FC236}">
                  <a16:creationId xmlns:a16="http://schemas.microsoft.com/office/drawing/2014/main" id="{7DC1FF82-B8E5-8AC1-FA80-5F9853533E04}"/>
                </a:ext>
              </a:extLst>
            </p:cNvPr>
            <p:cNvSpPr txBox="1"/>
            <p:nvPr/>
          </p:nvSpPr>
          <p:spPr>
            <a:xfrm>
              <a:off x="1209629" y="2809099"/>
              <a:ext cx="2796612" cy="108695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10000"/>
                </a:lnSpc>
                <a:spcAft>
                  <a:spcPts val="300"/>
                </a:spcAft>
                <a:defRPr/>
              </a:pPr>
              <a:r>
                <a:rPr lang="en-GB" sz="2000" b="1">
                  <a:solidFill>
                    <a:srgbClr val="1E49E2"/>
                  </a:solidFill>
                  <a:latin typeface="KPMG Bold"/>
                </a:rPr>
                <a:t>Storage Architecture</a:t>
              </a:r>
            </a:p>
            <a:p>
              <a:pPr marL="171450" lvl="0" indent="-171450">
                <a:lnSpc>
                  <a:spcPct val="110000"/>
                </a:lnSpc>
                <a:spcAft>
                  <a:spcPts val="300"/>
                </a:spcAft>
                <a:buFont typeface="Arial" panose="020B0604020202020204" pitchFamily="34" charset="0"/>
                <a:buChar char="•"/>
                <a:defRPr/>
              </a:pPr>
              <a:r>
                <a:rPr lang="en-US" sz="1050">
                  <a:solidFill>
                    <a:srgbClr val="000000"/>
                  </a:solidFill>
                </a:rPr>
                <a:t>ADLS Gen2 Design</a:t>
              </a:r>
            </a:p>
            <a:p>
              <a:pPr marL="171450" lvl="0" indent="-171450">
                <a:lnSpc>
                  <a:spcPct val="110000"/>
                </a:lnSpc>
                <a:spcAft>
                  <a:spcPts val="300"/>
                </a:spcAft>
                <a:buFont typeface="Arial" panose="020B0604020202020204" pitchFamily="34" charset="0"/>
                <a:buChar char="•"/>
                <a:defRPr/>
              </a:pPr>
              <a:r>
                <a:rPr lang="en-US" sz="1050">
                  <a:solidFill>
                    <a:srgbClr val="000000"/>
                  </a:solidFill>
                </a:rPr>
                <a:t>Landing-Zone Structure</a:t>
              </a:r>
            </a:p>
            <a:p>
              <a:pPr marL="171450" lvl="0" indent="-171450">
                <a:lnSpc>
                  <a:spcPct val="110000"/>
                </a:lnSpc>
                <a:spcAft>
                  <a:spcPts val="300"/>
                </a:spcAft>
                <a:buFont typeface="Arial" panose="020B0604020202020204" pitchFamily="34" charset="0"/>
                <a:buChar char="•"/>
                <a:defRPr/>
              </a:pPr>
              <a:r>
                <a:rPr lang="en-US" sz="1050">
                  <a:solidFill>
                    <a:srgbClr val="000000"/>
                  </a:solidFill>
                </a:rPr>
                <a:t>ADLS Access</a:t>
              </a:r>
            </a:p>
            <a:p>
              <a:pPr marL="171450" lvl="0" indent="-171450">
                <a:lnSpc>
                  <a:spcPct val="110000"/>
                </a:lnSpc>
                <a:spcAft>
                  <a:spcPts val="300"/>
                </a:spcAft>
                <a:buFont typeface="Arial" panose="020B0604020202020204" pitchFamily="34" charset="0"/>
                <a:buChar char="•"/>
                <a:defRPr/>
              </a:pPr>
              <a:r>
                <a:rPr lang="en-US" sz="1050">
                  <a:solidFill>
                    <a:srgbClr val="000000"/>
                  </a:solidFill>
                </a:rPr>
                <a:t>Storage Management</a:t>
              </a:r>
            </a:p>
          </p:txBody>
        </p:sp>
        <p:sp>
          <p:nvSpPr>
            <p:cNvPr id="48" name="TextBox 13">
              <a:extLst>
                <a:ext uri="{FF2B5EF4-FFF2-40B4-BE49-F238E27FC236}">
                  <a16:creationId xmlns:a16="http://schemas.microsoft.com/office/drawing/2014/main" id="{776160D7-7D24-7F3B-D745-6C3DAE461372}"/>
                </a:ext>
              </a:extLst>
            </p:cNvPr>
            <p:cNvSpPr txBox="1"/>
            <p:nvPr/>
          </p:nvSpPr>
          <p:spPr>
            <a:xfrm>
              <a:off x="1233856" y="4192063"/>
              <a:ext cx="2955585" cy="1629001"/>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10000"/>
                </a:lnSpc>
                <a:spcAft>
                  <a:spcPts val="300"/>
                </a:spcAft>
                <a:defRPr/>
              </a:pPr>
              <a:r>
                <a:rPr lang="en-GB" sz="2000" b="1">
                  <a:solidFill>
                    <a:srgbClr val="1E49E2"/>
                  </a:solidFill>
                  <a:latin typeface="KPMG Bold"/>
                </a:rPr>
                <a:t>Governance, Security and Compliance</a:t>
              </a:r>
            </a:p>
            <a:p>
              <a:pPr marL="171450" lvl="0" indent="-171450">
                <a:lnSpc>
                  <a:spcPct val="110000"/>
                </a:lnSpc>
                <a:spcAft>
                  <a:spcPts val="300"/>
                </a:spcAft>
                <a:buFont typeface="Arial" panose="020B0604020202020204" pitchFamily="34" charset="0"/>
                <a:buChar char="•"/>
                <a:defRPr/>
              </a:pPr>
              <a:r>
                <a:rPr lang="en-US" sz="1050">
                  <a:solidFill>
                    <a:srgbClr val="000000"/>
                  </a:solidFill>
                </a:rPr>
                <a:t>Unity Catalog</a:t>
              </a:r>
            </a:p>
            <a:p>
              <a:pPr marL="171450" lvl="0" indent="-171450">
                <a:lnSpc>
                  <a:spcPct val="110000"/>
                </a:lnSpc>
                <a:spcAft>
                  <a:spcPts val="300"/>
                </a:spcAft>
                <a:buFont typeface="Arial" panose="020B0604020202020204" pitchFamily="34" charset="0"/>
                <a:buChar char="•"/>
                <a:defRPr/>
              </a:pPr>
              <a:r>
                <a:rPr lang="en-US" sz="1050">
                  <a:solidFill>
                    <a:srgbClr val="000000"/>
                  </a:solidFill>
                </a:rPr>
                <a:t>Identity and Access</a:t>
              </a:r>
            </a:p>
            <a:p>
              <a:pPr marL="171450" lvl="0" indent="-171450">
                <a:lnSpc>
                  <a:spcPct val="110000"/>
                </a:lnSpc>
                <a:spcAft>
                  <a:spcPts val="300"/>
                </a:spcAft>
                <a:buFont typeface="Arial" panose="020B0604020202020204" pitchFamily="34" charset="0"/>
                <a:buChar char="•"/>
                <a:defRPr/>
              </a:pPr>
              <a:r>
                <a:rPr lang="en-US" sz="1050">
                  <a:solidFill>
                    <a:srgbClr val="000000"/>
                  </a:solidFill>
                </a:rPr>
                <a:t>Data Governance</a:t>
              </a:r>
            </a:p>
            <a:p>
              <a:pPr marL="171450" lvl="0" indent="-171450">
                <a:lnSpc>
                  <a:spcPct val="110000"/>
                </a:lnSpc>
                <a:spcAft>
                  <a:spcPts val="300"/>
                </a:spcAft>
                <a:buFont typeface="Arial" panose="020B0604020202020204" pitchFamily="34" charset="0"/>
                <a:buChar char="•"/>
                <a:defRPr/>
              </a:pPr>
              <a:r>
                <a:rPr lang="en-US" sz="1050">
                  <a:solidFill>
                    <a:srgbClr val="000000"/>
                  </a:solidFill>
                </a:rPr>
                <a:t>Security</a:t>
              </a:r>
              <a:endParaRPr kumimoji="0" lang="en-US" sz="1050" b="0" i="0" u="none" strike="noStrike" kern="1200" cap="none" spc="0" normalizeH="0" baseline="0" noProof="0">
                <a:ln>
                  <a:noFill/>
                </a:ln>
                <a:solidFill>
                  <a:srgbClr val="000000"/>
                </a:solidFill>
                <a:effectLst/>
                <a:uLnTx/>
                <a:uFillTx/>
                <a:latin typeface="Arial"/>
                <a:ea typeface="+mn-ea"/>
                <a:cs typeface="+mn-cs"/>
              </a:endParaRPr>
            </a:p>
            <a:p>
              <a:pPr lvl="0">
                <a:lnSpc>
                  <a:spcPct val="110000"/>
                </a:lnSpc>
                <a:spcAft>
                  <a:spcPts val="300"/>
                </a:spcAft>
                <a:defRPr/>
              </a:pPr>
              <a:endParaRPr lang="en-GB" sz="2000" b="1">
                <a:solidFill>
                  <a:srgbClr val="1E49E2"/>
                </a:solidFill>
                <a:latin typeface="KPMG Bold"/>
              </a:endParaRPr>
            </a:p>
            <a:p>
              <a:pPr lvl="0">
                <a:lnSpc>
                  <a:spcPct val="110000"/>
                </a:lnSpc>
                <a:spcAft>
                  <a:spcPts val="300"/>
                </a:spcAft>
                <a:defRPr/>
              </a:pPr>
              <a:endParaRPr kumimoji="0" lang="en-GB" sz="1050" b="0" i="0" u="none" strike="noStrike" kern="1200" cap="none" spc="0" normalizeH="0" baseline="0" noProof="0">
                <a:ln>
                  <a:noFill/>
                </a:ln>
                <a:solidFill>
                  <a:srgbClr val="000000"/>
                </a:solidFill>
                <a:effectLst/>
                <a:uLnTx/>
                <a:uFillTx/>
                <a:latin typeface="Arial"/>
                <a:ea typeface="+mn-ea"/>
                <a:cs typeface="+mn-cs"/>
              </a:endParaRPr>
            </a:p>
          </p:txBody>
        </p:sp>
        <p:sp>
          <p:nvSpPr>
            <p:cNvPr id="49" name="Rectangle 48">
              <a:extLst>
                <a:ext uri="{FF2B5EF4-FFF2-40B4-BE49-F238E27FC236}">
                  <a16:creationId xmlns:a16="http://schemas.microsoft.com/office/drawing/2014/main" id="{7724CECB-7063-DC74-9107-71F061A285DE}"/>
                </a:ext>
              </a:extLst>
            </p:cNvPr>
            <p:cNvSpPr/>
            <p:nvPr/>
          </p:nvSpPr>
          <p:spPr>
            <a:xfrm>
              <a:off x="4483533" y="3310261"/>
              <a:ext cx="153134" cy="1531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500" b="0" i="0" u="none" strike="noStrike" kern="1200" cap="none" spc="0" normalizeH="0" baseline="0" noProof="0" err="1">
                <a:ln>
                  <a:noFill/>
                </a:ln>
                <a:solidFill>
                  <a:prstClr val="white"/>
                </a:solidFill>
                <a:effectLst/>
                <a:uLnTx/>
                <a:uFillTx/>
                <a:latin typeface="Arial"/>
                <a:ea typeface="+mn-ea"/>
                <a:cs typeface="+mn-cs"/>
              </a:endParaRPr>
            </a:p>
          </p:txBody>
        </p:sp>
        <p:sp>
          <p:nvSpPr>
            <p:cNvPr id="50" name="Rectangle 49">
              <a:extLst>
                <a:ext uri="{FF2B5EF4-FFF2-40B4-BE49-F238E27FC236}">
                  <a16:creationId xmlns:a16="http://schemas.microsoft.com/office/drawing/2014/main" id="{CC03B469-ED5F-1F36-DE83-78665FF21E2A}"/>
                </a:ext>
              </a:extLst>
            </p:cNvPr>
            <p:cNvSpPr/>
            <p:nvPr/>
          </p:nvSpPr>
          <p:spPr>
            <a:xfrm>
              <a:off x="6932329" y="3343498"/>
              <a:ext cx="153134" cy="1531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500" b="0" i="0" u="none" strike="noStrike" kern="1200" cap="none" spc="0" normalizeH="0" baseline="0" noProof="0" err="1">
                <a:ln>
                  <a:noFill/>
                </a:ln>
                <a:solidFill>
                  <a:prstClr val="white"/>
                </a:solidFill>
                <a:effectLst/>
                <a:uLnTx/>
                <a:uFillTx/>
                <a:latin typeface="Arial"/>
                <a:ea typeface="+mn-ea"/>
                <a:cs typeface="+mn-cs"/>
              </a:endParaRPr>
            </a:p>
          </p:txBody>
        </p:sp>
        <p:sp>
          <p:nvSpPr>
            <p:cNvPr id="51" name="Rectangle 50">
              <a:extLst>
                <a:ext uri="{FF2B5EF4-FFF2-40B4-BE49-F238E27FC236}">
                  <a16:creationId xmlns:a16="http://schemas.microsoft.com/office/drawing/2014/main" id="{30FF60F4-0233-90F3-C7FF-27F7B64C968D}"/>
                </a:ext>
              </a:extLst>
            </p:cNvPr>
            <p:cNvSpPr/>
            <p:nvPr/>
          </p:nvSpPr>
          <p:spPr>
            <a:xfrm>
              <a:off x="6899079" y="2615089"/>
              <a:ext cx="153134" cy="1531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500" b="0" i="0" u="none" strike="noStrike" kern="1200" cap="none" spc="0" normalizeH="0" baseline="0" noProof="0" err="1">
                <a:ln>
                  <a:noFill/>
                </a:ln>
                <a:solidFill>
                  <a:prstClr val="white"/>
                </a:solidFill>
                <a:effectLst/>
                <a:uLnTx/>
                <a:uFillTx/>
                <a:latin typeface="Arial"/>
                <a:ea typeface="+mn-ea"/>
                <a:cs typeface="+mn-cs"/>
              </a:endParaRPr>
            </a:p>
          </p:txBody>
        </p:sp>
        <p:sp>
          <p:nvSpPr>
            <p:cNvPr id="52" name="Rectangle 51">
              <a:extLst>
                <a:ext uri="{FF2B5EF4-FFF2-40B4-BE49-F238E27FC236}">
                  <a16:creationId xmlns:a16="http://schemas.microsoft.com/office/drawing/2014/main" id="{BA771C77-7E7B-1604-7048-763C2FF75EC9}"/>
                </a:ext>
              </a:extLst>
            </p:cNvPr>
            <p:cNvSpPr/>
            <p:nvPr/>
          </p:nvSpPr>
          <p:spPr>
            <a:xfrm>
              <a:off x="4954924" y="4228258"/>
              <a:ext cx="153134" cy="1531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500" b="0" i="0" u="none" strike="noStrike" kern="1200" cap="none" spc="0" normalizeH="0" baseline="0" noProof="0" err="1">
                <a:ln>
                  <a:noFill/>
                </a:ln>
                <a:solidFill>
                  <a:prstClr val="white"/>
                </a:solidFill>
                <a:effectLst/>
                <a:uLnTx/>
                <a:uFillTx/>
                <a:latin typeface="Arial"/>
                <a:ea typeface="+mn-ea"/>
                <a:cs typeface="+mn-cs"/>
              </a:endParaRPr>
            </a:p>
          </p:txBody>
        </p:sp>
        <p:sp>
          <p:nvSpPr>
            <p:cNvPr id="53" name="Rectangle 52">
              <a:extLst>
                <a:ext uri="{FF2B5EF4-FFF2-40B4-BE49-F238E27FC236}">
                  <a16:creationId xmlns:a16="http://schemas.microsoft.com/office/drawing/2014/main" id="{58FD0BBC-A41C-2480-76AE-91846FB8E572}"/>
                </a:ext>
              </a:extLst>
            </p:cNvPr>
            <p:cNvSpPr/>
            <p:nvPr/>
          </p:nvSpPr>
          <p:spPr>
            <a:xfrm>
              <a:off x="6455870" y="4228258"/>
              <a:ext cx="153134" cy="1531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500" b="0" i="0" u="none" strike="noStrike" kern="1200" cap="none" spc="0" normalizeH="0" baseline="0" noProof="0" err="1">
                <a:ln>
                  <a:noFill/>
                </a:ln>
                <a:solidFill>
                  <a:prstClr val="white"/>
                </a:solidFill>
                <a:effectLst/>
                <a:uLnTx/>
                <a:uFillTx/>
                <a:latin typeface="Arial"/>
                <a:ea typeface="+mn-ea"/>
                <a:cs typeface="+mn-cs"/>
              </a:endParaRPr>
            </a:p>
          </p:txBody>
        </p:sp>
        <p:grpSp>
          <p:nvGrpSpPr>
            <p:cNvPr id="54" name="Group 53">
              <a:extLst>
                <a:ext uri="{FF2B5EF4-FFF2-40B4-BE49-F238E27FC236}">
                  <a16:creationId xmlns:a16="http://schemas.microsoft.com/office/drawing/2014/main" id="{0E9DD9CD-86B0-97EE-A3F5-E464BD60A478}"/>
                </a:ext>
              </a:extLst>
            </p:cNvPr>
            <p:cNvGrpSpPr/>
            <p:nvPr/>
          </p:nvGrpSpPr>
          <p:grpSpPr>
            <a:xfrm>
              <a:off x="3674820" y="2483158"/>
              <a:ext cx="1264454" cy="2097711"/>
              <a:chOff x="3674820" y="2483158"/>
              <a:chExt cx="1264454" cy="2097711"/>
            </a:xfrm>
          </p:grpSpPr>
          <p:sp>
            <p:nvSpPr>
              <p:cNvPr id="62" name="Freeform: Shape 61">
                <a:extLst>
                  <a:ext uri="{FF2B5EF4-FFF2-40B4-BE49-F238E27FC236}">
                    <a16:creationId xmlns:a16="http://schemas.microsoft.com/office/drawing/2014/main" id="{1F6D8615-7B14-D244-799D-CBECA2CA410A}"/>
                  </a:ext>
                </a:extLst>
              </p:cNvPr>
              <p:cNvSpPr/>
              <p:nvPr/>
            </p:nvSpPr>
            <p:spPr>
              <a:xfrm flipH="1">
                <a:off x="3792766" y="2483158"/>
                <a:ext cx="727843" cy="197227"/>
              </a:xfrm>
              <a:custGeom>
                <a:avLst/>
                <a:gdLst>
                  <a:gd name="connsiteX0" fmla="*/ 0 w 3197111"/>
                  <a:gd name="connsiteY0" fmla="*/ 565744 h 565744"/>
                  <a:gd name="connsiteX1" fmla="*/ 565744 w 3197111"/>
                  <a:gd name="connsiteY1" fmla="*/ 0 h 565744"/>
                  <a:gd name="connsiteX2" fmla="*/ 3197111 w 3197111"/>
                  <a:gd name="connsiteY2" fmla="*/ 0 h 565744"/>
                </a:gdLst>
                <a:ahLst/>
                <a:cxnLst>
                  <a:cxn ang="0">
                    <a:pos x="connsiteX0" y="connsiteY0"/>
                  </a:cxn>
                  <a:cxn ang="0">
                    <a:pos x="connsiteX1" y="connsiteY1"/>
                  </a:cxn>
                  <a:cxn ang="0">
                    <a:pos x="connsiteX2" y="connsiteY2"/>
                  </a:cxn>
                </a:cxnLst>
                <a:rect l="l" t="t" r="r" b="b"/>
                <a:pathLst>
                  <a:path w="3197111" h="565744">
                    <a:moveTo>
                      <a:pt x="0" y="565744"/>
                    </a:moveTo>
                    <a:lnTo>
                      <a:pt x="565744" y="0"/>
                    </a:lnTo>
                    <a:lnTo>
                      <a:pt x="3197111" y="0"/>
                    </a:lnTo>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p:cxnSp>
            <p:nvCxnSpPr>
              <p:cNvPr id="63" name="Straight Connector 62">
                <a:extLst>
                  <a:ext uri="{FF2B5EF4-FFF2-40B4-BE49-F238E27FC236}">
                    <a16:creationId xmlns:a16="http://schemas.microsoft.com/office/drawing/2014/main" id="{EC8B4F2E-DE0D-6AB7-60FD-454A26874ABB}"/>
                  </a:ext>
                </a:extLst>
              </p:cNvPr>
              <p:cNvCxnSpPr/>
              <p:nvPr/>
            </p:nvCxnSpPr>
            <p:spPr>
              <a:xfrm flipH="1">
                <a:off x="3674820" y="3370429"/>
                <a:ext cx="808714" cy="0"/>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64" name="Freeform: Shape 63">
                <a:extLst>
                  <a:ext uri="{FF2B5EF4-FFF2-40B4-BE49-F238E27FC236}">
                    <a16:creationId xmlns:a16="http://schemas.microsoft.com/office/drawing/2014/main" id="{3D9494E5-1C3B-C190-EE41-1CF10DFAD127}"/>
                  </a:ext>
                </a:extLst>
              </p:cNvPr>
              <p:cNvSpPr/>
              <p:nvPr/>
            </p:nvSpPr>
            <p:spPr>
              <a:xfrm flipH="1" flipV="1">
                <a:off x="4211431" y="4383642"/>
                <a:ext cx="727843" cy="197227"/>
              </a:xfrm>
              <a:custGeom>
                <a:avLst/>
                <a:gdLst>
                  <a:gd name="connsiteX0" fmla="*/ 0 w 3197111"/>
                  <a:gd name="connsiteY0" fmla="*/ 565744 h 565744"/>
                  <a:gd name="connsiteX1" fmla="*/ 565744 w 3197111"/>
                  <a:gd name="connsiteY1" fmla="*/ 0 h 565744"/>
                  <a:gd name="connsiteX2" fmla="*/ 3197111 w 3197111"/>
                  <a:gd name="connsiteY2" fmla="*/ 0 h 565744"/>
                </a:gdLst>
                <a:ahLst/>
                <a:cxnLst>
                  <a:cxn ang="0">
                    <a:pos x="connsiteX0" y="connsiteY0"/>
                  </a:cxn>
                  <a:cxn ang="0">
                    <a:pos x="connsiteX1" y="connsiteY1"/>
                  </a:cxn>
                  <a:cxn ang="0">
                    <a:pos x="connsiteX2" y="connsiteY2"/>
                  </a:cxn>
                </a:cxnLst>
                <a:rect l="l" t="t" r="r" b="b"/>
                <a:pathLst>
                  <a:path w="3197111" h="565744">
                    <a:moveTo>
                      <a:pt x="0" y="565744"/>
                    </a:moveTo>
                    <a:lnTo>
                      <a:pt x="565744" y="0"/>
                    </a:lnTo>
                    <a:lnTo>
                      <a:pt x="3197111" y="0"/>
                    </a:lnTo>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p:grpSp>
        <p:grpSp>
          <p:nvGrpSpPr>
            <p:cNvPr id="55" name="Group 54">
              <a:extLst>
                <a:ext uri="{FF2B5EF4-FFF2-40B4-BE49-F238E27FC236}">
                  <a16:creationId xmlns:a16="http://schemas.microsoft.com/office/drawing/2014/main" id="{0EE6596B-E9FD-124D-20B5-8F30C81D8E07}"/>
                </a:ext>
              </a:extLst>
            </p:cNvPr>
            <p:cNvGrpSpPr/>
            <p:nvPr/>
          </p:nvGrpSpPr>
          <p:grpSpPr>
            <a:xfrm flipH="1">
              <a:off x="6611725" y="2392975"/>
              <a:ext cx="1282453" cy="2219592"/>
              <a:chOff x="4307281" y="2392975"/>
              <a:chExt cx="1282453" cy="2219592"/>
            </a:xfrm>
          </p:grpSpPr>
          <p:sp>
            <p:nvSpPr>
              <p:cNvPr id="59" name="Freeform: Shape 58">
                <a:extLst>
                  <a:ext uri="{FF2B5EF4-FFF2-40B4-BE49-F238E27FC236}">
                    <a16:creationId xmlns:a16="http://schemas.microsoft.com/office/drawing/2014/main" id="{9897EC6A-9850-D3E9-184F-ADDB2DCE1525}"/>
                  </a:ext>
                </a:extLst>
              </p:cNvPr>
              <p:cNvSpPr/>
              <p:nvPr/>
            </p:nvSpPr>
            <p:spPr>
              <a:xfrm flipH="1">
                <a:off x="4421403" y="2392975"/>
                <a:ext cx="727843" cy="197227"/>
              </a:xfrm>
              <a:custGeom>
                <a:avLst/>
                <a:gdLst>
                  <a:gd name="connsiteX0" fmla="*/ 0 w 3197111"/>
                  <a:gd name="connsiteY0" fmla="*/ 565744 h 565744"/>
                  <a:gd name="connsiteX1" fmla="*/ 565744 w 3197111"/>
                  <a:gd name="connsiteY1" fmla="*/ 0 h 565744"/>
                  <a:gd name="connsiteX2" fmla="*/ 3197111 w 3197111"/>
                  <a:gd name="connsiteY2" fmla="*/ 0 h 565744"/>
                </a:gdLst>
                <a:ahLst/>
                <a:cxnLst>
                  <a:cxn ang="0">
                    <a:pos x="connsiteX0" y="connsiteY0"/>
                  </a:cxn>
                  <a:cxn ang="0">
                    <a:pos x="connsiteX1" y="connsiteY1"/>
                  </a:cxn>
                  <a:cxn ang="0">
                    <a:pos x="connsiteX2" y="connsiteY2"/>
                  </a:cxn>
                </a:cxnLst>
                <a:rect l="l" t="t" r="r" b="b"/>
                <a:pathLst>
                  <a:path w="3197111" h="565744">
                    <a:moveTo>
                      <a:pt x="0" y="565744"/>
                    </a:moveTo>
                    <a:lnTo>
                      <a:pt x="565744" y="0"/>
                    </a:lnTo>
                    <a:lnTo>
                      <a:pt x="3197111" y="0"/>
                    </a:lnTo>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p:cxnSp>
            <p:nvCxnSpPr>
              <p:cNvPr id="60" name="Straight Connector 59">
                <a:extLst>
                  <a:ext uri="{FF2B5EF4-FFF2-40B4-BE49-F238E27FC236}">
                    <a16:creationId xmlns:a16="http://schemas.microsoft.com/office/drawing/2014/main" id="{5427056E-71AF-E4B2-39DB-02AE57384B63}"/>
                  </a:ext>
                </a:extLst>
              </p:cNvPr>
              <p:cNvCxnSpPr/>
              <p:nvPr/>
            </p:nvCxnSpPr>
            <p:spPr>
              <a:xfrm flipH="1">
                <a:off x="4307281" y="3461220"/>
                <a:ext cx="808715" cy="0"/>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61" name="Freeform: Shape 60">
                <a:extLst>
                  <a:ext uri="{FF2B5EF4-FFF2-40B4-BE49-F238E27FC236}">
                    <a16:creationId xmlns:a16="http://schemas.microsoft.com/office/drawing/2014/main" id="{085EF33D-4812-6B75-F0E6-5D0CEAE2C316}"/>
                  </a:ext>
                </a:extLst>
              </p:cNvPr>
              <p:cNvSpPr/>
              <p:nvPr/>
            </p:nvSpPr>
            <p:spPr>
              <a:xfrm flipH="1" flipV="1">
                <a:off x="4861891" y="4415340"/>
                <a:ext cx="727843" cy="197227"/>
              </a:xfrm>
              <a:custGeom>
                <a:avLst/>
                <a:gdLst>
                  <a:gd name="connsiteX0" fmla="*/ 0 w 3197111"/>
                  <a:gd name="connsiteY0" fmla="*/ 565744 h 565744"/>
                  <a:gd name="connsiteX1" fmla="*/ 565744 w 3197111"/>
                  <a:gd name="connsiteY1" fmla="*/ 0 h 565744"/>
                  <a:gd name="connsiteX2" fmla="*/ 3197111 w 3197111"/>
                  <a:gd name="connsiteY2" fmla="*/ 0 h 565744"/>
                </a:gdLst>
                <a:ahLst/>
                <a:cxnLst>
                  <a:cxn ang="0">
                    <a:pos x="connsiteX0" y="connsiteY0"/>
                  </a:cxn>
                  <a:cxn ang="0">
                    <a:pos x="connsiteX1" y="connsiteY1"/>
                  </a:cxn>
                  <a:cxn ang="0">
                    <a:pos x="connsiteX2" y="connsiteY2"/>
                  </a:cxn>
                </a:cxnLst>
                <a:rect l="l" t="t" r="r" b="b"/>
                <a:pathLst>
                  <a:path w="3197111" h="565744">
                    <a:moveTo>
                      <a:pt x="0" y="565744"/>
                    </a:moveTo>
                    <a:lnTo>
                      <a:pt x="565744" y="0"/>
                    </a:lnTo>
                    <a:lnTo>
                      <a:pt x="3197111" y="0"/>
                    </a:lnTo>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p:grpSp>
        <p:sp>
          <p:nvSpPr>
            <p:cNvPr id="56" name="TextBox 28">
              <a:extLst>
                <a:ext uri="{FF2B5EF4-FFF2-40B4-BE49-F238E27FC236}">
                  <a16:creationId xmlns:a16="http://schemas.microsoft.com/office/drawing/2014/main" id="{6D4B4DC3-95C7-BAB4-944A-41EE64C497BA}"/>
                </a:ext>
              </a:extLst>
            </p:cNvPr>
            <p:cNvSpPr txBox="1"/>
            <p:nvPr/>
          </p:nvSpPr>
          <p:spPr>
            <a:xfrm>
              <a:off x="7783514" y="1655085"/>
              <a:ext cx="3173601" cy="108695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10000"/>
                </a:lnSpc>
                <a:spcAft>
                  <a:spcPts val="300"/>
                </a:spcAft>
                <a:defRPr/>
              </a:pPr>
              <a:r>
                <a:rPr lang="en-US" sz="2000" b="1">
                  <a:solidFill>
                    <a:srgbClr val="1E49E2"/>
                  </a:solidFill>
                  <a:latin typeface="KPMG Bold"/>
                </a:rPr>
                <a:t>Data Ingestion and Processing</a:t>
              </a:r>
            </a:p>
            <a:p>
              <a:pPr marL="171450" lvl="0" indent="-171450">
                <a:lnSpc>
                  <a:spcPct val="110000"/>
                </a:lnSpc>
                <a:spcAft>
                  <a:spcPts val="300"/>
                </a:spcAft>
                <a:buFont typeface="Arial" panose="020B0604020202020204" pitchFamily="34" charset="0"/>
                <a:buChar char="•"/>
                <a:defRPr/>
              </a:pPr>
              <a:r>
                <a:rPr lang="en-US" sz="1050">
                  <a:solidFill>
                    <a:srgbClr val="000000"/>
                  </a:solidFill>
                </a:rPr>
                <a:t>Batch Processing</a:t>
              </a:r>
            </a:p>
            <a:p>
              <a:pPr marL="171450" lvl="0" indent="-171450">
                <a:lnSpc>
                  <a:spcPct val="110000"/>
                </a:lnSpc>
                <a:spcAft>
                  <a:spcPts val="300"/>
                </a:spcAft>
                <a:buFont typeface="Arial" panose="020B0604020202020204" pitchFamily="34" charset="0"/>
                <a:buChar char="•"/>
                <a:defRPr/>
              </a:pPr>
              <a:r>
                <a:rPr lang="en-US" sz="1050">
                  <a:solidFill>
                    <a:srgbClr val="000000"/>
                  </a:solidFill>
                </a:rPr>
                <a:t>Streaming Processing</a:t>
              </a:r>
            </a:p>
            <a:p>
              <a:pPr marL="171450" lvl="0" indent="-171450">
                <a:lnSpc>
                  <a:spcPct val="110000"/>
                </a:lnSpc>
                <a:spcAft>
                  <a:spcPts val="300"/>
                </a:spcAft>
                <a:buFont typeface="Arial" panose="020B0604020202020204" pitchFamily="34" charset="0"/>
                <a:buChar char="•"/>
                <a:defRPr/>
              </a:pPr>
              <a:r>
                <a:rPr lang="en-US" sz="1050">
                  <a:solidFill>
                    <a:srgbClr val="000000"/>
                  </a:solidFill>
                </a:rPr>
                <a:t>Ingestion Technologies</a:t>
              </a:r>
            </a:p>
            <a:p>
              <a:pPr marL="171450" lvl="0" indent="-171450">
                <a:lnSpc>
                  <a:spcPct val="110000"/>
                </a:lnSpc>
                <a:spcAft>
                  <a:spcPts val="300"/>
                </a:spcAft>
                <a:buFont typeface="Arial" panose="020B0604020202020204" pitchFamily="34" charset="0"/>
                <a:buChar char="•"/>
                <a:defRPr/>
              </a:pPr>
              <a:r>
                <a:rPr lang="en-US" sz="1050">
                  <a:solidFill>
                    <a:srgbClr val="000000"/>
                  </a:solidFill>
                </a:rPr>
                <a:t>Processing Controls</a:t>
              </a:r>
              <a:r>
                <a:rPr kumimoji="0" lang="en-US" sz="1050" b="0" i="0" u="none" strike="noStrike" kern="1200" cap="none" spc="0" normalizeH="0" baseline="0" noProof="0">
                  <a:ln>
                    <a:noFill/>
                  </a:ln>
                  <a:solidFill>
                    <a:srgbClr val="000000"/>
                  </a:solidFill>
                  <a:effectLst/>
                  <a:uLnTx/>
                  <a:uFillTx/>
                  <a:latin typeface="Arial"/>
                  <a:ea typeface="+mn-ea"/>
                  <a:cs typeface="+mn-cs"/>
                </a:rPr>
                <a:t>.</a:t>
              </a:r>
              <a:endParaRPr kumimoji="0" lang="en-GB" sz="1050" b="0" i="0" u="none" strike="noStrike" kern="1200" cap="none" spc="0" normalizeH="0" baseline="0" noProof="0">
                <a:ln>
                  <a:noFill/>
                </a:ln>
                <a:solidFill>
                  <a:srgbClr val="000000"/>
                </a:solidFill>
                <a:effectLst/>
                <a:uLnTx/>
                <a:uFillTx/>
                <a:latin typeface="Arial"/>
                <a:ea typeface="+mn-ea"/>
                <a:cs typeface="+mn-cs"/>
              </a:endParaRPr>
            </a:p>
          </p:txBody>
        </p:sp>
        <p:sp>
          <p:nvSpPr>
            <p:cNvPr id="57" name="TextBox 33">
              <a:extLst>
                <a:ext uri="{FF2B5EF4-FFF2-40B4-BE49-F238E27FC236}">
                  <a16:creationId xmlns:a16="http://schemas.microsoft.com/office/drawing/2014/main" id="{5CEB5FC2-1EC1-8F6C-F120-3FD26CB6CF66}"/>
                </a:ext>
              </a:extLst>
            </p:cNvPr>
            <p:cNvSpPr txBox="1"/>
            <p:nvPr/>
          </p:nvSpPr>
          <p:spPr>
            <a:xfrm>
              <a:off x="8046847" y="2875884"/>
              <a:ext cx="2979663" cy="108695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10000"/>
                </a:lnSpc>
                <a:spcAft>
                  <a:spcPts val="300"/>
                </a:spcAft>
                <a:defRPr/>
              </a:pPr>
              <a:r>
                <a:rPr lang="en-US" sz="2000" b="1">
                  <a:solidFill>
                    <a:srgbClr val="1E49E2"/>
                  </a:solidFill>
                  <a:latin typeface="KPMG Bold"/>
                </a:rPr>
                <a:t>Medallion Architecture</a:t>
              </a:r>
            </a:p>
            <a:p>
              <a:pPr marL="171450" lvl="0" indent="-171450">
                <a:lnSpc>
                  <a:spcPct val="110000"/>
                </a:lnSpc>
                <a:spcAft>
                  <a:spcPts val="300"/>
                </a:spcAft>
                <a:buFont typeface="Arial" panose="020B0604020202020204" pitchFamily="34" charset="0"/>
                <a:buChar char="•"/>
                <a:defRPr/>
              </a:pPr>
              <a:r>
                <a:rPr lang="en-US" sz="1050">
                  <a:solidFill>
                    <a:srgbClr val="000000"/>
                  </a:solidFill>
                </a:rPr>
                <a:t>Bronze Layer </a:t>
              </a:r>
            </a:p>
            <a:p>
              <a:pPr marL="171450" lvl="0" indent="-171450">
                <a:lnSpc>
                  <a:spcPct val="110000"/>
                </a:lnSpc>
                <a:spcAft>
                  <a:spcPts val="300"/>
                </a:spcAft>
                <a:buFont typeface="Arial" panose="020B0604020202020204" pitchFamily="34" charset="0"/>
                <a:buChar char="•"/>
                <a:defRPr/>
              </a:pPr>
              <a:r>
                <a:rPr lang="en-US" sz="1050">
                  <a:solidFill>
                    <a:srgbClr val="000000"/>
                  </a:solidFill>
                </a:rPr>
                <a:t>Silver Layer </a:t>
              </a:r>
            </a:p>
            <a:p>
              <a:pPr marL="171450" lvl="0" indent="-171450">
                <a:lnSpc>
                  <a:spcPct val="110000"/>
                </a:lnSpc>
                <a:spcAft>
                  <a:spcPts val="300"/>
                </a:spcAft>
                <a:buFont typeface="Arial" panose="020B0604020202020204" pitchFamily="34" charset="0"/>
                <a:buChar char="•"/>
                <a:defRPr/>
              </a:pPr>
              <a:r>
                <a:rPr lang="en-US" sz="1050">
                  <a:solidFill>
                    <a:srgbClr val="000000"/>
                  </a:solidFill>
                </a:rPr>
                <a:t>Gold Layer </a:t>
              </a:r>
            </a:p>
            <a:p>
              <a:pPr marL="171450" lvl="0" indent="-171450">
                <a:lnSpc>
                  <a:spcPct val="110000"/>
                </a:lnSpc>
                <a:spcAft>
                  <a:spcPts val="300"/>
                </a:spcAft>
                <a:buFont typeface="Arial" panose="020B0604020202020204" pitchFamily="34" charset="0"/>
                <a:buChar char="•"/>
                <a:defRPr/>
              </a:pPr>
              <a:r>
                <a:rPr lang="en-US" sz="1050">
                  <a:solidFill>
                    <a:srgbClr val="000000"/>
                  </a:solidFill>
                </a:rPr>
                <a:t>Delta Lake</a:t>
              </a:r>
              <a:r>
                <a:rPr kumimoji="0" lang="en-US" sz="1050" b="0" i="0" u="none" strike="noStrike" kern="1200" cap="none" spc="0" normalizeH="0" baseline="0" noProof="0">
                  <a:ln>
                    <a:noFill/>
                  </a:ln>
                  <a:solidFill>
                    <a:srgbClr val="000000"/>
                  </a:solidFill>
                  <a:effectLst/>
                  <a:uLnTx/>
                  <a:uFillTx/>
                  <a:latin typeface="Arial"/>
                  <a:ea typeface="+mn-ea"/>
                  <a:cs typeface="+mn-cs"/>
                </a:rPr>
                <a:t>.</a:t>
              </a:r>
              <a:endParaRPr kumimoji="0" lang="en-GB" sz="1050" b="0" i="0" u="none" strike="noStrike" kern="1200" cap="none" spc="0" normalizeH="0" baseline="0" noProof="0">
                <a:ln>
                  <a:noFill/>
                </a:ln>
                <a:solidFill>
                  <a:srgbClr val="000000"/>
                </a:solidFill>
                <a:effectLst/>
                <a:uLnTx/>
                <a:uFillTx/>
                <a:latin typeface="Arial"/>
                <a:ea typeface="+mn-ea"/>
                <a:cs typeface="+mn-cs"/>
              </a:endParaRPr>
            </a:p>
          </p:txBody>
        </p:sp>
        <p:sp>
          <p:nvSpPr>
            <p:cNvPr id="58" name="TextBox 34">
              <a:extLst>
                <a:ext uri="{FF2B5EF4-FFF2-40B4-BE49-F238E27FC236}">
                  <a16:creationId xmlns:a16="http://schemas.microsoft.com/office/drawing/2014/main" id="{521802FE-1561-045C-8642-D8FF697AC1FC}"/>
                </a:ext>
              </a:extLst>
            </p:cNvPr>
            <p:cNvSpPr txBox="1"/>
            <p:nvPr/>
          </p:nvSpPr>
          <p:spPr>
            <a:xfrm>
              <a:off x="7783513" y="4282555"/>
              <a:ext cx="3173601" cy="108695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10000"/>
                </a:lnSpc>
                <a:spcAft>
                  <a:spcPts val="300"/>
                </a:spcAft>
                <a:defRPr/>
              </a:pPr>
              <a:r>
                <a:rPr lang="en-US" sz="2000" b="1">
                  <a:solidFill>
                    <a:srgbClr val="1E49E2"/>
                  </a:solidFill>
                  <a:latin typeface="KPMG Bold"/>
                </a:rPr>
                <a:t>Platform and Compute Architecture</a:t>
              </a:r>
            </a:p>
            <a:p>
              <a:pPr marL="171450" lvl="0" indent="-171450">
                <a:lnSpc>
                  <a:spcPct val="110000"/>
                </a:lnSpc>
                <a:spcAft>
                  <a:spcPts val="300"/>
                </a:spcAft>
                <a:buFont typeface="Arial" panose="020B0604020202020204" pitchFamily="34" charset="0"/>
                <a:buChar char="•"/>
                <a:defRPr/>
              </a:pPr>
              <a:r>
                <a:rPr lang="en-US" sz="1050">
                  <a:solidFill>
                    <a:srgbClr val="000000"/>
                  </a:solidFill>
                </a:rPr>
                <a:t>Environment Strategy</a:t>
              </a:r>
            </a:p>
            <a:p>
              <a:pPr marL="171450" lvl="0" indent="-171450">
                <a:lnSpc>
                  <a:spcPct val="110000"/>
                </a:lnSpc>
                <a:spcAft>
                  <a:spcPts val="300"/>
                </a:spcAft>
                <a:buFont typeface="Arial" panose="020B0604020202020204" pitchFamily="34" charset="0"/>
                <a:buChar char="•"/>
                <a:defRPr/>
              </a:pPr>
              <a:r>
                <a:rPr lang="en-US" sz="1050">
                  <a:solidFill>
                    <a:srgbClr val="000000"/>
                  </a:solidFill>
                </a:rPr>
                <a:t>Workspace Design</a:t>
              </a:r>
            </a:p>
            <a:p>
              <a:pPr marL="171450" lvl="0" indent="-171450">
                <a:lnSpc>
                  <a:spcPct val="110000"/>
                </a:lnSpc>
                <a:spcAft>
                  <a:spcPts val="300"/>
                </a:spcAft>
                <a:buFont typeface="Arial" panose="020B0604020202020204" pitchFamily="34" charset="0"/>
                <a:buChar char="•"/>
                <a:defRPr/>
              </a:pPr>
              <a:r>
                <a:rPr lang="en-US" sz="1050">
                  <a:solidFill>
                    <a:srgbClr val="000000"/>
                  </a:solidFill>
                </a:rPr>
                <a:t>Compute Design</a:t>
              </a:r>
            </a:p>
            <a:p>
              <a:pPr marL="171450" lvl="0" indent="-171450">
                <a:lnSpc>
                  <a:spcPct val="110000"/>
                </a:lnSpc>
                <a:spcAft>
                  <a:spcPts val="300"/>
                </a:spcAft>
                <a:buFont typeface="Arial" panose="020B0604020202020204" pitchFamily="34" charset="0"/>
                <a:buChar char="•"/>
                <a:defRPr/>
              </a:pPr>
              <a:r>
                <a:rPr lang="en-US" sz="1050">
                  <a:solidFill>
                    <a:srgbClr val="000000"/>
                  </a:solidFill>
                </a:rPr>
                <a:t>Compute Governance</a:t>
              </a:r>
              <a:endParaRPr kumimoji="0" lang="en-GB" sz="1050" b="0" i="0" u="none" strike="noStrike" kern="1200" cap="none" spc="0" normalizeH="0" baseline="0" noProof="0">
                <a:ln>
                  <a:noFill/>
                </a:ln>
                <a:solidFill>
                  <a:srgbClr val="000000"/>
                </a:solidFill>
                <a:effectLst/>
                <a:uLnTx/>
                <a:uFillTx/>
                <a:latin typeface="Arial"/>
                <a:ea typeface="+mn-ea"/>
                <a:cs typeface="+mn-cs"/>
              </a:endParaRPr>
            </a:p>
          </p:txBody>
        </p:sp>
      </p:grpSp>
      <p:sp>
        <p:nvSpPr>
          <p:cNvPr id="38" name="Rectangle 37">
            <a:extLst>
              <a:ext uri="{FF2B5EF4-FFF2-40B4-BE49-F238E27FC236}">
                <a16:creationId xmlns:a16="http://schemas.microsoft.com/office/drawing/2014/main" id="{1FA6DB4E-0043-077F-8DAE-A886F1008B9F}"/>
              </a:ext>
            </a:extLst>
          </p:cNvPr>
          <p:cNvSpPr/>
          <p:nvPr/>
        </p:nvSpPr>
        <p:spPr>
          <a:xfrm>
            <a:off x="5621755" y="5166557"/>
            <a:ext cx="173146" cy="1675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500" b="0" i="0" u="none" strike="noStrike" kern="1200" cap="none" spc="0" normalizeH="0" baseline="0" noProof="0" err="1">
              <a:ln>
                <a:noFill/>
              </a:ln>
              <a:solidFill>
                <a:prstClr val="white"/>
              </a:solidFill>
              <a:effectLst/>
              <a:uLnTx/>
              <a:uFillTx/>
              <a:latin typeface="Arial"/>
              <a:ea typeface="+mn-ea"/>
              <a:cs typeface="+mn-cs"/>
            </a:endParaRPr>
          </a:p>
        </p:txBody>
      </p:sp>
      <p:sp>
        <p:nvSpPr>
          <p:cNvPr id="39" name="TextBox 9">
            <a:extLst>
              <a:ext uri="{FF2B5EF4-FFF2-40B4-BE49-F238E27FC236}">
                <a16:creationId xmlns:a16="http://schemas.microsoft.com/office/drawing/2014/main" id="{71416471-DD08-0674-F8C0-2439C862EDE4}"/>
              </a:ext>
            </a:extLst>
          </p:cNvPr>
          <p:cNvSpPr txBox="1"/>
          <p:nvPr/>
        </p:nvSpPr>
        <p:spPr>
          <a:xfrm>
            <a:off x="4311976" y="5368165"/>
            <a:ext cx="4331938" cy="1189621"/>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10000"/>
              </a:lnSpc>
              <a:spcAft>
                <a:spcPts val="300"/>
              </a:spcAft>
              <a:defRPr/>
            </a:pPr>
            <a:r>
              <a:rPr lang="en-US" sz="2000" b="1">
                <a:solidFill>
                  <a:srgbClr val="1E49E2"/>
                </a:solidFill>
                <a:latin typeface="KPMG Bold"/>
              </a:rPr>
              <a:t>Engineering, Deployment and Operation</a:t>
            </a:r>
          </a:p>
          <a:p>
            <a:pPr marL="171450" lvl="0" indent="-171450">
              <a:lnSpc>
                <a:spcPct val="110000"/>
              </a:lnSpc>
              <a:spcAft>
                <a:spcPts val="300"/>
              </a:spcAft>
              <a:buFont typeface="Arial" panose="020B0604020202020204" pitchFamily="34" charset="0"/>
              <a:buChar char="•"/>
              <a:defRPr/>
            </a:pPr>
            <a:r>
              <a:rPr lang="en-US" sz="1050">
                <a:solidFill>
                  <a:srgbClr val="000000"/>
                </a:solidFill>
              </a:rPr>
              <a:t>Pipeline Framework</a:t>
            </a:r>
          </a:p>
          <a:p>
            <a:pPr marL="171450" lvl="0" indent="-171450">
              <a:lnSpc>
                <a:spcPct val="110000"/>
              </a:lnSpc>
              <a:spcAft>
                <a:spcPts val="300"/>
              </a:spcAft>
              <a:buFont typeface="Arial" panose="020B0604020202020204" pitchFamily="34" charset="0"/>
              <a:buChar char="•"/>
              <a:defRPr/>
            </a:pPr>
            <a:r>
              <a:rPr lang="en-US" sz="1050">
                <a:solidFill>
                  <a:srgbClr val="000000"/>
                </a:solidFill>
              </a:rPr>
              <a:t>CI/CD</a:t>
            </a:r>
          </a:p>
          <a:p>
            <a:pPr marL="171450" lvl="0" indent="-171450">
              <a:lnSpc>
                <a:spcPct val="110000"/>
              </a:lnSpc>
              <a:spcAft>
                <a:spcPts val="300"/>
              </a:spcAft>
              <a:buFont typeface="Arial" panose="020B0604020202020204" pitchFamily="34" charset="0"/>
              <a:buChar char="•"/>
              <a:defRPr/>
            </a:pPr>
            <a:r>
              <a:rPr lang="en-US" sz="1050">
                <a:solidFill>
                  <a:srgbClr val="000000"/>
                </a:solidFill>
              </a:rPr>
              <a:t>Orchestration</a:t>
            </a:r>
            <a:endParaRPr lang="en-US" sz="2000" b="1">
              <a:solidFill>
                <a:srgbClr val="1E49E2"/>
              </a:solidFill>
              <a:latin typeface="KPMG Bold"/>
            </a:endParaRPr>
          </a:p>
          <a:p>
            <a:pPr lvl="0">
              <a:lnSpc>
                <a:spcPct val="110000"/>
              </a:lnSpc>
              <a:spcAft>
                <a:spcPts val="300"/>
              </a:spcAft>
              <a:defRPr/>
            </a:pPr>
            <a:endParaRPr kumimoji="0" lang="en-GB" sz="1050" b="0" i="0" u="none" strike="noStrike" kern="1200" cap="none" spc="0" normalizeH="0" baseline="0" noProof="0">
              <a:ln>
                <a:noFill/>
              </a:ln>
              <a:solidFill>
                <a:srgbClr val="000000"/>
              </a:solidFill>
              <a:effectLst/>
              <a:uLnTx/>
              <a:uFillTx/>
              <a:latin typeface="Arial"/>
              <a:ea typeface="+mn-ea"/>
              <a:cs typeface="+mn-cs"/>
            </a:endParaRPr>
          </a:p>
        </p:txBody>
      </p:sp>
      <p:sp>
        <p:nvSpPr>
          <p:cNvPr id="40" name="TextBox 29">
            <a:extLst>
              <a:ext uri="{FF2B5EF4-FFF2-40B4-BE49-F238E27FC236}">
                <a16:creationId xmlns:a16="http://schemas.microsoft.com/office/drawing/2014/main" id="{646ADA7E-B1A0-B385-0D15-AD73B510ABC8}"/>
              </a:ext>
            </a:extLst>
          </p:cNvPr>
          <p:cNvSpPr txBox="1"/>
          <p:nvPr/>
        </p:nvSpPr>
        <p:spPr>
          <a:xfrm>
            <a:off x="4483462" y="1451872"/>
            <a:ext cx="4816721" cy="1405834"/>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10000"/>
              </a:lnSpc>
              <a:spcAft>
                <a:spcPts val="300"/>
              </a:spcAft>
              <a:defRPr/>
            </a:pPr>
            <a:r>
              <a:rPr lang="en-US" sz="2000" b="1">
                <a:solidFill>
                  <a:srgbClr val="1E49E2"/>
                </a:solidFill>
                <a:latin typeface="KPMG Bold"/>
              </a:rPr>
              <a:t>Quality, Monitoring and Cost Management</a:t>
            </a:r>
          </a:p>
          <a:p>
            <a:pPr marL="171450" lvl="0" indent="-171450">
              <a:lnSpc>
                <a:spcPct val="110000"/>
              </a:lnSpc>
              <a:spcAft>
                <a:spcPts val="300"/>
              </a:spcAft>
              <a:buFont typeface="Arial" panose="020B0604020202020204" pitchFamily="34" charset="0"/>
              <a:buChar char="•"/>
              <a:defRPr/>
            </a:pPr>
            <a:r>
              <a:rPr lang="en-US" sz="1050">
                <a:solidFill>
                  <a:srgbClr val="000000"/>
                </a:solidFill>
              </a:rPr>
              <a:t>Data Quality</a:t>
            </a:r>
          </a:p>
          <a:p>
            <a:pPr marL="171450" lvl="0" indent="-171450">
              <a:lnSpc>
                <a:spcPct val="110000"/>
              </a:lnSpc>
              <a:spcAft>
                <a:spcPts val="300"/>
              </a:spcAft>
              <a:buFont typeface="Arial" panose="020B0604020202020204" pitchFamily="34" charset="0"/>
              <a:buChar char="•"/>
              <a:defRPr/>
            </a:pPr>
            <a:r>
              <a:rPr lang="en-US" sz="1050">
                <a:solidFill>
                  <a:srgbClr val="000000"/>
                </a:solidFill>
              </a:rPr>
              <a:t>Reconciliation</a:t>
            </a:r>
          </a:p>
          <a:p>
            <a:pPr marL="171450" lvl="0" indent="-171450">
              <a:lnSpc>
                <a:spcPct val="110000"/>
              </a:lnSpc>
              <a:spcAft>
                <a:spcPts val="300"/>
              </a:spcAft>
              <a:buFont typeface="Arial" panose="020B0604020202020204" pitchFamily="34" charset="0"/>
              <a:buChar char="•"/>
              <a:defRPr/>
            </a:pPr>
            <a:r>
              <a:rPr lang="en-US" sz="1050">
                <a:solidFill>
                  <a:srgbClr val="000000"/>
                </a:solidFill>
              </a:rPr>
              <a:t>Monitoring</a:t>
            </a:r>
          </a:p>
          <a:p>
            <a:pPr marL="171450" lvl="0" indent="-171450">
              <a:lnSpc>
                <a:spcPct val="110000"/>
              </a:lnSpc>
              <a:spcAft>
                <a:spcPts val="300"/>
              </a:spcAft>
              <a:buFont typeface="Arial" panose="020B0604020202020204" pitchFamily="34" charset="0"/>
              <a:buChar char="•"/>
              <a:defRPr/>
            </a:pPr>
            <a:r>
              <a:rPr lang="en-US" sz="1050">
                <a:solidFill>
                  <a:srgbClr val="000000"/>
                </a:solidFill>
              </a:rPr>
              <a:t>Reliability and Recovery</a:t>
            </a:r>
          </a:p>
          <a:p>
            <a:pPr marL="171450" lvl="0" indent="-171450">
              <a:lnSpc>
                <a:spcPct val="110000"/>
              </a:lnSpc>
              <a:spcAft>
                <a:spcPts val="300"/>
              </a:spcAft>
              <a:buFont typeface="Arial" panose="020B0604020202020204" pitchFamily="34" charset="0"/>
              <a:buChar char="•"/>
              <a:defRPr/>
            </a:pPr>
            <a:r>
              <a:rPr lang="en-GB" sz="1050">
                <a:solidFill>
                  <a:srgbClr val="000000"/>
                </a:solidFill>
              </a:rPr>
              <a:t>Cost Management</a:t>
            </a:r>
            <a:endParaRPr kumimoji="0" lang="en-GB" sz="1050" b="0" i="0" u="none" strike="noStrike" kern="1200" cap="none" spc="0" normalizeH="0" baseline="0" noProof="0">
              <a:ln>
                <a:noFill/>
              </a:ln>
              <a:solidFill>
                <a:srgbClr val="000000"/>
              </a:solidFill>
              <a:effectLst/>
              <a:uLnTx/>
              <a:uFillTx/>
              <a:latin typeface="Arial"/>
              <a:ea typeface="+mn-ea"/>
              <a:cs typeface="+mn-cs"/>
            </a:endParaRPr>
          </a:p>
        </p:txBody>
      </p:sp>
      <p:sp>
        <p:nvSpPr>
          <p:cNvPr id="41" name="Rectangle 40">
            <a:extLst>
              <a:ext uri="{FF2B5EF4-FFF2-40B4-BE49-F238E27FC236}">
                <a16:creationId xmlns:a16="http://schemas.microsoft.com/office/drawing/2014/main" id="{39CDC91F-9B0D-9E77-6707-34F188AD6CB4}"/>
              </a:ext>
            </a:extLst>
          </p:cNvPr>
          <p:cNvSpPr/>
          <p:nvPr/>
        </p:nvSpPr>
        <p:spPr>
          <a:xfrm>
            <a:off x="5631406" y="2159804"/>
            <a:ext cx="173146" cy="1675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500" b="0" i="0" u="none" strike="noStrike" kern="1200" cap="none" spc="0" normalizeH="0" baseline="0" noProof="0" err="1">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23481509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0D144DC-C940-52CA-6041-3A27F4DFC93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4" name="thinkcell data - do not delete" hidden="1">
                        <a:extLst>
                          <a:ext uri="{FF2B5EF4-FFF2-40B4-BE49-F238E27FC236}">
                            <a16:creationId xmlns:a16="http://schemas.microsoft.com/office/drawing/2014/main" id="{F0D144DC-C940-52CA-6041-3A27F4DFC93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p:txBody>
          <a:bodyPr vert="horz" rIns="0"/>
          <a:lstStyle/>
          <a:p>
            <a:r>
              <a:rPr lang="en-US"/>
              <a:t>Workstream A – Information Request List</a:t>
            </a:r>
            <a:br>
              <a:rPr lang="en-US"/>
            </a:br>
            <a:r>
              <a:rPr lang="en-US" sz="1600" b="0"/>
              <a:t>Accelerating the assessment and remediation process</a:t>
            </a:r>
            <a:endParaRPr lang="en-US" sz="1600"/>
          </a:p>
        </p:txBody>
      </p:sp>
      <p:sp>
        <p:nvSpPr>
          <p:cNvPr id="2" name="Content Placeholder 1"/>
          <p:cNvSpPr>
            <a:spLocks noGrp="1"/>
          </p:cNvSpPr>
          <p:nvPr>
            <p:ph idx="1"/>
          </p:nvPr>
        </p:nvSpPr>
        <p:spPr>
          <a:xfrm>
            <a:off x="587375" y="1494292"/>
            <a:ext cx="11028363" cy="520000"/>
          </a:xfrm>
        </p:spPr>
        <p:txBody>
          <a:bodyPr>
            <a:normAutofit/>
          </a:bodyPr>
          <a:lstStyle/>
          <a:p>
            <a:pPr>
              <a:spcBef>
                <a:spcPts val="0"/>
              </a:spcBef>
            </a:pPr>
            <a:r>
              <a:rPr lang="en-US" sz="1200" b="0"/>
              <a:t>To accelerate the assessment and remediation process and meet our critical path timelines, we request the following information and access from the CVS team. </a:t>
            </a:r>
            <a:r>
              <a:rPr lang="en-US" sz="1200" b="1"/>
              <a:t>Providing these items within the first week is crucial for beating the December 1st change freeze.</a:t>
            </a:r>
          </a:p>
        </p:txBody>
      </p:sp>
      <p:graphicFrame>
        <p:nvGraphicFramePr>
          <p:cNvPr id="10" name="Information Request Table"/>
          <p:cNvGraphicFramePr>
            <a:graphicFrameLocks noGrp="1"/>
          </p:cNvGraphicFramePr>
          <p:nvPr/>
        </p:nvGraphicFramePr>
        <p:xfrm>
          <a:off x="587375" y="2080000"/>
          <a:ext cx="11028363" cy="3275460"/>
        </p:xfrm>
        <a:graphic>
          <a:graphicData uri="http://schemas.openxmlformats.org/drawingml/2006/table">
            <a:tbl>
              <a:tblPr firstRow="1" bandRow="1">
                <a:tableStyleId>{08FB837D-C827-4EFA-A057-4D05807E0F7C}</a:tableStyleId>
              </a:tblPr>
              <a:tblGrid>
                <a:gridCol w="2150000">
                  <a:extLst>
                    <a:ext uri="{9D8B030D-6E8A-4147-A177-3AD203B41FA5}">
                      <a16:colId xmlns:a16="http://schemas.microsoft.com/office/drawing/2014/main" val="20000"/>
                    </a:ext>
                  </a:extLst>
                </a:gridCol>
                <a:gridCol w="6728363">
                  <a:extLst>
                    <a:ext uri="{9D8B030D-6E8A-4147-A177-3AD203B41FA5}">
                      <a16:colId xmlns:a16="http://schemas.microsoft.com/office/drawing/2014/main" val="20001"/>
                    </a:ext>
                  </a:extLst>
                </a:gridCol>
                <a:gridCol w="2150000">
                  <a:extLst>
                    <a:ext uri="{9D8B030D-6E8A-4147-A177-3AD203B41FA5}">
                      <a16:colId xmlns:a16="http://schemas.microsoft.com/office/drawing/2014/main" val="20002"/>
                    </a:ext>
                  </a:extLst>
                </a:gridCol>
              </a:tblGrid>
              <a:tr h="300000">
                <a:tc>
                  <a:txBody>
                    <a:bodyPr/>
                    <a:lstStyle/>
                    <a:p>
                      <a:pPr>
                        <a:spcBef>
                          <a:spcPts val="0"/>
                        </a:spcBef>
                        <a:spcAft>
                          <a:spcPts val="0"/>
                        </a:spcAft>
                      </a:pPr>
                      <a:r>
                        <a:rPr lang="en-US" sz="1200"/>
                        <a:t>Category</a:t>
                      </a:r>
                    </a:p>
                  </a:txBody>
                  <a:tcPr marL="73152" marR="73152" anchor="ctr"/>
                </a:tc>
                <a:tc>
                  <a:txBody>
                    <a:bodyPr/>
                    <a:lstStyle/>
                    <a:p>
                      <a:pPr>
                        <a:spcBef>
                          <a:spcPts val="0"/>
                        </a:spcBef>
                        <a:spcAft>
                          <a:spcPts val="0"/>
                        </a:spcAft>
                      </a:pPr>
                      <a:r>
                        <a:rPr lang="en-US" sz="1200"/>
                        <a:t>Specific Request</a:t>
                      </a:r>
                    </a:p>
                  </a:txBody>
                  <a:tcPr marL="73152" marR="73152" anchor="ctr"/>
                </a:tc>
                <a:tc>
                  <a:txBody>
                    <a:bodyPr/>
                    <a:lstStyle/>
                    <a:p>
                      <a:pPr>
                        <a:spcBef>
                          <a:spcPts val="0"/>
                        </a:spcBef>
                        <a:spcAft>
                          <a:spcPts val="0"/>
                        </a:spcAft>
                      </a:pPr>
                      <a:r>
                        <a:rPr lang="en-US" sz="1200"/>
                        <a:t>Required From</a:t>
                      </a:r>
                    </a:p>
                  </a:txBody>
                  <a:tcPr marL="73152" marR="73152" anchor="ctr"/>
                </a:tc>
                <a:extLst>
                  <a:ext uri="{0D108BD9-81ED-4DB2-BD59-A6C34878D82A}">
                    <a16:rowId xmlns:a16="http://schemas.microsoft.com/office/drawing/2014/main" val="10000"/>
                  </a:ext>
                </a:extLst>
              </a:tr>
              <a:tr h="900000">
                <a:tc>
                  <a:txBody>
                    <a:bodyPr/>
                    <a:lstStyle/>
                    <a:p>
                      <a:pPr>
                        <a:spcBef>
                          <a:spcPts val="0"/>
                        </a:spcBef>
                        <a:spcAft>
                          <a:spcPts val="0"/>
                        </a:spcAft>
                      </a:pPr>
                      <a:r>
                        <a:rPr lang="en-US" sz="1050" b="1"/>
                        <a:t>1. Documentation &amp; Current State</a:t>
                      </a:r>
                    </a:p>
                  </a:txBody>
                  <a:tcPr marL="73152" marR="73152" anchor="ctr"/>
                </a:tc>
                <a:tc>
                  <a:txBody>
                    <a:bodyPr/>
                    <a:lstStyle/>
                    <a:p>
                      <a:pPr marL="171450" indent="-171450">
                        <a:spcBef>
                          <a:spcPts val="0"/>
                        </a:spcBef>
                        <a:spcAft>
                          <a:spcPts val="200"/>
                        </a:spcAft>
                        <a:buFont typeface="Arial" panose="020B0604020202020204" pitchFamily="34" charset="0"/>
                        <a:buChar char="•"/>
                      </a:pPr>
                      <a:r>
                        <a:rPr lang="en-US" sz="1050"/>
                        <a:t>All current Azure, Databricks, and Unity Catalog architecture diagrams.</a:t>
                      </a:r>
                    </a:p>
                    <a:p>
                      <a:pPr marL="171450" indent="-171450">
                        <a:spcBef>
                          <a:spcPts val="0"/>
                        </a:spcBef>
                        <a:spcAft>
                          <a:spcPts val="200"/>
                        </a:spcAft>
                        <a:buFont typeface="Arial" panose="020B0604020202020204" pitchFamily="34" charset="0"/>
                        <a:buChar char="•"/>
                      </a:pPr>
                      <a:r>
                        <a:rPr lang="en-US" sz="1050"/>
                        <a:t>Existing security policies, threat models, and data classification standards (e.g., PHI masking rules).</a:t>
                      </a:r>
                    </a:p>
                    <a:p>
                      <a:pPr marL="171450" indent="-171450">
                        <a:spcBef>
                          <a:spcPts val="0"/>
                        </a:spcBef>
                        <a:spcAft>
                          <a:spcPts val="200"/>
                        </a:spcAft>
                        <a:buFont typeface="Arial" panose="020B0604020202020204" pitchFamily="34" charset="0"/>
                        <a:buChar char="•"/>
                      </a:pPr>
                      <a:r>
                        <a:rPr lang="en-US" sz="1050"/>
                        <a:t>Network topology diagrams, including firewall rules and private endpoint configurations.</a:t>
                      </a:r>
                    </a:p>
                    <a:p>
                      <a:pPr marL="171450" indent="-171450">
                        <a:spcBef>
                          <a:spcPts val="0"/>
                        </a:spcBef>
                        <a:spcAft>
                          <a:spcPts val="200"/>
                        </a:spcAft>
                        <a:buFont typeface="Arial" panose="020B0604020202020204" pitchFamily="34" charset="0"/>
                        <a:buChar char="•"/>
                      </a:pPr>
                      <a:r>
                        <a:rPr lang="en-US" sz="1050"/>
                        <a:t>Documentation on the current CI/CD process and Git strategy.</a:t>
                      </a:r>
                    </a:p>
                    <a:p>
                      <a:pPr marL="171450" indent="-171450">
                        <a:spcBef>
                          <a:spcPts val="0"/>
                        </a:spcBef>
                        <a:spcAft>
                          <a:spcPts val="200"/>
                        </a:spcAft>
                        <a:buFont typeface="Arial" panose="020B0604020202020204" pitchFamily="34" charset="0"/>
                        <a:buChar char="•"/>
                      </a:pPr>
                      <a:r>
                        <a:rPr lang="en-US" sz="1050"/>
                        <a:t>The completed current-state Unity Catalog &amp; IAM assessment from the Lovelytics team.</a:t>
                      </a:r>
                    </a:p>
                  </a:txBody>
                  <a:tcPr marL="73152" marR="73152" anchor="ctr"/>
                </a:tc>
                <a:tc>
                  <a:txBody>
                    <a:bodyPr/>
                    <a:lstStyle/>
                    <a:p>
                      <a:pPr>
                        <a:spcBef>
                          <a:spcPts val="0"/>
                        </a:spcBef>
                        <a:spcAft>
                          <a:spcPts val="0"/>
                        </a:spcAft>
                      </a:pPr>
                      <a:r>
                        <a:rPr lang="en-US" sz="1050"/>
                        <a:t>Architecture, Security, and Platform Teams</a:t>
                      </a:r>
                    </a:p>
                  </a:txBody>
                  <a:tcPr marL="73152" marR="73152" anchor="ctr"/>
                </a:tc>
                <a:extLst>
                  <a:ext uri="{0D108BD9-81ED-4DB2-BD59-A6C34878D82A}">
                    <a16:rowId xmlns:a16="http://schemas.microsoft.com/office/drawing/2014/main" val="10001"/>
                  </a:ext>
                </a:extLst>
              </a:tr>
              <a:tr h="700000">
                <a:tc>
                  <a:txBody>
                    <a:bodyPr/>
                    <a:lstStyle/>
                    <a:p>
                      <a:pPr>
                        <a:spcBef>
                          <a:spcPts val="0"/>
                        </a:spcBef>
                        <a:spcAft>
                          <a:spcPts val="0"/>
                        </a:spcAft>
                      </a:pPr>
                      <a:r>
                        <a:rPr lang="en-US" sz="1050" b="1"/>
                        <a:t>2. System &amp; Environment Access</a:t>
                      </a:r>
                    </a:p>
                  </a:txBody>
                  <a:tcPr marL="73152" marR="73152" anchor="ctr"/>
                </a:tc>
                <a:tc>
                  <a:txBody>
                    <a:bodyPr/>
                    <a:lstStyle/>
                    <a:p>
                      <a:pPr marL="171450" indent="-171450">
                        <a:spcBef>
                          <a:spcPts val="0"/>
                        </a:spcBef>
                        <a:spcAft>
                          <a:spcPts val="200"/>
                        </a:spcAft>
                        <a:buFont typeface="Arial" panose="020B0604020202020204" pitchFamily="34" charset="0"/>
                        <a:buChar char="•"/>
                      </a:pPr>
                      <a:r>
                        <a:rPr lang="en-US" sz="1050"/>
                        <a:t>Read-only access to Azure and Databricks production and non-production environments for the KPMG architecture team.</a:t>
                      </a:r>
                    </a:p>
                    <a:p>
                      <a:pPr marL="171450" indent="-171450">
                        <a:spcBef>
                          <a:spcPts val="0"/>
                        </a:spcBef>
                        <a:spcAft>
                          <a:spcPts val="200"/>
                        </a:spcAft>
                        <a:buFont typeface="Arial" panose="020B0604020202020204" pitchFamily="34" charset="0"/>
                        <a:buChar char="•"/>
                      </a:pPr>
                      <a:r>
                        <a:rPr lang="en-US" sz="1050"/>
                        <a:t>Provisional VDI access for the core delivery team by mid-October to prevent onboarding delays.</a:t>
                      </a:r>
                    </a:p>
                    <a:p>
                      <a:pPr marL="171450" indent="-171450">
                        <a:spcBef>
                          <a:spcPts val="0"/>
                        </a:spcBef>
                        <a:spcAft>
                          <a:spcPts val="200"/>
                        </a:spcAft>
                        <a:buFont typeface="Arial" panose="020B0604020202020204" pitchFamily="34" charset="0"/>
                        <a:buChar char="•"/>
                      </a:pPr>
                      <a:r>
                        <a:rPr lang="en-US" sz="1050"/>
                        <a:t>Access to Splunk exports, usage data, and source code for key applications to understand data sources.</a:t>
                      </a:r>
                    </a:p>
                  </a:txBody>
                  <a:tcPr marL="73152" marR="73152" anchor="ctr"/>
                </a:tc>
                <a:tc>
                  <a:txBody>
                    <a:bodyPr/>
                    <a:lstStyle/>
                    <a:p>
                      <a:pPr>
                        <a:spcBef>
                          <a:spcPts val="0"/>
                        </a:spcBef>
                        <a:spcAft>
                          <a:spcPts val="0"/>
                        </a:spcAft>
                      </a:pPr>
                      <a:r>
                        <a:rPr lang="en-US" sz="1050"/>
                        <a:t>Platform and IT Operations Teams</a:t>
                      </a:r>
                    </a:p>
                  </a:txBody>
                  <a:tcPr marL="73152" marR="73152" anchor="ctr"/>
                </a:tc>
                <a:extLst>
                  <a:ext uri="{0D108BD9-81ED-4DB2-BD59-A6C34878D82A}">
                    <a16:rowId xmlns:a16="http://schemas.microsoft.com/office/drawing/2014/main" val="10002"/>
                  </a:ext>
                </a:extLst>
              </a:tr>
              <a:tr h="600000">
                <a:tc>
                  <a:txBody>
                    <a:bodyPr/>
                    <a:lstStyle/>
                    <a:p>
                      <a:pPr>
                        <a:spcBef>
                          <a:spcPts val="0"/>
                        </a:spcBef>
                        <a:spcAft>
                          <a:spcPts val="0"/>
                        </a:spcAft>
                      </a:pPr>
                      <a:r>
                        <a:rPr lang="en-US" sz="1050" b="1"/>
                        <a:t>3. Stakeholder &amp; SME Availability</a:t>
                      </a:r>
                    </a:p>
                  </a:txBody>
                  <a:tcPr marL="73152" marR="73152" anchor="ctr"/>
                </a:tc>
                <a:tc>
                  <a:txBody>
                    <a:bodyPr/>
                    <a:lstStyle/>
                    <a:p>
                      <a:pPr marL="171450" indent="-171450">
                        <a:spcBef>
                          <a:spcPts val="0"/>
                        </a:spcBef>
                        <a:spcAft>
                          <a:spcPts val="200"/>
                        </a:spcAft>
                        <a:buFont typeface="Arial" panose="020B0604020202020204" pitchFamily="34" charset="0"/>
                        <a:buChar char="•"/>
                      </a:pPr>
                      <a:r>
                        <a:rPr lang="en-US" sz="1050"/>
                        <a:t>A list of primary contacts and nominated SMEs for each technical domain (e.g., Networking, Security, Databricks Platform, Cribl).</a:t>
                      </a:r>
                    </a:p>
                    <a:p>
                      <a:pPr marL="171450" indent="-171450">
                        <a:spcBef>
                          <a:spcPts val="0"/>
                        </a:spcBef>
                        <a:spcAft>
                          <a:spcPts val="200"/>
                        </a:spcAft>
                        <a:buFont typeface="Arial" panose="020B0604020202020204" pitchFamily="34" charset="0"/>
                        <a:buChar char="•"/>
                      </a:pPr>
                      <a:r>
                        <a:rPr lang="en-US" sz="1050"/>
                        <a:t>Confirmed availability for the initial 2-day kickoff workshop and subsequent deep-dive sessions.</a:t>
                      </a:r>
                    </a:p>
                  </a:txBody>
                  <a:tcPr marL="73152" marR="73152" anchor="ctr"/>
                </a:tc>
                <a:tc>
                  <a:txBody>
                    <a:bodyPr/>
                    <a:lstStyle/>
                    <a:p>
                      <a:pPr>
                        <a:spcBef>
                          <a:spcPts val="0"/>
                        </a:spcBef>
                        <a:spcAft>
                          <a:spcPts val="0"/>
                        </a:spcAft>
                      </a:pPr>
                      <a:r>
                        <a:rPr lang="en-US" sz="1050"/>
                        <a:t>Project and Program Leadership</a:t>
                      </a:r>
                    </a:p>
                  </a:txBody>
                  <a:tcPr marL="73152" marR="73152" anchor="ctr"/>
                </a:tc>
                <a:extLst>
                  <a:ext uri="{0D108BD9-81ED-4DB2-BD59-A6C34878D82A}">
                    <a16:rowId xmlns:a16="http://schemas.microsoft.com/office/drawing/2014/main" val="10003"/>
                  </a:ext>
                </a:extLst>
              </a:tr>
              <a:tr h="600000">
                <a:tc>
                  <a:txBody>
                    <a:bodyPr/>
                    <a:lstStyle/>
                    <a:p>
                      <a:pPr>
                        <a:spcBef>
                          <a:spcPts val="0"/>
                        </a:spcBef>
                        <a:spcAft>
                          <a:spcPts val="0"/>
                        </a:spcAft>
                      </a:pPr>
                      <a:r>
                        <a:rPr lang="en-US" sz="1050" b="1"/>
                        <a:t>4. Approvals &amp; Governance</a:t>
                      </a:r>
                    </a:p>
                  </a:txBody>
                  <a:tcPr marL="73152" marR="73152" anchor="ctr"/>
                </a:tc>
                <a:tc>
                  <a:txBody>
                    <a:bodyPr/>
                    <a:lstStyle/>
                    <a:p>
                      <a:pPr marL="171450" indent="-171450">
                        <a:spcBef>
                          <a:spcPts val="0"/>
                        </a:spcBef>
                        <a:spcAft>
                          <a:spcPts val="200"/>
                        </a:spcAft>
                        <a:buFont typeface="Arial" panose="020B0604020202020204" pitchFamily="34" charset="0"/>
                        <a:buChar char="•"/>
                      </a:pPr>
                      <a:r>
                        <a:rPr lang="en-US" sz="1050"/>
                        <a:t>Formal agreement from CVS Architecture Leads on the proposed 26-50 Bronze Delta table model.</a:t>
                      </a:r>
                    </a:p>
                    <a:p>
                      <a:pPr marL="171450" indent="-171450">
                        <a:spcBef>
                          <a:spcPts val="0"/>
                        </a:spcBef>
                        <a:spcAft>
                          <a:spcPts val="200"/>
                        </a:spcAft>
                        <a:buFont typeface="Arial" panose="020B0604020202020204" pitchFamily="34" charset="0"/>
                        <a:buChar char="•"/>
                      </a:pPr>
                      <a:r>
                        <a:rPr lang="en-US" sz="1050"/>
                        <a:t>A clear point of contact for timely decisions regarding infrastructure changes and security remediation approvals.</a:t>
                      </a:r>
                    </a:p>
                  </a:txBody>
                  <a:tcPr marL="73152" marR="73152" anchor="ctr"/>
                </a:tc>
                <a:tc>
                  <a:txBody>
                    <a:bodyPr/>
                    <a:lstStyle/>
                    <a:p>
                      <a:pPr>
                        <a:spcBef>
                          <a:spcPts val="0"/>
                        </a:spcBef>
                        <a:spcAft>
                          <a:spcPts val="0"/>
                        </a:spcAft>
                      </a:pPr>
                      <a:r>
                        <a:rPr lang="en-US" sz="1050"/>
                        <a:t>Architecture Review Board and Security Leadership</a:t>
                      </a:r>
                    </a:p>
                  </a:txBody>
                  <a:tcPr marL="73152" marR="73152"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98540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891CE11-7B69-0261-DD22-073487961E23}"/>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4" name="thinkcell data - do not delete" hidden="1">
                        <a:extLst>
                          <a:ext uri="{FF2B5EF4-FFF2-40B4-BE49-F238E27FC236}">
                            <a16:creationId xmlns:a16="http://schemas.microsoft.com/office/drawing/2014/main" id="{F891CE11-7B69-0261-DD22-073487961E2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p:txBody>
          <a:bodyPr vert="horz" rIns="0"/>
          <a:lstStyle/>
          <a:p>
            <a:r>
              <a:rPr lang="en-US"/>
              <a:t>Workstream A – Proposed Meetings</a:t>
            </a:r>
            <a:br>
              <a:rPr lang="en-US"/>
            </a:br>
            <a:r>
              <a:rPr lang="en-US" sz="1600" b="0"/>
              <a:t>Operating rhythm for the first two months</a:t>
            </a:r>
            <a:endParaRPr lang="en-US" sz="1600"/>
          </a:p>
        </p:txBody>
      </p:sp>
      <p:sp>
        <p:nvSpPr>
          <p:cNvPr id="2" name="Content Placeholder 1"/>
          <p:cNvSpPr>
            <a:spLocks noGrp="1"/>
          </p:cNvSpPr>
          <p:nvPr>
            <p:ph idx="1"/>
          </p:nvPr>
        </p:nvSpPr>
        <p:spPr>
          <a:xfrm>
            <a:off x="587375" y="1494292"/>
            <a:ext cx="11028363" cy="520000"/>
          </a:xfrm>
        </p:spPr>
        <p:txBody>
          <a:bodyPr>
            <a:normAutofit/>
          </a:bodyPr>
          <a:lstStyle/>
          <a:p>
            <a:pPr>
              <a:spcBef>
                <a:spcPts val="0"/>
              </a:spcBef>
            </a:pPr>
            <a:r>
              <a:rPr lang="en-US" sz="1200" b="0"/>
              <a:t>To establish a strong operating rhythm, we propose the following meeting schedule for the first two months. This cadence is designed to drive alignment, facilitate rapid decision-making, and ensure all stakeholders remain synchronized.</a:t>
            </a:r>
          </a:p>
        </p:txBody>
      </p:sp>
      <p:graphicFrame>
        <p:nvGraphicFramePr>
          <p:cNvPr id="10" name="Proposed Meetings Table"/>
          <p:cNvGraphicFramePr>
            <a:graphicFrameLocks noGrp="1"/>
          </p:cNvGraphicFramePr>
          <p:nvPr/>
        </p:nvGraphicFramePr>
        <p:xfrm>
          <a:off x="587375" y="2080000"/>
          <a:ext cx="11028363" cy="3630000"/>
        </p:xfrm>
        <a:graphic>
          <a:graphicData uri="http://schemas.openxmlformats.org/drawingml/2006/table">
            <a:tbl>
              <a:tblPr firstRow="1" bandRow="1">
                <a:tableStyleId>{08FB837D-C827-4EFA-A057-4D05807E0F7C}</a:tableStyleId>
              </a:tblPr>
              <a:tblGrid>
                <a:gridCol w="2750000">
                  <a:extLst>
                    <a:ext uri="{9D8B030D-6E8A-4147-A177-3AD203B41FA5}">
                      <a16:colId xmlns:a16="http://schemas.microsoft.com/office/drawing/2014/main" val="20000"/>
                    </a:ext>
                  </a:extLst>
                </a:gridCol>
                <a:gridCol w="1600000">
                  <a:extLst>
                    <a:ext uri="{9D8B030D-6E8A-4147-A177-3AD203B41FA5}">
                      <a16:colId xmlns:a16="http://schemas.microsoft.com/office/drawing/2014/main" val="20001"/>
                    </a:ext>
                  </a:extLst>
                </a:gridCol>
                <a:gridCol w="6678363">
                  <a:extLst>
                    <a:ext uri="{9D8B030D-6E8A-4147-A177-3AD203B41FA5}">
                      <a16:colId xmlns:a16="http://schemas.microsoft.com/office/drawing/2014/main" val="20002"/>
                    </a:ext>
                  </a:extLst>
                </a:gridCol>
              </a:tblGrid>
              <a:tr h="290000">
                <a:tc>
                  <a:txBody>
                    <a:bodyPr/>
                    <a:lstStyle/>
                    <a:p>
                      <a:pPr>
                        <a:spcBef>
                          <a:spcPts val="0"/>
                        </a:spcBef>
                        <a:spcAft>
                          <a:spcPts val="0"/>
                        </a:spcAft>
                      </a:pPr>
                      <a:r>
                        <a:rPr lang="en-US" sz="1100"/>
                        <a:t>Meeting</a:t>
                      </a:r>
                    </a:p>
                  </a:txBody>
                  <a:tcPr marL="73152" marR="73152" anchor="ctr"/>
                </a:tc>
                <a:tc>
                  <a:txBody>
                    <a:bodyPr/>
                    <a:lstStyle/>
                    <a:p>
                      <a:pPr>
                        <a:spcBef>
                          <a:spcPts val="0"/>
                        </a:spcBef>
                        <a:spcAft>
                          <a:spcPts val="0"/>
                        </a:spcAft>
                      </a:pPr>
                      <a:r>
                        <a:rPr lang="en-US" sz="1100"/>
                        <a:t>Date(s)</a:t>
                      </a:r>
                    </a:p>
                  </a:txBody>
                  <a:tcPr marL="73152" marR="73152" anchor="ctr"/>
                </a:tc>
                <a:tc>
                  <a:txBody>
                    <a:bodyPr/>
                    <a:lstStyle/>
                    <a:p>
                      <a:pPr>
                        <a:spcBef>
                          <a:spcPts val="0"/>
                        </a:spcBef>
                        <a:spcAft>
                          <a:spcPts val="0"/>
                        </a:spcAft>
                      </a:pPr>
                      <a:r>
                        <a:rPr lang="en-US" sz="1100"/>
                        <a:t>Purpose &amp; Key Attendees</a:t>
                      </a:r>
                    </a:p>
                  </a:txBody>
                  <a:tcPr marL="73152" marR="73152" anchor="ctr"/>
                </a:tc>
                <a:extLst>
                  <a:ext uri="{0D108BD9-81ED-4DB2-BD59-A6C34878D82A}">
                    <a16:rowId xmlns:a16="http://schemas.microsoft.com/office/drawing/2014/main" val="10000"/>
                  </a:ext>
                </a:extLst>
              </a:tr>
              <a:tr h="270000">
                <a:tc gridSpan="3">
                  <a:txBody>
                    <a:bodyPr/>
                    <a:lstStyle/>
                    <a:p>
                      <a:pPr>
                        <a:spcBef>
                          <a:spcPts val="0"/>
                        </a:spcBef>
                        <a:spcAft>
                          <a:spcPts val="0"/>
                        </a:spcAft>
                      </a:pPr>
                      <a:r>
                        <a:rPr lang="en-US" sz="1100" b="1">
                          <a:solidFill>
                            <a:schemeClr val="bg1"/>
                          </a:solidFill>
                        </a:rPr>
                        <a:t>Month 1: October 2026 – Kickoff &amp; Deep-Dive Sessions</a:t>
                      </a:r>
                    </a:p>
                  </a:txBody>
                  <a:tcPr marL="73152" marR="73152" anchor="ctr">
                    <a:solidFill>
                      <a:srgbClr val="0A4B8C"/>
                    </a:solidFill>
                  </a:tcPr>
                </a:tc>
                <a:tc hMerge="1">
                  <a:txBody>
                    <a:bodyPr/>
                    <a:lstStyle/>
                    <a:p>
                      <a:endParaRPr lang="en-US" sz="1000"/>
                    </a:p>
                  </a:txBody>
                  <a:tcPr marL="73152" marR="73152" anchor="ctr">
                    <a:solidFill>
                      <a:srgbClr val="0A4B8C"/>
                    </a:solidFill>
                  </a:tcPr>
                </a:tc>
                <a:tc hMerge="1">
                  <a:txBody>
                    <a:bodyPr/>
                    <a:lstStyle/>
                    <a:p>
                      <a:endParaRPr lang="en-US" sz="1000"/>
                    </a:p>
                  </a:txBody>
                  <a:tcPr marL="73152" marR="73152" anchor="ctr">
                    <a:solidFill>
                      <a:srgbClr val="0A4B8C"/>
                    </a:solidFill>
                  </a:tcPr>
                </a:tc>
                <a:extLst>
                  <a:ext uri="{0D108BD9-81ED-4DB2-BD59-A6C34878D82A}">
                    <a16:rowId xmlns:a16="http://schemas.microsoft.com/office/drawing/2014/main" val="10001"/>
                  </a:ext>
                </a:extLst>
              </a:tr>
              <a:tr h="400000">
                <a:tc>
                  <a:txBody>
                    <a:bodyPr/>
                    <a:lstStyle/>
                    <a:p>
                      <a:pPr>
                        <a:spcBef>
                          <a:spcPts val="0"/>
                        </a:spcBef>
                        <a:spcAft>
                          <a:spcPts val="0"/>
                        </a:spcAft>
                      </a:pPr>
                      <a:r>
                        <a:rPr lang="en-US" sz="1000" b="1"/>
                        <a:t>Project Kickoff &amp; Medallion Architecture Workshop (Day 1)</a:t>
                      </a:r>
                    </a:p>
                  </a:txBody>
                  <a:tcPr marL="73152" marR="73152" anchor="ctr"/>
                </a:tc>
                <a:tc>
                  <a:txBody>
                    <a:bodyPr/>
                    <a:lstStyle/>
                    <a:p>
                      <a:pPr>
                        <a:spcBef>
                          <a:spcPts val="0"/>
                        </a:spcBef>
                        <a:spcAft>
                          <a:spcPts val="0"/>
                        </a:spcAft>
                      </a:pPr>
                      <a:r>
                        <a:rPr lang="en-US" sz="1000"/>
                        <a:t>Oct 14, 2026</a:t>
                      </a:r>
                    </a:p>
                  </a:txBody>
                  <a:tcPr marL="73152" marR="73152" anchor="ctr"/>
                </a:tc>
                <a:tc>
                  <a:txBody>
                    <a:bodyPr/>
                    <a:lstStyle/>
                    <a:p>
                      <a:pPr>
                        <a:spcBef>
                          <a:spcPts val="0"/>
                        </a:spcBef>
                        <a:spcAft>
                          <a:spcPts val="0"/>
                        </a:spcAft>
                      </a:pPr>
                      <a:r>
                        <a:rPr lang="en-US" sz="1000"/>
                        <a:t>Align all stakeholders (CVS, KPMG, Databricks, Microsoft, Scicom) on project goals, scope, and target-state architectural objectives. Review current-state platform and data ingestion sources.</a:t>
                      </a:r>
                    </a:p>
                  </a:txBody>
                  <a:tcPr marL="73152" marR="73152" anchor="ctr"/>
                </a:tc>
                <a:extLst>
                  <a:ext uri="{0D108BD9-81ED-4DB2-BD59-A6C34878D82A}">
                    <a16:rowId xmlns:a16="http://schemas.microsoft.com/office/drawing/2014/main" val="10002"/>
                  </a:ext>
                </a:extLst>
              </a:tr>
              <a:tr h="400000">
                <a:tc>
                  <a:txBody>
                    <a:bodyPr/>
                    <a:lstStyle/>
                    <a:p>
                      <a:pPr>
                        <a:spcBef>
                          <a:spcPts val="0"/>
                        </a:spcBef>
                        <a:spcAft>
                          <a:spcPts val="0"/>
                        </a:spcAft>
                      </a:pPr>
                      <a:r>
                        <a:rPr lang="en-US" sz="1000" b="1"/>
                        <a:t>Project Kickoff &amp; Medallion Architecture Workshop (Day 2)</a:t>
                      </a:r>
                    </a:p>
                  </a:txBody>
                  <a:tcPr marL="73152" marR="73152" anchor="ctr"/>
                </a:tc>
                <a:tc>
                  <a:txBody>
                    <a:bodyPr/>
                    <a:lstStyle/>
                    <a:p>
                      <a:pPr>
                        <a:spcBef>
                          <a:spcPts val="0"/>
                        </a:spcBef>
                        <a:spcAft>
                          <a:spcPts val="0"/>
                        </a:spcAft>
                      </a:pPr>
                      <a:r>
                        <a:rPr lang="en-US" sz="1000"/>
                        <a:t>Oct 15, 2026</a:t>
                      </a:r>
                    </a:p>
                  </a:txBody>
                  <a:tcPr marL="73152" marR="73152" anchor="ctr"/>
                </a:tc>
                <a:tc>
                  <a:txBody>
                    <a:bodyPr/>
                    <a:lstStyle/>
                    <a:p>
                      <a:pPr>
                        <a:spcBef>
                          <a:spcPts val="0"/>
                        </a:spcBef>
                        <a:spcAft>
                          <a:spcPts val="0"/>
                        </a:spcAft>
                      </a:pPr>
                      <a:r>
                        <a:rPr lang="en-US" sz="1000"/>
                        <a:t>Conduct breakout sessions to design the Bronze, Silver, and Gold layers. Agree on the optimal Medallion architecture and define clear, actionable next steps.</a:t>
                      </a:r>
                    </a:p>
                  </a:txBody>
                  <a:tcPr marL="73152" marR="73152" anchor="ctr"/>
                </a:tc>
                <a:extLst>
                  <a:ext uri="{0D108BD9-81ED-4DB2-BD59-A6C34878D82A}">
                    <a16:rowId xmlns:a16="http://schemas.microsoft.com/office/drawing/2014/main" val="10003"/>
                  </a:ext>
                </a:extLst>
              </a:tr>
              <a:tr h="400000">
                <a:tc>
                  <a:txBody>
                    <a:bodyPr/>
                    <a:lstStyle/>
                    <a:p>
                      <a:pPr>
                        <a:spcBef>
                          <a:spcPts val="0"/>
                        </a:spcBef>
                        <a:spcAft>
                          <a:spcPts val="0"/>
                        </a:spcAft>
                      </a:pPr>
                      <a:r>
                        <a:rPr lang="en-US" sz="1000" b="1"/>
                        <a:t>Weekly Architecture Deep-Dive Series</a:t>
                      </a:r>
                    </a:p>
                  </a:txBody>
                  <a:tcPr marL="73152" marR="73152" anchor="ctr"/>
                </a:tc>
                <a:tc>
                  <a:txBody>
                    <a:bodyPr/>
                    <a:lstStyle/>
                    <a:p>
                      <a:pPr>
                        <a:spcBef>
                          <a:spcPts val="0"/>
                        </a:spcBef>
                        <a:spcAft>
                          <a:spcPts val="0"/>
                        </a:spcAft>
                      </a:pPr>
                      <a:r>
                        <a:rPr lang="en-US" sz="1000"/>
                        <a:t>Weekly (Tuesdays)</a:t>
                      </a:r>
                    </a:p>
                  </a:txBody>
                  <a:tcPr marL="73152" marR="73152" anchor="ctr"/>
                </a:tc>
                <a:tc>
                  <a:txBody>
                    <a:bodyPr/>
                    <a:lstStyle/>
                    <a:p>
                      <a:pPr>
                        <a:spcBef>
                          <a:spcPts val="0"/>
                        </a:spcBef>
                        <a:spcAft>
                          <a:spcPts val="0"/>
                        </a:spcAft>
                      </a:pPr>
                      <a:r>
                        <a:rPr lang="en-US" sz="1000"/>
                        <a:t>Technical working sessions focused on specific domains (e.g., Unity Catalog, Security Controls, CI/CD).</a:t>
                      </a:r>
                      <a:r>
                        <a:rPr lang="en-US" sz="1000" b="1"/>
                        <a:t> Attendees: </a:t>
                      </a:r>
                      <a:r>
                        <a:rPr lang="en-US" sz="1000"/>
                        <a:t>KPMG architects and relevant CVS SMEs.</a:t>
                      </a:r>
                    </a:p>
                  </a:txBody>
                  <a:tcPr marL="73152" marR="73152" anchor="ctr"/>
                </a:tc>
                <a:extLst>
                  <a:ext uri="{0D108BD9-81ED-4DB2-BD59-A6C34878D82A}">
                    <a16:rowId xmlns:a16="http://schemas.microsoft.com/office/drawing/2014/main" val="10004"/>
                  </a:ext>
                </a:extLst>
              </a:tr>
              <a:tr h="400000">
                <a:tc>
                  <a:txBody>
                    <a:bodyPr/>
                    <a:lstStyle/>
                    <a:p>
                      <a:pPr>
                        <a:spcBef>
                          <a:spcPts val="0"/>
                        </a:spcBef>
                        <a:spcAft>
                          <a:spcPts val="0"/>
                        </a:spcAft>
                      </a:pPr>
                      <a:r>
                        <a:rPr lang="en-US" sz="1000" b="1"/>
                        <a:t>Weekly PMO &amp; Governance Sync</a:t>
                      </a:r>
                    </a:p>
                  </a:txBody>
                  <a:tcPr marL="73152" marR="73152" anchor="ctr"/>
                </a:tc>
                <a:tc>
                  <a:txBody>
                    <a:bodyPr/>
                    <a:lstStyle/>
                    <a:p>
                      <a:pPr>
                        <a:spcBef>
                          <a:spcPts val="0"/>
                        </a:spcBef>
                        <a:spcAft>
                          <a:spcPts val="0"/>
                        </a:spcAft>
                      </a:pPr>
                      <a:r>
                        <a:rPr lang="en-US" sz="1000"/>
                        <a:t>Weekly (Mondays)</a:t>
                      </a:r>
                    </a:p>
                  </a:txBody>
                  <a:tcPr marL="73152" marR="73152" anchor="ctr"/>
                </a:tc>
                <a:tc>
                  <a:txBody>
                    <a:bodyPr/>
                    <a:lstStyle/>
                    <a:p>
                      <a:pPr>
                        <a:spcBef>
                          <a:spcPts val="0"/>
                        </a:spcBef>
                        <a:spcAft>
                          <a:spcPts val="0"/>
                        </a:spcAft>
                      </a:pPr>
                      <a:r>
                        <a:rPr lang="en-US" sz="1000"/>
                        <a:t>Review project status, track RAID log items, manage dependencies, and coordinate cross-workstream activities.</a:t>
                      </a:r>
                      <a:r>
                        <a:rPr lang="en-US" sz="1000" b="1"/>
                        <a:t> Attendees: </a:t>
                      </a:r>
                      <a:r>
                        <a:rPr lang="en-US" sz="1000"/>
                        <a:t>Project Managers from all parties.</a:t>
                      </a:r>
                    </a:p>
                  </a:txBody>
                  <a:tcPr marL="73152" marR="73152" anchor="ctr"/>
                </a:tc>
                <a:extLst>
                  <a:ext uri="{0D108BD9-81ED-4DB2-BD59-A6C34878D82A}">
                    <a16:rowId xmlns:a16="http://schemas.microsoft.com/office/drawing/2014/main" val="10005"/>
                  </a:ext>
                </a:extLst>
              </a:tr>
              <a:tr h="270000">
                <a:tc gridSpan="3">
                  <a:txBody>
                    <a:bodyPr/>
                    <a:lstStyle/>
                    <a:p>
                      <a:pPr>
                        <a:spcBef>
                          <a:spcPts val="0"/>
                        </a:spcBef>
                        <a:spcAft>
                          <a:spcPts val="0"/>
                        </a:spcAft>
                      </a:pPr>
                      <a:r>
                        <a:rPr lang="en-US" sz="1100" b="1">
                          <a:solidFill>
                            <a:schemeClr val="bg1"/>
                          </a:solidFill>
                        </a:rPr>
                        <a:t>Month 2: November 2026 – Remediation Planning &amp; Change Freeze Prep</a:t>
                      </a:r>
                    </a:p>
                  </a:txBody>
                  <a:tcPr marL="73152" marR="73152" anchor="ctr">
                    <a:solidFill>
                      <a:srgbClr val="0A4B8C"/>
                    </a:solidFill>
                  </a:tcPr>
                </a:tc>
                <a:tc hMerge="1">
                  <a:txBody>
                    <a:bodyPr/>
                    <a:lstStyle/>
                    <a:p>
                      <a:endParaRPr lang="en-US" sz="1000"/>
                    </a:p>
                  </a:txBody>
                  <a:tcPr marL="73152" marR="73152" anchor="ctr">
                    <a:solidFill>
                      <a:srgbClr val="0A4B8C"/>
                    </a:solidFill>
                  </a:tcPr>
                </a:tc>
                <a:tc hMerge="1">
                  <a:txBody>
                    <a:bodyPr/>
                    <a:lstStyle/>
                    <a:p>
                      <a:endParaRPr lang="en-US" sz="1000"/>
                    </a:p>
                  </a:txBody>
                  <a:tcPr marL="73152" marR="73152" anchor="ctr">
                    <a:solidFill>
                      <a:srgbClr val="0A4B8C"/>
                    </a:solidFill>
                  </a:tcPr>
                </a:tc>
                <a:extLst>
                  <a:ext uri="{0D108BD9-81ED-4DB2-BD59-A6C34878D82A}">
                    <a16:rowId xmlns:a16="http://schemas.microsoft.com/office/drawing/2014/main" val="10006"/>
                  </a:ext>
                </a:extLst>
              </a:tr>
              <a:tr h="400000">
                <a:tc>
                  <a:txBody>
                    <a:bodyPr/>
                    <a:lstStyle/>
                    <a:p>
                      <a:pPr>
                        <a:spcBef>
                          <a:spcPts val="0"/>
                        </a:spcBef>
                        <a:spcAft>
                          <a:spcPts val="0"/>
                        </a:spcAft>
                      </a:pPr>
                      <a:r>
                        <a:rPr lang="en-US" sz="1000" b="1"/>
                        <a:t>Bi-Weekly Executive Steering Committee</a:t>
                      </a:r>
                    </a:p>
                  </a:txBody>
                  <a:tcPr marL="73152" marR="73152" anchor="ctr"/>
                </a:tc>
                <a:tc>
                  <a:txBody>
                    <a:bodyPr/>
                    <a:lstStyle/>
                    <a:p>
                      <a:pPr>
                        <a:spcBef>
                          <a:spcPts val="0"/>
                        </a:spcBef>
                        <a:spcAft>
                          <a:spcPts val="0"/>
                        </a:spcAft>
                      </a:pPr>
                      <a:r>
                        <a:rPr lang="en-US" sz="1000"/>
                        <a:t>Bi-Weekly (Wednesdays)</a:t>
                      </a:r>
                    </a:p>
                  </a:txBody>
                  <a:tcPr marL="73152" marR="73152" anchor="ctr"/>
                </a:tc>
                <a:tc>
                  <a:txBody>
                    <a:bodyPr/>
                    <a:lstStyle/>
                    <a:p>
                      <a:pPr>
                        <a:spcBef>
                          <a:spcPts val="0"/>
                        </a:spcBef>
                        <a:spcAft>
                          <a:spcPts val="0"/>
                        </a:spcAft>
                      </a:pPr>
                      <a:r>
                        <a:rPr lang="en-US" sz="1000"/>
                        <a:t>Provide executive sponsors with progress updates, highlight key decisions needed, and report on milestone achievements and budget burn.</a:t>
                      </a:r>
                      <a:r>
                        <a:rPr lang="en-US" sz="1000" b="1"/>
                        <a:t> Attendees: </a:t>
                      </a:r>
                      <a:r>
                        <a:rPr lang="en-US" sz="1000"/>
                        <a:t>Executive leadership from CVS and KPMG.</a:t>
                      </a:r>
                    </a:p>
                  </a:txBody>
                  <a:tcPr marL="73152" marR="73152" anchor="ctr"/>
                </a:tc>
                <a:extLst>
                  <a:ext uri="{0D108BD9-81ED-4DB2-BD59-A6C34878D82A}">
                    <a16:rowId xmlns:a16="http://schemas.microsoft.com/office/drawing/2014/main" val="10007"/>
                  </a:ext>
                </a:extLst>
              </a:tr>
              <a:tr h="400000">
                <a:tc>
                  <a:txBody>
                    <a:bodyPr/>
                    <a:lstStyle/>
                    <a:p>
                      <a:pPr>
                        <a:spcBef>
                          <a:spcPts val="0"/>
                        </a:spcBef>
                        <a:spcAft>
                          <a:spcPts val="0"/>
                        </a:spcAft>
                      </a:pPr>
                      <a:r>
                        <a:rPr lang="en-US" sz="1000" b="1"/>
                        <a:t>Change Freeze Critical Path Review</a:t>
                      </a:r>
                    </a:p>
                  </a:txBody>
                  <a:tcPr marL="73152" marR="73152" anchor="ctr"/>
                </a:tc>
                <a:tc>
                  <a:txBody>
                    <a:bodyPr/>
                    <a:lstStyle/>
                    <a:p>
                      <a:pPr>
                        <a:spcBef>
                          <a:spcPts val="0"/>
                        </a:spcBef>
                        <a:spcAft>
                          <a:spcPts val="0"/>
                        </a:spcAft>
                      </a:pPr>
                      <a:r>
                        <a:rPr lang="en-US" sz="1000"/>
                        <a:t>Nov 6 &amp; Nov 20</a:t>
                      </a:r>
                    </a:p>
                  </a:txBody>
                  <a:tcPr marL="73152" marR="73152" anchor="ctr"/>
                </a:tc>
                <a:tc>
                  <a:txBody>
                    <a:bodyPr/>
                    <a:lstStyle/>
                    <a:p>
                      <a:pPr>
                        <a:spcBef>
                          <a:spcPts val="0"/>
                        </a:spcBef>
                        <a:spcAft>
                          <a:spcPts val="0"/>
                        </a:spcAft>
                      </a:pPr>
                      <a:r>
                        <a:rPr lang="en-US" sz="1000"/>
                        <a:t>A dedicated meeting to track progress on all activities that must be completed before the December 1st change freeze, focusing on data landing and network clearances.</a:t>
                      </a:r>
                      <a:r>
                        <a:rPr lang="en-US" sz="1000" b="1"/>
                        <a:t> Attendees: </a:t>
                      </a:r>
                      <a:r>
                        <a:rPr lang="en-US" sz="1000"/>
                        <a:t>All workstream leads.</a:t>
                      </a:r>
                    </a:p>
                  </a:txBody>
                  <a:tcPr marL="73152" marR="73152" anchor="ctr"/>
                </a:tc>
                <a:extLst>
                  <a:ext uri="{0D108BD9-81ED-4DB2-BD59-A6C34878D82A}">
                    <a16:rowId xmlns:a16="http://schemas.microsoft.com/office/drawing/2014/main" val="10008"/>
                  </a:ext>
                </a:extLst>
              </a:tr>
              <a:tr h="400000">
                <a:tc>
                  <a:txBody>
                    <a:bodyPr/>
                    <a:lstStyle/>
                    <a:p>
                      <a:pPr>
                        <a:spcBef>
                          <a:spcPts val="0"/>
                        </a:spcBef>
                        <a:spcAft>
                          <a:spcPts val="0"/>
                        </a:spcAft>
                      </a:pPr>
                      <a:r>
                        <a:rPr lang="en-US" sz="1000" b="1"/>
                        <a:t>Architecture Remediation Planning Session</a:t>
                      </a:r>
                    </a:p>
                  </a:txBody>
                  <a:tcPr marL="73152" marR="73152" anchor="ctr"/>
                </a:tc>
                <a:tc>
                  <a:txBody>
                    <a:bodyPr/>
                    <a:lstStyle/>
                    <a:p>
                      <a:pPr>
                        <a:spcBef>
                          <a:spcPts val="0"/>
                        </a:spcBef>
                        <a:spcAft>
                          <a:spcPts val="0"/>
                        </a:spcAft>
                      </a:pPr>
                      <a:r>
                        <a:rPr lang="en-US" sz="1000"/>
                        <a:t>Nov 13, 2026</a:t>
                      </a:r>
                    </a:p>
                  </a:txBody>
                  <a:tcPr marL="73152" marR="73152" anchor="ctr"/>
                </a:tc>
                <a:tc>
                  <a:txBody>
                    <a:bodyPr/>
                    <a:lstStyle/>
                    <a:p>
                      <a:pPr>
                        <a:spcBef>
                          <a:spcPts val="0"/>
                        </a:spcBef>
                        <a:spcAft>
                          <a:spcPts val="0"/>
                        </a:spcAft>
                      </a:pPr>
                      <a:r>
                        <a:rPr lang="en-US" sz="1000"/>
                        <a:t>Review the finalized gap analysis and agree on the prioritization and execution plan for all remediation activities.</a:t>
                      </a:r>
                      <a:r>
                        <a:rPr lang="en-US" sz="1000" b="1"/>
                        <a:t> Attendees: </a:t>
                      </a:r>
                      <a:r>
                        <a:rPr lang="en-US" sz="1000"/>
                        <a:t>KPMG and CVS architecture and security leads.</a:t>
                      </a:r>
                    </a:p>
                  </a:txBody>
                  <a:tcPr marL="73152" marR="73152" anchor="ct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6698261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664AC9F-4D8D-A638-6BA1-FBA836580323}"/>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01C28E55-60CB-4AE5-AE7C-2CC2CE81B1FE}"/>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6" name="thinkcell data - do not delete" hidden="1">
                        <a:extLst>
                          <a:ext uri="{FF2B5EF4-FFF2-40B4-BE49-F238E27FC236}">
                            <a16:creationId xmlns:a16="http://schemas.microsoft.com/office/drawing/2014/main" id="{01C28E55-60CB-4AE5-AE7C-2CC2CE81B1F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6">
            <a:extLst>
              <a:ext uri="{FF2B5EF4-FFF2-40B4-BE49-F238E27FC236}">
                <a16:creationId xmlns:a16="http://schemas.microsoft.com/office/drawing/2014/main" id="{566A819C-B499-D8DE-C680-976B9D855C18}"/>
              </a:ext>
            </a:extLst>
          </p:cNvPr>
          <p:cNvSpPr>
            <a:spLocks noGrp="1"/>
          </p:cNvSpPr>
          <p:nvPr>
            <p:ph type="title"/>
          </p:nvPr>
        </p:nvSpPr>
        <p:spPr/>
        <p:txBody>
          <a:bodyPr vert="horz" rIns="0"/>
          <a:lstStyle/>
          <a:p>
            <a:r>
              <a:rPr lang="en-US"/>
              <a:t>Workstream A - Architecture Assessment Framework - Planning</a:t>
            </a:r>
            <a:br>
              <a:rPr lang="en-US"/>
            </a:br>
            <a:r>
              <a:rPr lang="en-US" sz="1600" b="0"/>
              <a:t>Focus on  "how and when" of Milestone A.1 to establish operational clarity and alignment</a:t>
            </a:r>
            <a:br>
              <a:rPr lang="en-US" sz="1600" b="0" i="1"/>
            </a:br>
            <a:endParaRPr lang="en-US" sz="1600" b="0" i="1"/>
          </a:p>
        </p:txBody>
      </p:sp>
      <p:sp>
        <p:nvSpPr>
          <p:cNvPr id="9" name="Rectangle 8">
            <a:extLst>
              <a:ext uri="{FF2B5EF4-FFF2-40B4-BE49-F238E27FC236}">
                <a16:creationId xmlns:a16="http://schemas.microsoft.com/office/drawing/2014/main" id="{A02F56CD-7FC1-24BE-121A-116173AAED31}"/>
              </a:ext>
            </a:extLst>
          </p:cNvPr>
          <p:cNvSpPr/>
          <p:nvPr/>
        </p:nvSpPr>
        <p:spPr bwMode="gray">
          <a:xfrm>
            <a:off x="587375" y="1494292"/>
            <a:ext cx="5303520" cy="4581144"/>
          </a:xfrm>
          <a:prstGeom prst="rect">
            <a:avLst/>
          </a:prstGeom>
          <a:solidFill>
            <a:schemeClr val="bg1">
              <a:lumMod val="95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tIns="91440" bIns="91440" rtlCol="0" anchor="t"/>
          <a:lstStyle/>
          <a:p>
            <a:pPr algn="ctr"/>
            <a:r>
              <a:rPr lang="en-US" b="1">
                <a:solidFill>
                  <a:schemeClr val="tx2"/>
                </a:solidFill>
              </a:rPr>
              <a:t>Milestone A.1 Breakdown &amp; Timeline</a:t>
            </a:r>
          </a:p>
          <a:p>
            <a:endParaRPr lang="en-US" b="1">
              <a:solidFill>
                <a:schemeClr val="tx2"/>
              </a:solidFill>
            </a:endParaRPr>
          </a:p>
          <a:p>
            <a:pPr marL="285750" indent="-285750">
              <a:buFont typeface="Arial" panose="020B0604020202020204" pitchFamily="34" charset="0"/>
              <a:buChar char="•"/>
            </a:pPr>
            <a:r>
              <a:rPr lang="en-US" sz="1600" b="1">
                <a:solidFill>
                  <a:schemeClr val="tx2"/>
                </a:solidFill>
              </a:rPr>
              <a:t>Architecture Assessment (Weeks 1–6) </a:t>
            </a:r>
            <a:r>
              <a:rPr lang="en-US" sz="1600">
                <a:solidFill>
                  <a:schemeClr val="tx2"/>
                </a:solidFill>
              </a:rPr>
              <a:t>Deep-dive evaluation across 7 distinct technical domains to establish a validated technical baseline</a:t>
            </a:r>
          </a:p>
          <a:p>
            <a:endParaRPr lang="en-US" sz="1600" b="1">
              <a:solidFill>
                <a:schemeClr val="tx2"/>
              </a:solidFill>
            </a:endParaRPr>
          </a:p>
          <a:p>
            <a:pPr marL="285750" indent="-285750">
              <a:buFont typeface="Arial" panose="020B0604020202020204" pitchFamily="34" charset="0"/>
              <a:buChar char="•"/>
            </a:pPr>
            <a:r>
              <a:rPr lang="en-US" sz="1600" b="1">
                <a:solidFill>
                  <a:schemeClr val="tx2"/>
                </a:solidFill>
              </a:rPr>
              <a:t>Use Case Validation &amp; Pilot (Weeks 7–10) </a:t>
            </a:r>
            <a:r>
              <a:rPr lang="en-US" sz="1600">
                <a:solidFill>
                  <a:schemeClr val="tx2"/>
                </a:solidFill>
              </a:rPr>
              <a:t>End-to-end telemetry pipeline build, performance testing (validating up to 400 TB/day), and final workspace demonstration</a:t>
            </a:r>
          </a:p>
          <a:p>
            <a:endParaRPr lang="en-US" sz="1600" b="1">
              <a:solidFill>
                <a:schemeClr val="tx2"/>
              </a:solidFill>
            </a:endParaRPr>
          </a:p>
          <a:p>
            <a:pPr marL="285750" indent="-285750">
              <a:buFont typeface="Arial" panose="020B0604020202020204" pitchFamily="34" charset="0"/>
              <a:buChar char="•"/>
            </a:pPr>
            <a:r>
              <a:rPr lang="en-US" sz="1600" b="1">
                <a:solidFill>
                  <a:schemeClr val="tx2"/>
                </a:solidFill>
              </a:rPr>
              <a:t>Architecture Remediation Planning (Weeks 4–12) </a:t>
            </a:r>
            <a:r>
              <a:rPr lang="en-US" sz="1600">
                <a:solidFill>
                  <a:schemeClr val="tx2"/>
                </a:solidFill>
              </a:rPr>
              <a:t>Concurrent gap resolution, security mitigation, and collection of verification evidence</a:t>
            </a:r>
          </a:p>
          <a:p>
            <a:endParaRPr lang="en-US">
              <a:solidFill>
                <a:schemeClr val="tx2"/>
              </a:solidFill>
            </a:endParaRPr>
          </a:p>
          <a:p>
            <a:endParaRPr lang="en-US" b="1">
              <a:solidFill>
                <a:schemeClr val="tx2"/>
              </a:solidFill>
            </a:endParaRPr>
          </a:p>
        </p:txBody>
      </p:sp>
      <p:sp>
        <p:nvSpPr>
          <p:cNvPr id="13" name="Rectangle 12">
            <a:extLst>
              <a:ext uri="{FF2B5EF4-FFF2-40B4-BE49-F238E27FC236}">
                <a16:creationId xmlns:a16="http://schemas.microsoft.com/office/drawing/2014/main" id="{FCE08F45-1864-A99E-4DE3-E84458660381}"/>
              </a:ext>
            </a:extLst>
          </p:cNvPr>
          <p:cNvSpPr/>
          <p:nvPr/>
        </p:nvSpPr>
        <p:spPr bwMode="gray">
          <a:xfrm>
            <a:off x="6312218" y="1494292"/>
            <a:ext cx="5303520" cy="4581144"/>
          </a:xfrm>
          <a:prstGeom prst="rect">
            <a:avLst/>
          </a:prstGeom>
          <a:solidFill>
            <a:schemeClr val="bg1">
              <a:lumMod val="95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tIns="91440" rtlCol="0" anchor="t"/>
          <a:lstStyle/>
          <a:p>
            <a:pPr algn="ctr"/>
            <a:r>
              <a:rPr lang="en-US" b="1">
                <a:solidFill>
                  <a:schemeClr val="tx2"/>
                </a:solidFill>
              </a:rPr>
              <a:t>Key Deliverables</a:t>
            </a:r>
          </a:p>
          <a:p>
            <a:endParaRPr lang="en-US" b="1">
              <a:solidFill>
                <a:schemeClr val="tx2"/>
              </a:solidFill>
            </a:endParaRPr>
          </a:p>
          <a:p>
            <a:pPr marL="285750" indent="-285750">
              <a:buFont typeface="Arial" panose="020B0604020202020204" pitchFamily="34" charset="0"/>
              <a:buChar char="•"/>
            </a:pPr>
            <a:r>
              <a:rPr lang="en-US" sz="1600">
                <a:solidFill>
                  <a:schemeClr val="tx2"/>
                </a:solidFill>
              </a:rPr>
              <a:t>Current-State Architecture Assessment Report</a:t>
            </a:r>
          </a:p>
          <a:p>
            <a:pPr marL="285750" indent="-285750">
              <a:buFont typeface="Arial" panose="020B0604020202020204" pitchFamily="34" charset="0"/>
              <a:buChar char="•"/>
            </a:pPr>
            <a:endParaRPr lang="en-US" sz="1600">
              <a:solidFill>
                <a:schemeClr val="tx2"/>
              </a:solidFill>
            </a:endParaRPr>
          </a:p>
          <a:p>
            <a:pPr marL="285750" indent="-285750">
              <a:buFont typeface="Arial" panose="020B0604020202020204" pitchFamily="34" charset="0"/>
              <a:buChar char="•"/>
            </a:pPr>
            <a:r>
              <a:rPr lang="en-US" sz="1600">
                <a:solidFill>
                  <a:schemeClr val="tx2"/>
                </a:solidFill>
              </a:rPr>
              <a:t>Security, Governance, and  Findings Register</a:t>
            </a:r>
          </a:p>
          <a:p>
            <a:pPr marL="285750" indent="-285750">
              <a:buFont typeface="Arial" panose="020B0604020202020204" pitchFamily="34" charset="0"/>
              <a:buChar char="•"/>
            </a:pPr>
            <a:endParaRPr lang="en-US" sz="1600">
              <a:solidFill>
                <a:schemeClr val="tx2"/>
              </a:solidFill>
            </a:endParaRPr>
          </a:p>
          <a:p>
            <a:pPr marL="285750" indent="-285750">
              <a:buFont typeface="Arial" panose="020B0604020202020204" pitchFamily="34" charset="0"/>
              <a:buChar char="•"/>
            </a:pPr>
            <a:r>
              <a:rPr lang="en-US" sz="1600">
                <a:solidFill>
                  <a:schemeClr val="tx2"/>
                </a:solidFill>
              </a:rPr>
              <a:t>Unity Catalog and Data Lifecycle Recommendations</a:t>
            </a:r>
          </a:p>
          <a:p>
            <a:pPr marL="285750" indent="-285750">
              <a:buFont typeface="Arial" panose="020B0604020202020204" pitchFamily="34" charset="0"/>
              <a:buChar char="•"/>
            </a:pPr>
            <a:endParaRPr lang="en-US" sz="1600">
              <a:solidFill>
                <a:schemeClr val="tx2"/>
              </a:solidFill>
            </a:endParaRPr>
          </a:p>
          <a:p>
            <a:pPr marL="285750" indent="-285750">
              <a:buFont typeface="Arial" panose="020B0604020202020204" pitchFamily="34" charset="0"/>
              <a:buChar char="•"/>
            </a:pPr>
            <a:r>
              <a:rPr lang="en-US" sz="1600">
                <a:solidFill>
                  <a:schemeClr val="tx2"/>
                </a:solidFill>
              </a:rPr>
              <a:t>Performance and Scalability Validation Results</a:t>
            </a:r>
          </a:p>
          <a:p>
            <a:pPr marL="285750" indent="-285750">
              <a:buFont typeface="Arial" panose="020B0604020202020204" pitchFamily="34" charset="0"/>
              <a:buChar char="•"/>
            </a:pPr>
            <a:endParaRPr lang="en-US" sz="1600">
              <a:solidFill>
                <a:schemeClr val="tx2"/>
              </a:solidFill>
            </a:endParaRPr>
          </a:p>
          <a:p>
            <a:pPr marL="285750" indent="-285750">
              <a:buFont typeface="Arial" panose="020B0604020202020204" pitchFamily="34" charset="0"/>
              <a:buChar char="•"/>
            </a:pPr>
            <a:r>
              <a:rPr lang="en-US" sz="1600">
                <a:solidFill>
                  <a:schemeClr val="tx2"/>
                </a:solidFill>
              </a:rPr>
              <a:t>Day 1 Go-Live Architecture Design &amp; Day 2 Roadmap</a:t>
            </a:r>
          </a:p>
        </p:txBody>
      </p:sp>
      <p:grpSp>
        <p:nvGrpSpPr>
          <p:cNvPr id="19" name="Group 18">
            <a:extLst>
              <a:ext uri="{FF2B5EF4-FFF2-40B4-BE49-F238E27FC236}">
                <a16:creationId xmlns:a16="http://schemas.microsoft.com/office/drawing/2014/main" id="{75F9D692-C6B3-D008-BB5F-069290DEA8F8}"/>
              </a:ext>
            </a:extLst>
          </p:cNvPr>
          <p:cNvGrpSpPr/>
          <p:nvPr/>
        </p:nvGrpSpPr>
        <p:grpSpPr>
          <a:xfrm>
            <a:off x="5964397" y="1494292"/>
            <a:ext cx="274320" cy="4581144"/>
            <a:chOff x="5890895" y="1956928"/>
            <a:chExt cx="274320" cy="4581144"/>
          </a:xfrm>
        </p:grpSpPr>
        <p:cxnSp>
          <p:nvCxnSpPr>
            <p:cNvPr id="17" name="Straight Connector 16">
              <a:extLst>
                <a:ext uri="{FF2B5EF4-FFF2-40B4-BE49-F238E27FC236}">
                  <a16:creationId xmlns:a16="http://schemas.microsoft.com/office/drawing/2014/main" id="{22D98F96-532C-7FCA-A44C-C55466939897}"/>
                </a:ext>
              </a:extLst>
            </p:cNvPr>
            <p:cNvCxnSpPr>
              <a:cxnSpLocks/>
            </p:cNvCxnSpPr>
            <p:nvPr/>
          </p:nvCxnSpPr>
          <p:spPr>
            <a:xfrm>
              <a:off x="6028055" y="1956928"/>
              <a:ext cx="0" cy="4581144"/>
            </a:xfrm>
            <a:prstGeom prst="line">
              <a:avLst/>
            </a:prstGeom>
            <a:ln w="12700" cmpd="sng">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Arrow: Chevron 17">
              <a:extLst>
                <a:ext uri="{FF2B5EF4-FFF2-40B4-BE49-F238E27FC236}">
                  <a16:creationId xmlns:a16="http://schemas.microsoft.com/office/drawing/2014/main" id="{97E23116-A0BD-14C5-33E1-24CB8F45D5B8}"/>
                </a:ext>
              </a:extLst>
            </p:cNvPr>
            <p:cNvSpPr/>
            <p:nvPr/>
          </p:nvSpPr>
          <p:spPr bwMode="gray">
            <a:xfrm>
              <a:off x="5890895" y="4064620"/>
              <a:ext cx="274320" cy="365760"/>
            </a:xfrm>
            <a:prstGeom prst="chevron">
              <a:avLst/>
            </a:prstGeom>
            <a:solidFill>
              <a:schemeClr val="tx2"/>
            </a:solidFill>
            <a:ln w="19050">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grpSp>
    </p:spTree>
    <p:extLst>
      <p:ext uri="{BB962C8B-B14F-4D97-AF65-F5344CB8AC3E}">
        <p14:creationId xmlns:p14="http://schemas.microsoft.com/office/powerpoint/2010/main" val="32524893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9EEBB634-8B48-F312-F08A-C3890C120657}"/>
              </a:ext>
            </a:extLst>
          </p:cNvPr>
          <p:cNvGraphicFramePr>
            <a:graphicFrameLocks/>
          </p:cNvGraphicFramePr>
          <p:nvPr>
            <p:custDataLst>
              <p:tags r:id="rId1"/>
            </p:custDataLst>
            <p:extLst>
              <p:ext uri="{D42A27DB-BD31-4B8C-83A1-F6EECF244321}">
                <p14:modId xmlns:p14="http://schemas.microsoft.com/office/powerpoint/2010/main" val="23137039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4" name="thinkcell data - do not delete" hidden="1">
                        <a:extLst>
                          <a:ext uri="{FF2B5EF4-FFF2-40B4-BE49-F238E27FC236}">
                            <a16:creationId xmlns:a16="http://schemas.microsoft.com/office/drawing/2014/main" id="{9EEBB634-8B48-F312-F08A-C3890C12065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Content Placeholder 1">
            <a:extLst>
              <a:ext uri="{FF2B5EF4-FFF2-40B4-BE49-F238E27FC236}">
                <a16:creationId xmlns:a16="http://schemas.microsoft.com/office/drawing/2014/main" id="{A50BF4B5-140B-BCE9-CF07-F36AB44CF4F7}"/>
              </a:ext>
            </a:extLst>
          </p:cNvPr>
          <p:cNvSpPr>
            <a:spLocks noGrp="1"/>
          </p:cNvSpPr>
          <p:nvPr>
            <p:ph idx="1"/>
          </p:nvPr>
        </p:nvSpPr>
        <p:spPr>
          <a:xfrm>
            <a:off x="587375" y="1494292"/>
            <a:ext cx="11028363" cy="4576307"/>
          </a:xfrm>
        </p:spPr>
        <p:txBody>
          <a:bodyPr/>
          <a:lstStyle/>
          <a:p>
            <a:r>
              <a:rPr lang="en-US"/>
              <a:t>Key considerations for Workstream A:</a:t>
            </a:r>
          </a:p>
          <a:p>
            <a:endParaRPr lang="en-US"/>
          </a:p>
          <a:p>
            <a:endParaRPr lang="en-US"/>
          </a:p>
          <a:p>
            <a:endParaRPr lang="en-US"/>
          </a:p>
          <a:p>
            <a:endParaRPr lang="en-US"/>
          </a:p>
          <a:p>
            <a:endParaRPr lang="en-US"/>
          </a:p>
          <a:p>
            <a:endParaRPr lang="en-US"/>
          </a:p>
          <a:p>
            <a:endParaRPr lang="en-US"/>
          </a:p>
          <a:p>
            <a:r>
              <a:rPr lang="en-US"/>
              <a:t>Recommended Action: </a:t>
            </a:r>
            <a:r>
              <a:rPr lang="en-US" b="0"/>
              <a:t>Ratifying the SOW this week allows KPMG and </a:t>
            </a:r>
            <a:r>
              <a:rPr lang="en-US" b="0" err="1"/>
              <a:t>Scicom</a:t>
            </a:r>
            <a:r>
              <a:rPr lang="en-US" b="0"/>
              <a:t> to initiate Week 1 assessment workshops immediately, preserving the narrow window required to beat the Dec 1 change freeze.</a:t>
            </a:r>
          </a:p>
        </p:txBody>
      </p:sp>
      <p:sp>
        <p:nvSpPr>
          <p:cNvPr id="3" name="Title 2">
            <a:extLst>
              <a:ext uri="{FF2B5EF4-FFF2-40B4-BE49-F238E27FC236}">
                <a16:creationId xmlns:a16="http://schemas.microsoft.com/office/drawing/2014/main" id="{AC834E33-0675-2E6C-9600-20B0E0127C02}"/>
              </a:ext>
            </a:extLst>
          </p:cNvPr>
          <p:cNvSpPr>
            <a:spLocks noGrp="1"/>
          </p:cNvSpPr>
          <p:nvPr>
            <p:ph type="title"/>
          </p:nvPr>
        </p:nvSpPr>
        <p:spPr/>
        <p:txBody>
          <a:bodyPr vert="horz" rIns="0"/>
          <a:lstStyle/>
          <a:p>
            <a:r>
              <a:rPr lang="en-US"/>
              <a:t>Workstream A - Architecture Assessment Framework – Considerations</a:t>
            </a:r>
            <a:br>
              <a:rPr lang="en-US"/>
            </a:br>
            <a:r>
              <a:rPr lang="en-US" sz="1600" b="0"/>
              <a:t>Focus on lowering risk, highlighting bottlenecks, and demonstrating proactive mitigation </a:t>
            </a:r>
          </a:p>
        </p:txBody>
      </p:sp>
      <p:sp>
        <p:nvSpPr>
          <p:cNvPr id="8" name="Rectangle 7">
            <a:extLst>
              <a:ext uri="{FF2B5EF4-FFF2-40B4-BE49-F238E27FC236}">
                <a16:creationId xmlns:a16="http://schemas.microsoft.com/office/drawing/2014/main" id="{A62FBEF6-1BE9-E41A-E3A9-4EF80D1F0AA4}"/>
              </a:ext>
            </a:extLst>
          </p:cNvPr>
          <p:cNvSpPr/>
          <p:nvPr/>
        </p:nvSpPr>
        <p:spPr bwMode="gray">
          <a:xfrm>
            <a:off x="587375" y="1903448"/>
            <a:ext cx="3474720" cy="3474720"/>
          </a:xfrm>
          <a:prstGeom prst="rect">
            <a:avLst/>
          </a:prstGeom>
          <a:solidFill>
            <a:schemeClr val="bg1">
              <a:lumMod val="95000"/>
              <a:alpha val="50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US" sz="1700" b="1">
                <a:solidFill>
                  <a:schemeClr val="tx2"/>
                </a:solidFill>
              </a:rPr>
              <a:t>VDI Access</a:t>
            </a:r>
          </a:p>
          <a:p>
            <a:pPr algn="ctr"/>
            <a:r>
              <a:rPr lang="en-US" sz="1700">
                <a:solidFill>
                  <a:schemeClr val="tx2"/>
                </a:solidFill>
              </a:rPr>
              <a:t>(Critical Path)</a:t>
            </a:r>
          </a:p>
          <a:p>
            <a:endParaRPr lang="en-US" sz="1700" b="1">
              <a:solidFill>
                <a:schemeClr val="tx2"/>
              </a:solidFill>
            </a:endParaRPr>
          </a:p>
          <a:p>
            <a:pPr marL="285750" indent="-285750">
              <a:buFont typeface="Arial" panose="020B0604020202020204" pitchFamily="34" charset="0"/>
              <a:buChar char="•"/>
            </a:pPr>
            <a:r>
              <a:rPr lang="en-US" sz="1700" b="1">
                <a:solidFill>
                  <a:schemeClr val="tx2"/>
                </a:solidFill>
              </a:rPr>
              <a:t>Dependency: </a:t>
            </a:r>
            <a:r>
              <a:rPr lang="en-US" sz="1700">
                <a:solidFill>
                  <a:schemeClr val="tx2"/>
                </a:solidFill>
              </a:rPr>
              <a:t>Downstream development is dependent on the completion of VDI onboarding</a:t>
            </a:r>
          </a:p>
          <a:p>
            <a:pPr marL="285750" indent="-285750">
              <a:buFont typeface="Arial" panose="020B0604020202020204" pitchFamily="34" charset="0"/>
              <a:buChar char="•"/>
            </a:pPr>
            <a:endParaRPr lang="en-US" sz="1700">
              <a:solidFill>
                <a:schemeClr val="tx2"/>
              </a:solidFill>
            </a:endParaRPr>
          </a:p>
          <a:p>
            <a:pPr marL="285750" indent="-285750">
              <a:buFont typeface="Arial" panose="020B0604020202020204" pitchFamily="34" charset="0"/>
              <a:buChar char="•"/>
            </a:pPr>
            <a:r>
              <a:rPr lang="en-US" sz="1700" b="1">
                <a:solidFill>
                  <a:schemeClr val="tx2"/>
                </a:solidFill>
              </a:rPr>
              <a:t>Mitigation: </a:t>
            </a:r>
            <a:r>
              <a:rPr lang="en-US" sz="1700">
                <a:solidFill>
                  <a:schemeClr val="tx2"/>
                </a:solidFill>
              </a:rPr>
              <a:t>To ensure a smooth workflow, we recommend CVS authorize provisional VDI access by mid-October to prevent delays.</a:t>
            </a:r>
            <a:br>
              <a:rPr lang="en-US" sz="1700">
                <a:solidFill>
                  <a:schemeClr val="tx2"/>
                </a:solidFill>
              </a:rPr>
            </a:br>
            <a:endParaRPr lang="en-US" sz="1700">
              <a:solidFill>
                <a:schemeClr val="tx2"/>
              </a:solidFill>
            </a:endParaRPr>
          </a:p>
        </p:txBody>
      </p:sp>
      <p:sp>
        <p:nvSpPr>
          <p:cNvPr id="10" name="Rectangle 9">
            <a:extLst>
              <a:ext uri="{FF2B5EF4-FFF2-40B4-BE49-F238E27FC236}">
                <a16:creationId xmlns:a16="http://schemas.microsoft.com/office/drawing/2014/main" id="{31188FBE-6F7E-A5B0-399D-F148B8D05AF1}"/>
              </a:ext>
            </a:extLst>
          </p:cNvPr>
          <p:cNvSpPr/>
          <p:nvPr/>
        </p:nvSpPr>
        <p:spPr bwMode="gray">
          <a:xfrm>
            <a:off x="4364197" y="1903448"/>
            <a:ext cx="3474720" cy="3474720"/>
          </a:xfrm>
          <a:prstGeom prst="rect">
            <a:avLst/>
          </a:prstGeom>
          <a:solidFill>
            <a:schemeClr val="bg1">
              <a:lumMod val="95000"/>
              <a:alpha val="50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US" sz="1700" b="1">
                <a:solidFill>
                  <a:schemeClr val="tx2"/>
                </a:solidFill>
              </a:rPr>
              <a:t>Welcome Season Change Freeze Compression</a:t>
            </a:r>
          </a:p>
          <a:p>
            <a:endParaRPr lang="en-US" sz="1700" b="1">
              <a:solidFill>
                <a:schemeClr val="tx2"/>
              </a:solidFill>
            </a:endParaRPr>
          </a:p>
          <a:p>
            <a:pPr marL="285750" indent="-285750">
              <a:buFont typeface="Arial" panose="020B0604020202020204" pitchFamily="34" charset="0"/>
              <a:buChar char="•"/>
            </a:pPr>
            <a:r>
              <a:rPr lang="en-US" sz="1700" b="1">
                <a:solidFill>
                  <a:schemeClr val="tx2"/>
                </a:solidFill>
              </a:rPr>
              <a:t>Timeline Impact: </a:t>
            </a:r>
            <a:r>
              <a:rPr lang="en-US" sz="1700">
                <a:solidFill>
                  <a:schemeClr val="tx2"/>
                </a:solidFill>
              </a:rPr>
              <a:t>Delays in assessment completion will shift the pilot build into Q1 2027 due to the welcome season freeze</a:t>
            </a:r>
            <a:r>
              <a:rPr lang="en-US" sz="1700" b="1">
                <a:solidFill>
                  <a:schemeClr val="tx2"/>
                </a:solidFill>
              </a:rPr>
              <a:t>.</a:t>
            </a:r>
          </a:p>
          <a:p>
            <a:endParaRPr lang="en-US" sz="1700">
              <a:solidFill>
                <a:schemeClr val="tx2"/>
              </a:solidFill>
            </a:endParaRPr>
          </a:p>
          <a:p>
            <a:pPr marL="285750" indent="-285750">
              <a:buFont typeface="Arial" panose="020B0604020202020204" pitchFamily="34" charset="0"/>
              <a:buChar char="•"/>
            </a:pPr>
            <a:r>
              <a:rPr lang="en-US" sz="1700" b="1">
                <a:solidFill>
                  <a:schemeClr val="tx2"/>
                </a:solidFill>
              </a:rPr>
              <a:t>Mitigation: </a:t>
            </a:r>
            <a:r>
              <a:rPr lang="en-US" sz="1700">
                <a:solidFill>
                  <a:schemeClr val="tx2"/>
                </a:solidFill>
              </a:rPr>
              <a:t>To ensure productivity during the freeze, the 5 core telemetry datasets must be successfully ingested before Dec 1</a:t>
            </a:r>
          </a:p>
        </p:txBody>
      </p:sp>
      <p:sp>
        <p:nvSpPr>
          <p:cNvPr id="12" name="Rectangle 11">
            <a:extLst>
              <a:ext uri="{FF2B5EF4-FFF2-40B4-BE49-F238E27FC236}">
                <a16:creationId xmlns:a16="http://schemas.microsoft.com/office/drawing/2014/main" id="{9F7B94ED-0A97-9DFB-B159-9E8BC24604BE}"/>
              </a:ext>
            </a:extLst>
          </p:cNvPr>
          <p:cNvSpPr/>
          <p:nvPr/>
        </p:nvSpPr>
        <p:spPr bwMode="gray">
          <a:xfrm>
            <a:off x="8141018" y="1903448"/>
            <a:ext cx="3474720" cy="3474720"/>
          </a:xfrm>
          <a:prstGeom prst="rect">
            <a:avLst/>
          </a:prstGeom>
          <a:solidFill>
            <a:schemeClr val="bg1">
              <a:lumMod val="95000"/>
              <a:alpha val="50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US" sz="1700" b="1">
                <a:solidFill>
                  <a:schemeClr val="tx2"/>
                </a:solidFill>
              </a:rPr>
              <a:t>Multi-Party Resource Alignment</a:t>
            </a:r>
          </a:p>
          <a:p>
            <a:pPr algn="ctr"/>
            <a:r>
              <a:rPr lang="en-US" sz="1700">
                <a:solidFill>
                  <a:schemeClr val="tx2"/>
                </a:solidFill>
              </a:rPr>
              <a:t>(CVS, KPMG, </a:t>
            </a:r>
            <a:r>
              <a:rPr lang="en-US" sz="1700" err="1">
                <a:solidFill>
                  <a:schemeClr val="tx2"/>
                </a:solidFill>
              </a:rPr>
              <a:t>Scicom</a:t>
            </a:r>
            <a:r>
              <a:rPr lang="en-US" sz="1700">
                <a:solidFill>
                  <a:schemeClr val="tx2"/>
                </a:solidFill>
              </a:rPr>
              <a:t>)</a:t>
            </a:r>
          </a:p>
          <a:p>
            <a:endParaRPr lang="en-US" sz="1700" b="1">
              <a:solidFill>
                <a:schemeClr val="tx2"/>
              </a:solidFill>
            </a:endParaRPr>
          </a:p>
          <a:p>
            <a:pPr marL="285750" indent="-285750">
              <a:buFont typeface="Arial" panose="020B0604020202020204" pitchFamily="34" charset="0"/>
              <a:buChar char="•"/>
            </a:pPr>
            <a:r>
              <a:rPr lang="en-US" sz="1700" b="1">
                <a:solidFill>
                  <a:schemeClr val="tx2"/>
                </a:solidFill>
              </a:rPr>
              <a:t>Risk: </a:t>
            </a:r>
            <a:r>
              <a:rPr lang="en-US" sz="1700">
                <a:solidFill>
                  <a:schemeClr val="tx2"/>
                </a:solidFill>
              </a:rPr>
              <a:t>Misaligned expectations regarding resource availability for the architecture domain deep-dives</a:t>
            </a:r>
          </a:p>
          <a:p>
            <a:endParaRPr lang="en-US" sz="1700" b="1">
              <a:solidFill>
                <a:schemeClr val="tx2"/>
              </a:solidFill>
            </a:endParaRPr>
          </a:p>
          <a:p>
            <a:pPr marL="285750" indent="-285750">
              <a:buFont typeface="Arial" panose="020B0604020202020204" pitchFamily="34" charset="0"/>
              <a:buChar char="•"/>
            </a:pPr>
            <a:r>
              <a:rPr lang="en-US" sz="1700" b="1">
                <a:solidFill>
                  <a:schemeClr val="tx2"/>
                </a:solidFill>
              </a:rPr>
              <a:t>Mitigation: </a:t>
            </a:r>
            <a:r>
              <a:rPr lang="en-US" sz="1700">
                <a:solidFill>
                  <a:schemeClr val="tx2"/>
                </a:solidFill>
              </a:rPr>
              <a:t>Establish a dedicated "assessment calendar" in Week 1 with pre-booked domain-expert workshops</a:t>
            </a:r>
          </a:p>
        </p:txBody>
      </p:sp>
      <p:sp>
        <p:nvSpPr>
          <p:cNvPr id="13" name="Content Placeholder 1">
            <a:extLst>
              <a:ext uri="{FF2B5EF4-FFF2-40B4-BE49-F238E27FC236}">
                <a16:creationId xmlns:a16="http://schemas.microsoft.com/office/drawing/2014/main" id="{EE3D36D9-96F6-CF74-BDD6-E18946EFE648}"/>
              </a:ext>
            </a:extLst>
          </p:cNvPr>
          <p:cNvSpPr txBox="1">
            <a:spLocks/>
          </p:cNvSpPr>
          <p:nvPr/>
        </p:nvSpPr>
        <p:spPr bwMode="gray">
          <a:xfrm>
            <a:off x="587375" y="5502485"/>
            <a:ext cx="11028363" cy="633431"/>
          </a:xfrm>
          <a:prstGeom prst="rect">
            <a:avLst/>
          </a:prstGeom>
          <a:solidFill>
            <a:srgbClr val="0A4B8C"/>
          </a:solidFill>
        </p:spPr>
        <p:txBody>
          <a:bodyPr vert="horz" lIns="91440" tIns="0" rIns="91440" bIns="0" rtlCol="0" anchor="ctr">
            <a:noAutofit/>
          </a:bodyPr>
          <a:lstStyle>
            <a:lvl1pPr marL="0" indent="0" algn="l" defTabSz="457063" rtl="0" eaLnBrk="1" fontAlgn="ctr" latinLnBrk="0" hangingPunct="1">
              <a:lnSpc>
                <a:spcPct val="100000"/>
              </a:lnSpc>
              <a:spcBef>
                <a:spcPts val="1799"/>
              </a:spcBef>
              <a:buClr>
                <a:schemeClr val="tx1"/>
              </a:buClr>
              <a:buFont typeface="Arial"/>
              <a:buNone/>
              <a:defRPr sz="1797" b="1" kern="1200" cap="none" baseline="0">
                <a:solidFill>
                  <a:schemeClr val="tx2"/>
                </a:solidFill>
                <a:latin typeface="+mn-lt"/>
                <a:ea typeface="+mn-ea"/>
                <a:cs typeface="+mn-cs"/>
              </a:defRPr>
            </a:lvl1pPr>
            <a:lvl2pPr marL="0" indent="0" algn="l" defTabSz="457063" rtl="0" eaLnBrk="1" fontAlgn="ctr" latinLnBrk="0" hangingPunct="1">
              <a:lnSpc>
                <a:spcPct val="100000"/>
              </a:lnSpc>
              <a:spcBef>
                <a:spcPts val="1200"/>
              </a:spcBef>
              <a:buClr>
                <a:schemeClr val="tx1"/>
              </a:buClr>
              <a:buFont typeface="Arial"/>
              <a:buNone/>
              <a:defRPr sz="1300" kern="1200" baseline="0">
                <a:solidFill>
                  <a:schemeClr val="tx2"/>
                </a:solidFill>
                <a:latin typeface="+mn-lt"/>
                <a:ea typeface="+mn-ea"/>
                <a:cs typeface="+mn-cs"/>
              </a:defRPr>
            </a:lvl2pPr>
            <a:lvl3pPr marL="171297" indent="-171297" algn="l" defTabSz="457063" rtl="0" eaLnBrk="1" fontAlgn="ctr" latinLnBrk="0" hangingPunct="1">
              <a:lnSpc>
                <a:spcPct val="100000"/>
              </a:lnSpc>
              <a:spcBef>
                <a:spcPts val="1200"/>
              </a:spcBef>
              <a:buClr>
                <a:schemeClr val="tx1"/>
              </a:buClr>
              <a:buFont typeface="Arial" panose="020B0604020202020204" pitchFamily="34" charset="0"/>
              <a:buChar char="•"/>
              <a:defRPr sz="1300" kern="1200" baseline="0">
                <a:solidFill>
                  <a:schemeClr val="tx2"/>
                </a:solidFill>
                <a:latin typeface="+mn-lt"/>
                <a:ea typeface="+mn-ea"/>
                <a:cs typeface="+mn-cs"/>
              </a:defRPr>
            </a:lvl3pPr>
            <a:lvl4pPr marL="342591" indent="-171297" algn="l" defTabSz="457063" rtl="0" eaLnBrk="1" fontAlgn="ctr" latinLnBrk="0" hangingPunct="1">
              <a:lnSpc>
                <a:spcPct val="100000"/>
              </a:lnSpc>
              <a:spcBef>
                <a:spcPts val="600"/>
              </a:spcBef>
              <a:buClr>
                <a:schemeClr val="tx1"/>
              </a:buClr>
              <a:buFont typeface="Arial" panose="020B0604020202020204" pitchFamily="34" charset="0"/>
              <a:buChar char="–"/>
              <a:defRPr sz="1300" kern="1200" baseline="0">
                <a:solidFill>
                  <a:schemeClr val="tx2"/>
                </a:solidFill>
                <a:latin typeface="+mn-lt"/>
                <a:ea typeface="+mn-ea"/>
                <a:cs typeface="+mn-cs"/>
              </a:defRPr>
            </a:lvl4pPr>
            <a:lvl5pPr marL="515473" indent="-172882" algn="l" defTabSz="457063" rtl="0" eaLnBrk="1" fontAlgn="ctr" latinLnBrk="0" hangingPunct="1">
              <a:lnSpc>
                <a:spcPct val="100000"/>
              </a:lnSpc>
              <a:spcBef>
                <a:spcPts val="600"/>
              </a:spcBef>
              <a:buClr>
                <a:schemeClr val="tx1"/>
              </a:buClr>
              <a:buFont typeface="Arial" panose="020B0604020202020204" pitchFamily="34" charset="0"/>
              <a:buChar char="•"/>
              <a:defRPr sz="1300" kern="1200" baseline="0">
                <a:solidFill>
                  <a:schemeClr val="tx2"/>
                </a:solidFill>
                <a:latin typeface="+mn-lt"/>
                <a:ea typeface="+mn-ea"/>
                <a:cs typeface="+mn-cs"/>
              </a:defRPr>
            </a:lvl5pPr>
            <a:lvl6pPr marL="686770" indent="-171297" algn="l" defTabSz="457063" rtl="0" eaLnBrk="1" fontAlgn="ctr" latinLnBrk="0" hangingPunct="1">
              <a:lnSpc>
                <a:spcPct val="100000"/>
              </a:lnSpc>
              <a:spcBef>
                <a:spcPts val="600"/>
              </a:spcBef>
              <a:buClr>
                <a:schemeClr val="tx1"/>
              </a:buClr>
              <a:buFont typeface="Arial" panose="020B0604020202020204" pitchFamily="34" charset="0"/>
              <a:buChar char="–"/>
              <a:defRPr sz="1300" kern="1200" baseline="0">
                <a:solidFill>
                  <a:schemeClr val="tx2"/>
                </a:solidFill>
                <a:latin typeface="+mn-lt"/>
                <a:ea typeface="+mn-ea"/>
                <a:cs typeface="+mn-cs"/>
              </a:defRPr>
            </a:lvl6pPr>
            <a:lvl7pPr marL="859651" indent="-172882" algn="l" defTabSz="457063"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7pPr>
            <a:lvl8pPr marL="1030947" indent="-171297" algn="l" defTabSz="457063"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8pPr>
            <a:lvl9pPr marL="1202242" indent="-171297" algn="l" defTabSz="457063" rtl="0" eaLnBrk="1" fontAlgn="ctr" latinLnBrk="0" hangingPunct="1">
              <a:lnSpc>
                <a:spcPct val="100000"/>
              </a:lnSpc>
              <a:spcBef>
                <a:spcPts val="600"/>
              </a:spcBef>
              <a:buClrTx/>
              <a:buFont typeface="Arial" panose="020B0604020202020204" pitchFamily="34" charset="0"/>
              <a:buChar char="•"/>
              <a:defRPr sz="1300" kern="1200" baseline="0">
                <a:solidFill>
                  <a:schemeClr val="tx2"/>
                </a:solidFill>
                <a:latin typeface="+mn-lt"/>
                <a:ea typeface="+mn-ea"/>
                <a:cs typeface="+mn-cs"/>
              </a:defRPr>
            </a:lvl9pPr>
          </a:lstStyle>
          <a:p>
            <a:pPr algn="ctr"/>
            <a:r>
              <a:rPr lang="en-US" sz="1700">
                <a:solidFill>
                  <a:schemeClr val="bg1"/>
                </a:solidFill>
              </a:rPr>
              <a:t>Recommended Action: </a:t>
            </a:r>
            <a:r>
              <a:rPr lang="en-US" sz="1700" b="0">
                <a:solidFill>
                  <a:schemeClr val="bg1"/>
                </a:solidFill>
              </a:rPr>
              <a:t>Signing the SOW will enable KPMG and </a:t>
            </a:r>
            <a:r>
              <a:rPr lang="en-US" sz="1700" b="0" err="1">
                <a:solidFill>
                  <a:schemeClr val="bg1"/>
                </a:solidFill>
              </a:rPr>
              <a:t>Scicom</a:t>
            </a:r>
            <a:r>
              <a:rPr lang="en-US" sz="1700" b="0">
                <a:solidFill>
                  <a:schemeClr val="bg1"/>
                </a:solidFill>
              </a:rPr>
              <a:t> to initiate Week 1 assessment workshops, meeting Welcome Season Change Freeze deadline</a:t>
            </a:r>
          </a:p>
        </p:txBody>
      </p:sp>
    </p:spTree>
    <p:extLst>
      <p:ext uri="{BB962C8B-B14F-4D97-AF65-F5344CB8AC3E}">
        <p14:creationId xmlns:p14="http://schemas.microsoft.com/office/powerpoint/2010/main" val="42332869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E770A0D-7640-BF88-0701-2DF1F3067E71}"/>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70B02858-EC74-08B0-07BC-C4673C566C27}"/>
              </a:ext>
            </a:extLst>
          </p:cNvPr>
          <p:cNvGraphicFramePr>
            <a:graphicFrameLocks/>
          </p:cNvGraphicFramePr>
          <p:nvPr>
            <p:custDataLst>
              <p:tags r:id="rId1"/>
            </p:custDataLst>
            <p:extLst>
              <p:ext uri="{D42A27DB-BD31-4B8C-83A1-F6EECF244321}">
                <p14:modId xmlns:p14="http://schemas.microsoft.com/office/powerpoint/2010/main" val="41208283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5" name="thinkcell data - do not delete" hidden="1">
                        <a:extLst>
                          <a:ext uri="{FF2B5EF4-FFF2-40B4-BE49-F238E27FC236}">
                            <a16:creationId xmlns:a16="http://schemas.microsoft.com/office/drawing/2014/main" id="{70B02858-EC74-08B0-07BC-C4673C566C2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2894CDA3-AEAF-0EAD-1850-DD0F96BE5245}"/>
              </a:ext>
            </a:extLst>
          </p:cNvPr>
          <p:cNvSpPr>
            <a:spLocks noGrp="1"/>
          </p:cNvSpPr>
          <p:nvPr>
            <p:ph type="title"/>
          </p:nvPr>
        </p:nvSpPr>
        <p:spPr/>
        <p:txBody>
          <a:bodyPr vert="horz" rIns="0"/>
          <a:lstStyle/>
          <a:p>
            <a:r>
              <a:rPr lang="en-US"/>
              <a:t>Workstream B1 – Source Rationalization and Data Contracts (1/2)</a:t>
            </a:r>
            <a:br>
              <a:rPr lang="en-US"/>
            </a:br>
            <a:r>
              <a:rPr lang="en-US" sz="1600" b="0"/>
              <a:t>“Deciding What Data We Have, Who Owns It, and How It Should Be Labeled” – From the SOW and other planning documents</a:t>
            </a:r>
          </a:p>
        </p:txBody>
      </p:sp>
      <p:sp>
        <p:nvSpPr>
          <p:cNvPr id="8" name="Rectangle: Top Corners Rounded 7">
            <a:extLst>
              <a:ext uri="{FF2B5EF4-FFF2-40B4-BE49-F238E27FC236}">
                <a16:creationId xmlns:a16="http://schemas.microsoft.com/office/drawing/2014/main" id="{2AC570B6-2A6B-D827-0A7E-A37A59FCF4D7}"/>
              </a:ext>
            </a:extLst>
          </p:cNvPr>
          <p:cNvSpPr/>
          <p:nvPr/>
        </p:nvSpPr>
        <p:spPr bwMode="gray">
          <a:xfrm rot="5400000">
            <a:off x="-1682253" y="3070784"/>
            <a:ext cx="4682069" cy="1317568"/>
          </a:xfrm>
          <a:prstGeom prst="round2SameRect">
            <a:avLst>
              <a:gd name="adj1" fmla="val 9976"/>
              <a:gd name="adj2" fmla="val 0"/>
            </a:avLst>
          </a:prstGeom>
          <a:gradFill flip="none" rotWithShape="1">
            <a:gsLst>
              <a:gs pos="0">
                <a:srgbClr val="267AC0"/>
              </a:gs>
              <a:gs pos="100000">
                <a:srgbClr val="0A4B8C"/>
              </a:gs>
            </a:gsLst>
            <a:lin ang="54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sp>
        <p:nvSpPr>
          <p:cNvPr id="10" name="TextBox 9">
            <a:extLst>
              <a:ext uri="{FF2B5EF4-FFF2-40B4-BE49-F238E27FC236}">
                <a16:creationId xmlns:a16="http://schemas.microsoft.com/office/drawing/2014/main" id="{C67991EF-9159-3BEB-8B58-6598796956CF}"/>
              </a:ext>
            </a:extLst>
          </p:cNvPr>
          <p:cNvSpPr txBox="1"/>
          <p:nvPr/>
        </p:nvSpPr>
        <p:spPr>
          <a:xfrm>
            <a:off x="543482" y="1490133"/>
            <a:ext cx="690958"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Scope</a:t>
            </a:r>
          </a:p>
        </p:txBody>
      </p:sp>
      <p:sp>
        <p:nvSpPr>
          <p:cNvPr id="15" name="TextBox 14">
            <a:extLst>
              <a:ext uri="{FF2B5EF4-FFF2-40B4-BE49-F238E27FC236}">
                <a16:creationId xmlns:a16="http://schemas.microsoft.com/office/drawing/2014/main" id="{3E7982E2-2F26-ECFB-5734-663AD2C5BF87}"/>
              </a:ext>
            </a:extLst>
          </p:cNvPr>
          <p:cNvSpPr txBox="1"/>
          <p:nvPr/>
        </p:nvSpPr>
        <p:spPr>
          <a:xfrm>
            <a:off x="1366590" y="1490133"/>
            <a:ext cx="4693922" cy="461665"/>
          </a:xfrm>
          <a:prstGeom prst="rect">
            <a:avLst/>
          </a:prstGeom>
          <a:noFill/>
        </p:spPr>
        <p:txBody>
          <a:bodyPr wrap="square" lIns="0" tIns="0" rIns="0" bIns="0">
            <a:spAutoFit/>
          </a:bodyPr>
          <a:lstStyle/>
          <a:p>
            <a:r>
              <a:rPr lang="en-US" sz="1000">
                <a:solidFill>
                  <a:schemeClr val="tx2"/>
                </a:solidFill>
              </a:rPr>
              <a:t>Perform rationalization of Splunk, Observability, and Security sources to source families and categories, support definition of  data contracts and associated management processes, metadata, ownership and classification.</a:t>
            </a:r>
          </a:p>
        </p:txBody>
      </p:sp>
      <p:sp>
        <p:nvSpPr>
          <p:cNvPr id="17" name="TextBox 16">
            <a:extLst>
              <a:ext uri="{FF2B5EF4-FFF2-40B4-BE49-F238E27FC236}">
                <a16:creationId xmlns:a16="http://schemas.microsoft.com/office/drawing/2014/main" id="{70CD7D19-F159-B7E6-13D2-CD839A2473AF}"/>
              </a:ext>
            </a:extLst>
          </p:cNvPr>
          <p:cNvSpPr txBox="1"/>
          <p:nvPr/>
        </p:nvSpPr>
        <p:spPr>
          <a:xfrm>
            <a:off x="543482" y="2095123"/>
            <a:ext cx="721899"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Objective</a:t>
            </a:r>
          </a:p>
        </p:txBody>
      </p:sp>
      <p:sp>
        <p:nvSpPr>
          <p:cNvPr id="21" name="TextBox 20">
            <a:extLst>
              <a:ext uri="{FF2B5EF4-FFF2-40B4-BE49-F238E27FC236}">
                <a16:creationId xmlns:a16="http://schemas.microsoft.com/office/drawing/2014/main" id="{72785763-D8A1-0123-8E78-698ECF6CE4A1}"/>
              </a:ext>
            </a:extLst>
          </p:cNvPr>
          <p:cNvSpPr txBox="1"/>
          <p:nvPr/>
        </p:nvSpPr>
        <p:spPr>
          <a:xfrm>
            <a:off x="1366590" y="2105460"/>
            <a:ext cx="4575208" cy="615553"/>
          </a:xfrm>
          <a:prstGeom prst="rect">
            <a:avLst/>
          </a:prstGeom>
          <a:noFill/>
        </p:spPr>
        <p:txBody>
          <a:bodyPr wrap="square" lIns="0" tIns="0" rIns="0" bIns="0">
            <a:spAutoFit/>
          </a:bodyPr>
          <a:lstStyle/>
          <a:p>
            <a:pPr algn="l"/>
            <a:r>
              <a:rPr lang="en-US" sz="1000">
                <a:solidFill>
                  <a:schemeClr val="tx2"/>
                </a:solidFill>
              </a:rPr>
              <a:t>Rationalize 2,000+ Splunk source types, rationalizing to approximately 121 logical source families as further described in Section 7.2, and define standardized data contracts, schemas, and a unified metadata model in </a:t>
            </a:r>
            <a:br>
              <a:rPr lang="en-US" sz="1000">
                <a:solidFill>
                  <a:schemeClr val="tx2"/>
                </a:solidFill>
              </a:rPr>
            </a:br>
            <a:r>
              <a:rPr lang="en-US" sz="1000">
                <a:solidFill>
                  <a:schemeClr val="tx2"/>
                </a:solidFill>
              </a:rPr>
              <a:t>Unity Catalog.</a:t>
            </a:r>
          </a:p>
        </p:txBody>
      </p:sp>
      <p:sp>
        <p:nvSpPr>
          <p:cNvPr id="22" name="TextBox 21">
            <a:extLst>
              <a:ext uri="{FF2B5EF4-FFF2-40B4-BE49-F238E27FC236}">
                <a16:creationId xmlns:a16="http://schemas.microsoft.com/office/drawing/2014/main" id="{BC397BD7-6B2A-1327-8C4A-12521D5E6F53}"/>
              </a:ext>
            </a:extLst>
          </p:cNvPr>
          <p:cNvSpPr txBox="1"/>
          <p:nvPr/>
        </p:nvSpPr>
        <p:spPr>
          <a:xfrm>
            <a:off x="543483" y="2869750"/>
            <a:ext cx="731982" cy="369332"/>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Key Activities</a:t>
            </a:r>
          </a:p>
        </p:txBody>
      </p:sp>
      <p:sp>
        <p:nvSpPr>
          <p:cNvPr id="25" name="TextBox 24">
            <a:extLst>
              <a:ext uri="{FF2B5EF4-FFF2-40B4-BE49-F238E27FC236}">
                <a16:creationId xmlns:a16="http://schemas.microsoft.com/office/drawing/2014/main" id="{DFC63650-48A8-6E5E-5038-C9A0E18FC7E4}"/>
              </a:ext>
            </a:extLst>
          </p:cNvPr>
          <p:cNvSpPr txBox="1"/>
          <p:nvPr/>
        </p:nvSpPr>
        <p:spPr>
          <a:xfrm>
            <a:off x="1366590" y="2869750"/>
            <a:ext cx="4748460" cy="3193182"/>
          </a:xfrm>
          <a:prstGeom prst="rect">
            <a:avLst/>
          </a:prstGeom>
          <a:noFill/>
        </p:spPr>
        <p:txBody>
          <a:bodyPr wrap="square" lIns="0" tIns="0" rIns="0" bIns="0">
            <a:spAutoFit/>
          </a:bodyPr>
          <a:lstStyle/>
          <a:p>
            <a:pPr marL="137160" lvl="1" indent="-137160">
              <a:spcAft>
                <a:spcPts val="300"/>
              </a:spcAft>
              <a:buFont typeface="Arial" panose="020B0604020202020204" pitchFamily="34" charset="0"/>
              <a:buChar char="•"/>
            </a:pPr>
            <a:r>
              <a:rPr lang="en-US" sz="1000" b="1" kern="1500">
                <a:solidFill>
                  <a:schemeClr val="tx2"/>
                </a:solidFill>
              </a:rPr>
              <a:t>Inventory, Classify &amp; Prioritize:</a:t>
            </a:r>
            <a:r>
              <a:rPr lang="en-US" sz="1000" kern="1500">
                <a:solidFill>
                  <a:schemeClr val="tx2"/>
                </a:solidFill>
              </a:rPr>
              <a:t> Group sources (12k+) by type and score by business value, usage, duplication, complexity; define Tier 1/2/3 priorities</a:t>
            </a:r>
          </a:p>
          <a:p>
            <a:pPr marL="137160" lvl="1" indent="-137160">
              <a:spcAft>
                <a:spcPts val="300"/>
              </a:spcAft>
              <a:buFont typeface="Arial" panose="020B0604020202020204" pitchFamily="34" charset="0"/>
              <a:buChar char="•"/>
            </a:pPr>
            <a:r>
              <a:rPr lang="en-US" sz="1000" b="1" kern="1500">
                <a:solidFill>
                  <a:schemeClr val="tx2"/>
                </a:solidFill>
              </a:rPr>
              <a:t>Define Schema Strategy &amp; Contracts: </a:t>
            </a:r>
            <a:r>
              <a:rPr lang="en-US" sz="1000" kern="1500">
                <a:solidFill>
                  <a:schemeClr val="tx2"/>
                </a:solidFill>
              </a:rPr>
              <a:t>Evaluate schema approach per source tier: full canonical (e.g., OCSF/ECS/OTEL) for cross-domain detection and compliance; governed native schema for domain-specific sources already consumed without a model; common metadata for discoverability. Establish enforceable contracts (e.g., owner, schema, SLA, quality, classification) with violation workflows in Unity Catalog</a:t>
            </a:r>
          </a:p>
          <a:p>
            <a:pPr marL="137160" lvl="1" indent="-137160">
              <a:spcAft>
                <a:spcPts val="300"/>
              </a:spcAft>
              <a:buFont typeface="Arial" panose="020B0604020202020204" pitchFamily="34" charset="0"/>
              <a:buChar char="•"/>
            </a:pPr>
            <a:r>
              <a:rPr lang="en-US" sz="1000" b="1" kern="1500">
                <a:solidFill>
                  <a:schemeClr val="tx2"/>
                </a:solidFill>
              </a:rPr>
              <a:t>Classify Security &amp; Compliance Boundaries: </a:t>
            </a:r>
            <a:r>
              <a:rPr lang="en-US" sz="1000" kern="1500">
                <a:solidFill>
                  <a:schemeClr val="tx2"/>
                </a:solidFill>
              </a:rPr>
              <a:t>Support tagging sources by sensitivity (PHI, PII, PCI); define security boundaries for multi-stakeholder canonical tables; determine masking requirements that flow to Workstream C pipeline design; align workspace isolation to data classification</a:t>
            </a:r>
          </a:p>
          <a:p>
            <a:pPr marL="137160" lvl="1" indent="-137160">
              <a:spcAft>
                <a:spcPts val="300"/>
              </a:spcAft>
              <a:buFont typeface="Arial" panose="020B0604020202020204" pitchFamily="34" charset="0"/>
              <a:buChar char="•"/>
            </a:pPr>
            <a:r>
              <a:rPr lang="en-US" sz="1000" b="1" kern="1500">
                <a:solidFill>
                  <a:schemeClr val="tx2"/>
                </a:solidFill>
              </a:rPr>
              <a:t>AI-Assisted Onboarding at Scale: </a:t>
            </a:r>
            <a:r>
              <a:rPr lang="en-US" sz="1000" kern="1500">
                <a:solidFill>
                  <a:schemeClr val="tx2"/>
                </a:solidFill>
              </a:rPr>
              <a:t>Activation of CVS Claude Code and related agents to infer schema, match against canonical templates, and auto-generate pipeline definitions for Workstream C; measure onboarding velocity; scale beyond linear headcount</a:t>
            </a:r>
          </a:p>
          <a:p>
            <a:pPr marL="137160" lvl="1" indent="-137160">
              <a:spcAft>
                <a:spcPts val="300"/>
              </a:spcAft>
              <a:buFont typeface="Arial" panose="020B0604020202020204" pitchFamily="34" charset="0"/>
              <a:buChar char="•"/>
            </a:pPr>
            <a:r>
              <a:rPr lang="en-US" sz="1000"/>
              <a:t>Schema, medallion architecture and pipeline approach needs discussion after internal call this week.</a:t>
            </a:r>
          </a:p>
          <a:p>
            <a:pPr marL="137160" lvl="1" indent="-137160">
              <a:spcAft>
                <a:spcPts val="300"/>
              </a:spcAft>
              <a:buFont typeface="Arial" panose="020B0604020202020204" pitchFamily="34" charset="0"/>
              <a:buChar char="•"/>
            </a:pPr>
            <a:r>
              <a:rPr lang="en-US" sz="1000" err="1"/>
              <a:t>Cribl</a:t>
            </a:r>
            <a:r>
              <a:rPr lang="en-US" sz="1000"/>
              <a:t> pipelines not in scope</a:t>
            </a:r>
          </a:p>
          <a:p>
            <a:pPr marL="137160" lvl="1" indent="-137160">
              <a:spcAft>
                <a:spcPts val="300"/>
              </a:spcAft>
              <a:buFont typeface="Arial" panose="020B0604020202020204" pitchFamily="34" charset="0"/>
              <a:buChar char="•"/>
            </a:pPr>
            <a:r>
              <a:rPr lang="en-US" sz="1000" i="1">
                <a:solidFill>
                  <a:srgbClr val="00787E"/>
                </a:solidFill>
              </a:rPr>
              <a:t>Data landing before welcome season needs discussion.</a:t>
            </a:r>
          </a:p>
          <a:p>
            <a:pPr marL="137160" lvl="1" indent="-137160">
              <a:spcAft>
                <a:spcPts val="300"/>
              </a:spcAft>
              <a:buFont typeface="Arial" panose="020B0604020202020204" pitchFamily="34" charset="0"/>
              <a:buChar char="•"/>
            </a:pPr>
            <a:endParaRPr lang="en-US" sz="1000" kern="1500">
              <a:solidFill>
                <a:schemeClr val="tx2"/>
              </a:solidFill>
            </a:endParaRPr>
          </a:p>
        </p:txBody>
      </p:sp>
      <p:sp>
        <p:nvSpPr>
          <p:cNvPr id="27" name="TextBox 26">
            <a:extLst>
              <a:ext uri="{FF2B5EF4-FFF2-40B4-BE49-F238E27FC236}">
                <a16:creationId xmlns:a16="http://schemas.microsoft.com/office/drawing/2014/main" id="{8F28FAD4-19E8-9A40-A37E-D0CDB5591F3A}"/>
              </a:ext>
            </a:extLst>
          </p:cNvPr>
          <p:cNvSpPr txBox="1"/>
          <p:nvPr/>
        </p:nvSpPr>
        <p:spPr>
          <a:xfrm>
            <a:off x="6301525" y="1463040"/>
            <a:ext cx="740587"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rgbClr val="0B315E"/>
                </a:solidFill>
                <a:effectLst/>
                <a:uLnTx/>
                <a:uFillTx/>
                <a:latin typeface="CVS Health Sans"/>
                <a:ea typeface="+mn-ea"/>
                <a:cs typeface="+mn-cs"/>
              </a:rPr>
              <a:t>Milestone</a:t>
            </a:r>
          </a:p>
        </p:txBody>
      </p:sp>
      <p:grpSp>
        <p:nvGrpSpPr>
          <p:cNvPr id="28" name="Group 27">
            <a:extLst>
              <a:ext uri="{FF2B5EF4-FFF2-40B4-BE49-F238E27FC236}">
                <a16:creationId xmlns:a16="http://schemas.microsoft.com/office/drawing/2014/main" id="{8B6E5DCD-253D-A103-1FF3-A8FD4E318E4C}"/>
              </a:ext>
            </a:extLst>
          </p:cNvPr>
          <p:cNvGrpSpPr/>
          <p:nvPr/>
        </p:nvGrpSpPr>
        <p:grpSpPr>
          <a:xfrm>
            <a:off x="533400" y="2026166"/>
            <a:ext cx="5562600" cy="4926"/>
            <a:chOff x="533400" y="1886078"/>
            <a:chExt cx="5562600" cy="4926"/>
          </a:xfrm>
        </p:grpSpPr>
        <p:cxnSp>
          <p:nvCxnSpPr>
            <p:cNvPr id="29" name="Straight Connector 28">
              <a:extLst>
                <a:ext uri="{FF2B5EF4-FFF2-40B4-BE49-F238E27FC236}">
                  <a16:creationId xmlns:a16="http://schemas.microsoft.com/office/drawing/2014/main" id="{1ADB80B5-DE26-82C1-143A-23D7057114EB}"/>
                </a:ext>
              </a:extLst>
            </p:cNvPr>
            <p:cNvCxnSpPr/>
            <p:nvPr/>
          </p:nvCxnSpPr>
          <p:spPr>
            <a:xfrm>
              <a:off x="553507" y="1891004"/>
              <a:ext cx="5542493"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D0581B-A383-AD62-D450-61EC3034EF9F}"/>
                </a:ext>
              </a:extLst>
            </p:cNvPr>
            <p:cNvCxnSpPr>
              <a:cxnSpLocks/>
            </p:cNvCxnSpPr>
            <p:nvPr/>
          </p:nvCxnSpPr>
          <p:spPr>
            <a:xfrm>
              <a:off x="533400" y="1886078"/>
              <a:ext cx="784166"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8802731D-CD72-F590-10AD-D06B351C19DC}"/>
              </a:ext>
            </a:extLst>
          </p:cNvPr>
          <p:cNvGrpSpPr/>
          <p:nvPr/>
        </p:nvGrpSpPr>
        <p:grpSpPr>
          <a:xfrm>
            <a:off x="533400" y="2795381"/>
            <a:ext cx="5562600" cy="0"/>
            <a:chOff x="533400" y="2463561"/>
            <a:chExt cx="5562600" cy="0"/>
          </a:xfrm>
        </p:grpSpPr>
        <p:cxnSp>
          <p:nvCxnSpPr>
            <p:cNvPr id="36" name="Straight Connector 35">
              <a:extLst>
                <a:ext uri="{FF2B5EF4-FFF2-40B4-BE49-F238E27FC236}">
                  <a16:creationId xmlns:a16="http://schemas.microsoft.com/office/drawing/2014/main" id="{B0C8D695-EE1D-6A41-E7EF-74986C3EB28D}"/>
                </a:ext>
              </a:extLst>
            </p:cNvPr>
            <p:cNvCxnSpPr/>
            <p:nvPr/>
          </p:nvCxnSpPr>
          <p:spPr>
            <a:xfrm>
              <a:off x="553507" y="2463561"/>
              <a:ext cx="5542493"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2597261-68DA-E03B-D92A-148F4E3C6F08}"/>
                </a:ext>
              </a:extLst>
            </p:cNvPr>
            <p:cNvCxnSpPr>
              <a:cxnSpLocks/>
            </p:cNvCxnSpPr>
            <p:nvPr/>
          </p:nvCxnSpPr>
          <p:spPr>
            <a:xfrm>
              <a:off x="533400" y="2463561"/>
              <a:ext cx="784166"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sp>
        <p:nvSpPr>
          <p:cNvPr id="39" name="Rectangle: Rounded Corners 38">
            <a:extLst>
              <a:ext uri="{FF2B5EF4-FFF2-40B4-BE49-F238E27FC236}">
                <a16:creationId xmlns:a16="http://schemas.microsoft.com/office/drawing/2014/main" id="{9BBE5608-49A5-09C5-AACE-6741E7D8B693}"/>
              </a:ext>
            </a:extLst>
          </p:cNvPr>
          <p:cNvSpPr/>
          <p:nvPr/>
        </p:nvSpPr>
        <p:spPr bwMode="gray">
          <a:xfrm>
            <a:off x="6296422" y="1645920"/>
            <a:ext cx="5358384" cy="1005840"/>
          </a:xfrm>
          <a:prstGeom prst="roundRect">
            <a:avLst>
              <a:gd name="adj" fmla="val 2810"/>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defTabSz="457063" fontAlgn="ctr">
              <a:defRPr/>
            </a:pPr>
            <a:r>
              <a:rPr lang="en-US" sz="1000" b="1">
                <a:solidFill>
                  <a:srgbClr val="00A78E"/>
                </a:solidFill>
              </a:rPr>
              <a:t>Description: </a:t>
            </a:r>
            <a:r>
              <a:rPr lang="en-US" sz="1000">
                <a:solidFill>
                  <a:schemeClr val="tx2"/>
                </a:solidFill>
              </a:rPr>
              <a:t>Inventory, Routing, Tier 1 Data Landing</a:t>
            </a:r>
          </a:p>
          <a:p>
            <a:pPr defTabSz="457063" fontAlgn="ctr">
              <a:defRPr/>
            </a:pPr>
            <a:r>
              <a:rPr lang="en-US" sz="1000" b="1">
                <a:solidFill>
                  <a:srgbClr val="00A78E"/>
                </a:solidFill>
              </a:rPr>
              <a:t>Timing:</a:t>
            </a:r>
            <a:endParaRPr lang="en-US" sz="1000" b="1">
              <a:solidFill>
                <a:schemeClr val="tx2"/>
              </a:solidFill>
            </a:endParaRPr>
          </a:p>
          <a:p>
            <a:pPr defTabSz="457063" fontAlgn="ctr">
              <a:defRPr/>
            </a:pPr>
            <a:endParaRPr lang="en-US" sz="700" b="1">
              <a:solidFill>
                <a:schemeClr val="tx2"/>
              </a:solidFill>
            </a:endParaRPr>
          </a:p>
          <a:p>
            <a:pPr defTabSz="457063" fontAlgn="ctr">
              <a:defRPr/>
            </a:pPr>
            <a:endParaRPr lang="en-US" sz="700" b="1">
              <a:solidFill>
                <a:schemeClr val="tx2"/>
              </a:solidFill>
            </a:endParaRPr>
          </a:p>
          <a:p>
            <a:r>
              <a:rPr lang="en-US" sz="1000" b="1">
                <a:solidFill>
                  <a:srgbClr val="00A78E"/>
                </a:solidFill>
              </a:rPr>
              <a:t>Deliverables: </a:t>
            </a:r>
          </a:p>
          <a:p>
            <a:pPr marL="91440" indent="-91440">
              <a:buFont typeface="Arial" panose="020B0604020202020204" pitchFamily="34" charset="0"/>
              <a:buChar char="•"/>
            </a:pPr>
            <a:r>
              <a:rPr lang="en-US" sz="1000">
                <a:solidFill>
                  <a:schemeClr val="tx2"/>
                </a:solidFill>
              </a:rPr>
              <a:t>Rationalization Catalog (XLS) including Tier 1 sources</a:t>
            </a:r>
          </a:p>
          <a:p>
            <a:pPr marL="91440" indent="-91440">
              <a:buFont typeface="Arial" panose="020B0604020202020204" pitchFamily="34" charset="0"/>
              <a:buChar char="•"/>
            </a:pPr>
            <a:r>
              <a:rPr lang="en-US" sz="1000">
                <a:solidFill>
                  <a:schemeClr val="tx2"/>
                </a:solidFill>
              </a:rPr>
              <a:t>Source Family Taxonomy and Prioritization Framework (DOC/XLS) including Tier 1 prioritization</a:t>
            </a:r>
          </a:p>
        </p:txBody>
      </p:sp>
      <p:sp>
        <p:nvSpPr>
          <p:cNvPr id="47" name="TextBox 46">
            <a:extLst>
              <a:ext uri="{FF2B5EF4-FFF2-40B4-BE49-F238E27FC236}">
                <a16:creationId xmlns:a16="http://schemas.microsoft.com/office/drawing/2014/main" id="{27BCB46B-E1AB-A329-73CC-9FE5626F5A61}"/>
              </a:ext>
            </a:extLst>
          </p:cNvPr>
          <p:cNvSpPr txBox="1"/>
          <p:nvPr/>
        </p:nvSpPr>
        <p:spPr>
          <a:xfrm>
            <a:off x="11155680" y="1645920"/>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00" b="1" kern="1500">
                <a:solidFill>
                  <a:schemeClr val="bg1"/>
                </a:solidFill>
              </a:rPr>
              <a:t>B.1.1</a:t>
            </a:r>
          </a:p>
        </p:txBody>
      </p:sp>
      <p:sp>
        <p:nvSpPr>
          <p:cNvPr id="50" name="Rectangle 49">
            <a:extLst>
              <a:ext uri="{FF2B5EF4-FFF2-40B4-BE49-F238E27FC236}">
                <a16:creationId xmlns:a16="http://schemas.microsoft.com/office/drawing/2014/main" id="{78438925-60B3-FF3F-45AD-FFE7092A3A72}"/>
              </a:ext>
            </a:extLst>
          </p:cNvPr>
          <p:cNvSpPr/>
          <p:nvPr/>
        </p:nvSpPr>
        <p:spPr bwMode="gray">
          <a:xfrm>
            <a:off x="589357" y="6202227"/>
            <a:ext cx="10963656" cy="137160"/>
          </a:xfrm>
          <a:prstGeom prst="rect">
            <a:avLst/>
          </a:prstGeom>
          <a:noFill/>
          <a:ln>
            <a:noFill/>
            <a:miter lim="800000"/>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lstStyle/>
          <a:p>
            <a:r>
              <a:rPr lang="en-US" sz="800">
                <a:solidFill>
                  <a:schemeClr val="tx2"/>
                </a:solidFill>
              </a:rPr>
              <a:t>Source: CVS_Databricks_SOW_Draft_v5 JAS_CVS_REDLINE, CVS Databricks Staffing Model_V4.xlsx</a:t>
            </a:r>
          </a:p>
        </p:txBody>
      </p:sp>
      <p:graphicFrame>
        <p:nvGraphicFramePr>
          <p:cNvPr id="56" name="Table 55">
            <a:extLst>
              <a:ext uri="{FF2B5EF4-FFF2-40B4-BE49-F238E27FC236}">
                <a16:creationId xmlns:a16="http://schemas.microsoft.com/office/drawing/2014/main" id="{4CEFC123-6E5F-E328-9020-9D560002FCBE}"/>
              </a:ext>
            </a:extLst>
          </p:cNvPr>
          <p:cNvGraphicFramePr>
            <a:graphicFrameLocks noGrp="1"/>
          </p:cNvGraphicFramePr>
          <p:nvPr>
            <p:extLst>
              <p:ext uri="{D42A27DB-BD31-4B8C-83A1-F6EECF244321}">
                <p14:modId xmlns:p14="http://schemas.microsoft.com/office/powerpoint/2010/main" val="3664229294"/>
              </p:ext>
            </p:extLst>
          </p:nvPr>
        </p:nvGraphicFramePr>
        <p:xfrm>
          <a:off x="6357663" y="1992224"/>
          <a:ext cx="5235902" cy="182880"/>
        </p:xfrm>
        <a:graphic>
          <a:graphicData uri="http://schemas.openxmlformats.org/drawingml/2006/table">
            <a:tbl>
              <a:tblPr firstRow="1" bandRow="1">
                <a:tableStyleId>{5C22544A-7EE6-4342-B048-85BDC9FD1C3A}</a:tableStyleId>
              </a:tblPr>
              <a:tblGrid>
                <a:gridCol w="373993">
                  <a:extLst>
                    <a:ext uri="{9D8B030D-6E8A-4147-A177-3AD203B41FA5}">
                      <a16:colId xmlns:a16="http://schemas.microsoft.com/office/drawing/2014/main" val="4234389670"/>
                    </a:ext>
                  </a:extLst>
                </a:gridCol>
                <a:gridCol w="373993">
                  <a:extLst>
                    <a:ext uri="{9D8B030D-6E8A-4147-A177-3AD203B41FA5}">
                      <a16:colId xmlns:a16="http://schemas.microsoft.com/office/drawing/2014/main" val="2872415959"/>
                    </a:ext>
                  </a:extLst>
                </a:gridCol>
                <a:gridCol w="373993">
                  <a:extLst>
                    <a:ext uri="{9D8B030D-6E8A-4147-A177-3AD203B41FA5}">
                      <a16:colId xmlns:a16="http://schemas.microsoft.com/office/drawing/2014/main" val="2224089828"/>
                    </a:ext>
                  </a:extLst>
                </a:gridCol>
                <a:gridCol w="373993">
                  <a:extLst>
                    <a:ext uri="{9D8B030D-6E8A-4147-A177-3AD203B41FA5}">
                      <a16:colId xmlns:a16="http://schemas.microsoft.com/office/drawing/2014/main" val="3195761835"/>
                    </a:ext>
                  </a:extLst>
                </a:gridCol>
                <a:gridCol w="373993">
                  <a:extLst>
                    <a:ext uri="{9D8B030D-6E8A-4147-A177-3AD203B41FA5}">
                      <a16:colId xmlns:a16="http://schemas.microsoft.com/office/drawing/2014/main" val="1412581894"/>
                    </a:ext>
                  </a:extLst>
                </a:gridCol>
                <a:gridCol w="373993">
                  <a:extLst>
                    <a:ext uri="{9D8B030D-6E8A-4147-A177-3AD203B41FA5}">
                      <a16:colId xmlns:a16="http://schemas.microsoft.com/office/drawing/2014/main" val="2093679262"/>
                    </a:ext>
                  </a:extLst>
                </a:gridCol>
                <a:gridCol w="373993">
                  <a:extLst>
                    <a:ext uri="{9D8B030D-6E8A-4147-A177-3AD203B41FA5}">
                      <a16:colId xmlns:a16="http://schemas.microsoft.com/office/drawing/2014/main" val="4172650658"/>
                    </a:ext>
                  </a:extLst>
                </a:gridCol>
                <a:gridCol w="373993">
                  <a:extLst>
                    <a:ext uri="{9D8B030D-6E8A-4147-A177-3AD203B41FA5}">
                      <a16:colId xmlns:a16="http://schemas.microsoft.com/office/drawing/2014/main" val="4085553167"/>
                    </a:ext>
                  </a:extLst>
                </a:gridCol>
                <a:gridCol w="373993">
                  <a:extLst>
                    <a:ext uri="{9D8B030D-6E8A-4147-A177-3AD203B41FA5}">
                      <a16:colId xmlns:a16="http://schemas.microsoft.com/office/drawing/2014/main" val="3035667041"/>
                    </a:ext>
                  </a:extLst>
                </a:gridCol>
                <a:gridCol w="373993">
                  <a:extLst>
                    <a:ext uri="{9D8B030D-6E8A-4147-A177-3AD203B41FA5}">
                      <a16:colId xmlns:a16="http://schemas.microsoft.com/office/drawing/2014/main" val="1382053115"/>
                    </a:ext>
                  </a:extLst>
                </a:gridCol>
                <a:gridCol w="373993">
                  <a:extLst>
                    <a:ext uri="{9D8B030D-6E8A-4147-A177-3AD203B41FA5}">
                      <a16:colId xmlns:a16="http://schemas.microsoft.com/office/drawing/2014/main" val="243945664"/>
                    </a:ext>
                  </a:extLst>
                </a:gridCol>
                <a:gridCol w="373993">
                  <a:extLst>
                    <a:ext uri="{9D8B030D-6E8A-4147-A177-3AD203B41FA5}">
                      <a16:colId xmlns:a16="http://schemas.microsoft.com/office/drawing/2014/main" val="4035638086"/>
                    </a:ext>
                  </a:extLst>
                </a:gridCol>
                <a:gridCol w="373993">
                  <a:extLst>
                    <a:ext uri="{9D8B030D-6E8A-4147-A177-3AD203B41FA5}">
                      <a16:colId xmlns:a16="http://schemas.microsoft.com/office/drawing/2014/main" val="340677872"/>
                    </a:ext>
                  </a:extLst>
                </a:gridCol>
                <a:gridCol w="373993">
                  <a:extLst>
                    <a:ext uri="{9D8B030D-6E8A-4147-A177-3AD203B41FA5}">
                      <a16:colId xmlns:a16="http://schemas.microsoft.com/office/drawing/2014/main" val="2567119461"/>
                    </a:ext>
                  </a:extLst>
                </a:gridCol>
              </a:tblGrid>
              <a:tr h="182880">
                <a:tc>
                  <a:txBody>
                    <a:bodyPr/>
                    <a:lstStyle/>
                    <a:p>
                      <a:pPr algn="ctr"/>
                      <a:r>
                        <a:rPr lang="en-US" sz="900"/>
                        <a:t>Sep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Oct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Nov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Dec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Jan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Feb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Mar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Apr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May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Jul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Aug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Sep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Oct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extLst>
                  <a:ext uri="{0D108BD9-81ED-4DB2-BD59-A6C34878D82A}">
                    <a16:rowId xmlns:a16="http://schemas.microsoft.com/office/drawing/2014/main" val="3394829782"/>
                  </a:ext>
                </a:extLst>
              </a:tr>
            </a:tbl>
          </a:graphicData>
        </a:graphic>
      </p:graphicFrame>
      <p:sp>
        <p:nvSpPr>
          <p:cNvPr id="64" name="Rectangle: Rounded Corners 63">
            <a:extLst>
              <a:ext uri="{FF2B5EF4-FFF2-40B4-BE49-F238E27FC236}">
                <a16:creationId xmlns:a16="http://schemas.microsoft.com/office/drawing/2014/main" id="{4C3E1B27-88C3-61AB-0505-2519F22F714A}"/>
              </a:ext>
            </a:extLst>
          </p:cNvPr>
          <p:cNvSpPr/>
          <p:nvPr/>
        </p:nvSpPr>
        <p:spPr bwMode="gray">
          <a:xfrm>
            <a:off x="6296421" y="2743200"/>
            <a:ext cx="5358384" cy="1188720"/>
          </a:xfrm>
          <a:prstGeom prst="roundRect">
            <a:avLst>
              <a:gd name="adj" fmla="val 2594"/>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defTabSz="457063" fontAlgn="ctr">
              <a:defRPr/>
            </a:pPr>
            <a:r>
              <a:rPr lang="en-US" sz="1000" b="1">
                <a:solidFill>
                  <a:srgbClr val="00A78E"/>
                </a:solidFill>
              </a:rPr>
              <a:t>Description: </a:t>
            </a:r>
            <a:r>
              <a:rPr lang="en-US" sz="1000">
                <a:solidFill>
                  <a:schemeClr val="tx2"/>
                </a:solidFill>
              </a:rPr>
              <a:t>Inventory, Routing, Tier 2 Data Landing</a:t>
            </a:r>
          </a:p>
          <a:p>
            <a:pPr defTabSz="457063" fontAlgn="ctr">
              <a:defRPr/>
            </a:pPr>
            <a:r>
              <a:rPr lang="en-US" sz="1000" b="1">
                <a:solidFill>
                  <a:srgbClr val="00A78E"/>
                </a:solidFill>
              </a:rPr>
              <a:t>Timing:</a:t>
            </a:r>
            <a:endParaRPr lang="en-US" sz="700" b="1">
              <a:solidFill>
                <a:schemeClr val="tx2"/>
              </a:solidFill>
            </a:endParaRPr>
          </a:p>
          <a:p>
            <a:pPr defTabSz="457063" fontAlgn="ctr">
              <a:defRPr/>
            </a:pPr>
            <a:endParaRPr lang="en-US" sz="700" b="1">
              <a:solidFill>
                <a:schemeClr val="tx2"/>
              </a:solidFill>
            </a:endParaRPr>
          </a:p>
          <a:p>
            <a:pPr defTabSz="457063" fontAlgn="ctr">
              <a:defRPr/>
            </a:pPr>
            <a:endParaRPr lang="en-US" sz="700" b="1">
              <a:solidFill>
                <a:schemeClr val="tx2"/>
              </a:solidFill>
            </a:endParaRPr>
          </a:p>
          <a:p>
            <a:r>
              <a:rPr lang="en-US" sz="1000" b="1">
                <a:solidFill>
                  <a:srgbClr val="00A78E"/>
                </a:solidFill>
              </a:rPr>
              <a:t>Deliverables: </a:t>
            </a:r>
          </a:p>
          <a:p>
            <a:pPr marL="91440" indent="-91440">
              <a:buFont typeface="Arial" panose="020B0604020202020204" pitchFamily="34" charset="0"/>
              <a:buChar char="•"/>
            </a:pPr>
            <a:r>
              <a:rPr lang="en-US" sz="1000">
                <a:solidFill>
                  <a:schemeClr val="tx2"/>
                </a:solidFill>
              </a:rPr>
              <a:t>Updated Source Inventory and Rationalization Catalog (XLS) including Tier 2 sources</a:t>
            </a:r>
          </a:p>
          <a:p>
            <a:pPr marL="91440" indent="-91440">
              <a:buFont typeface="Arial" panose="020B0604020202020204" pitchFamily="34" charset="0"/>
              <a:buChar char="•"/>
            </a:pPr>
            <a:r>
              <a:rPr lang="en-US" sz="1000">
                <a:solidFill>
                  <a:schemeClr val="tx2"/>
                </a:solidFill>
              </a:rPr>
              <a:t>Updated Source Family Taxonomy and Prioritization Framework (DOC/XLS) including Tier 2 prioritization</a:t>
            </a:r>
          </a:p>
        </p:txBody>
      </p:sp>
      <p:sp>
        <p:nvSpPr>
          <p:cNvPr id="66" name="TextBox 65">
            <a:extLst>
              <a:ext uri="{FF2B5EF4-FFF2-40B4-BE49-F238E27FC236}">
                <a16:creationId xmlns:a16="http://schemas.microsoft.com/office/drawing/2014/main" id="{AF21AAFF-6F28-3611-4617-1F5FDA6DDB50}"/>
              </a:ext>
            </a:extLst>
          </p:cNvPr>
          <p:cNvSpPr txBox="1"/>
          <p:nvPr/>
        </p:nvSpPr>
        <p:spPr>
          <a:xfrm>
            <a:off x="11155680" y="2743200"/>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B.1.2</a:t>
            </a:r>
          </a:p>
        </p:txBody>
      </p:sp>
      <p:graphicFrame>
        <p:nvGraphicFramePr>
          <p:cNvPr id="58" name="Table 57">
            <a:extLst>
              <a:ext uri="{FF2B5EF4-FFF2-40B4-BE49-F238E27FC236}">
                <a16:creationId xmlns:a16="http://schemas.microsoft.com/office/drawing/2014/main" id="{3F35C114-8B2B-96B6-5E01-89ADC0D3AF73}"/>
              </a:ext>
            </a:extLst>
          </p:cNvPr>
          <p:cNvGraphicFramePr>
            <a:graphicFrameLocks noGrp="1"/>
          </p:cNvGraphicFramePr>
          <p:nvPr>
            <p:extLst>
              <p:ext uri="{D42A27DB-BD31-4B8C-83A1-F6EECF244321}">
                <p14:modId xmlns:p14="http://schemas.microsoft.com/office/powerpoint/2010/main" val="838120963"/>
              </p:ext>
            </p:extLst>
          </p:nvPr>
        </p:nvGraphicFramePr>
        <p:xfrm>
          <a:off x="6357663" y="3089504"/>
          <a:ext cx="5235902" cy="182880"/>
        </p:xfrm>
        <a:graphic>
          <a:graphicData uri="http://schemas.openxmlformats.org/drawingml/2006/table">
            <a:tbl>
              <a:tblPr firstRow="1" bandRow="1">
                <a:tableStyleId>{5C22544A-7EE6-4342-B048-85BDC9FD1C3A}</a:tableStyleId>
              </a:tblPr>
              <a:tblGrid>
                <a:gridCol w="373993">
                  <a:extLst>
                    <a:ext uri="{9D8B030D-6E8A-4147-A177-3AD203B41FA5}">
                      <a16:colId xmlns:a16="http://schemas.microsoft.com/office/drawing/2014/main" val="4234389670"/>
                    </a:ext>
                  </a:extLst>
                </a:gridCol>
                <a:gridCol w="373993">
                  <a:extLst>
                    <a:ext uri="{9D8B030D-6E8A-4147-A177-3AD203B41FA5}">
                      <a16:colId xmlns:a16="http://schemas.microsoft.com/office/drawing/2014/main" val="2872415959"/>
                    </a:ext>
                  </a:extLst>
                </a:gridCol>
                <a:gridCol w="373993">
                  <a:extLst>
                    <a:ext uri="{9D8B030D-6E8A-4147-A177-3AD203B41FA5}">
                      <a16:colId xmlns:a16="http://schemas.microsoft.com/office/drawing/2014/main" val="2224089828"/>
                    </a:ext>
                  </a:extLst>
                </a:gridCol>
                <a:gridCol w="373993">
                  <a:extLst>
                    <a:ext uri="{9D8B030D-6E8A-4147-A177-3AD203B41FA5}">
                      <a16:colId xmlns:a16="http://schemas.microsoft.com/office/drawing/2014/main" val="3195761835"/>
                    </a:ext>
                  </a:extLst>
                </a:gridCol>
                <a:gridCol w="373993">
                  <a:extLst>
                    <a:ext uri="{9D8B030D-6E8A-4147-A177-3AD203B41FA5}">
                      <a16:colId xmlns:a16="http://schemas.microsoft.com/office/drawing/2014/main" val="1412581894"/>
                    </a:ext>
                  </a:extLst>
                </a:gridCol>
                <a:gridCol w="373993">
                  <a:extLst>
                    <a:ext uri="{9D8B030D-6E8A-4147-A177-3AD203B41FA5}">
                      <a16:colId xmlns:a16="http://schemas.microsoft.com/office/drawing/2014/main" val="2093679262"/>
                    </a:ext>
                  </a:extLst>
                </a:gridCol>
                <a:gridCol w="373993">
                  <a:extLst>
                    <a:ext uri="{9D8B030D-6E8A-4147-A177-3AD203B41FA5}">
                      <a16:colId xmlns:a16="http://schemas.microsoft.com/office/drawing/2014/main" val="4172650658"/>
                    </a:ext>
                  </a:extLst>
                </a:gridCol>
                <a:gridCol w="333756">
                  <a:extLst>
                    <a:ext uri="{9D8B030D-6E8A-4147-A177-3AD203B41FA5}">
                      <a16:colId xmlns:a16="http://schemas.microsoft.com/office/drawing/2014/main" val="4085553167"/>
                    </a:ext>
                  </a:extLst>
                </a:gridCol>
                <a:gridCol w="414230">
                  <a:extLst>
                    <a:ext uri="{9D8B030D-6E8A-4147-A177-3AD203B41FA5}">
                      <a16:colId xmlns:a16="http://schemas.microsoft.com/office/drawing/2014/main" val="3035667041"/>
                    </a:ext>
                  </a:extLst>
                </a:gridCol>
                <a:gridCol w="373993">
                  <a:extLst>
                    <a:ext uri="{9D8B030D-6E8A-4147-A177-3AD203B41FA5}">
                      <a16:colId xmlns:a16="http://schemas.microsoft.com/office/drawing/2014/main" val="1382053115"/>
                    </a:ext>
                  </a:extLst>
                </a:gridCol>
                <a:gridCol w="373993">
                  <a:extLst>
                    <a:ext uri="{9D8B030D-6E8A-4147-A177-3AD203B41FA5}">
                      <a16:colId xmlns:a16="http://schemas.microsoft.com/office/drawing/2014/main" val="243945664"/>
                    </a:ext>
                  </a:extLst>
                </a:gridCol>
                <a:gridCol w="373993">
                  <a:extLst>
                    <a:ext uri="{9D8B030D-6E8A-4147-A177-3AD203B41FA5}">
                      <a16:colId xmlns:a16="http://schemas.microsoft.com/office/drawing/2014/main" val="4035638086"/>
                    </a:ext>
                  </a:extLst>
                </a:gridCol>
                <a:gridCol w="373993">
                  <a:extLst>
                    <a:ext uri="{9D8B030D-6E8A-4147-A177-3AD203B41FA5}">
                      <a16:colId xmlns:a16="http://schemas.microsoft.com/office/drawing/2014/main" val="340677872"/>
                    </a:ext>
                  </a:extLst>
                </a:gridCol>
                <a:gridCol w="373993">
                  <a:extLst>
                    <a:ext uri="{9D8B030D-6E8A-4147-A177-3AD203B41FA5}">
                      <a16:colId xmlns:a16="http://schemas.microsoft.com/office/drawing/2014/main" val="2567119461"/>
                    </a:ext>
                  </a:extLst>
                </a:gridCol>
              </a:tblGrid>
              <a:tr h="182880">
                <a:tc>
                  <a:txBody>
                    <a:bodyPr/>
                    <a:lstStyle/>
                    <a:p>
                      <a:pPr algn="ctr"/>
                      <a:r>
                        <a:rPr lang="en-US" sz="900"/>
                        <a:t>Sep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Oct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Nov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Dec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Jan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Feb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Mar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Apr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May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Jul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Aug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Sep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Oct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extLst>
                  <a:ext uri="{0D108BD9-81ED-4DB2-BD59-A6C34878D82A}">
                    <a16:rowId xmlns:a16="http://schemas.microsoft.com/office/drawing/2014/main" val="3394829782"/>
                  </a:ext>
                </a:extLst>
              </a:tr>
            </a:tbl>
          </a:graphicData>
        </a:graphic>
      </p:graphicFrame>
      <p:sp>
        <p:nvSpPr>
          <p:cNvPr id="68" name="Rectangle: Rounded Corners 67">
            <a:extLst>
              <a:ext uri="{FF2B5EF4-FFF2-40B4-BE49-F238E27FC236}">
                <a16:creationId xmlns:a16="http://schemas.microsoft.com/office/drawing/2014/main" id="{A277C0A8-5FF9-BCB1-3B6E-9456CB02652D}"/>
              </a:ext>
            </a:extLst>
          </p:cNvPr>
          <p:cNvSpPr/>
          <p:nvPr/>
        </p:nvSpPr>
        <p:spPr bwMode="gray">
          <a:xfrm>
            <a:off x="6296420" y="4023360"/>
            <a:ext cx="5358384" cy="1188720"/>
          </a:xfrm>
          <a:prstGeom prst="roundRect">
            <a:avLst>
              <a:gd name="adj" fmla="val 3026"/>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defTabSz="457063" fontAlgn="ctr">
              <a:defRPr/>
            </a:pPr>
            <a:r>
              <a:rPr lang="en-US" sz="1000" b="1">
                <a:solidFill>
                  <a:srgbClr val="00A78E"/>
                </a:solidFill>
              </a:rPr>
              <a:t>Description: </a:t>
            </a:r>
            <a:r>
              <a:rPr lang="en-US" sz="1000">
                <a:solidFill>
                  <a:schemeClr val="tx2"/>
                </a:solidFill>
              </a:rPr>
              <a:t>Contracts, Templates &amp; Security</a:t>
            </a:r>
          </a:p>
          <a:p>
            <a:pPr defTabSz="457063" fontAlgn="ctr">
              <a:defRPr/>
            </a:pPr>
            <a:r>
              <a:rPr lang="en-US" sz="1000" b="1">
                <a:solidFill>
                  <a:srgbClr val="00A78E"/>
                </a:solidFill>
              </a:rPr>
              <a:t>Timing:</a:t>
            </a:r>
            <a:endParaRPr lang="en-US" sz="700" b="1">
              <a:solidFill>
                <a:schemeClr val="tx2"/>
              </a:solidFill>
            </a:endParaRPr>
          </a:p>
          <a:p>
            <a:pPr defTabSz="457063" fontAlgn="ctr">
              <a:defRPr/>
            </a:pPr>
            <a:endParaRPr lang="en-US" sz="700" b="1">
              <a:solidFill>
                <a:schemeClr val="tx2"/>
              </a:solidFill>
            </a:endParaRPr>
          </a:p>
          <a:p>
            <a:pPr defTabSz="457063" fontAlgn="ctr">
              <a:defRPr/>
            </a:pPr>
            <a:endParaRPr lang="en-US" sz="700" b="1">
              <a:solidFill>
                <a:schemeClr val="tx2"/>
              </a:solidFill>
            </a:endParaRPr>
          </a:p>
          <a:p>
            <a:r>
              <a:rPr lang="en-US" sz="1000" b="1">
                <a:solidFill>
                  <a:srgbClr val="00A78E"/>
                </a:solidFill>
              </a:rPr>
              <a:t>Deliverables: </a:t>
            </a:r>
          </a:p>
          <a:p>
            <a:pPr marL="91440" indent="-91440">
              <a:buFont typeface="Arial" panose="020B0604020202020204" pitchFamily="34" charset="0"/>
              <a:buChar char="•"/>
            </a:pPr>
            <a:r>
              <a:rPr lang="en-US" sz="1000">
                <a:solidFill>
                  <a:schemeClr val="tx2"/>
                </a:solidFill>
              </a:rPr>
              <a:t>Data Contract Template and Contracting Standards (DOC)</a:t>
            </a:r>
          </a:p>
          <a:p>
            <a:pPr marL="91440" indent="-91440">
              <a:buFont typeface="Arial" panose="020B0604020202020204" pitchFamily="34" charset="0"/>
              <a:buChar char="•"/>
            </a:pPr>
            <a:r>
              <a:rPr lang="en-US" sz="1000">
                <a:solidFill>
                  <a:schemeClr val="tx2"/>
                </a:solidFill>
              </a:rPr>
              <a:t>Data Classification and Security Boundary Matrix (XLS)</a:t>
            </a:r>
          </a:p>
          <a:p>
            <a:pPr marL="91440" indent="-91440">
              <a:buFont typeface="Arial" panose="020B0604020202020204" pitchFamily="34" charset="0"/>
              <a:buChar char="•"/>
            </a:pPr>
            <a:r>
              <a:rPr lang="en-US" sz="1000">
                <a:solidFill>
                  <a:schemeClr val="tx2"/>
                </a:solidFill>
              </a:rPr>
              <a:t>Unity Catalog Metadata Registration Standards (DOC)</a:t>
            </a:r>
          </a:p>
        </p:txBody>
      </p:sp>
      <p:sp>
        <p:nvSpPr>
          <p:cNvPr id="70" name="TextBox 69">
            <a:extLst>
              <a:ext uri="{FF2B5EF4-FFF2-40B4-BE49-F238E27FC236}">
                <a16:creationId xmlns:a16="http://schemas.microsoft.com/office/drawing/2014/main" id="{911B6A4B-0CD6-0964-27CF-893A31BA52BC}"/>
              </a:ext>
            </a:extLst>
          </p:cNvPr>
          <p:cNvSpPr txBox="1"/>
          <p:nvPr/>
        </p:nvSpPr>
        <p:spPr>
          <a:xfrm>
            <a:off x="11155680" y="4023360"/>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B.1.3</a:t>
            </a:r>
          </a:p>
        </p:txBody>
      </p:sp>
      <p:graphicFrame>
        <p:nvGraphicFramePr>
          <p:cNvPr id="60" name="Table 59">
            <a:extLst>
              <a:ext uri="{FF2B5EF4-FFF2-40B4-BE49-F238E27FC236}">
                <a16:creationId xmlns:a16="http://schemas.microsoft.com/office/drawing/2014/main" id="{DED467B7-9570-E85C-D591-6B90A929C82F}"/>
              </a:ext>
            </a:extLst>
          </p:cNvPr>
          <p:cNvGraphicFramePr>
            <a:graphicFrameLocks noGrp="1"/>
          </p:cNvGraphicFramePr>
          <p:nvPr>
            <p:extLst>
              <p:ext uri="{D42A27DB-BD31-4B8C-83A1-F6EECF244321}">
                <p14:modId xmlns:p14="http://schemas.microsoft.com/office/powerpoint/2010/main" val="1117434943"/>
              </p:ext>
            </p:extLst>
          </p:nvPr>
        </p:nvGraphicFramePr>
        <p:xfrm>
          <a:off x="6357663" y="4378902"/>
          <a:ext cx="5235902" cy="182880"/>
        </p:xfrm>
        <a:graphic>
          <a:graphicData uri="http://schemas.openxmlformats.org/drawingml/2006/table">
            <a:tbl>
              <a:tblPr firstRow="1" bandRow="1">
                <a:tableStyleId>{5C22544A-7EE6-4342-B048-85BDC9FD1C3A}</a:tableStyleId>
              </a:tblPr>
              <a:tblGrid>
                <a:gridCol w="373993">
                  <a:extLst>
                    <a:ext uri="{9D8B030D-6E8A-4147-A177-3AD203B41FA5}">
                      <a16:colId xmlns:a16="http://schemas.microsoft.com/office/drawing/2014/main" val="4234389670"/>
                    </a:ext>
                  </a:extLst>
                </a:gridCol>
                <a:gridCol w="373993">
                  <a:extLst>
                    <a:ext uri="{9D8B030D-6E8A-4147-A177-3AD203B41FA5}">
                      <a16:colId xmlns:a16="http://schemas.microsoft.com/office/drawing/2014/main" val="2872415959"/>
                    </a:ext>
                  </a:extLst>
                </a:gridCol>
                <a:gridCol w="373993">
                  <a:extLst>
                    <a:ext uri="{9D8B030D-6E8A-4147-A177-3AD203B41FA5}">
                      <a16:colId xmlns:a16="http://schemas.microsoft.com/office/drawing/2014/main" val="2224089828"/>
                    </a:ext>
                  </a:extLst>
                </a:gridCol>
                <a:gridCol w="373993">
                  <a:extLst>
                    <a:ext uri="{9D8B030D-6E8A-4147-A177-3AD203B41FA5}">
                      <a16:colId xmlns:a16="http://schemas.microsoft.com/office/drawing/2014/main" val="3195761835"/>
                    </a:ext>
                  </a:extLst>
                </a:gridCol>
                <a:gridCol w="373993">
                  <a:extLst>
                    <a:ext uri="{9D8B030D-6E8A-4147-A177-3AD203B41FA5}">
                      <a16:colId xmlns:a16="http://schemas.microsoft.com/office/drawing/2014/main" val="1412581894"/>
                    </a:ext>
                  </a:extLst>
                </a:gridCol>
                <a:gridCol w="373993">
                  <a:extLst>
                    <a:ext uri="{9D8B030D-6E8A-4147-A177-3AD203B41FA5}">
                      <a16:colId xmlns:a16="http://schemas.microsoft.com/office/drawing/2014/main" val="2093679262"/>
                    </a:ext>
                  </a:extLst>
                </a:gridCol>
                <a:gridCol w="373993">
                  <a:extLst>
                    <a:ext uri="{9D8B030D-6E8A-4147-A177-3AD203B41FA5}">
                      <a16:colId xmlns:a16="http://schemas.microsoft.com/office/drawing/2014/main" val="4172650658"/>
                    </a:ext>
                  </a:extLst>
                </a:gridCol>
                <a:gridCol w="373993">
                  <a:extLst>
                    <a:ext uri="{9D8B030D-6E8A-4147-A177-3AD203B41FA5}">
                      <a16:colId xmlns:a16="http://schemas.microsoft.com/office/drawing/2014/main" val="4085553167"/>
                    </a:ext>
                  </a:extLst>
                </a:gridCol>
                <a:gridCol w="373993">
                  <a:extLst>
                    <a:ext uri="{9D8B030D-6E8A-4147-A177-3AD203B41FA5}">
                      <a16:colId xmlns:a16="http://schemas.microsoft.com/office/drawing/2014/main" val="3035667041"/>
                    </a:ext>
                  </a:extLst>
                </a:gridCol>
                <a:gridCol w="373993">
                  <a:extLst>
                    <a:ext uri="{9D8B030D-6E8A-4147-A177-3AD203B41FA5}">
                      <a16:colId xmlns:a16="http://schemas.microsoft.com/office/drawing/2014/main" val="1382053115"/>
                    </a:ext>
                  </a:extLst>
                </a:gridCol>
                <a:gridCol w="373993">
                  <a:extLst>
                    <a:ext uri="{9D8B030D-6E8A-4147-A177-3AD203B41FA5}">
                      <a16:colId xmlns:a16="http://schemas.microsoft.com/office/drawing/2014/main" val="243945664"/>
                    </a:ext>
                  </a:extLst>
                </a:gridCol>
                <a:gridCol w="373993">
                  <a:extLst>
                    <a:ext uri="{9D8B030D-6E8A-4147-A177-3AD203B41FA5}">
                      <a16:colId xmlns:a16="http://schemas.microsoft.com/office/drawing/2014/main" val="4035638086"/>
                    </a:ext>
                  </a:extLst>
                </a:gridCol>
                <a:gridCol w="373993">
                  <a:extLst>
                    <a:ext uri="{9D8B030D-6E8A-4147-A177-3AD203B41FA5}">
                      <a16:colId xmlns:a16="http://schemas.microsoft.com/office/drawing/2014/main" val="340677872"/>
                    </a:ext>
                  </a:extLst>
                </a:gridCol>
                <a:gridCol w="373993">
                  <a:extLst>
                    <a:ext uri="{9D8B030D-6E8A-4147-A177-3AD203B41FA5}">
                      <a16:colId xmlns:a16="http://schemas.microsoft.com/office/drawing/2014/main" val="2567119461"/>
                    </a:ext>
                  </a:extLst>
                </a:gridCol>
              </a:tblGrid>
              <a:tr h="182880">
                <a:tc>
                  <a:txBody>
                    <a:bodyPr/>
                    <a:lstStyle/>
                    <a:p>
                      <a:pPr algn="ctr"/>
                      <a:r>
                        <a:rPr lang="en-US" sz="900"/>
                        <a:t>Sep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Oct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Nov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Dec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Jan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Feb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Mar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Apr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May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Jul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Aug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Sep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Oct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extLst>
                  <a:ext uri="{0D108BD9-81ED-4DB2-BD59-A6C34878D82A}">
                    <a16:rowId xmlns:a16="http://schemas.microsoft.com/office/drawing/2014/main" val="3394829782"/>
                  </a:ext>
                </a:extLst>
              </a:tr>
            </a:tbl>
          </a:graphicData>
        </a:graphic>
      </p:graphicFrame>
      <p:sp>
        <p:nvSpPr>
          <p:cNvPr id="72" name="Rectangle: Rounded Corners 71">
            <a:extLst>
              <a:ext uri="{FF2B5EF4-FFF2-40B4-BE49-F238E27FC236}">
                <a16:creationId xmlns:a16="http://schemas.microsoft.com/office/drawing/2014/main" id="{312775C9-90F9-78F7-01D9-607B62A47C92}"/>
              </a:ext>
            </a:extLst>
          </p:cNvPr>
          <p:cNvSpPr/>
          <p:nvPr/>
        </p:nvSpPr>
        <p:spPr bwMode="gray">
          <a:xfrm>
            <a:off x="6296419" y="5303520"/>
            <a:ext cx="5358384" cy="914400"/>
          </a:xfrm>
          <a:prstGeom prst="roundRect">
            <a:avLst>
              <a:gd name="adj" fmla="val 3242"/>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defTabSz="457063" fontAlgn="ctr">
              <a:defRPr/>
            </a:pPr>
            <a:r>
              <a:rPr lang="en-US" sz="1000" b="1">
                <a:solidFill>
                  <a:srgbClr val="00A78E"/>
                </a:solidFill>
              </a:rPr>
              <a:t>Description: </a:t>
            </a:r>
            <a:r>
              <a:rPr lang="en-US" sz="1000">
                <a:solidFill>
                  <a:schemeClr val="tx2"/>
                </a:solidFill>
              </a:rPr>
              <a:t>AI-assisted Onboarding &amp; Handoff</a:t>
            </a:r>
          </a:p>
          <a:p>
            <a:pPr defTabSz="457063" fontAlgn="ctr">
              <a:defRPr/>
            </a:pPr>
            <a:r>
              <a:rPr lang="en-US" sz="1000" b="1">
                <a:solidFill>
                  <a:srgbClr val="00A78E"/>
                </a:solidFill>
              </a:rPr>
              <a:t>Timing:</a:t>
            </a:r>
            <a:endParaRPr lang="en-US" sz="700" b="1">
              <a:solidFill>
                <a:srgbClr val="00A78E"/>
              </a:solidFill>
            </a:endParaRPr>
          </a:p>
          <a:p>
            <a:pPr defTabSz="457063" fontAlgn="ctr">
              <a:defRPr/>
            </a:pPr>
            <a:endParaRPr lang="en-US" sz="700" b="1">
              <a:solidFill>
                <a:srgbClr val="00A78E"/>
              </a:solidFill>
            </a:endParaRPr>
          </a:p>
          <a:p>
            <a:pPr defTabSz="457063" fontAlgn="ctr">
              <a:defRPr/>
            </a:pPr>
            <a:endParaRPr lang="en-US" sz="1000" b="1">
              <a:solidFill>
                <a:schemeClr val="tx2"/>
              </a:solidFill>
            </a:endParaRPr>
          </a:p>
          <a:p>
            <a:r>
              <a:rPr lang="en-US" sz="1000" b="1">
                <a:solidFill>
                  <a:srgbClr val="00A78E"/>
                </a:solidFill>
              </a:rPr>
              <a:t>Deliverables: </a:t>
            </a:r>
          </a:p>
          <a:p>
            <a:pPr marL="91440" indent="-91440">
              <a:buFont typeface="Arial" panose="020B0604020202020204" pitchFamily="34" charset="0"/>
              <a:buChar char="•"/>
            </a:pPr>
            <a:r>
              <a:rPr lang="en-US" sz="1000">
                <a:solidFill>
                  <a:schemeClr val="tx2"/>
                </a:solidFill>
              </a:rPr>
              <a:t>BAU Data Governance Handoff Materials (PPT/DOC)</a:t>
            </a:r>
          </a:p>
        </p:txBody>
      </p:sp>
      <p:sp>
        <p:nvSpPr>
          <p:cNvPr id="74" name="TextBox 73">
            <a:extLst>
              <a:ext uri="{FF2B5EF4-FFF2-40B4-BE49-F238E27FC236}">
                <a16:creationId xmlns:a16="http://schemas.microsoft.com/office/drawing/2014/main" id="{0C6174F9-4143-7E1F-77F6-43DF380E92F0}"/>
              </a:ext>
            </a:extLst>
          </p:cNvPr>
          <p:cNvSpPr txBox="1"/>
          <p:nvPr/>
        </p:nvSpPr>
        <p:spPr>
          <a:xfrm>
            <a:off x="11155680" y="5303520"/>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B.1.4</a:t>
            </a:r>
          </a:p>
        </p:txBody>
      </p:sp>
      <p:graphicFrame>
        <p:nvGraphicFramePr>
          <p:cNvPr id="62" name="Table 61">
            <a:extLst>
              <a:ext uri="{FF2B5EF4-FFF2-40B4-BE49-F238E27FC236}">
                <a16:creationId xmlns:a16="http://schemas.microsoft.com/office/drawing/2014/main" id="{6A78C973-FFEC-C416-C688-8BB2442E1651}"/>
              </a:ext>
            </a:extLst>
          </p:cNvPr>
          <p:cNvGraphicFramePr>
            <a:graphicFrameLocks noGrp="1"/>
          </p:cNvGraphicFramePr>
          <p:nvPr>
            <p:extLst>
              <p:ext uri="{D42A27DB-BD31-4B8C-83A1-F6EECF244321}">
                <p14:modId xmlns:p14="http://schemas.microsoft.com/office/powerpoint/2010/main" val="645281608"/>
              </p:ext>
            </p:extLst>
          </p:nvPr>
        </p:nvGraphicFramePr>
        <p:xfrm>
          <a:off x="6357663" y="5669280"/>
          <a:ext cx="5235902" cy="182880"/>
        </p:xfrm>
        <a:graphic>
          <a:graphicData uri="http://schemas.openxmlformats.org/drawingml/2006/table">
            <a:tbl>
              <a:tblPr firstRow="1" bandRow="1">
                <a:tableStyleId>{5C22544A-7EE6-4342-B048-85BDC9FD1C3A}</a:tableStyleId>
              </a:tblPr>
              <a:tblGrid>
                <a:gridCol w="373993">
                  <a:extLst>
                    <a:ext uri="{9D8B030D-6E8A-4147-A177-3AD203B41FA5}">
                      <a16:colId xmlns:a16="http://schemas.microsoft.com/office/drawing/2014/main" val="4234389670"/>
                    </a:ext>
                  </a:extLst>
                </a:gridCol>
                <a:gridCol w="373993">
                  <a:extLst>
                    <a:ext uri="{9D8B030D-6E8A-4147-A177-3AD203B41FA5}">
                      <a16:colId xmlns:a16="http://schemas.microsoft.com/office/drawing/2014/main" val="2872415959"/>
                    </a:ext>
                  </a:extLst>
                </a:gridCol>
                <a:gridCol w="373993">
                  <a:extLst>
                    <a:ext uri="{9D8B030D-6E8A-4147-A177-3AD203B41FA5}">
                      <a16:colId xmlns:a16="http://schemas.microsoft.com/office/drawing/2014/main" val="2224089828"/>
                    </a:ext>
                  </a:extLst>
                </a:gridCol>
                <a:gridCol w="373993">
                  <a:extLst>
                    <a:ext uri="{9D8B030D-6E8A-4147-A177-3AD203B41FA5}">
                      <a16:colId xmlns:a16="http://schemas.microsoft.com/office/drawing/2014/main" val="3195761835"/>
                    </a:ext>
                  </a:extLst>
                </a:gridCol>
                <a:gridCol w="373993">
                  <a:extLst>
                    <a:ext uri="{9D8B030D-6E8A-4147-A177-3AD203B41FA5}">
                      <a16:colId xmlns:a16="http://schemas.microsoft.com/office/drawing/2014/main" val="1412581894"/>
                    </a:ext>
                  </a:extLst>
                </a:gridCol>
                <a:gridCol w="373993">
                  <a:extLst>
                    <a:ext uri="{9D8B030D-6E8A-4147-A177-3AD203B41FA5}">
                      <a16:colId xmlns:a16="http://schemas.microsoft.com/office/drawing/2014/main" val="2093679262"/>
                    </a:ext>
                  </a:extLst>
                </a:gridCol>
                <a:gridCol w="373993">
                  <a:extLst>
                    <a:ext uri="{9D8B030D-6E8A-4147-A177-3AD203B41FA5}">
                      <a16:colId xmlns:a16="http://schemas.microsoft.com/office/drawing/2014/main" val="4172650658"/>
                    </a:ext>
                  </a:extLst>
                </a:gridCol>
                <a:gridCol w="373993">
                  <a:extLst>
                    <a:ext uri="{9D8B030D-6E8A-4147-A177-3AD203B41FA5}">
                      <a16:colId xmlns:a16="http://schemas.microsoft.com/office/drawing/2014/main" val="4085553167"/>
                    </a:ext>
                  </a:extLst>
                </a:gridCol>
                <a:gridCol w="373993">
                  <a:extLst>
                    <a:ext uri="{9D8B030D-6E8A-4147-A177-3AD203B41FA5}">
                      <a16:colId xmlns:a16="http://schemas.microsoft.com/office/drawing/2014/main" val="3035667041"/>
                    </a:ext>
                  </a:extLst>
                </a:gridCol>
                <a:gridCol w="373993">
                  <a:extLst>
                    <a:ext uri="{9D8B030D-6E8A-4147-A177-3AD203B41FA5}">
                      <a16:colId xmlns:a16="http://schemas.microsoft.com/office/drawing/2014/main" val="1382053115"/>
                    </a:ext>
                  </a:extLst>
                </a:gridCol>
                <a:gridCol w="373993">
                  <a:extLst>
                    <a:ext uri="{9D8B030D-6E8A-4147-A177-3AD203B41FA5}">
                      <a16:colId xmlns:a16="http://schemas.microsoft.com/office/drawing/2014/main" val="243945664"/>
                    </a:ext>
                  </a:extLst>
                </a:gridCol>
                <a:gridCol w="373993">
                  <a:extLst>
                    <a:ext uri="{9D8B030D-6E8A-4147-A177-3AD203B41FA5}">
                      <a16:colId xmlns:a16="http://schemas.microsoft.com/office/drawing/2014/main" val="4035638086"/>
                    </a:ext>
                  </a:extLst>
                </a:gridCol>
                <a:gridCol w="373993">
                  <a:extLst>
                    <a:ext uri="{9D8B030D-6E8A-4147-A177-3AD203B41FA5}">
                      <a16:colId xmlns:a16="http://schemas.microsoft.com/office/drawing/2014/main" val="340677872"/>
                    </a:ext>
                  </a:extLst>
                </a:gridCol>
                <a:gridCol w="373993">
                  <a:extLst>
                    <a:ext uri="{9D8B030D-6E8A-4147-A177-3AD203B41FA5}">
                      <a16:colId xmlns:a16="http://schemas.microsoft.com/office/drawing/2014/main" val="2567119461"/>
                    </a:ext>
                  </a:extLst>
                </a:gridCol>
              </a:tblGrid>
              <a:tr h="182880">
                <a:tc>
                  <a:txBody>
                    <a:bodyPr/>
                    <a:lstStyle/>
                    <a:p>
                      <a:pPr algn="ctr"/>
                      <a:r>
                        <a:rPr lang="en-US" sz="900"/>
                        <a:t>Sep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Oct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Nov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Dec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Jan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Feb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Mar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Apr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May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Jul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Aug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Sep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Oct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extLst>
                  <a:ext uri="{0D108BD9-81ED-4DB2-BD59-A6C34878D82A}">
                    <a16:rowId xmlns:a16="http://schemas.microsoft.com/office/drawing/2014/main" val="3394829782"/>
                  </a:ext>
                </a:extLst>
              </a:tr>
            </a:tbl>
          </a:graphicData>
        </a:graphic>
      </p:graphicFrame>
    </p:spTree>
    <p:extLst>
      <p:ext uri="{BB962C8B-B14F-4D97-AF65-F5344CB8AC3E}">
        <p14:creationId xmlns:p14="http://schemas.microsoft.com/office/powerpoint/2010/main" val="5384693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BE47F22-FACF-19A3-727B-9CB742BFCA68}"/>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3191D40-949F-8619-9763-F7B8C11EF3B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4" name="thinkcell data - do not delete" hidden="1">
                        <a:extLst>
                          <a:ext uri="{FF2B5EF4-FFF2-40B4-BE49-F238E27FC236}">
                            <a16:creationId xmlns:a16="http://schemas.microsoft.com/office/drawing/2014/main" id="{03191D40-949F-8619-9763-F7B8C11EF3B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DB12C469-8862-E6A2-8806-8326D3C1D273}"/>
              </a:ext>
            </a:extLst>
          </p:cNvPr>
          <p:cNvSpPr>
            <a:spLocks noGrp="1"/>
          </p:cNvSpPr>
          <p:nvPr>
            <p:ph type="title"/>
          </p:nvPr>
        </p:nvSpPr>
        <p:spPr/>
        <p:txBody>
          <a:bodyPr vert="horz" rIns="0"/>
          <a:lstStyle/>
          <a:p>
            <a:r>
              <a:rPr lang="en-US"/>
              <a:t>Workstream B1 – Source Rationalization and Data Contracts (2/2)</a:t>
            </a:r>
            <a:br>
              <a:rPr lang="en-US"/>
            </a:br>
            <a:r>
              <a:rPr lang="en-US" sz="1600" b="0"/>
              <a:t>“Deciding What Data We Have, Who Owns It, and How It Should Be Labeled” – Planning</a:t>
            </a:r>
          </a:p>
        </p:txBody>
      </p:sp>
      <p:sp>
        <p:nvSpPr>
          <p:cNvPr id="5" name="Rectangle 4">
            <a:extLst>
              <a:ext uri="{FF2B5EF4-FFF2-40B4-BE49-F238E27FC236}">
                <a16:creationId xmlns:a16="http://schemas.microsoft.com/office/drawing/2014/main" id="{42732CBC-BC79-42C2-9684-9AEF80E4D6E3}"/>
              </a:ext>
            </a:extLst>
          </p:cNvPr>
          <p:cNvSpPr/>
          <p:nvPr/>
        </p:nvSpPr>
        <p:spPr bwMode="gray">
          <a:xfrm>
            <a:off x="10911840" y="0"/>
            <a:ext cx="1280160" cy="548640"/>
          </a:xfrm>
          <a:prstGeom prst="rect">
            <a:avLst/>
          </a:prstGeom>
          <a:solidFill>
            <a:srgbClr val="868686"/>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b="1">
                <a:solidFill>
                  <a:schemeClr val="bg1"/>
                </a:solidFill>
              </a:rPr>
              <a:t>Notional, to update</a:t>
            </a:r>
          </a:p>
        </p:txBody>
      </p:sp>
      <p:sp>
        <p:nvSpPr>
          <p:cNvPr id="2" name="Rectangle: Top Corners Rounded 1">
            <a:extLst>
              <a:ext uri="{FF2B5EF4-FFF2-40B4-BE49-F238E27FC236}">
                <a16:creationId xmlns:a16="http://schemas.microsoft.com/office/drawing/2014/main" id="{148DE6D7-E63F-7C99-4C57-A3A50C03B1C3}"/>
              </a:ext>
            </a:extLst>
          </p:cNvPr>
          <p:cNvSpPr/>
          <p:nvPr/>
        </p:nvSpPr>
        <p:spPr bwMode="gray">
          <a:xfrm rot="5400000">
            <a:off x="-1524006" y="2912536"/>
            <a:ext cx="4682069" cy="1634065"/>
          </a:xfrm>
          <a:prstGeom prst="round2SameRect">
            <a:avLst>
              <a:gd name="adj1" fmla="val 9976"/>
              <a:gd name="adj2" fmla="val 0"/>
            </a:avLst>
          </a:prstGeom>
          <a:gradFill flip="none" rotWithShape="1">
            <a:gsLst>
              <a:gs pos="0">
                <a:srgbClr val="267AC0"/>
              </a:gs>
              <a:gs pos="100000">
                <a:srgbClr val="0A4B8C"/>
              </a:gs>
            </a:gsLst>
            <a:lin ang="54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graphicFrame>
        <p:nvGraphicFramePr>
          <p:cNvPr id="6" name="Content Placeholder 6">
            <a:extLst>
              <a:ext uri="{FF2B5EF4-FFF2-40B4-BE49-F238E27FC236}">
                <a16:creationId xmlns:a16="http://schemas.microsoft.com/office/drawing/2014/main" id="{06FD746B-7CFC-8362-7167-77108AF07DCC}"/>
              </a:ext>
            </a:extLst>
          </p:cNvPr>
          <p:cNvGraphicFramePr>
            <a:graphicFrameLocks/>
          </p:cNvGraphicFramePr>
          <p:nvPr>
            <p:extLst>
              <p:ext uri="{D42A27DB-BD31-4B8C-83A1-F6EECF244321}">
                <p14:modId xmlns:p14="http://schemas.microsoft.com/office/powerpoint/2010/main" val="2927569748"/>
              </p:ext>
            </p:extLst>
          </p:nvPr>
        </p:nvGraphicFramePr>
        <p:xfrm>
          <a:off x="538691" y="1509730"/>
          <a:ext cx="11133137" cy="2484120"/>
        </p:xfrm>
        <a:graphic>
          <a:graphicData uri="http://schemas.openxmlformats.org/drawingml/2006/table">
            <a:tbl>
              <a:tblPr firstRow="1" bandRow="1">
                <a:tableStyleId>{2D5ABB26-0587-4C30-8999-92F81FD0307C}</a:tableStyleId>
              </a:tblPr>
              <a:tblGrid>
                <a:gridCol w="1099371">
                  <a:extLst>
                    <a:ext uri="{9D8B030D-6E8A-4147-A177-3AD203B41FA5}">
                      <a16:colId xmlns:a16="http://schemas.microsoft.com/office/drawing/2014/main" val="1699332636"/>
                    </a:ext>
                  </a:extLst>
                </a:gridCol>
                <a:gridCol w="10033766">
                  <a:extLst>
                    <a:ext uri="{9D8B030D-6E8A-4147-A177-3AD203B41FA5}">
                      <a16:colId xmlns:a16="http://schemas.microsoft.com/office/drawing/2014/main" val="2684621038"/>
                    </a:ext>
                  </a:extLst>
                </a:gridCol>
              </a:tblGrid>
              <a:tr h="604820">
                <a:tc>
                  <a:txBody>
                    <a:bodyPr/>
                    <a:lstStyle/>
                    <a:p>
                      <a:pPr>
                        <a:lnSpc>
                          <a:spcPct val="90000"/>
                        </a:lnSpc>
                      </a:pPr>
                      <a:r>
                        <a:rPr lang="en-US" sz="1050" b="1">
                          <a:solidFill>
                            <a:schemeClr val="bg1"/>
                          </a:solidFill>
                        </a:rPr>
                        <a:t>Key “Do Now” activities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Establish the Taxonomy Framework and Tier 1 Identification</a:t>
                      </a:r>
                    </a:p>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Author and Establish Contracting Standards</a:t>
                      </a:r>
                    </a:p>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Secure and Schedule Data-Owner Alignment (Critical Path Dependency)</a:t>
                      </a:r>
                    </a:p>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Configure and Validate the AI-Acceleration Tooling</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3144615"/>
                  </a:ext>
                </a:extLst>
              </a:tr>
              <a:tr h="581441">
                <a:tc>
                  <a:txBody>
                    <a:bodyPr/>
                    <a:lstStyle/>
                    <a:p>
                      <a:pPr>
                        <a:lnSpc>
                          <a:spcPct val="90000"/>
                        </a:lnSpc>
                      </a:pPr>
                      <a:r>
                        <a:rPr lang="en-US" sz="1050" b="1">
                          <a:solidFill>
                            <a:schemeClr val="bg1"/>
                          </a:solidFill>
                        </a:rPr>
                        <a:t>Upstream Prerequisites</a:t>
                      </a:r>
                    </a:p>
                    <a:p>
                      <a:pPr>
                        <a:lnSpc>
                          <a:spcPct val="90000"/>
                        </a:lnSpc>
                      </a:pPr>
                      <a:endParaRPr lang="en-US" sz="1050" b="1">
                        <a:solidFill>
                          <a:schemeClr val="bg1"/>
                        </a:solidFill>
                      </a:endParaRP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Platform &amp; Architectural Prerequisites (from Workstream A)</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Architecture Validation &amp; Landing Zone Readiness: Validation of the Azure target-state landing zone networking, private endpoints, and infrastructure remediation</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Lovelytics Assessment Delivery: Provisioning of the current-state Unity Catalog taxonomy and Identity and Access Management (IAM) findings (via Amit Gonsalves) to establish catalog structures and resolve platform gaps</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Namespace Hierarchy: Definition of the initial Unity Catalog namespace hierarchy to guide how the contracts register metadata</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7196652"/>
                  </a:ext>
                </a:extLst>
              </a:tr>
              <a:tr h="581441">
                <a:tc>
                  <a:txBody>
                    <a:bodyPr/>
                    <a:lstStyle/>
                    <a:p>
                      <a:pPr>
                        <a:lnSpc>
                          <a:spcPct val="90000"/>
                        </a:lnSpc>
                      </a:pPr>
                      <a:r>
                        <a:rPr lang="en-US" sz="1050" b="1">
                          <a:solidFill>
                            <a:schemeClr val="bg1"/>
                          </a:solidFill>
                        </a:rPr>
                        <a:t>Downstream Workstream Hand-offs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B2 cannot deploy its ingestion infrastructure without the mapping configurations finalized in B1</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C relies directly on B1 to build out the Delta Live Tables (DLT) and the Medallion architecture</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D is responsible for translating 11,199 legacy Splunk SPL queries and dashboards into Databricks SQL</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E manages the workspace provisioning and user onboarding</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3949764"/>
                  </a:ext>
                </a:extLst>
              </a:tr>
            </a:tbl>
          </a:graphicData>
        </a:graphic>
      </p:graphicFrame>
      <p:graphicFrame>
        <p:nvGraphicFramePr>
          <p:cNvPr id="7" name="Content Placeholder 6">
            <a:extLst>
              <a:ext uri="{FF2B5EF4-FFF2-40B4-BE49-F238E27FC236}">
                <a16:creationId xmlns:a16="http://schemas.microsoft.com/office/drawing/2014/main" id="{5DE3C319-20D4-96B5-6878-B14FAA87CC67}"/>
              </a:ext>
            </a:extLst>
          </p:cNvPr>
          <p:cNvGraphicFramePr>
            <a:graphicFrameLocks/>
          </p:cNvGraphicFramePr>
          <p:nvPr>
            <p:extLst>
              <p:ext uri="{D42A27DB-BD31-4B8C-83A1-F6EECF244321}">
                <p14:modId xmlns:p14="http://schemas.microsoft.com/office/powerpoint/2010/main" val="2883368210"/>
              </p:ext>
            </p:extLst>
          </p:nvPr>
        </p:nvGraphicFramePr>
        <p:xfrm>
          <a:off x="540940" y="4039074"/>
          <a:ext cx="11142396" cy="1310640"/>
        </p:xfrm>
        <a:graphic>
          <a:graphicData uri="http://schemas.openxmlformats.org/drawingml/2006/table">
            <a:tbl>
              <a:tblPr firstRow="1" bandRow="1">
                <a:tableStyleId>{2D5ABB26-0587-4C30-8999-92F81FD0307C}</a:tableStyleId>
              </a:tblPr>
              <a:tblGrid>
                <a:gridCol w="1108868">
                  <a:extLst>
                    <a:ext uri="{9D8B030D-6E8A-4147-A177-3AD203B41FA5}">
                      <a16:colId xmlns:a16="http://schemas.microsoft.com/office/drawing/2014/main" val="2393725290"/>
                    </a:ext>
                  </a:extLst>
                </a:gridCol>
                <a:gridCol w="3328592">
                  <a:extLst>
                    <a:ext uri="{9D8B030D-6E8A-4147-A177-3AD203B41FA5}">
                      <a16:colId xmlns:a16="http://schemas.microsoft.com/office/drawing/2014/main" val="1699332636"/>
                    </a:ext>
                  </a:extLst>
                </a:gridCol>
                <a:gridCol w="3378200">
                  <a:extLst>
                    <a:ext uri="{9D8B030D-6E8A-4147-A177-3AD203B41FA5}">
                      <a16:colId xmlns:a16="http://schemas.microsoft.com/office/drawing/2014/main" val="2684621038"/>
                    </a:ext>
                  </a:extLst>
                </a:gridCol>
                <a:gridCol w="3326736">
                  <a:extLst>
                    <a:ext uri="{9D8B030D-6E8A-4147-A177-3AD203B41FA5}">
                      <a16:colId xmlns:a16="http://schemas.microsoft.com/office/drawing/2014/main" val="1078624516"/>
                    </a:ext>
                  </a:extLst>
                </a:gridCol>
              </a:tblGrid>
              <a:tr h="418626">
                <a:tc>
                  <a:txBody>
                    <a:bodyPr/>
                    <a:lstStyle/>
                    <a:p>
                      <a:r>
                        <a:rPr lang="en-US" sz="1050" b="1">
                          <a:solidFill>
                            <a:schemeClr val="bg1"/>
                          </a:solidFill>
                        </a:rPr>
                        <a:t>Epic</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457063" rtl="0" eaLnBrk="1" fontAlgn="ctr" latinLnBrk="0" hangingPunct="1"/>
                      <a:r>
                        <a:rPr lang="en-US" sz="1000" b="1" kern="1500" noProof="0">
                          <a:solidFill>
                            <a:srgbClr val="0A4B8C"/>
                          </a:solidFill>
                          <a:latin typeface="+mn-lt"/>
                          <a:ea typeface="+mn-ea"/>
                          <a:cs typeface="+mn-cs"/>
                        </a:rPr>
                        <a:t>Rationalization Framework &amp; </a:t>
                      </a:r>
                      <a:br>
                        <a:rPr lang="en-US" sz="1000" b="1" kern="1500" noProof="0">
                          <a:solidFill>
                            <a:srgbClr val="0A4B8C"/>
                          </a:solidFill>
                          <a:latin typeface="+mn-lt"/>
                          <a:ea typeface="+mn-ea"/>
                          <a:cs typeface="+mn-cs"/>
                        </a:rPr>
                      </a:br>
                      <a:r>
                        <a:rPr lang="en-US" sz="1000" b="1" kern="1500" noProof="0">
                          <a:solidFill>
                            <a:srgbClr val="0A4B8C"/>
                          </a:solidFill>
                          <a:latin typeface="+mn-lt"/>
                          <a:ea typeface="+mn-ea"/>
                          <a:cs typeface="+mn-cs"/>
                        </a:rPr>
                        <a:t>Factory Mobilization</a:t>
                      </a:r>
                      <a:endParaRPr lang="en-US" sz="1000" b="1" kern="1500">
                        <a:solidFill>
                          <a:srgbClr val="0A4B8C"/>
                        </a:solidFill>
                        <a:latin typeface="+mn-lt"/>
                        <a:ea typeface="+mn-ea"/>
                        <a:cs typeface="+mn-cs"/>
                      </a:endParaRP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noProof="0">
                          <a:solidFill>
                            <a:srgbClr val="0A4B8C"/>
                          </a:solidFill>
                          <a:latin typeface="+mn-lt"/>
                          <a:ea typeface="+mn-ea"/>
                          <a:cs typeface="+mn-cs"/>
                        </a:rPr>
                        <a:t>Source Disposition &amp; </a:t>
                      </a:r>
                      <a:br>
                        <a:rPr lang="en-US" sz="1000" b="1" kern="1500" noProof="0">
                          <a:solidFill>
                            <a:srgbClr val="0A4B8C"/>
                          </a:solidFill>
                          <a:latin typeface="+mn-lt"/>
                          <a:ea typeface="+mn-ea"/>
                          <a:cs typeface="+mn-cs"/>
                        </a:rPr>
                      </a:br>
                      <a:r>
                        <a:rPr lang="en-US" sz="1000" b="1" kern="1500" noProof="0">
                          <a:solidFill>
                            <a:srgbClr val="0A4B8C"/>
                          </a:solidFill>
                          <a:latin typeface="+mn-lt"/>
                          <a:ea typeface="+mn-ea"/>
                          <a:cs typeface="+mn-cs"/>
                        </a:rPr>
                        <a:t>Contract Authoring at Scale</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noProof="0">
                          <a:solidFill>
                            <a:srgbClr val="0A4B8C"/>
                          </a:solidFill>
                          <a:latin typeface="+mn-lt"/>
                          <a:ea typeface="+mn-ea"/>
                          <a:cs typeface="+mn-cs"/>
                        </a:rPr>
                        <a:t>Unity Catalog Integration &amp; </a:t>
                      </a:r>
                      <a:br>
                        <a:rPr lang="en-US" sz="1000" b="1" kern="1500" noProof="0">
                          <a:solidFill>
                            <a:srgbClr val="0A4B8C"/>
                          </a:solidFill>
                          <a:latin typeface="+mn-lt"/>
                          <a:ea typeface="+mn-ea"/>
                          <a:cs typeface="+mn-cs"/>
                        </a:rPr>
                      </a:br>
                      <a:r>
                        <a:rPr lang="en-US" sz="1000" b="1" kern="1500" noProof="0">
                          <a:solidFill>
                            <a:srgbClr val="0A4B8C"/>
                          </a:solidFill>
                          <a:latin typeface="+mn-lt"/>
                          <a:ea typeface="+mn-ea"/>
                          <a:cs typeface="+mn-cs"/>
                        </a:rPr>
                        <a:t>Governance Enforcement</a:t>
                      </a:r>
                      <a:endParaRPr lang="en-US" sz="1000" b="1" kern="1500">
                        <a:solidFill>
                          <a:srgbClr val="0A4B8C"/>
                        </a:solidFill>
                        <a:latin typeface="+mn-lt"/>
                        <a:ea typeface="+mn-ea"/>
                        <a:cs typeface="+mn-cs"/>
                      </a:endParaRP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3144615"/>
                  </a:ext>
                </a:extLst>
              </a:tr>
              <a:tr h="892014">
                <a:tc>
                  <a:txBody>
                    <a:bodyPr/>
                    <a:lstStyle/>
                    <a:p>
                      <a:r>
                        <a:rPr lang="en-US" sz="1050" b="1">
                          <a:solidFill>
                            <a:schemeClr val="bg1"/>
                          </a:solidFill>
                        </a:rPr>
                        <a:t>Features</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1.1: AI-Assisted Discovery &amp; Grouping Automation</a:t>
                      </a:r>
                    </a:p>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1.2: ODCS Contract &amp; Prioritization Standards</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2.1: Source Family Disposition (Retain/Consolidate/Retire)</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2.2: AI-Powered Contract Generation &amp; </a:t>
                      </a:r>
                      <a:br>
                        <a:rPr lang="en-US" sz="1000" b="0" kern="1500" noProof="0">
                          <a:solidFill>
                            <a:schemeClr val="tx2"/>
                          </a:solidFill>
                          <a:latin typeface="+mn-lt"/>
                          <a:ea typeface="+mn-ea"/>
                          <a:cs typeface="+mn-cs"/>
                        </a:rPr>
                      </a:br>
                      <a:r>
                        <a:rPr lang="en-US" sz="1000" b="0" kern="1500" noProof="0">
                          <a:solidFill>
                            <a:schemeClr val="tx2"/>
                          </a:solidFill>
                          <a:latin typeface="+mn-lt"/>
                          <a:ea typeface="+mn-ea"/>
                          <a:cs typeface="+mn-cs"/>
                        </a:rPr>
                        <a:t>Owner Validation</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3.1: Automated Contract Registration in </a:t>
                      </a:r>
                      <a:br>
                        <a:rPr lang="en-US" sz="1000" b="0" kern="1500" noProof="0">
                          <a:solidFill>
                            <a:schemeClr val="tx2"/>
                          </a:solidFill>
                          <a:latin typeface="+mn-lt"/>
                          <a:ea typeface="+mn-ea"/>
                          <a:cs typeface="+mn-cs"/>
                        </a:rPr>
                      </a:br>
                      <a:r>
                        <a:rPr lang="en-US" sz="1000" b="0" kern="1500" noProof="0">
                          <a:solidFill>
                            <a:schemeClr val="tx2"/>
                          </a:solidFill>
                          <a:latin typeface="+mn-lt"/>
                          <a:ea typeface="+mn-ea"/>
                          <a:cs typeface="+mn-cs"/>
                        </a:rPr>
                        <a:t>Unity Catalog</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3.2: BAU Handoff &amp; New Source Onboarding</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7196652"/>
                  </a:ext>
                </a:extLst>
              </a:tr>
            </a:tbl>
          </a:graphicData>
        </a:graphic>
      </p:graphicFrame>
      <p:grpSp>
        <p:nvGrpSpPr>
          <p:cNvPr id="8" name="Group 7">
            <a:extLst>
              <a:ext uri="{FF2B5EF4-FFF2-40B4-BE49-F238E27FC236}">
                <a16:creationId xmlns:a16="http://schemas.microsoft.com/office/drawing/2014/main" id="{5FFCCC86-4776-76B1-DE0E-75DF3D77A16F}"/>
              </a:ext>
            </a:extLst>
          </p:cNvPr>
          <p:cNvGrpSpPr/>
          <p:nvPr/>
        </p:nvGrpSpPr>
        <p:grpSpPr>
          <a:xfrm>
            <a:off x="533399" y="2276742"/>
            <a:ext cx="11125201" cy="0"/>
            <a:chOff x="531813" y="3716075"/>
            <a:chExt cx="11125201" cy="0"/>
          </a:xfrm>
        </p:grpSpPr>
        <p:cxnSp>
          <p:nvCxnSpPr>
            <p:cNvPr id="9" name="Straight Connector 8">
              <a:extLst>
                <a:ext uri="{FF2B5EF4-FFF2-40B4-BE49-F238E27FC236}">
                  <a16:creationId xmlns:a16="http://schemas.microsoft.com/office/drawing/2014/main" id="{E822AB08-E46C-B955-AE83-DFDB503D6FF6}"/>
                </a:ext>
              </a:extLst>
            </p:cNvPr>
            <p:cNvCxnSpPr>
              <a:cxnSpLocks/>
            </p:cNvCxnSpPr>
            <p:nvPr/>
          </p:nvCxnSpPr>
          <p:spPr>
            <a:xfrm>
              <a:off x="553507" y="3716075"/>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42BF703-16A5-7AD3-885B-616142767279}"/>
                </a:ext>
              </a:extLst>
            </p:cNvPr>
            <p:cNvCxnSpPr>
              <a:cxnSpLocks/>
            </p:cNvCxnSpPr>
            <p:nvPr/>
          </p:nvCxnSpPr>
          <p:spPr>
            <a:xfrm>
              <a:off x="531813" y="3716075"/>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C2082830-774D-9D2A-2964-537B8A45605C}"/>
              </a:ext>
            </a:extLst>
          </p:cNvPr>
          <p:cNvGrpSpPr/>
          <p:nvPr/>
        </p:nvGrpSpPr>
        <p:grpSpPr>
          <a:xfrm>
            <a:off x="538691" y="4462597"/>
            <a:ext cx="11125201" cy="999"/>
            <a:chOff x="531813" y="5259957"/>
            <a:chExt cx="11125201" cy="999"/>
          </a:xfrm>
        </p:grpSpPr>
        <p:cxnSp>
          <p:nvCxnSpPr>
            <p:cNvPr id="29" name="Straight Connector 28">
              <a:extLst>
                <a:ext uri="{FF2B5EF4-FFF2-40B4-BE49-F238E27FC236}">
                  <a16:creationId xmlns:a16="http://schemas.microsoft.com/office/drawing/2014/main" id="{CF682A13-75A4-1450-B650-6EA7FC86CF2F}"/>
                </a:ext>
              </a:extLst>
            </p:cNvPr>
            <p:cNvCxnSpPr>
              <a:cxnSpLocks/>
            </p:cNvCxnSpPr>
            <p:nvPr/>
          </p:nvCxnSpPr>
          <p:spPr>
            <a:xfrm>
              <a:off x="553507" y="5260956"/>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B99E002-99B1-B88D-8602-6DB2D4E97C48}"/>
                </a:ext>
              </a:extLst>
            </p:cNvPr>
            <p:cNvCxnSpPr>
              <a:cxnSpLocks/>
            </p:cNvCxnSpPr>
            <p:nvPr/>
          </p:nvCxnSpPr>
          <p:spPr>
            <a:xfrm>
              <a:off x="531813" y="5259957"/>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1" name="Group 30">
            <a:extLst>
              <a:ext uri="{FF2B5EF4-FFF2-40B4-BE49-F238E27FC236}">
                <a16:creationId xmlns:a16="http://schemas.microsoft.com/office/drawing/2014/main" id="{61F3596B-400F-A618-0E08-49050C732EF6}"/>
              </a:ext>
            </a:extLst>
          </p:cNvPr>
          <p:cNvGrpSpPr/>
          <p:nvPr/>
        </p:nvGrpSpPr>
        <p:grpSpPr>
          <a:xfrm>
            <a:off x="542658" y="4035761"/>
            <a:ext cx="11125201" cy="1"/>
            <a:chOff x="531813" y="4848012"/>
            <a:chExt cx="11125201" cy="1"/>
          </a:xfrm>
        </p:grpSpPr>
        <p:cxnSp>
          <p:nvCxnSpPr>
            <p:cNvPr id="32" name="Straight Connector 31">
              <a:extLst>
                <a:ext uri="{FF2B5EF4-FFF2-40B4-BE49-F238E27FC236}">
                  <a16:creationId xmlns:a16="http://schemas.microsoft.com/office/drawing/2014/main" id="{84707021-C18B-3FAA-4B11-52C2F012DD2B}"/>
                </a:ext>
              </a:extLst>
            </p:cNvPr>
            <p:cNvCxnSpPr>
              <a:cxnSpLocks/>
            </p:cNvCxnSpPr>
            <p:nvPr/>
          </p:nvCxnSpPr>
          <p:spPr>
            <a:xfrm>
              <a:off x="553507" y="4848013"/>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A96E6D3-FCE8-E486-3676-E63ED37C253E}"/>
                </a:ext>
              </a:extLst>
            </p:cNvPr>
            <p:cNvCxnSpPr>
              <a:cxnSpLocks/>
            </p:cNvCxnSpPr>
            <p:nvPr/>
          </p:nvCxnSpPr>
          <p:spPr>
            <a:xfrm>
              <a:off x="531813" y="4848012"/>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13027763-4920-A491-A207-B17BAAFE8754}"/>
              </a:ext>
            </a:extLst>
          </p:cNvPr>
          <p:cNvGrpSpPr/>
          <p:nvPr/>
        </p:nvGrpSpPr>
        <p:grpSpPr>
          <a:xfrm>
            <a:off x="520172" y="3243907"/>
            <a:ext cx="11127580" cy="1695"/>
            <a:chOff x="529432" y="4264661"/>
            <a:chExt cx="11127580" cy="1695"/>
          </a:xfrm>
        </p:grpSpPr>
        <p:cxnSp>
          <p:nvCxnSpPr>
            <p:cNvPr id="35" name="Straight Connector 34">
              <a:extLst>
                <a:ext uri="{FF2B5EF4-FFF2-40B4-BE49-F238E27FC236}">
                  <a16:creationId xmlns:a16="http://schemas.microsoft.com/office/drawing/2014/main" id="{65A41470-777C-9776-5F7C-B32E9FA2C089}"/>
                </a:ext>
              </a:extLst>
            </p:cNvPr>
            <p:cNvCxnSpPr>
              <a:cxnSpLocks/>
            </p:cNvCxnSpPr>
            <p:nvPr/>
          </p:nvCxnSpPr>
          <p:spPr>
            <a:xfrm>
              <a:off x="553505" y="4264661"/>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0424E9A0-8B46-AEBB-A46F-A896A501C971}"/>
                </a:ext>
              </a:extLst>
            </p:cNvPr>
            <p:cNvCxnSpPr>
              <a:cxnSpLocks/>
            </p:cNvCxnSpPr>
            <p:nvPr/>
          </p:nvCxnSpPr>
          <p:spPr>
            <a:xfrm>
              <a:off x="529432" y="4266356"/>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sp>
        <p:nvSpPr>
          <p:cNvPr id="40" name="Rectangle 39">
            <a:extLst>
              <a:ext uri="{FF2B5EF4-FFF2-40B4-BE49-F238E27FC236}">
                <a16:creationId xmlns:a16="http://schemas.microsoft.com/office/drawing/2014/main" id="{19575257-11C8-608D-3759-16516D178065}"/>
              </a:ext>
            </a:extLst>
          </p:cNvPr>
          <p:cNvSpPr/>
          <p:nvPr/>
        </p:nvSpPr>
        <p:spPr bwMode="gray">
          <a:xfrm>
            <a:off x="589357" y="6202227"/>
            <a:ext cx="10963656" cy="137160"/>
          </a:xfrm>
          <a:prstGeom prst="rect">
            <a:avLst/>
          </a:prstGeom>
          <a:noFill/>
          <a:ln>
            <a:noFill/>
            <a:miter lim="800000"/>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lstStyle/>
          <a:p>
            <a:r>
              <a:rPr lang="en-US" sz="800">
                <a:solidFill>
                  <a:schemeClr val="tx1"/>
                </a:solidFill>
              </a:rPr>
              <a:t>Source: Current KPMG planning, subject to change</a:t>
            </a:r>
          </a:p>
        </p:txBody>
      </p:sp>
    </p:spTree>
    <p:extLst>
      <p:ext uri="{BB962C8B-B14F-4D97-AF65-F5344CB8AC3E}">
        <p14:creationId xmlns:p14="http://schemas.microsoft.com/office/powerpoint/2010/main" val="14476574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641BC9E-EB33-14DA-E7A3-33A98BE27057}"/>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6C0E5A1-E345-D25F-4942-6545966782DC}"/>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5" name="thinkcell data - do not delete" hidden="1">
                        <a:extLst>
                          <a:ext uri="{FF2B5EF4-FFF2-40B4-BE49-F238E27FC236}">
                            <a16:creationId xmlns:a16="http://schemas.microsoft.com/office/drawing/2014/main" id="{26C0E5A1-E345-D25F-4942-6545966782D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81993C52-4E02-0059-D3CE-6EF8BACA9635}"/>
              </a:ext>
            </a:extLst>
          </p:cNvPr>
          <p:cNvSpPr>
            <a:spLocks noGrp="1"/>
          </p:cNvSpPr>
          <p:nvPr>
            <p:ph type="title"/>
          </p:nvPr>
        </p:nvSpPr>
        <p:spPr/>
        <p:txBody>
          <a:bodyPr vert="horz" rIns="0"/>
          <a:lstStyle/>
          <a:p>
            <a:r>
              <a:rPr lang="en-US"/>
              <a:t>Workstream B2 – Databricks Bronze Data Landing (1/2)</a:t>
            </a:r>
            <a:br>
              <a:rPr lang="en-US"/>
            </a:br>
            <a:r>
              <a:rPr lang="en-US" sz="1600" b="0"/>
              <a:t>“Building the Digital Highway to Safely Deliver and Park the Data” – From the SOW and other planning documents</a:t>
            </a:r>
          </a:p>
        </p:txBody>
      </p:sp>
      <p:sp>
        <p:nvSpPr>
          <p:cNvPr id="26" name="Rectangle 25">
            <a:extLst>
              <a:ext uri="{FF2B5EF4-FFF2-40B4-BE49-F238E27FC236}">
                <a16:creationId xmlns:a16="http://schemas.microsoft.com/office/drawing/2014/main" id="{BBEBA7EA-82FD-49E8-2529-0EBC46D7FEEA}"/>
              </a:ext>
            </a:extLst>
          </p:cNvPr>
          <p:cNvSpPr/>
          <p:nvPr/>
        </p:nvSpPr>
        <p:spPr bwMode="gray">
          <a:xfrm>
            <a:off x="594360" y="6203122"/>
            <a:ext cx="10963656" cy="137160"/>
          </a:xfrm>
          <a:prstGeom prst="rect">
            <a:avLst/>
          </a:prstGeom>
          <a:noFill/>
          <a:ln>
            <a:noFill/>
            <a:miter lim="800000"/>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lstStyle/>
          <a:p>
            <a:r>
              <a:rPr lang="en-US" sz="800">
                <a:solidFill>
                  <a:schemeClr val="tx2"/>
                </a:solidFill>
              </a:rPr>
              <a:t>Source: CVS_Databricks_SOW_Draft_v5 JAS_CVS_REDLINE, CVS Databricks Staffing Model_V4.xlsx</a:t>
            </a:r>
          </a:p>
        </p:txBody>
      </p:sp>
      <p:sp>
        <p:nvSpPr>
          <p:cNvPr id="8" name="Rectangle: Top Corners Rounded 7">
            <a:extLst>
              <a:ext uri="{FF2B5EF4-FFF2-40B4-BE49-F238E27FC236}">
                <a16:creationId xmlns:a16="http://schemas.microsoft.com/office/drawing/2014/main" id="{53126306-7D8E-2BF6-096B-B05C5D4B3AF7}"/>
              </a:ext>
            </a:extLst>
          </p:cNvPr>
          <p:cNvSpPr/>
          <p:nvPr/>
        </p:nvSpPr>
        <p:spPr bwMode="gray">
          <a:xfrm rot="5400000">
            <a:off x="-1682253" y="3070784"/>
            <a:ext cx="4682069" cy="1317568"/>
          </a:xfrm>
          <a:prstGeom prst="round2SameRect">
            <a:avLst>
              <a:gd name="adj1" fmla="val 9976"/>
              <a:gd name="adj2" fmla="val 0"/>
            </a:avLst>
          </a:prstGeom>
          <a:gradFill flip="none" rotWithShape="1">
            <a:gsLst>
              <a:gs pos="0">
                <a:srgbClr val="267AC0"/>
              </a:gs>
              <a:gs pos="100000">
                <a:srgbClr val="0A4B8C"/>
              </a:gs>
            </a:gsLst>
            <a:lin ang="54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sp>
        <p:nvSpPr>
          <p:cNvPr id="10" name="TextBox 9">
            <a:extLst>
              <a:ext uri="{FF2B5EF4-FFF2-40B4-BE49-F238E27FC236}">
                <a16:creationId xmlns:a16="http://schemas.microsoft.com/office/drawing/2014/main" id="{3F9E1DE9-C165-19AF-7FCE-AB706773A495}"/>
              </a:ext>
            </a:extLst>
          </p:cNvPr>
          <p:cNvSpPr txBox="1"/>
          <p:nvPr/>
        </p:nvSpPr>
        <p:spPr>
          <a:xfrm>
            <a:off x="6301525" y="1463040"/>
            <a:ext cx="740587"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rgbClr val="0B315E"/>
                </a:solidFill>
                <a:effectLst/>
                <a:uLnTx/>
                <a:uFillTx/>
                <a:latin typeface="CVS Health Sans"/>
                <a:ea typeface="+mn-ea"/>
                <a:cs typeface="+mn-cs"/>
              </a:rPr>
              <a:t>Milestone</a:t>
            </a:r>
          </a:p>
        </p:txBody>
      </p:sp>
      <p:sp>
        <p:nvSpPr>
          <p:cNvPr id="15" name="TextBox 14">
            <a:extLst>
              <a:ext uri="{FF2B5EF4-FFF2-40B4-BE49-F238E27FC236}">
                <a16:creationId xmlns:a16="http://schemas.microsoft.com/office/drawing/2014/main" id="{EB1258BD-B95D-7FFE-8FBB-4A17DB8A9102}"/>
              </a:ext>
            </a:extLst>
          </p:cNvPr>
          <p:cNvSpPr txBox="1"/>
          <p:nvPr/>
        </p:nvSpPr>
        <p:spPr>
          <a:xfrm>
            <a:off x="543482" y="1490133"/>
            <a:ext cx="690958"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Scope</a:t>
            </a:r>
          </a:p>
        </p:txBody>
      </p:sp>
      <p:sp>
        <p:nvSpPr>
          <p:cNvPr id="17" name="TextBox 16">
            <a:extLst>
              <a:ext uri="{FF2B5EF4-FFF2-40B4-BE49-F238E27FC236}">
                <a16:creationId xmlns:a16="http://schemas.microsoft.com/office/drawing/2014/main" id="{328DAC35-280C-A736-BE54-FFBC6CD9654A}"/>
              </a:ext>
            </a:extLst>
          </p:cNvPr>
          <p:cNvSpPr txBox="1"/>
          <p:nvPr/>
        </p:nvSpPr>
        <p:spPr>
          <a:xfrm>
            <a:off x="1366590" y="1490133"/>
            <a:ext cx="4693922" cy="307777"/>
          </a:xfrm>
          <a:prstGeom prst="rect">
            <a:avLst/>
          </a:prstGeom>
          <a:noFill/>
        </p:spPr>
        <p:txBody>
          <a:bodyPr wrap="square" lIns="0" tIns="0" rIns="0" bIns="0">
            <a:spAutoFit/>
          </a:bodyPr>
          <a:lstStyle/>
          <a:p>
            <a:pPr algn="l"/>
            <a:r>
              <a:rPr lang="en-US" sz="1000">
                <a:solidFill>
                  <a:schemeClr val="tx2"/>
                </a:solidFill>
              </a:rPr>
              <a:t>Validate and operationalize data pathways from Cribl/Blob/ADLS into Bronze Delta tables using approved architecture patterns.</a:t>
            </a:r>
          </a:p>
        </p:txBody>
      </p:sp>
      <p:sp>
        <p:nvSpPr>
          <p:cNvPr id="20" name="TextBox 19">
            <a:extLst>
              <a:ext uri="{FF2B5EF4-FFF2-40B4-BE49-F238E27FC236}">
                <a16:creationId xmlns:a16="http://schemas.microsoft.com/office/drawing/2014/main" id="{CCAAB920-1D43-8028-933E-D4013C089EDF}"/>
              </a:ext>
            </a:extLst>
          </p:cNvPr>
          <p:cNvSpPr txBox="1"/>
          <p:nvPr/>
        </p:nvSpPr>
        <p:spPr>
          <a:xfrm>
            <a:off x="543482" y="1948418"/>
            <a:ext cx="721899"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Objective</a:t>
            </a:r>
          </a:p>
        </p:txBody>
      </p:sp>
      <p:sp>
        <p:nvSpPr>
          <p:cNvPr id="21" name="TextBox 20">
            <a:extLst>
              <a:ext uri="{FF2B5EF4-FFF2-40B4-BE49-F238E27FC236}">
                <a16:creationId xmlns:a16="http://schemas.microsoft.com/office/drawing/2014/main" id="{07BD0FE8-2329-87CC-7900-FC0A0173A802}"/>
              </a:ext>
            </a:extLst>
          </p:cNvPr>
          <p:cNvSpPr txBox="1"/>
          <p:nvPr/>
        </p:nvSpPr>
        <p:spPr>
          <a:xfrm>
            <a:off x="1366590" y="1948418"/>
            <a:ext cx="4575208" cy="615553"/>
          </a:xfrm>
          <a:prstGeom prst="rect">
            <a:avLst/>
          </a:prstGeom>
          <a:noFill/>
        </p:spPr>
        <p:txBody>
          <a:bodyPr wrap="square" lIns="0" tIns="0" rIns="0" bIns="0">
            <a:spAutoFit/>
          </a:bodyPr>
          <a:lstStyle/>
          <a:p>
            <a:pPr algn="l"/>
            <a:r>
              <a:rPr lang="en-US" sz="1000">
                <a:solidFill>
                  <a:schemeClr val="tx2"/>
                </a:solidFill>
              </a:rPr>
              <a:t>Rationalize 2,000+ Splunk source types, rationalizing to approximately 121 logical source families as further described in Section 7.2, and define standardized data contracts, schemas, and a unified metadata model in </a:t>
            </a:r>
            <a:br>
              <a:rPr lang="en-US" sz="1000">
                <a:solidFill>
                  <a:schemeClr val="tx2"/>
                </a:solidFill>
              </a:rPr>
            </a:br>
            <a:r>
              <a:rPr lang="en-US" sz="1000">
                <a:solidFill>
                  <a:schemeClr val="tx2"/>
                </a:solidFill>
              </a:rPr>
              <a:t>Unity Catalog.</a:t>
            </a:r>
          </a:p>
        </p:txBody>
      </p:sp>
      <p:sp>
        <p:nvSpPr>
          <p:cNvPr id="22" name="TextBox 21">
            <a:extLst>
              <a:ext uri="{FF2B5EF4-FFF2-40B4-BE49-F238E27FC236}">
                <a16:creationId xmlns:a16="http://schemas.microsoft.com/office/drawing/2014/main" id="{BBEE6DEA-9637-F4EC-2C5D-50C06E90B56F}"/>
              </a:ext>
            </a:extLst>
          </p:cNvPr>
          <p:cNvSpPr txBox="1"/>
          <p:nvPr/>
        </p:nvSpPr>
        <p:spPr>
          <a:xfrm>
            <a:off x="543483" y="2714704"/>
            <a:ext cx="731982" cy="369332"/>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Key Activities</a:t>
            </a:r>
          </a:p>
        </p:txBody>
      </p:sp>
      <p:sp>
        <p:nvSpPr>
          <p:cNvPr id="25" name="TextBox 24">
            <a:extLst>
              <a:ext uri="{FF2B5EF4-FFF2-40B4-BE49-F238E27FC236}">
                <a16:creationId xmlns:a16="http://schemas.microsoft.com/office/drawing/2014/main" id="{05207D2C-23E6-5E58-A094-2A4D3DD1FDD7}"/>
              </a:ext>
            </a:extLst>
          </p:cNvPr>
          <p:cNvSpPr txBox="1"/>
          <p:nvPr/>
        </p:nvSpPr>
        <p:spPr>
          <a:xfrm>
            <a:off x="1366590" y="2714704"/>
            <a:ext cx="4748460" cy="1461939"/>
          </a:xfrm>
          <a:prstGeom prst="rect">
            <a:avLst/>
          </a:prstGeom>
          <a:noFill/>
        </p:spPr>
        <p:txBody>
          <a:bodyPr wrap="square" lIns="0" tIns="0" rIns="0" bIns="0">
            <a:spAutoFit/>
          </a:bodyPr>
          <a:lstStyle/>
          <a:p>
            <a:pPr marL="137160" lvl="1" indent="-137160">
              <a:spcAft>
                <a:spcPts val="300"/>
              </a:spcAft>
              <a:buFont typeface="Arial" panose="020B0604020202020204" pitchFamily="34" charset="0"/>
              <a:buChar char="•"/>
            </a:pPr>
            <a:r>
              <a:rPr lang="en-US" sz="1000" b="1" kern="1500">
                <a:solidFill>
                  <a:schemeClr val="tx2"/>
                </a:solidFill>
              </a:rPr>
              <a:t>Resolve Bronze Architecture: </a:t>
            </a:r>
            <a:r>
              <a:rPr lang="en-US" sz="1000" kern="1500">
                <a:solidFill>
                  <a:schemeClr val="tx2"/>
                </a:solidFill>
              </a:rPr>
              <a:t>Define and support loading of Bronze layer </a:t>
            </a:r>
            <a:br>
              <a:rPr lang="en-US" sz="1000" kern="1500">
                <a:solidFill>
                  <a:schemeClr val="tx2"/>
                </a:solidFill>
              </a:rPr>
            </a:br>
            <a:r>
              <a:rPr lang="en-US" sz="1000" kern="1500">
                <a:solidFill>
                  <a:schemeClr val="tx2"/>
                </a:solidFill>
              </a:rPr>
              <a:t>for Databricks consumption (ADLS Gen2 landing zone and ingestion into </a:t>
            </a:r>
            <a:br>
              <a:rPr lang="en-US" sz="1000" kern="1500">
                <a:solidFill>
                  <a:schemeClr val="tx2"/>
                </a:solidFill>
              </a:rPr>
            </a:br>
            <a:r>
              <a:rPr lang="en-US" sz="1000" kern="1500">
                <a:solidFill>
                  <a:schemeClr val="tx2"/>
                </a:solidFill>
              </a:rPr>
              <a:t>Delta Lake tables via Autoloader); map all ingestion workflows end-to-end; define fork routing per source (legacy analytics platform/ SIEM / Databricks / multiple)</a:t>
            </a:r>
          </a:p>
          <a:p>
            <a:pPr marL="137160" lvl="1" indent="-137160">
              <a:spcAft>
                <a:spcPts val="300"/>
              </a:spcAft>
              <a:buFont typeface="Arial" panose="020B0604020202020204" pitchFamily="34" charset="0"/>
              <a:buChar char="•"/>
            </a:pPr>
            <a:r>
              <a:rPr lang="en-US" sz="1000" b="1" kern="1500">
                <a:solidFill>
                  <a:schemeClr val="tx2"/>
                </a:solidFill>
              </a:rPr>
              <a:t>Validate &amp; Build Pathways: </a:t>
            </a:r>
            <a:r>
              <a:rPr lang="en-US" sz="1000" kern="1500">
                <a:solidFill>
                  <a:schemeClr val="tx2"/>
                </a:solidFill>
              </a:rPr>
              <a:t>Configure Autoloader + Event Grid per workflow; validate Tanium path (Akamai → Blob → Cribl →ADLS promotion); assess </a:t>
            </a:r>
            <a:r>
              <a:rPr lang="en-US" sz="1000" kern="1500" err="1">
                <a:solidFill>
                  <a:schemeClr val="tx2"/>
                </a:solidFill>
              </a:rPr>
              <a:t>NiFi</a:t>
            </a:r>
            <a:r>
              <a:rPr lang="en-US" sz="1000" kern="1500">
                <a:solidFill>
                  <a:schemeClr val="tx2"/>
                </a:solidFill>
              </a:rPr>
              <a:t> disposition (retain / consolidate into Cribl / deprecate); test throughput against 5-minute SLA</a:t>
            </a:r>
          </a:p>
          <a:p>
            <a:pPr marL="137160" lvl="1" indent="-137160">
              <a:spcAft>
                <a:spcPts val="300"/>
              </a:spcAft>
              <a:buFont typeface="Arial" panose="020B0604020202020204" pitchFamily="34" charset="0"/>
              <a:buChar char="•"/>
            </a:pPr>
            <a:r>
              <a:rPr lang="en-US" sz="1000" b="1" kern="1500">
                <a:solidFill>
                  <a:schemeClr val="tx2"/>
                </a:solidFill>
              </a:rPr>
              <a:t>Pre-freeze Data Landing: </a:t>
            </a:r>
            <a:r>
              <a:rPr lang="en-US" sz="1000" kern="1500">
                <a:solidFill>
                  <a:schemeClr val="tx2"/>
                </a:solidFill>
              </a:rPr>
              <a:t>Confirm Cribl worker readiness; activate Tier 1 sources across all paths; confirm critical-path data flowing before Dec freeze (workstream B defines)</a:t>
            </a:r>
          </a:p>
        </p:txBody>
      </p:sp>
      <p:grpSp>
        <p:nvGrpSpPr>
          <p:cNvPr id="27" name="Group 26">
            <a:extLst>
              <a:ext uri="{FF2B5EF4-FFF2-40B4-BE49-F238E27FC236}">
                <a16:creationId xmlns:a16="http://schemas.microsoft.com/office/drawing/2014/main" id="{D06A0FC9-7CDF-3E19-6C45-54DDF96740B3}"/>
              </a:ext>
            </a:extLst>
          </p:cNvPr>
          <p:cNvGrpSpPr/>
          <p:nvPr/>
        </p:nvGrpSpPr>
        <p:grpSpPr>
          <a:xfrm>
            <a:off x="533400" y="1871989"/>
            <a:ext cx="5562600" cy="4926"/>
            <a:chOff x="533400" y="1886078"/>
            <a:chExt cx="5562600" cy="4926"/>
          </a:xfrm>
        </p:grpSpPr>
        <p:cxnSp>
          <p:nvCxnSpPr>
            <p:cNvPr id="28" name="Straight Connector 27">
              <a:extLst>
                <a:ext uri="{FF2B5EF4-FFF2-40B4-BE49-F238E27FC236}">
                  <a16:creationId xmlns:a16="http://schemas.microsoft.com/office/drawing/2014/main" id="{A8D991E3-B0B6-4E41-FDB3-107224F4712D}"/>
                </a:ext>
              </a:extLst>
            </p:cNvPr>
            <p:cNvCxnSpPr/>
            <p:nvPr/>
          </p:nvCxnSpPr>
          <p:spPr>
            <a:xfrm>
              <a:off x="553507" y="1891004"/>
              <a:ext cx="5542493"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2E8806D-FF61-4514-A023-9E4992178BD2}"/>
                </a:ext>
              </a:extLst>
            </p:cNvPr>
            <p:cNvCxnSpPr>
              <a:cxnSpLocks/>
            </p:cNvCxnSpPr>
            <p:nvPr/>
          </p:nvCxnSpPr>
          <p:spPr>
            <a:xfrm>
              <a:off x="533400" y="1886078"/>
              <a:ext cx="784166"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0" name="Group 29">
            <a:extLst>
              <a:ext uri="{FF2B5EF4-FFF2-40B4-BE49-F238E27FC236}">
                <a16:creationId xmlns:a16="http://schemas.microsoft.com/office/drawing/2014/main" id="{262C1DCD-0039-C0F9-10CD-953F74699F2E}"/>
              </a:ext>
            </a:extLst>
          </p:cNvPr>
          <p:cNvGrpSpPr/>
          <p:nvPr/>
        </p:nvGrpSpPr>
        <p:grpSpPr>
          <a:xfrm>
            <a:off x="533400" y="2640626"/>
            <a:ext cx="5562600" cy="0"/>
            <a:chOff x="533400" y="2463561"/>
            <a:chExt cx="5562600" cy="0"/>
          </a:xfrm>
        </p:grpSpPr>
        <p:cxnSp>
          <p:nvCxnSpPr>
            <p:cNvPr id="35" name="Straight Connector 34">
              <a:extLst>
                <a:ext uri="{FF2B5EF4-FFF2-40B4-BE49-F238E27FC236}">
                  <a16:creationId xmlns:a16="http://schemas.microsoft.com/office/drawing/2014/main" id="{96C90EEB-7D77-C7A2-58D6-48BC2C4FC0EE}"/>
                </a:ext>
              </a:extLst>
            </p:cNvPr>
            <p:cNvCxnSpPr/>
            <p:nvPr/>
          </p:nvCxnSpPr>
          <p:spPr>
            <a:xfrm>
              <a:off x="553507" y="2463561"/>
              <a:ext cx="5542493"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17ABBCC-5634-0C68-FDA7-A7E7E52AD79B}"/>
                </a:ext>
              </a:extLst>
            </p:cNvPr>
            <p:cNvCxnSpPr>
              <a:cxnSpLocks/>
            </p:cNvCxnSpPr>
            <p:nvPr/>
          </p:nvCxnSpPr>
          <p:spPr>
            <a:xfrm>
              <a:off x="533400" y="2463561"/>
              <a:ext cx="784166"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sp>
        <p:nvSpPr>
          <p:cNvPr id="38" name="Rectangle: Rounded Corners 37">
            <a:extLst>
              <a:ext uri="{FF2B5EF4-FFF2-40B4-BE49-F238E27FC236}">
                <a16:creationId xmlns:a16="http://schemas.microsoft.com/office/drawing/2014/main" id="{7C24EBD0-5950-72BB-3651-FCCFCBD09AAE}"/>
              </a:ext>
            </a:extLst>
          </p:cNvPr>
          <p:cNvSpPr/>
          <p:nvPr/>
        </p:nvSpPr>
        <p:spPr bwMode="gray">
          <a:xfrm>
            <a:off x="6296424" y="3108960"/>
            <a:ext cx="5360590" cy="1097280"/>
          </a:xfrm>
          <a:prstGeom prst="roundRect">
            <a:avLst>
              <a:gd name="adj" fmla="val 4322"/>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fontAlgn="ctr"/>
            <a:r>
              <a:rPr lang="en-US" sz="1000" b="1">
                <a:solidFill>
                  <a:srgbClr val="00A78E"/>
                </a:solidFill>
              </a:rPr>
              <a:t>Description: </a:t>
            </a:r>
            <a:r>
              <a:rPr lang="en-US" sz="1000" kern="1500">
                <a:solidFill>
                  <a:schemeClr val="tx2"/>
                </a:solidFill>
              </a:rPr>
              <a:t>Tier 1 Rollout &amp; SLA</a:t>
            </a:r>
          </a:p>
          <a:p>
            <a:pPr fontAlgn="ctr"/>
            <a:r>
              <a:rPr lang="en-US" sz="1000" b="1">
                <a:solidFill>
                  <a:srgbClr val="00A78E"/>
                </a:solidFill>
              </a:rPr>
              <a:t>Timing:</a:t>
            </a:r>
            <a:endParaRPr lang="en-US" sz="1000" b="1">
              <a:solidFill>
                <a:schemeClr val="tx2"/>
              </a:solidFill>
            </a:endParaRPr>
          </a:p>
          <a:p>
            <a:pPr fontAlgn="ctr"/>
            <a:endParaRPr lang="en-US" sz="1000" b="1">
              <a:solidFill>
                <a:schemeClr val="tx2"/>
              </a:solidFill>
            </a:endParaRPr>
          </a:p>
          <a:p>
            <a:pPr fontAlgn="ctr"/>
            <a:endParaRPr lang="en-US" sz="1000" b="1">
              <a:solidFill>
                <a:schemeClr val="tx2"/>
              </a:solidFill>
            </a:endParaRPr>
          </a:p>
          <a:p>
            <a:r>
              <a:rPr lang="en-US" sz="1000" b="1">
                <a:solidFill>
                  <a:srgbClr val="00A78E"/>
                </a:solidFill>
              </a:rPr>
              <a:t>Deliverables: </a:t>
            </a:r>
          </a:p>
          <a:p>
            <a:pPr marL="91440" indent="-91440">
              <a:buFont typeface="Arial" panose="020B0604020202020204" pitchFamily="34" charset="0"/>
              <a:buChar char="•"/>
            </a:pPr>
            <a:r>
              <a:rPr lang="en-US" sz="1000">
                <a:solidFill>
                  <a:schemeClr val="tx2"/>
                </a:solidFill>
              </a:rPr>
              <a:t>Autoloader and Event Grid Configuration Evidence (DOC) for Tier 1 sources</a:t>
            </a:r>
          </a:p>
          <a:p>
            <a:pPr marL="91440" indent="-91440">
              <a:buFont typeface="Arial" panose="020B0604020202020204" pitchFamily="34" charset="0"/>
              <a:buChar char="•"/>
            </a:pPr>
            <a:r>
              <a:rPr lang="en-US" sz="1000">
                <a:solidFill>
                  <a:schemeClr val="tx2"/>
                </a:solidFill>
              </a:rPr>
              <a:t>Throughput and SLA Validation Report (PPT/XLS) for Tier 1 sources</a:t>
            </a:r>
          </a:p>
        </p:txBody>
      </p:sp>
      <p:sp>
        <p:nvSpPr>
          <p:cNvPr id="39" name="Rectangle: Rounded Corners 38">
            <a:extLst>
              <a:ext uri="{FF2B5EF4-FFF2-40B4-BE49-F238E27FC236}">
                <a16:creationId xmlns:a16="http://schemas.microsoft.com/office/drawing/2014/main" id="{0BBD6DD8-C88D-641D-BA04-68064D64F71F}"/>
              </a:ext>
            </a:extLst>
          </p:cNvPr>
          <p:cNvSpPr/>
          <p:nvPr/>
        </p:nvSpPr>
        <p:spPr bwMode="gray">
          <a:xfrm>
            <a:off x="6296424" y="4297680"/>
            <a:ext cx="5360590" cy="1280160"/>
          </a:xfrm>
          <a:prstGeom prst="roundRect">
            <a:avLst>
              <a:gd name="adj" fmla="val 4322"/>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defTabSz="457063" fontAlgn="ctr">
              <a:defRPr/>
            </a:pPr>
            <a:r>
              <a:rPr lang="en-US" sz="1000" b="1">
                <a:solidFill>
                  <a:srgbClr val="00A78E"/>
                </a:solidFill>
              </a:rPr>
              <a:t>Description: </a:t>
            </a:r>
            <a:r>
              <a:rPr lang="en-US" sz="1000">
                <a:solidFill>
                  <a:schemeClr val="tx2"/>
                </a:solidFill>
              </a:rPr>
              <a:t>Tier 2 &amp; Hand-off </a:t>
            </a:r>
          </a:p>
          <a:p>
            <a:pPr defTabSz="457063" fontAlgn="ctr">
              <a:defRPr/>
            </a:pPr>
            <a:r>
              <a:rPr lang="en-US" sz="1000" b="1">
                <a:solidFill>
                  <a:srgbClr val="00A78E"/>
                </a:solidFill>
              </a:rPr>
              <a:t>Timing:</a:t>
            </a:r>
          </a:p>
          <a:p>
            <a:pPr defTabSz="457063" fontAlgn="ctr">
              <a:defRPr/>
            </a:pPr>
            <a:endParaRPr lang="en-US" sz="1000" b="1">
              <a:solidFill>
                <a:schemeClr val="tx2"/>
              </a:solidFill>
            </a:endParaRPr>
          </a:p>
          <a:p>
            <a:pPr defTabSz="457063" fontAlgn="ctr">
              <a:defRPr/>
            </a:pPr>
            <a:endParaRPr lang="en-US" sz="1000" b="1">
              <a:solidFill>
                <a:schemeClr val="tx2"/>
              </a:solidFill>
            </a:endParaRPr>
          </a:p>
          <a:p>
            <a:r>
              <a:rPr lang="en-US" sz="1000" b="1">
                <a:solidFill>
                  <a:srgbClr val="00A78E"/>
                </a:solidFill>
              </a:rPr>
              <a:t>Deliverables: </a:t>
            </a:r>
          </a:p>
          <a:p>
            <a:pPr marL="91440" indent="-91440">
              <a:buFont typeface="Arial" panose="020B0604020202020204" pitchFamily="34" charset="0"/>
              <a:buChar char="•"/>
            </a:pPr>
            <a:r>
              <a:rPr lang="en-US" sz="1000">
                <a:solidFill>
                  <a:schemeClr val="tx2"/>
                </a:solidFill>
              </a:rPr>
              <a:t>Updated Autoloader and Event Grid Configuration Evidence (DOC) for Tier 2 sources</a:t>
            </a:r>
          </a:p>
          <a:p>
            <a:pPr marL="91440" indent="-91440">
              <a:buFont typeface="Arial" panose="020B0604020202020204" pitchFamily="34" charset="0"/>
              <a:buChar char="•"/>
            </a:pPr>
            <a:r>
              <a:rPr lang="en-US" sz="1000">
                <a:solidFill>
                  <a:schemeClr val="tx2"/>
                </a:solidFill>
              </a:rPr>
              <a:t>Updated Throughput and SLA Validation Report (PPT/XLS) for Tier 2 sources</a:t>
            </a:r>
          </a:p>
          <a:p>
            <a:pPr marL="91440" indent="-91440">
              <a:buFont typeface="Arial" panose="020B0604020202020204" pitchFamily="34" charset="0"/>
              <a:buChar char="•"/>
            </a:pPr>
            <a:r>
              <a:rPr lang="en-US" sz="1000">
                <a:solidFill>
                  <a:schemeClr val="tx2"/>
                </a:solidFill>
              </a:rPr>
              <a:t>Pre-Freeze Readiness Checkpoint and Handoff Materials (PPT/DOC)</a:t>
            </a:r>
          </a:p>
        </p:txBody>
      </p:sp>
      <p:sp>
        <p:nvSpPr>
          <p:cNvPr id="40" name="Rectangle: Rounded Corners 39">
            <a:extLst>
              <a:ext uri="{FF2B5EF4-FFF2-40B4-BE49-F238E27FC236}">
                <a16:creationId xmlns:a16="http://schemas.microsoft.com/office/drawing/2014/main" id="{5AA942BF-15D9-E3D7-58E7-6B1AD2A6EEEB}"/>
              </a:ext>
            </a:extLst>
          </p:cNvPr>
          <p:cNvSpPr/>
          <p:nvPr/>
        </p:nvSpPr>
        <p:spPr bwMode="gray">
          <a:xfrm>
            <a:off x="6296424" y="1645920"/>
            <a:ext cx="5360590" cy="1371600"/>
          </a:xfrm>
          <a:prstGeom prst="roundRect">
            <a:avLst>
              <a:gd name="adj" fmla="val 4322"/>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defTabSz="457063" fontAlgn="ctr">
              <a:defRPr/>
            </a:pPr>
            <a:r>
              <a:rPr lang="en-US" sz="1000" b="1">
                <a:solidFill>
                  <a:srgbClr val="00A78E"/>
                </a:solidFill>
              </a:rPr>
              <a:t>Description: </a:t>
            </a:r>
            <a:r>
              <a:rPr lang="en-US" sz="1000" kern="1500">
                <a:solidFill>
                  <a:schemeClr val="tx2"/>
                </a:solidFill>
              </a:rPr>
              <a:t>Bronze design &amp; validation</a:t>
            </a:r>
          </a:p>
          <a:p>
            <a:pPr defTabSz="457063" fontAlgn="ctr">
              <a:defRPr/>
            </a:pPr>
            <a:r>
              <a:rPr lang="en-US" sz="1000" b="1">
                <a:solidFill>
                  <a:srgbClr val="00A78E"/>
                </a:solidFill>
              </a:rPr>
              <a:t>Timing:</a:t>
            </a:r>
          </a:p>
          <a:p>
            <a:pPr defTabSz="457063" fontAlgn="ctr">
              <a:defRPr/>
            </a:pPr>
            <a:endParaRPr lang="en-US" sz="1000" b="1">
              <a:solidFill>
                <a:schemeClr val="tx2"/>
              </a:solidFill>
            </a:endParaRPr>
          </a:p>
          <a:p>
            <a:pPr defTabSz="457063" fontAlgn="ctr">
              <a:defRPr/>
            </a:pPr>
            <a:endParaRPr lang="en-US" sz="1000" b="1">
              <a:solidFill>
                <a:schemeClr val="tx2"/>
              </a:solidFill>
            </a:endParaRPr>
          </a:p>
          <a:p>
            <a:r>
              <a:rPr lang="en-US" sz="1000" b="1">
                <a:solidFill>
                  <a:srgbClr val="00A78E"/>
                </a:solidFill>
              </a:rPr>
              <a:t>Deliverables: </a:t>
            </a:r>
          </a:p>
          <a:p>
            <a:pPr marL="91440" indent="-91440">
              <a:buFont typeface="Arial" panose="020B0604020202020204" pitchFamily="34" charset="0"/>
              <a:buChar char="•"/>
            </a:pPr>
            <a:r>
              <a:rPr lang="en-US" sz="1000">
                <a:solidFill>
                  <a:schemeClr val="tx2"/>
                </a:solidFill>
              </a:rPr>
              <a:t>Bronze Architecture and Data Landing Design (DOC/PPT)</a:t>
            </a:r>
          </a:p>
          <a:p>
            <a:pPr marL="91440" indent="-91440">
              <a:buFont typeface="Arial" panose="020B0604020202020204" pitchFamily="34" charset="0"/>
              <a:buChar char="•"/>
            </a:pPr>
            <a:r>
              <a:rPr lang="en-US" sz="1000">
                <a:solidFill>
                  <a:schemeClr val="tx2"/>
                </a:solidFill>
              </a:rPr>
              <a:t>Ingestion Routing Matrix and Source-to-Bronze Mapping (XLS)</a:t>
            </a:r>
          </a:p>
          <a:p>
            <a:pPr marL="91440" indent="-91440">
              <a:buFont typeface="Arial" panose="020B0604020202020204" pitchFamily="34" charset="0"/>
              <a:buChar char="•"/>
            </a:pPr>
            <a:r>
              <a:rPr lang="en-US" sz="1000">
                <a:solidFill>
                  <a:schemeClr val="tx2"/>
                </a:solidFill>
              </a:rPr>
              <a:t>Pipeline Configuration Documentation (DOC/XLS)</a:t>
            </a:r>
          </a:p>
          <a:p>
            <a:pPr marL="91440" indent="-91440">
              <a:buFont typeface="Arial" panose="020B0604020202020204" pitchFamily="34" charset="0"/>
              <a:buChar char="•"/>
            </a:pPr>
            <a:r>
              <a:rPr lang="en-US" sz="1000">
                <a:solidFill>
                  <a:schemeClr val="tx2"/>
                </a:solidFill>
              </a:rPr>
              <a:t>Bronze Table/Partition Design Documentation (DOC/XLS)</a:t>
            </a:r>
          </a:p>
        </p:txBody>
      </p:sp>
      <p:sp>
        <p:nvSpPr>
          <p:cNvPr id="42" name="TextBox 41">
            <a:extLst>
              <a:ext uri="{FF2B5EF4-FFF2-40B4-BE49-F238E27FC236}">
                <a16:creationId xmlns:a16="http://schemas.microsoft.com/office/drawing/2014/main" id="{CC845C4F-AB36-B2B5-2E02-94B9A7F2695D}"/>
              </a:ext>
            </a:extLst>
          </p:cNvPr>
          <p:cNvSpPr txBox="1"/>
          <p:nvPr/>
        </p:nvSpPr>
        <p:spPr>
          <a:xfrm>
            <a:off x="11155680" y="1645920"/>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B.2.1</a:t>
            </a:r>
          </a:p>
        </p:txBody>
      </p:sp>
      <p:sp>
        <p:nvSpPr>
          <p:cNvPr id="43" name="TextBox 42">
            <a:extLst>
              <a:ext uri="{FF2B5EF4-FFF2-40B4-BE49-F238E27FC236}">
                <a16:creationId xmlns:a16="http://schemas.microsoft.com/office/drawing/2014/main" id="{9CC5C3E5-7893-3DCA-717D-60A9047667B5}"/>
              </a:ext>
            </a:extLst>
          </p:cNvPr>
          <p:cNvSpPr txBox="1"/>
          <p:nvPr/>
        </p:nvSpPr>
        <p:spPr>
          <a:xfrm>
            <a:off x="11155680" y="3108960"/>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B.2.2</a:t>
            </a:r>
          </a:p>
        </p:txBody>
      </p:sp>
      <p:sp>
        <p:nvSpPr>
          <p:cNvPr id="44" name="TextBox 43">
            <a:extLst>
              <a:ext uri="{FF2B5EF4-FFF2-40B4-BE49-F238E27FC236}">
                <a16:creationId xmlns:a16="http://schemas.microsoft.com/office/drawing/2014/main" id="{4A0C0139-2C4D-50F4-3BCB-2FAEC0CF62B1}"/>
              </a:ext>
            </a:extLst>
          </p:cNvPr>
          <p:cNvSpPr txBox="1"/>
          <p:nvPr/>
        </p:nvSpPr>
        <p:spPr>
          <a:xfrm>
            <a:off x="11155680" y="4297680"/>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B.2.3</a:t>
            </a:r>
          </a:p>
        </p:txBody>
      </p:sp>
      <p:graphicFrame>
        <p:nvGraphicFramePr>
          <p:cNvPr id="9" name="Table 8">
            <a:extLst>
              <a:ext uri="{FF2B5EF4-FFF2-40B4-BE49-F238E27FC236}">
                <a16:creationId xmlns:a16="http://schemas.microsoft.com/office/drawing/2014/main" id="{C27F7194-52BE-0562-873E-EC2798084267}"/>
              </a:ext>
            </a:extLst>
          </p:cNvPr>
          <p:cNvGraphicFramePr>
            <a:graphicFrameLocks noGrp="1"/>
          </p:cNvGraphicFramePr>
          <p:nvPr>
            <p:extLst>
              <p:ext uri="{D42A27DB-BD31-4B8C-83A1-F6EECF244321}">
                <p14:modId xmlns:p14="http://schemas.microsoft.com/office/powerpoint/2010/main" val="1289652700"/>
              </p:ext>
            </p:extLst>
          </p:nvPr>
        </p:nvGraphicFramePr>
        <p:xfrm>
          <a:off x="6358766" y="2005330"/>
          <a:ext cx="5235902" cy="182880"/>
        </p:xfrm>
        <a:graphic>
          <a:graphicData uri="http://schemas.openxmlformats.org/drawingml/2006/table">
            <a:tbl>
              <a:tblPr firstRow="1" bandRow="1">
                <a:tableStyleId>{5C22544A-7EE6-4342-B048-85BDC9FD1C3A}</a:tableStyleId>
              </a:tblPr>
              <a:tblGrid>
                <a:gridCol w="373993">
                  <a:extLst>
                    <a:ext uri="{9D8B030D-6E8A-4147-A177-3AD203B41FA5}">
                      <a16:colId xmlns:a16="http://schemas.microsoft.com/office/drawing/2014/main" val="4234389670"/>
                    </a:ext>
                  </a:extLst>
                </a:gridCol>
                <a:gridCol w="373993">
                  <a:extLst>
                    <a:ext uri="{9D8B030D-6E8A-4147-A177-3AD203B41FA5}">
                      <a16:colId xmlns:a16="http://schemas.microsoft.com/office/drawing/2014/main" val="2872415959"/>
                    </a:ext>
                  </a:extLst>
                </a:gridCol>
                <a:gridCol w="373993">
                  <a:extLst>
                    <a:ext uri="{9D8B030D-6E8A-4147-A177-3AD203B41FA5}">
                      <a16:colId xmlns:a16="http://schemas.microsoft.com/office/drawing/2014/main" val="2224089828"/>
                    </a:ext>
                  </a:extLst>
                </a:gridCol>
                <a:gridCol w="373993">
                  <a:extLst>
                    <a:ext uri="{9D8B030D-6E8A-4147-A177-3AD203B41FA5}">
                      <a16:colId xmlns:a16="http://schemas.microsoft.com/office/drawing/2014/main" val="3195761835"/>
                    </a:ext>
                  </a:extLst>
                </a:gridCol>
                <a:gridCol w="373993">
                  <a:extLst>
                    <a:ext uri="{9D8B030D-6E8A-4147-A177-3AD203B41FA5}">
                      <a16:colId xmlns:a16="http://schemas.microsoft.com/office/drawing/2014/main" val="1412581894"/>
                    </a:ext>
                  </a:extLst>
                </a:gridCol>
                <a:gridCol w="373993">
                  <a:extLst>
                    <a:ext uri="{9D8B030D-6E8A-4147-A177-3AD203B41FA5}">
                      <a16:colId xmlns:a16="http://schemas.microsoft.com/office/drawing/2014/main" val="2093679262"/>
                    </a:ext>
                  </a:extLst>
                </a:gridCol>
                <a:gridCol w="373993">
                  <a:extLst>
                    <a:ext uri="{9D8B030D-6E8A-4147-A177-3AD203B41FA5}">
                      <a16:colId xmlns:a16="http://schemas.microsoft.com/office/drawing/2014/main" val="4172650658"/>
                    </a:ext>
                  </a:extLst>
                </a:gridCol>
                <a:gridCol w="373993">
                  <a:extLst>
                    <a:ext uri="{9D8B030D-6E8A-4147-A177-3AD203B41FA5}">
                      <a16:colId xmlns:a16="http://schemas.microsoft.com/office/drawing/2014/main" val="4085553167"/>
                    </a:ext>
                  </a:extLst>
                </a:gridCol>
                <a:gridCol w="373993">
                  <a:extLst>
                    <a:ext uri="{9D8B030D-6E8A-4147-A177-3AD203B41FA5}">
                      <a16:colId xmlns:a16="http://schemas.microsoft.com/office/drawing/2014/main" val="3035667041"/>
                    </a:ext>
                  </a:extLst>
                </a:gridCol>
                <a:gridCol w="373993">
                  <a:extLst>
                    <a:ext uri="{9D8B030D-6E8A-4147-A177-3AD203B41FA5}">
                      <a16:colId xmlns:a16="http://schemas.microsoft.com/office/drawing/2014/main" val="1382053115"/>
                    </a:ext>
                  </a:extLst>
                </a:gridCol>
                <a:gridCol w="373993">
                  <a:extLst>
                    <a:ext uri="{9D8B030D-6E8A-4147-A177-3AD203B41FA5}">
                      <a16:colId xmlns:a16="http://schemas.microsoft.com/office/drawing/2014/main" val="243945664"/>
                    </a:ext>
                  </a:extLst>
                </a:gridCol>
                <a:gridCol w="373993">
                  <a:extLst>
                    <a:ext uri="{9D8B030D-6E8A-4147-A177-3AD203B41FA5}">
                      <a16:colId xmlns:a16="http://schemas.microsoft.com/office/drawing/2014/main" val="4035638086"/>
                    </a:ext>
                  </a:extLst>
                </a:gridCol>
                <a:gridCol w="373993">
                  <a:extLst>
                    <a:ext uri="{9D8B030D-6E8A-4147-A177-3AD203B41FA5}">
                      <a16:colId xmlns:a16="http://schemas.microsoft.com/office/drawing/2014/main" val="340677872"/>
                    </a:ext>
                  </a:extLst>
                </a:gridCol>
                <a:gridCol w="373993">
                  <a:extLst>
                    <a:ext uri="{9D8B030D-6E8A-4147-A177-3AD203B41FA5}">
                      <a16:colId xmlns:a16="http://schemas.microsoft.com/office/drawing/2014/main" val="1121426375"/>
                    </a:ext>
                  </a:extLst>
                </a:gridCol>
              </a:tblGrid>
              <a:tr h="182880">
                <a:tc>
                  <a:txBody>
                    <a:bodyPr/>
                    <a:lstStyle/>
                    <a:p>
                      <a:pPr algn="ctr"/>
                      <a:r>
                        <a:rPr lang="en-US" sz="900"/>
                        <a:t>Sep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Oct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Nov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Dec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Jan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Feb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Mar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Apr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May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Jul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Aug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Sep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Oct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extLst>
                  <a:ext uri="{0D108BD9-81ED-4DB2-BD59-A6C34878D82A}">
                    <a16:rowId xmlns:a16="http://schemas.microsoft.com/office/drawing/2014/main" val="3394829782"/>
                  </a:ext>
                </a:extLst>
              </a:tr>
            </a:tbl>
          </a:graphicData>
        </a:graphic>
      </p:graphicFrame>
      <p:graphicFrame>
        <p:nvGraphicFramePr>
          <p:cNvPr id="12" name="Table 11">
            <a:extLst>
              <a:ext uri="{FF2B5EF4-FFF2-40B4-BE49-F238E27FC236}">
                <a16:creationId xmlns:a16="http://schemas.microsoft.com/office/drawing/2014/main" id="{EF18A7BB-327F-780A-74CF-55FFDA83A26C}"/>
              </a:ext>
            </a:extLst>
          </p:cNvPr>
          <p:cNvGraphicFramePr>
            <a:graphicFrameLocks noGrp="1"/>
          </p:cNvGraphicFramePr>
          <p:nvPr>
            <p:extLst>
              <p:ext uri="{D42A27DB-BD31-4B8C-83A1-F6EECF244321}">
                <p14:modId xmlns:p14="http://schemas.microsoft.com/office/powerpoint/2010/main" val="1867079444"/>
              </p:ext>
            </p:extLst>
          </p:nvPr>
        </p:nvGraphicFramePr>
        <p:xfrm>
          <a:off x="6358766" y="3495675"/>
          <a:ext cx="5235902" cy="182880"/>
        </p:xfrm>
        <a:graphic>
          <a:graphicData uri="http://schemas.openxmlformats.org/drawingml/2006/table">
            <a:tbl>
              <a:tblPr firstRow="1" bandRow="1">
                <a:tableStyleId>{5C22544A-7EE6-4342-B048-85BDC9FD1C3A}</a:tableStyleId>
              </a:tblPr>
              <a:tblGrid>
                <a:gridCol w="373993">
                  <a:extLst>
                    <a:ext uri="{9D8B030D-6E8A-4147-A177-3AD203B41FA5}">
                      <a16:colId xmlns:a16="http://schemas.microsoft.com/office/drawing/2014/main" val="4234389670"/>
                    </a:ext>
                  </a:extLst>
                </a:gridCol>
                <a:gridCol w="373993">
                  <a:extLst>
                    <a:ext uri="{9D8B030D-6E8A-4147-A177-3AD203B41FA5}">
                      <a16:colId xmlns:a16="http://schemas.microsoft.com/office/drawing/2014/main" val="2872415959"/>
                    </a:ext>
                  </a:extLst>
                </a:gridCol>
                <a:gridCol w="373993">
                  <a:extLst>
                    <a:ext uri="{9D8B030D-6E8A-4147-A177-3AD203B41FA5}">
                      <a16:colId xmlns:a16="http://schemas.microsoft.com/office/drawing/2014/main" val="2224089828"/>
                    </a:ext>
                  </a:extLst>
                </a:gridCol>
                <a:gridCol w="373993">
                  <a:extLst>
                    <a:ext uri="{9D8B030D-6E8A-4147-A177-3AD203B41FA5}">
                      <a16:colId xmlns:a16="http://schemas.microsoft.com/office/drawing/2014/main" val="3195761835"/>
                    </a:ext>
                  </a:extLst>
                </a:gridCol>
                <a:gridCol w="373993">
                  <a:extLst>
                    <a:ext uri="{9D8B030D-6E8A-4147-A177-3AD203B41FA5}">
                      <a16:colId xmlns:a16="http://schemas.microsoft.com/office/drawing/2014/main" val="1412581894"/>
                    </a:ext>
                  </a:extLst>
                </a:gridCol>
                <a:gridCol w="373993">
                  <a:extLst>
                    <a:ext uri="{9D8B030D-6E8A-4147-A177-3AD203B41FA5}">
                      <a16:colId xmlns:a16="http://schemas.microsoft.com/office/drawing/2014/main" val="2093679262"/>
                    </a:ext>
                  </a:extLst>
                </a:gridCol>
                <a:gridCol w="373993">
                  <a:extLst>
                    <a:ext uri="{9D8B030D-6E8A-4147-A177-3AD203B41FA5}">
                      <a16:colId xmlns:a16="http://schemas.microsoft.com/office/drawing/2014/main" val="4172650658"/>
                    </a:ext>
                  </a:extLst>
                </a:gridCol>
                <a:gridCol w="373993">
                  <a:extLst>
                    <a:ext uri="{9D8B030D-6E8A-4147-A177-3AD203B41FA5}">
                      <a16:colId xmlns:a16="http://schemas.microsoft.com/office/drawing/2014/main" val="4085553167"/>
                    </a:ext>
                  </a:extLst>
                </a:gridCol>
                <a:gridCol w="373993">
                  <a:extLst>
                    <a:ext uri="{9D8B030D-6E8A-4147-A177-3AD203B41FA5}">
                      <a16:colId xmlns:a16="http://schemas.microsoft.com/office/drawing/2014/main" val="3035667041"/>
                    </a:ext>
                  </a:extLst>
                </a:gridCol>
                <a:gridCol w="373993">
                  <a:extLst>
                    <a:ext uri="{9D8B030D-6E8A-4147-A177-3AD203B41FA5}">
                      <a16:colId xmlns:a16="http://schemas.microsoft.com/office/drawing/2014/main" val="1382053115"/>
                    </a:ext>
                  </a:extLst>
                </a:gridCol>
                <a:gridCol w="373993">
                  <a:extLst>
                    <a:ext uri="{9D8B030D-6E8A-4147-A177-3AD203B41FA5}">
                      <a16:colId xmlns:a16="http://schemas.microsoft.com/office/drawing/2014/main" val="243945664"/>
                    </a:ext>
                  </a:extLst>
                </a:gridCol>
                <a:gridCol w="373993">
                  <a:extLst>
                    <a:ext uri="{9D8B030D-6E8A-4147-A177-3AD203B41FA5}">
                      <a16:colId xmlns:a16="http://schemas.microsoft.com/office/drawing/2014/main" val="4035638086"/>
                    </a:ext>
                  </a:extLst>
                </a:gridCol>
                <a:gridCol w="373993">
                  <a:extLst>
                    <a:ext uri="{9D8B030D-6E8A-4147-A177-3AD203B41FA5}">
                      <a16:colId xmlns:a16="http://schemas.microsoft.com/office/drawing/2014/main" val="340677872"/>
                    </a:ext>
                  </a:extLst>
                </a:gridCol>
                <a:gridCol w="373993">
                  <a:extLst>
                    <a:ext uri="{9D8B030D-6E8A-4147-A177-3AD203B41FA5}">
                      <a16:colId xmlns:a16="http://schemas.microsoft.com/office/drawing/2014/main" val="3181086041"/>
                    </a:ext>
                  </a:extLst>
                </a:gridCol>
              </a:tblGrid>
              <a:tr h="182880">
                <a:tc>
                  <a:txBody>
                    <a:bodyPr/>
                    <a:lstStyle/>
                    <a:p>
                      <a:pPr algn="ctr"/>
                      <a:r>
                        <a:rPr lang="en-US" sz="900"/>
                        <a:t>Sep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Oct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Nov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Dec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Jan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Feb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Mar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Apr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May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Jul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Aug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Sep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Oct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extLst>
                  <a:ext uri="{0D108BD9-81ED-4DB2-BD59-A6C34878D82A}">
                    <a16:rowId xmlns:a16="http://schemas.microsoft.com/office/drawing/2014/main" val="3394829782"/>
                  </a:ext>
                </a:extLst>
              </a:tr>
            </a:tbl>
          </a:graphicData>
        </a:graphic>
      </p:graphicFrame>
      <p:graphicFrame>
        <p:nvGraphicFramePr>
          <p:cNvPr id="14" name="Table 13">
            <a:extLst>
              <a:ext uri="{FF2B5EF4-FFF2-40B4-BE49-F238E27FC236}">
                <a16:creationId xmlns:a16="http://schemas.microsoft.com/office/drawing/2014/main" id="{EC0262D1-110C-B519-E0DC-BE42D1E39E09}"/>
              </a:ext>
            </a:extLst>
          </p:cNvPr>
          <p:cNvGraphicFramePr>
            <a:graphicFrameLocks noGrp="1"/>
          </p:cNvGraphicFramePr>
          <p:nvPr>
            <p:extLst>
              <p:ext uri="{D42A27DB-BD31-4B8C-83A1-F6EECF244321}">
                <p14:modId xmlns:p14="http://schemas.microsoft.com/office/powerpoint/2010/main" val="34734823"/>
              </p:ext>
            </p:extLst>
          </p:nvPr>
        </p:nvGraphicFramePr>
        <p:xfrm>
          <a:off x="6358766" y="4701892"/>
          <a:ext cx="5235902" cy="182880"/>
        </p:xfrm>
        <a:graphic>
          <a:graphicData uri="http://schemas.openxmlformats.org/drawingml/2006/table">
            <a:tbl>
              <a:tblPr firstRow="1" bandRow="1">
                <a:tableStyleId>{5C22544A-7EE6-4342-B048-85BDC9FD1C3A}</a:tableStyleId>
              </a:tblPr>
              <a:tblGrid>
                <a:gridCol w="373993">
                  <a:extLst>
                    <a:ext uri="{9D8B030D-6E8A-4147-A177-3AD203B41FA5}">
                      <a16:colId xmlns:a16="http://schemas.microsoft.com/office/drawing/2014/main" val="4234389670"/>
                    </a:ext>
                  </a:extLst>
                </a:gridCol>
                <a:gridCol w="373993">
                  <a:extLst>
                    <a:ext uri="{9D8B030D-6E8A-4147-A177-3AD203B41FA5}">
                      <a16:colId xmlns:a16="http://schemas.microsoft.com/office/drawing/2014/main" val="2872415959"/>
                    </a:ext>
                  </a:extLst>
                </a:gridCol>
                <a:gridCol w="373993">
                  <a:extLst>
                    <a:ext uri="{9D8B030D-6E8A-4147-A177-3AD203B41FA5}">
                      <a16:colId xmlns:a16="http://schemas.microsoft.com/office/drawing/2014/main" val="2224089828"/>
                    </a:ext>
                  </a:extLst>
                </a:gridCol>
                <a:gridCol w="373993">
                  <a:extLst>
                    <a:ext uri="{9D8B030D-6E8A-4147-A177-3AD203B41FA5}">
                      <a16:colId xmlns:a16="http://schemas.microsoft.com/office/drawing/2014/main" val="3195761835"/>
                    </a:ext>
                  </a:extLst>
                </a:gridCol>
                <a:gridCol w="373993">
                  <a:extLst>
                    <a:ext uri="{9D8B030D-6E8A-4147-A177-3AD203B41FA5}">
                      <a16:colId xmlns:a16="http://schemas.microsoft.com/office/drawing/2014/main" val="1412581894"/>
                    </a:ext>
                  </a:extLst>
                </a:gridCol>
                <a:gridCol w="373993">
                  <a:extLst>
                    <a:ext uri="{9D8B030D-6E8A-4147-A177-3AD203B41FA5}">
                      <a16:colId xmlns:a16="http://schemas.microsoft.com/office/drawing/2014/main" val="2093679262"/>
                    </a:ext>
                  </a:extLst>
                </a:gridCol>
                <a:gridCol w="373993">
                  <a:extLst>
                    <a:ext uri="{9D8B030D-6E8A-4147-A177-3AD203B41FA5}">
                      <a16:colId xmlns:a16="http://schemas.microsoft.com/office/drawing/2014/main" val="4172650658"/>
                    </a:ext>
                  </a:extLst>
                </a:gridCol>
                <a:gridCol w="373993">
                  <a:extLst>
                    <a:ext uri="{9D8B030D-6E8A-4147-A177-3AD203B41FA5}">
                      <a16:colId xmlns:a16="http://schemas.microsoft.com/office/drawing/2014/main" val="4085553167"/>
                    </a:ext>
                  </a:extLst>
                </a:gridCol>
                <a:gridCol w="373993">
                  <a:extLst>
                    <a:ext uri="{9D8B030D-6E8A-4147-A177-3AD203B41FA5}">
                      <a16:colId xmlns:a16="http://schemas.microsoft.com/office/drawing/2014/main" val="3035667041"/>
                    </a:ext>
                  </a:extLst>
                </a:gridCol>
                <a:gridCol w="373993">
                  <a:extLst>
                    <a:ext uri="{9D8B030D-6E8A-4147-A177-3AD203B41FA5}">
                      <a16:colId xmlns:a16="http://schemas.microsoft.com/office/drawing/2014/main" val="1382053115"/>
                    </a:ext>
                  </a:extLst>
                </a:gridCol>
                <a:gridCol w="373993">
                  <a:extLst>
                    <a:ext uri="{9D8B030D-6E8A-4147-A177-3AD203B41FA5}">
                      <a16:colId xmlns:a16="http://schemas.microsoft.com/office/drawing/2014/main" val="243945664"/>
                    </a:ext>
                  </a:extLst>
                </a:gridCol>
                <a:gridCol w="373993">
                  <a:extLst>
                    <a:ext uri="{9D8B030D-6E8A-4147-A177-3AD203B41FA5}">
                      <a16:colId xmlns:a16="http://schemas.microsoft.com/office/drawing/2014/main" val="4035638086"/>
                    </a:ext>
                  </a:extLst>
                </a:gridCol>
                <a:gridCol w="373993">
                  <a:extLst>
                    <a:ext uri="{9D8B030D-6E8A-4147-A177-3AD203B41FA5}">
                      <a16:colId xmlns:a16="http://schemas.microsoft.com/office/drawing/2014/main" val="340677872"/>
                    </a:ext>
                  </a:extLst>
                </a:gridCol>
                <a:gridCol w="373993">
                  <a:extLst>
                    <a:ext uri="{9D8B030D-6E8A-4147-A177-3AD203B41FA5}">
                      <a16:colId xmlns:a16="http://schemas.microsoft.com/office/drawing/2014/main" val="448028640"/>
                    </a:ext>
                  </a:extLst>
                </a:gridCol>
              </a:tblGrid>
              <a:tr h="182880">
                <a:tc>
                  <a:txBody>
                    <a:bodyPr/>
                    <a:lstStyle/>
                    <a:p>
                      <a:pPr algn="ctr"/>
                      <a:r>
                        <a:rPr lang="en-US" sz="900"/>
                        <a:t>Sep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Oct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Nov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Dec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Jan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Feb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Mar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Apr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May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Jun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Jul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Aug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Sep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Oct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extLst>
                  <a:ext uri="{0D108BD9-81ED-4DB2-BD59-A6C34878D82A}">
                    <a16:rowId xmlns:a16="http://schemas.microsoft.com/office/drawing/2014/main" val="3394829782"/>
                  </a:ext>
                </a:extLst>
              </a:tr>
            </a:tbl>
          </a:graphicData>
        </a:graphic>
      </p:graphicFrame>
    </p:spTree>
    <p:extLst>
      <p:ext uri="{BB962C8B-B14F-4D97-AF65-F5344CB8AC3E}">
        <p14:creationId xmlns:p14="http://schemas.microsoft.com/office/powerpoint/2010/main" val="19853893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F7DE8D0-1B59-1C9F-7B71-D18AF7D4528B}"/>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6EE92EAC-46B0-C396-B863-3957CCF1788E}"/>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4" name="thinkcell data - do not delete" hidden="1">
                        <a:extLst>
                          <a:ext uri="{FF2B5EF4-FFF2-40B4-BE49-F238E27FC236}">
                            <a16:creationId xmlns:a16="http://schemas.microsoft.com/office/drawing/2014/main" id="{6EE92EAC-46B0-C396-B863-3957CCF178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2A0B79BD-6BC2-2434-98A4-A8BD38D7C120}"/>
              </a:ext>
            </a:extLst>
          </p:cNvPr>
          <p:cNvSpPr>
            <a:spLocks noGrp="1"/>
          </p:cNvSpPr>
          <p:nvPr>
            <p:ph type="title"/>
          </p:nvPr>
        </p:nvSpPr>
        <p:spPr/>
        <p:txBody>
          <a:bodyPr vert="horz" rIns="0"/>
          <a:lstStyle/>
          <a:p>
            <a:r>
              <a:rPr lang="en-US"/>
              <a:t>Workstream B2 – Databricks Bronze Data Landing (2/2)</a:t>
            </a:r>
            <a:br>
              <a:rPr lang="en-US"/>
            </a:br>
            <a:r>
              <a:rPr lang="en-US" sz="1600" b="0"/>
              <a:t>“Building the Digital Highway to Safely Deliver and Park the Data” – Planning </a:t>
            </a:r>
          </a:p>
        </p:txBody>
      </p:sp>
      <p:sp>
        <p:nvSpPr>
          <p:cNvPr id="10" name="Rectangle 9">
            <a:extLst>
              <a:ext uri="{FF2B5EF4-FFF2-40B4-BE49-F238E27FC236}">
                <a16:creationId xmlns:a16="http://schemas.microsoft.com/office/drawing/2014/main" id="{A543B4D4-4A25-408F-FD99-7252E806CE69}"/>
              </a:ext>
            </a:extLst>
          </p:cNvPr>
          <p:cNvSpPr/>
          <p:nvPr/>
        </p:nvSpPr>
        <p:spPr bwMode="gray">
          <a:xfrm>
            <a:off x="10911840" y="0"/>
            <a:ext cx="1280160" cy="548640"/>
          </a:xfrm>
          <a:prstGeom prst="rect">
            <a:avLst/>
          </a:prstGeom>
          <a:solidFill>
            <a:srgbClr val="868686"/>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b="1">
                <a:solidFill>
                  <a:schemeClr val="bg1"/>
                </a:solidFill>
              </a:rPr>
              <a:t>Notional, to update</a:t>
            </a:r>
          </a:p>
        </p:txBody>
      </p:sp>
      <p:sp>
        <p:nvSpPr>
          <p:cNvPr id="2" name="Rectangle: Top Corners Rounded 1">
            <a:extLst>
              <a:ext uri="{FF2B5EF4-FFF2-40B4-BE49-F238E27FC236}">
                <a16:creationId xmlns:a16="http://schemas.microsoft.com/office/drawing/2014/main" id="{53228595-B192-6D24-A6C5-6AA42160AF73}"/>
              </a:ext>
            </a:extLst>
          </p:cNvPr>
          <p:cNvSpPr/>
          <p:nvPr/>
        </p:nvSpPr>
        <p:spPr bwMode="gray">
          <a:xfrm rot="5400000">
            <a:off x="-1524006" y="2912536"/>
            <a:ext cx="4682069" cy="1634065"/>
          </a:xfrm>
          <a:prstGeom prst="round2SameRect">
            <a:avLst>
              <a:gd name="adj1" fmla="val 9976"/>
              <a:gd name="adj2" fmla="val 0"/>
            </a:avLst>
          </a:prstGeom>
          <a:gradFill flip="none" rotWithShape="1">
            <a:gsLst>
              <a:gs pos="0">
                <a:srgbClr val="267AC0"/>
              </a:gs>
              <a:gs pos="100000">
                <a:srgbClr val="0A4B8C"/>
              </a:gs>
            </a:gsLst>
            <a:lin ang="54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graphicFrame>
        <p:nvGraphicFramePr>
          <p:cNvPr id="5" name="Content Placeholder 6">
            <a:extLst>
              <a:ext uri="{FF2B5EF4-FFF2-40B4-BE49-F238E27FC236}">
                <a16:creationId xmlns:a16="http://schemas.microsoft.com/office/drawing/2014/main" id="{648658E4-E654-EDD1-1521-08AF26460010}"/>
              </a:ext>
            </a:extLst>
          </p:cNvPr>
          <p:cNvGraphicFramePr>
            <a:graphicFrameLocks/>
          </p:cNvGraphicFramePr>
          <p:nvPr>
            <p:extLst>
              <p:ext uri="{D42A27DB-BD31-4B8C-83A1-F6EECF244321}">
                <p14:modId xmlns:p14="http://schemas.microsoft.com/office/powerpoint/2010/main" val="3631337916"/>
              </p:ext>
            </p:extLst>
          </p:nvPr>
        </p:nvGraphicFramePr>
        <p:xfrm>
          <a:off x="538691" y="1509730"/>
          <a:ext cx="11133137" cy="1939051"/>
        </p:xfrm>
        <a:graphic>
          <a:graphicData uri="http://schemas.openxmlformats.org/drawingml/2006/table">
            <a:tbl>
              <a:tblPr firstRow="1" bandRow="1">
                <a:tableStyleId>{2D5ABB26-0587-4C30-8999-92F81FD0307C}</a:tableStyleId>
              </a:tblPr>
              <a:tblGrid>
                <a:gridCol w="1099371">
                  <a:extLst>
                    <a:ext uri="{9D8B030D-6E8A-4147-A177-3AD203B41FA5}">
                      <a16:colId xmlns:a16="http://schemas.microsoft.com/office/drawing/2014/main" val="1699332636"/>
                    </a:ext>
                  </a:extLst>
                </a:gridCol>
                <a:gridCol w="10033766">
                  <a:extLst>
                    <a:ext uri="{9D8B030D-6E8A-4147-A177-3AD203B41FA5}">
                      <a16:colId xmlns:a16="http://schemas.microsoft.com/office/drawing/2014/main" val="2684621038"/>
                    </a:ext>
                  </a:extLst>
                </a:gridCol>
              </a:tblGrid>
              <a:tr h="812116">
                <a:tc>
                  <a:txBody>
                    <a:bodyPr/>
                    <a:lstStyle/>
                    <a:p>
                      <a:pPr>
                        <a:lnSpc>
                          <a:spcPct val="90000"/>
                        </a:lnSpc>
                      </a:pPr>
                      <a:r>
                        <a:rPr lang="en-US" sz="1050" b="1">
                          <a:solidFill>
                            <a:schemeClr val="bg1"/>
                          </a:solidFill>
                        </a:rPr>
                        <a:t>Key “Do Now” activities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Establish Pre-Freeze Technical Readiness &amp; Decisions</a:t>
                      </a:r>
                    </a:p>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Align Security &amp; Compliance Guidelines</a:t>
                      </a:r>
                    </a:p>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Initiate "Shift-Left" VDI Onboarding Requests</a:t>
                      </a:r>
                    </a:p>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Target the Ingestion of 5 Critical Datasets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3144615"/>
                  </a:ext>
                </a:extLst>
              </a:tr>
              <a:tr h="425142">
                <a:tc>
                  <a:txBody>
                    <a:bodyPr/>
                    <a:lstStyle/>
                    <a:p>
                      <a:pPr>
                        <a:lnSpc>
                          <a:spcPct val="90000"/>
                        </a:lnSpc>
                      </a:pPr>
                      <a:r>
                        <a:rPr lang="en-US" sz="1050" b="1">
                          <a:solidFill>
                            <a:schemeClr val="bg1"/>
                          </a:solidFill>
                        </a:rPr>
                        <a:t>Upstream Prerequisites</a:t>
                      </a:r>
                    </a:p>
                    <a:p>
                      <a:pPr>
                        <a:lnSpc>
                          <a:spcPct val="90000"/>
                        </a:lnSpc>
                      </a:pPr>
                      <a:endParaRPr lang="en-US" sz="1050" b="1">
                        <a:solidFill>
                          <a:schemeClr val="bg1"/>
                        </a:solidFill>
                      </a:endParaRP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From A2, before data can land into Delta Lake via Autoloader or streaming pipelines, the underlying cloud infrastructure and platform services must be operational</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From B1, Workstream B2 depends directly on B1 to establish data routing before data reaches Databricks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7196652"/>
                  </a:ext>
                </a:extLst>
              </a:tr>
              <a:tr h="508950">
                <a:tc>
                  <a:txBody>
                    <a:bodyPr/>
                    <a:lstStyle/>
                    <a:p>
                      <a:pPr>
                        <a:lnSpc>
                          <a:spcPct val="90000"/>
                        </a:lnSpc>
                      </a:pPr>
                      <a:r>
                        <a:rPr lang="en-US" sz="1050" b="1">
                          <a:solidFill>
                            <a:schemeClr val="bg1"/>
                          </a:solidFill>
                        </a:rPr>
                        <a:t>Downstream Workstream Hand-offs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Workstream C is the most immediate consumer of B2’s output. It cannot transform or enrich data that has not physically landed</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Workstream B2 provides the sandbox and production data foundations that the analytics migration team needs to validate their SQL conversions</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To ensure the pipelines run reliably after the KPMG consulting team rolls off, B2 delivers physical operations handoffs for Workstream F</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3949764"/>
                  </a:ext>
                </a:extLst>
              </a:tr>
            </a:tbl>
          </a:graphicData>
        </a:graphic>
      </p:graphicFrame>
      <p:graphicFrame>
        <p:nvGraphicFramePr>
          <p:cNvPr id="6" name="Content Placeholder 6">
            <a:extLst>
              <a:ext uri="{FF2B5EF4-FFF2-40B4-BE49-F238E27FC236}">
                <a16:creationId xmlns:a16="http://schemas.microsoft.com/office/drawing/2014/main" id="{05C33690-D48D-AEA3-0561-159BC8954731}"/>
              </a:ext>
            </a:extLst>
          </p:cNvPr>
          <p:cNvGraphicFramePr>
            <a:graphicFrameLocks/>
          </p:cNvGraphicFramePr>
          <p:nvPr>
            <p:extLst>
              <p:ext uri="{D42A27DB-BD31-4B8C-83A1-F6EECF244321}">
                <p14:modId xmlns:p14="http://schemas.microsoft.com/office/powerpoint/2010/main" val="3605407492"/>
              </p:ext>
            </p:extLst>
          </p:nvPr>
        </p:nvGraphicFramePr>
        <p:xfrm>
          <a:off x="540940" y="3475567"/>
          <a:ext cx="11142396" cy="1862316"/>
        </p:xfrm>
        <a:graphic>
          <a:graphicData uri="http://schemas.openxmlformats.org/drawingml/2006/table">
            <a:tbl>
              <a:tblPr firstRow="1" bandRow="1">
                <a:tableStyleId>{2D5ABB26-0587-4C30-8999-92F81FD0307C}</a:tableStyleId>
              </a:tblPr>
              <a:tblGrid>
                <a:gridCol w="1108868">
                  <a:extLst>
                    <a:ext uri="{9D8B030D-6E8A-4147-A177-3AD203B41FA5}">
                      <a16:colId xmlns:a16="http://schemas.microsoft.com/office/drawing/2014/main" val="2393725290"/>
                    </a:ext>
                  </a:extLst>
                </a:gridCol>
                <a:gridCol w="2508382">
                  <a:extLst>
                    <a:ext uri="{9D8B030D-6E8A-4147-A177-3AD203B41FA5}">
                      <a16:colId xmlns:a16="http://schemas.microsoft.com/office/drawing/2014/main" val="1699332636"/>
                    </a:ext>
                  </a:extLst>
                </a:gridCol>
                <a:gridCol w="2508382">
                  <a:extLst>
                    <a:ext uri="{9D8B030D-6E8A-4147-A177-3AD203B41FA5}">
                      <a16:colId xmlns:a16="http://schemas.microsoft.com/office/drawing/2014/main" val="2684621038"/>
                    </a:ext>
                  </a:extLst>
                </a:gridCol>
                <a:gridCol w="2508382">
                  <a:extLst>
                    <a:ext uri="{9D8B030D-6E8A-4147-A177-3AD203B41FA5}">
                      <a16:colId xmlns:a16="http://schemas.microsoft.com/office/drawing/2014/main" val="1078624516"/>
                    </a:ext>
                  </a:extLst>
                </a:gridCol>
                <a:gridCol w="2508382">
                  <a:extLst>
                    <a:ext uri="{9D8B030D-6E8A-4147-A177-3AD203B41FA5}">
                      <a16:colId xmlns:a16="http://schemas.microsoft.com/office/drawing/2014/main" val="1203515095"/>
                    </a:ext>
                  </a:extLst>
                </a:gridCol>
              </a:tblGrid>
              <a:tr h="475476">
                <a:tc>
                  <a:txBody>
                    <a:bodyPr/>
                    <a:lstStyle/>
                    <a:p>
                      <a:r>
                        <a:rPr lang="en-US" sz="1050" b="1">
                          <a:solidFill>
                            <a:schemeClr val="bg1"/>
                          </a:solidFill>
                        </a:rPr>
                        <a:t>Epic</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457063" rtl="0" eaLnBrk="1" fontAlgn="ctr" latinLnBrk="0" hangingPunct="1"/>
                      <a:r>
                        <a:rPr lang="en-US" sz="1000" b="1" kern="1500" noProof="0">
                          <a:solidFill>
                            <a:srgbClr val="0A4B8C"/>
                          </a:solidFill>
                          <a:latin typeface="+mn-lt"/>
                          <a:ea typeface="+mn-ea"/>
                          <a:cs typeface="+mn-cs"/>
                        </a:rPr>
                        <a:t>Architecture Validation &amp; Ingestion Routing Design</a:t>
                      </a:r>
                      <a:endParaRPr lang="en-US" sz="1000" b="1" kern="1500">
                        <a:solidFill>
                          <a:srgbClr val="0A4B8C"/>
                        </a:solidFill>
                        <a:latin typeface="+mn-lt"/>
                        <a:ea typeface="+mn-ea"/>
                        <a:cs typeface="+mn-cs"/>
                      </a:endParaRP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noProof="0">
                          <a:solidFill>
                            <a:srgbClr val="0A4B8C"/>
                          </a:solidFill>
                          <a:latin typeface="+mn-lt"/>
                          <a:ea typeface="+mn-ea"/>
                          <a:cs typeface="+mn-cs"/>
                        </a:rPr>
                        <a:t>Multi-Cloud Ingestion Workflow Verification (WF1–WF6)</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a:solidFill>
                            <a:srgbClr val="0A4B8C"/>
                          </a:solidFill>
                          <a:latin typeface="+mn-lt"/>
                          <a:ea typeface="+mn-ea"/>
                          <a:cs typeface="+mn-cs"/>
                        </a:rPr>
                        <a:t>Autoloader &amp; Event-Driven </a:t>
                      </a:r>
                      <a:br>
                        <a:rPr lang="en-US" sz="1000" b="1" kern="1500">
                          <a:solidFill>
                            <a:srgbClr val="0A4B8C"/>
                          </a:solidFill>
                          <a:latin typeface="+mn-lt"/>
                          <a:ea typeface="+mn-ea"/>
                          <a:cs typeface="+mn-cs"/>
                        </a:rPr>
                      </a:br>
                      <a:r>
                        <a:rPr lang="en-US" sz="1000" b="1" kern="1500">
                          <a:solidFill>
                            <a:srgbClr val="0A4B8C"/>
                          </a:solidFill>
                          <a:latin typeface="+mn-lt"/>
                          <a:ea typeface="+mn-ea"/>
                          <a:cs typeface="+mn-cs"/>
                        </a:rPr>
                        <a:t>Ingestion Automation</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noProof="0">
                          <a:solidFill>
                            <a:srgbClr val="0A4B8C"/>
                          </a:solidFill>
                          <a:latin typeface="+mn-lt"/>
                          <a:ea typeface="+mn-ea"/>
                          <a:cs typeface="+mn-cs"/>
                        </a:rPr>
                        <a:t>Throughput, SLA, &amp; Failover </a:t>
                      </a:r>
                      <a:br>
                        <a:rPr lang="en-US" sz="1000" b="1" kern="1500" noProof="0">
                          <a:solidFill>
                            <a:srgbClr val="0A4B8C"/>
                          </a:solidFill>
                          <a:latin typeface="+mn-lt"/>
                          <a:ea typeface="+mn-ea"/>
                          <a:cs typeface="+mn-cs"/>
                        </a:rPr>
                      </a:br>
                      <a:r>
                        <a:rPr lang="en-US" sz="1000" b="1" kern="1500" noProof="0">
                          <a:solidFill>
                            <a:srgbClr val="0A4B8C"/>
                          </a:solidFill>
                          <a:latin typeface="+mn-lt"/>
                          <a:ea typeface="+mn-ea"/>
                          <a:cs typeface="+mn-cs"/>
                        </a:rPr>
                        <a:t>Validation Testing</a:t>
                      </a:r>
                      <a:endParaRPr lang="en-US" sz="1000" b="1" kern="1500">
                        <a:solidFill>
                          <a:srgbClr val="0A4B8C"/>
                        </a:solidFill>
                        <a:latin typeface="+mn-lt"/>
                        <a:ea typeface="+mn-ea"/>
                        <a:cs typeface="+mn-cs"/>
                      </a:endParaRP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3144615"/>
                  </a:ext>
                </a:extLst>
              </a:tr>
              <a:tr h="892014">
                <a:tc>
                  <a:txBody>
                    <a:bodyPr/>
                    <a:lstStyle/>
                    <a:p>
                      <a:r>
                        <a:rPr lang="en-US" sz="1050" b="1">
                          <a:solidFill>
                            <a:schemeClr val="bg1"/>
                          </a:solidFill>
                        </a:rPr>
                        <a:t>Features</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1.1: Connectivity &amp; Network </a:t>
                      </a:r>
                      <a:br>
                        <a:rPr lang="en-US" sz="1000" b="0" kern="1500" noProof="0">
                          <a:solidFill>
                            <a:schemeClr val="tx2"/>
                          </a:solidFill>
                          <a:latin typeface="+mn-lt"/>
                          <a:ea typeface="+mn-ea"/>
                          <a:cs typeface="+mn-cs"/>
                        </a:rPr>
                      </a:br>
                      <a:r>
                        <a:rPr lang="en-US" sz="1000" b="0" kern="1500" noProof="0">
                          <a:solidFill>
                            <a:schemeClr val="tx2"/>
                          </a:solidFill>
                          <a:latin typeface="+mn-lt"/>
                          <a:ea typeface="+mn-ea"/>
                          <a:cs typeface="+mn-cs"/>
                        </a:rPr>
                        <a:t>Port Clearance</a:t>
                      </a:r>
                    </a:p>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1.2: Bronze Table schema &amp; </a:t>
                      </a:r>
                      <a:br>
                        <a:rPr lang="en-US" sz="1000" b="0" kern="1500" noProof="0">
                          <a:solidFill>
                            <a:schemeClr val="tx2"/>
                          </a:solidFill>
                          <a:latin typeface="+mn-lt"/>
                          <a:ea typeface="+mn-ea"/>
                          <a:cs typeface="+mn-cs"/>
                        </a:rPr>
                      </a:br>
                      <a:r>
                        <a:rPr lang="en-US" sz="1000" b="0" kern="1500" noProof="0">
                          <a:solidFill>
                            <a:schemeClr val="tx2"/>
                          </a:solidFill>
                          <a:latin typeface="+mn-lt"/>
                          <a:ea typeface="+mn-ea"/>
                          <a:cs typeface="+mn-cs"/>
                        </a:rPr>
                        <a:t>Partition Design</a:t>
                      </a:r>
                    </a:p>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1.3: Source-to-Bronze Ingestion Routing Matrix</a:t>
                      </a:r>
                    </a:p>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1.4: Apache </a:t>
                      </a:r>
                      <a:r>
                        <a:rPr lang="en-US" sz="1000" b="0" kern="1500" noProof="0" err="1">
                          <a:solidFill>
                            <a:schemeClr val="tx2"/>
                          </a:solidFill>
                          <a:latin typeface="+mn-lt"/>
                          <a:ea typeface="+mn-ea"/>
                          <a:cs typeface="+mn-cs"/>
                        </a:rPr>
                        <a:t>NiFi</a:t>
                      </a:r>
                      <a:r>
                        <a:rPr lang="en-US" sz="1000" b="0" kern="1500" noProof="0">
                          <a:solidFill>
                            <a:schemeClr val="tx2"/>
                          </a:solidFill>
                          <a:latin typeface="+mn-lt"/>
                          <a:ea typeface="+mn-ea"/>
                          <a:cs typeface="+mn-cs"/>
                        </a:rPr>
                        <a:t> Disposition &amp; PHI Chain-of-Custody Assessment</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2.1: WF1 - Tanium Endpoint </a:t>
                      </a:r>
                      <a:br>
                        <a:rPr lang="en-US" sz="1000" b="0" kern="1500" noProof="0">
                          <a:solidFill>
                            <a:schemeClr val="tx2"/>
                          </a:solidFill>
                          <a:latin typeface="+mn-lt"/>
                          <a:ea typeface="+mn-ea"/>
                          <a:cs typeface="+mn-cs"/>
                        </a:rPr>
                      </a:br>
                      <a:r>
                        <a:rPr lang="en-US" sz="1000" b="0" kern="1500" noProof="0">
                          <a:solidFill>
                            <a:schemeClr val="tx2"/>
                          </a:solidFill>
                          <a:latin typeface="+mn-lt"/>
                          <a:ea typeface="+mn-ea"/>
                          <a:cs typeface="+mn-cs"/>
                        </a:rPr>
                        <a:t>Telemetry Validation</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2.2: WF2 &amp; WF3 - Data Center Ingestion &amp; Splunk HF Cutover</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2.3: WF4 &amp; WF5 - Cross-Cloud Telemetry Validation (GCP &amp; AWS)</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2.4: WF6 - Azure Native Log Ingestion</a:t>
                      </a:r>
                      <a:endParaRPr lang="en-US" sz="1000" b="0" kern="1500">
                        <a:solidFill>
                          <a:schemeClr val="tx2"/>
                        </a:solidFill>
                        <a:latin typeface="+mn-lt"/>
                        <a:ea typeface="+mn-ea"/>
                        <a:cs typeface="+mn-cs"/>
                      </a:endParaRP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3.1: Event Grid Notification Setup</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3.2: Auto Loader Ingestion Configuration</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3.3: Ingestion Tiering &amp; </a:t>
                      </a:r>
                      <a:br>
                        <a:rPr lang="en-US" sz="1000" b="0" kern="1500">
                          <a:solidFill>
                            <a:schemeClr val="tx2"/>
                          </a:solidFill>
                          <a:latin typeface="+mn-lt"/>
                          <a:ea typeface="+mn-ea"/>
                          <a:cs typeface="+mn-cs"/>
                        </a:rPr>
                      </a:br>
                      <a:r>
                        <a:rPr lang="en-US" sz="1000" b="0" kern="1500">
                          <a:solidFill>
                            <a:schemeClr val="tx2"/>
                          </a:solidFill>
                          <a:latin typeface="+mn-lt"/>
                          <a:ea typeface="+mn-ea"/>
                          <a:cs typeface="+mn-cs"/>
                        </a:rPr>
                        <a:t>Trigger Schedules</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4.1: Volume Ramp &amp; Production Parity Performance Testing</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4.2: Peak Burst &amp; Throttle Testing</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4.3: Cribl Persistent Queue &amp; Outage Recovery Validation</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7196652"/>
                  </a:ext>
                </a:extLst>
              </a:tr>
            </a:tbl>
          </a:graphicData>
        </a:graphic>
      </p:graphicFrame>
      <p:grpSp>
        <p:nvGrpSpPr>
          <p:cNvPr id="7" name="Group 6">
            <a:extLst>
              <a:ext uri="{FF2B5EF4-FFF2-40B4-BE49-F238E27FC236}">
                <a16:creationId xmlns:a16="http://schemas.microsoft.com/office/drawing/2014/main" id="{B1B73404-B4BB-8F1B-59F9-C53A687D1DDD}"/>
              </a:ext>
            </a:extLst>
          </p:cNvPr>
          <p:cNvGrpSpPr/>
          <p:nvPr/>
        </p:nvGrpSpPr>
        <p:grpSpPr>
          <a:xfrm>
            <a:off x="538691" y="3894687"/>
            <a:ext cx="11125201" cy="999"/>
            <a:chOff x="531813" y="5259957"/>
            <a:chExt cx="11125201" cy="999"/>
          </a:xfrm>
        </p:grpSpPr>
        <p:cxnSp>
          <p:nvCxnSpPr>
            <p:cNvPr id="11" name="Straight Connector 10">
              <a:extLst>
                <a:ext uri="{FF2B5EF4-FFF2-40B4-BE49-F238E27FC236}">
                  <a16:creationId xmlns:a16="http://schemas.microsoft.com/office/drawing/2014/main" id="{80BC9DD5-34F1-84C4-8660-D6900273FD43}"/>
                </a:ext>
              </a:extLst>
            </p:cNvPr>
            <p:cNvCxnSpPr>
              <a:cxnSpLocks/>
            </p:cNvCxnSpPr>
            <p:nvPr/>
          </p:nvCxnSpPr>
          <p:spPr>
            <a:xfrm>
              <a:off x="553507" y="5260956"/>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3DD0C30-80F4-C3E4-E3C7-67BD7D985616}"/>
                </a:ext>
              </a:extLst>
            </p:cNvPr>
            <p:cNvCxnSpPr>
              <a:cxnSpLocks/>
            </p:cNvCxnSpPr>
            <p:nvPr/>
          </p:nvCxnSpPr>
          <p:spPr>
            <a:xfrm>
              <a:off x="531813" y="5259957"/>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70F5351E-B693-080B-589B-700D1C92F9EA}"/>
              </a:ext>
            </a:extLst>
          </p:cNvPr>
          <p:cNvGrpSpPr/>
          <p:nvPr/>
        </p:nvGrpSpPr>
        <p:grpSpPr>
          <a:xfrm>
            <a:off x="520172" y="2823369"/>
            <a:ext cx="11127580" cy="1695"/>
            <a:chOff x="529432" y="4264661"/>
            <a:chExt cx="11127580" cy="1695"/>
          </a:xfrm>
        </p:grpSpPr>
        <p:cxnSp>
          <p:nvCxnSpPr>
            <p:cNvPr id="17" name="Straight Connector 16">
              <a:extLst>
                <a:ext uri="{FF2B5EF4-FFF2-40B4-BE49-F238E27FC236}">
                  <a16:creationId xmlns:a16="http://schemas.microsoft.com/office/drawing/2014/main" id="{D2327036-9A1C-B667-B364-19067E5A2707}"/>
                </a:ext>
              </a:extLst>
            </p:cNvPr>
            <p:cNvCxnSpPr>
              <a:cxnSpLocks/>
            </p:cNvCxnSpPr>
            <p:nvPr/>
          </p:nvCxnSpPr>
          <p:spPr>
            <a:xfrm>
              <a:off x="553505" y="4264661"/>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25C7A6A-38F4-914A-D84E-A3970ED35A31}"/>
                </a:ext>
              </a:extLst>
            </p:cNvPr>
            <p:cNvCxnSpPr>
              <a:cxnSpLocks/>
            </p:cNvCxnSpPr>
            <p:nvPr/>
          </p:nvCxnSpPr>
          <p:spPr>
            <a:xfrm>
              <a:off x="529432" y="4266356"/>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8DB3F229-7907-8BBA-0ECA-BFF005666EA8}"/>
              </a:ext>
            </a:extLst>
          </p:cNvPr>
          <p:cNvGrpSpPr/>
          <p:nvPr/>
        </p:nvGrpSpPr>
        <p:grpSpPr>
          <a:xfrm>
            <a:off x="549537" y="2286902"/>
            <a:ext cx="11125201" cy="0"/>
            <a:chOff x="531813" y="3716075"/>
            <a:chExt cx="11125201" cy="0"/>
          </a:xfrm>
        </p:grpSpPr>
        <p:cxnSp>
          <p:nvCxnSpPr>
            <p:cNvPr id="23" name="Straight Connector 22">
              <a:extLst>
                <a:ext uri="{FF2B5EF4-FFF2-40B4-BE49-F238E27FC236}">
                  <a16:creationId xmlns:a16="http://schemas.microsoft.com/office/drawing/2014/main" id="{34320FED-87CC-23AE-8D37-14171383B794}"/>
                </a:ext>
              </a:extLst>
            </p:cNvPr>
            <p:cNvCxnSpPr>
              <a:cxnSpLocks/>
            </p:cNvCxnSpPr>
            <p:nvPr/>
          </p:nvCxnSpPr>
          <p:spPr>
            <a:xfrm>
              <a:off x="553507" y="3716075"/>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FCEEB0F-EB76-7F87-015E-A7FB5E3CF8D6}"/>
                </a:ext>
              </a:extLst>
            </p:cNvPr>
            <p:cNvCxnSpPr>
              <a:cxnSpLocks/>
            </p:cNvCxnSpPr>
            <p:nvPr/>
          </p:nvCxnSpPr>
          <p:spPr>
            <a:xfrm>
              <a:off x="531813" y="3716075"/>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B942179E-C5BB-92B7-19D3-370B6E7B9B6D}"/>
              </a:ext>
            </a:extLst>
          </p:cNvPr>
          <p:cNvGrpSpPr/>
          <p:nvPr/>
        </p:nvGrpSpPr>
        <p:grpSpPr>
          <a:xfrm>
            <a:off x="542658" y="3467851"/>
            <a:ext cx="11125201" cy="1"/>
            <a:chOff x="531813" y="4848012"/>
            <a:chExt cx="11125201" cy="1"/>
          </a:xfrm>
        </p:grpSpPr>
        <p:cxnSp>
          <p:nvCxnSpPr>
            <p:cNvPr id="26" name="Straight Connector 25">
              <a:extLst>
                <a:ext uri="{FF2B5EF4-FFF2-40B4-BE49-F238E27FC236}">
                  <a16:creationId xmlns:a16="http://schemas.microsoft.com/office/drawing/2014/main" id="{ED645355-066A-021F-75D7-6B9E94D9637A}"/>
                </a:ext>
              </a:extLst>
            </p:cNvPr>
            <p:cNvCxnSpPr>
              <a:cxnSpLocks/>
            </p:cNvCxnSpPr>
            <p:nvPr/>
          </p:nvCxnSpPr>
          <p:spPr>
            <a:xfrm>
              <a:off x="553507" y="4848013"/>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8484935-76A1-5D4D-398D-03588E97453B}"/>
                </a:ext>
              </a:extLst>
            </p:cNvPr>
            <p:cNvCxnSpPr>
              <a:cxnSpLocks/>
            </p:cNvCxnSpPr>
            <p:nvPr/>
          </p:nvCxnSpPr>
          <p:spPr>
            <a:xfrm>
              <a:off x="531813" y="4848012"/>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sp>
        <p:nvSpPr>
          <p:cNvPr id="40" name="Rectangle 39">
            <a:extLst>
              <a:ext uri="{FF2B5EF4-FFF2-40B4-BE49-F238E27FC236}">
                <a16:creationId xmlns:a16="http://schemas.microsoft.com/office/drawing/2014/main" id="{051B0C64-765B-A064-3B70-D521F25D09DB}"/>
              </a:ext>
            </a:extLst>
          </p:cNvPr>
          <p:cNvSpPr/>
          <p:nvPr/>
        </p:nvSpPr>
        <p:spPr bwMode="gray">
          <a:xfrm>
            <a:off x="589357" y="6202227"/>
            <a:ext cx="10963656" cy="137160"/>
          </a:xfrm>
          <a:prstGeom prst="rect">
            <a:avLst/>
          </a:prstGeom>
          <a:noFill/>
          <a:ln>
            <a:noFill/>
            <a:miter lim="800000"/>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lstStyle/>
          <a:p>
            <a:r>
              <a:rPr lang="en-US" sz="800">
                <a:solidFill>
                  <a:schemeClr val="tx1"/>
                </a:solidFill>
              </a:rPr>
              <a:t>Source: Current KPMG planning, subject to change</a:t>
            </a:r>
          </a:p>
        </p:txBody>
      </p:sp>
    </p:spTree>
    <p:extLst>
      <p:ext uri="{BB962C8B-B14F-4D97-AF65-F5344CB8AC3E}">
        <p14:creationId xmlns:p14="http://schemas.microsoft.com/office/powerpoint/2010/main" val="11541510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6A3CFE8E-7D46-D4B2-11B9-6EB2A9A0887A}"/>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4" name="thinkcell data - do not delete" hidden="1">
                        <a:extLst>
                          <a:ext uri="{FF2B5EF4-FFF2-40B4-BE49-F238E27FC236}">
                            <a16:creationId xmlns:a16="http://schemas.microsoft.com/office/drawing/2014/main" id="{6A3CFE8E-7D46-D4B2-11B9-6EB2A9A088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330D2707-DDD7-5765-9398-58EC0CA95A08}"/>
              </a:ext>
            </a:extLst>
          </p:cNvPr>
          <p:cNvSpPr>
            <a:spLocks noGrp="1"/>
          </p:cNvSpPr>
          <p:nvPr>
            <p:ph type="title"/>
          </p:nvPr>
        </p:nvSpPr>
        <p:spPr/>
        <p:txBody>
          <a:bodyPr vert="horz" rIns="0"/>
          <a:lstStyle/>
          <a:p>
            <a:r>
              <a:rPr lang="en-US"/>
              <a:t>Workstream B – Approach</a:t>
            </a:r>
          </a:p>
        </p:txBody>
      </p:sp>
      <p:sp>
        <p:nvSpPr>
          <p:cNvPr id="6" name="Rectangle 5">
            <a:extLst>
              <a:ext uri="{FF2B5EF4-FFF2-40B4-BE49-F238E27FC236}">
                <a16:creationId xmlns:a16="http://schemas.microsoft.com/office/drawing/2014/main" id="{1061E0E9-6909-C14A-98B4-3B395ED48CFA}"/>
              </a:ext>
            </a:extLst>
          </p:cNvPr>
          <p:cNvSpPr/>
          <p:nvPr/>
        </p:nvSpPr>
        <p:spPr bwMode="gray">
          <a:xfrm>
            <a:off x="12494101" y="0"/>
            <a:ext cx="5360592" cy="1645946"/>
          </a:xfrm>
          <a:prstGeom prst="rect">
            <a:avLst/>
          </a:prstGeom>
          <a:solidFill>
            <a:schemeClr val="accent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solidFill>
                  <a:schemeClr val="bg1"/>
                </a:solidFill>
              </a:rPr>
              <a:t>Visual of how this work will be done – workshops, interviews, create architecture current state views, target state, gap analysis, recommendations by theme, etc.</a:t>
            </a:r>
          </a:p>
          <a:p>
            <a:pPr algn="ctr"/>
            <a:endParaRPr lang="en-US" sz="1000">
              <a:solidFill>
                <a:schemeClr val="bg1"/>
              </a:solidFill>
            </a:endParaRPr>
          </a:p>
          <a:p>
            <a:pPr algn="ctr"/>
            <a:endParaRPr lang="en-US" sz="1000">
              <a:solidFill>
                <a:schemeClr val="bg1"/>
              </a:solidFill>
            </a:endParaRPr>
          </a:p>
        </p:txBody>
      </p:sp>
      <p:sp>
        <p:nvSpPr>
          <p:cNvPr id="5" name="Content Placeholder 1">
            <a:extLst>
              <a:ext uri="{FF2B5EF4-FFF2-40B4-BE49-F238E27FC236}">
                <a16:creationId xmlns:a16="http://schemas.microsoft.com/office/drawing/2014/main" id="{F211FB9B-E0A1-A9A8-5E8A-9FCF5B644E64}"/>
              </a:ext>
            </a:extLst>
          </p:cNvPr>
          <p:cNvSpPr>
            <a:spLocks noGrp="1"/>
          </p:cNvSpPr>
          <p:nvPr>
            <p:ph idx="1"/>
          </p:nvPr>
        </p:nvSpPr>
        <p:spPr>
          <a:xfrm>
            <a:off x="587375" y="1494292"/>
            <a:ext cx="11028363" cy="700000"/>
          </a:xfrm>
        </p:spPr>
        <p:txBody>
          <a:bodyPr>
            <a:normAutofit/>
          </a:bodyPr>
          <a:lstStyle/>
          <a:p>
            <a:pPr>
              <a:spcBef>
                <a:spcPts val="0"/>
              </a:spcBef>
            </a:pPr>
            <a:r>
              <a:rPr lang="en-US" sz="1200" b="0"/>
              <a:t>Our approach for Workstream B is a phased methodology designed to systematically establish a resilient and scalable data ingestion foundation. We will move from discovery and architectural design to a validated, production-ready pipeline that directly supports the downstream Silver and Gold layers.</a:t>
            </a:r>
          </a:p>
        </p:txBody>
      </p:sp>
      <p:sp>
        <p:nvSpPr>
          <p:cNvPr id="7" name="Phase Card 10">
            <a:extLst>
              <a:ext uri="{FF2B5EF4-FFF2-40B4-BE49-F238E27FC236}">
                <a16:creationId xmlns:a16="http://schemas.microsoft.com/office/drawing/2014/main" id="{64AC410C-E92C-A6F2-8C46-2A753A19BFF4}"/>
              </a:ext>
            </a:extLst>
          </p:cNvPr>
          <p:cNvSpPr/>
          <p:nvPr/>
        </p:nvSpPr>
        <p:spPr bwMode="gray">
          <a:xfrm>
            <a:off x="587375" y="2260000"/>
            <a:ext cx="3474720" cy="3815436"/>
          </a:xfrm>
          <a:prstGeom prst="rect">
            <a:avLst/>
          </a:prstGeom>
          <a:solidFill>
            <a:schemeClr val="bg1">
              <a:lumMod val="95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lIns="137160" tIns="91440" rIns="137160" bIns="9144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3F3F3F"/>
                </a:solidFill>
                <a:effectLst/>
                <a:uLnTx/>
                <a:uFillTx/>
                <a:latin typeface="CVS Health Sans"/>
                <a:ea typeface="+mn-ea"/>
                <a:cs typeface="+mn-cs"/>
              </a:rPr>
              <a:t>1. Define &amp; Architect</a:t>
            </a:r>
          </a:p>
          <a:p>
            <a:pPr marL="0" marR="0" lvl="0" indent="0" algn="l" defTabSz="914400" rtl="0" eaLnBrk="1" fontAlgn="auto" latinLnBrk="0" hangingPunct="1">
              <a:lnSpc>
                <a:spcPct val="100000"/>
              </a:lnSpc>
              <a:spcBef>
                <a:spcPts val="1200"/>
              </a:spcBef>
              <a:spcAft>
                <a:spcPts val="300"/>
              </a:spcAft>
              <a:buClrTx/>
              <a:buSzTx/>
              <a:buFontTx/>
              <a:buNone/>
              <a:tabLst/>
              <a:defRPr/>
            </a:pPr>
            <a:r>
              <a:rPr kumimoji="0" lang="en-US" sz="1300" b="1" i="0" u="none" strike="noStrike" kern="1200" cap="none" spc="0" normalizeH="0" baseline="0" noProof="0">
                <a:ln>
                  <a:noFill/>
                </a:ln>
                <a:solidFill>
                  <a:srgbClr val="0A4B8C"/>
                </a:solidFill>
                <a:effectLst/>
                <a:uLnTx/>
                <a:uFillTx/>
                <a:latin typeface="CVS Health Sans"/>
                <a:ea typeface="+mn-ea"/>
                <a:cs typeface="+mn-cs"/>
              </a:rPr>
              <a:t>Key Activities</a:t>
            </a:r>
          </a:p>
          <a:p>
            <a:pPr marL="171450" indent="-171450">
              <a:spcAft>
                <a:spcPts val="300"/>
              </a:spcAft>
              <a:buFont typeface="Arial" panose="020B0604020202020204" pitchFamily="34" charset="0"/>
              <a:buChar char="•"/>
              <a:defRPr/>
            </a:pPr>
            <a:r>
              <a:rPr kumimoji="0" lang="en-US" sz="1200" b="0" i="0" u="none" strike="noStrike" kern="1200" cap="none" spc="0" normalizeH="0" baseline="0" noProof="0">
                <a:ln>
                  <a:noFill/>
                </a:ln>
                <a:solidFill>
                  <a:srgbClr val="3F3F3F"/>
                </a:solidFill>
                <a:effectLst/>
                <a:uLnTx/>
                <a:uFillTx/>
                <a:latin typeface="CVS Health Sans"/>
                <a:ea typeface="+mn-ea"/>
                <a:cs typeface="+mn-cs"/>
              </a:rPr>
              <a:t>Stakeholder Interviews &amp; Workshops</a:t>
            </a:r>
          </a:p>
          <a:p>
            <a:pPr marL="171450" indent="-171450">
              <a:spcAft>
                <a:spcPts val="300"/>
              </a:spcAft>
              <a:buFont typeface="Arial" panose="020B0604020202020204" pitchFamily="34" charset="0"/>
              <a:buChar char="•"/>
              <a:defRPr/>
            </a:pPr>
            <a:r>
              <a:rPr kumimoji="0" lang="en-US" sz="1200" b="0" i="0" u="none" strike="noStrike" kern="1200" cap="none" spc="0" normalizeH="0" baseline="0" noProof="0">
                <a:ln>
                  <a:noFill/>
                </a:ln>
                <a:solidFill>
                  <a:srgbClr val="3F3F3F"/>
                </a:solidFill>
                <a:effectLst/>
                <a:uLnTx/>
                <a:uFillTx/>
                <a:latin typeface="CVS Health Sans"/>
                <a:ea typeface="+mn-ea"/>
                <a:cs typeface="+mn-cs"/>
              </a:rPr>
              <a:t>Ingestion Source Analysis</a:t>
            </a:r>
            <a:endParaRPr lang="en-US" sz="1200">
              <a:solidFill>
                <a:srgbClr val="3F3F3F"/>
              </a:solidFill>
              <a:latin typeface="CVS Health Sans"/>
            </a:endParaRPr>
          </a:p>
          <a:p>
            <a:pPr marL="171450" indent="-171450">
              <a:spcAft>
                <a:spcPts val="300"/>
              </a:spcAft>
              <a:buFont typeface="Arial" panose="020B0604020202020204" pitchFamily="34" charset="0"/>
              <a:buChar char="•"/>
              <a:defRPr/>
            </a:pPr>
            <a:r>
              <a:rPr kumimoji="0" lang="en-US" sz="1200" b="0" i="0" u="none" strike="noStrike" kern="1200" cap="none" spc="0" normalizeH="0" baseline="0" noProof="0">
                <a:ln>
                  <a:noFill/>
                </a:ln>
                <a:solidFill>
                  <a:srgbClr val="3F3F3F"/>
                </a:solidFill>
                <a:effectLst/>
                <a:uLnTx/>
                <a:uFillTx/>
                <a:latin typeface="CVS Health Sans"/>
                <a:ea typeface="+mn-ea"/>
                <a:cs typeface="+mn-cs"/>
              </a:rPr>
              <a:t>Target-State Architecture Design</a:t>
            </a:r>
          </a:p>
          <a:p>
            <a:pPr marL="0" marR="0" lvl="0" indent="0" algn="l" defTabSz="914400" rtl="0" eaLnBrk="1" fontAlgn="auto" latinLnBrk="0" hangingPunct="1">
              <a:lnSpc>
                <a:spcPct val="100000"/>
              </a:lnSpc>
              <a:spcBef>
                <a:spcPts val="1400"/>
              </a:spcBef>
              <a:spcAft>
                <a:spcPts val="300"/>
              </a:spcAft>
              <a:buClrTx/>
              <a:buSzTx/>
              <a:buFontTx/>
              <a:buNone/>
              <a:tabLst/>
              <a:defRPr/>
            </a:pPr>
            <a:r>
              <a:rPr kumimoji="0" lang="en-US" sz="1300" b="1" i="0" u="none" strike="noStrike" kern="1200" cap="none" spc="0" normalizeH="0" baseline="0" noProof="0">
                <a:ln>
                  <a:noFill/>
                </a:ln>
                <a:solidFill>
                  <a:srgbClr val="0A4B8C"/>
                </a:solidFill>
                <a:effectLst/>
                <a:uLnTx/>
                <a:uFillTx/>
                <a:latin typeface="CVS Health Sans"/>
                <a:ea typeface="+mn-ea"/>
                <a:cs typeface="+mn-cs"/>
              </a:rPr>
              <a:t>Description</a:t>
            </a:r>
          </a:p>
          <a:p>
            <a:pPr>
              <a:defRPr/>
            </a:pPr>
            <a:r>
              <a:rPr kumimoji="0" lang="en-US" sz="1200" b="0" i="0" u="none" strike="noStrike" kern="1200" cap="none" spc="0" normalizeH="0" baseline="0" noProof="0">
                <a:ln>
                  <a:noFill/>
                </a:ln>
                <a:solidFill>
                  <a:srgbClr val="3F3F3F"/>
                </a:solidFill>
                <a:effectLst/>
                <a:uLnTx/>
                <a:uFillTx/>
                <a:latin typeface="CVS Health Sans"/>
                <a:ea typeface="+mn-ea"/>
                <a:cs typeface="+mn-cs"/>
              </a:rPr>
              <a:t>We will begin by reviewing all existing documentation on data sources, routing paths (</a:t>
            </a:r>
            <a:r>
              <a:rPr kumimoji="0" lang="en-US" sz="1200" b="0" i="0" u="none" strike="noStrike" kern="1200" cap="none" spc="0" normalizeH="0" baseline="0" noProof="0" err="1">
                <a:ln>
                  <a:noFill/>
                </a:ln>
                <a:solidFill>
                  <a:srgbClr val="3F3F3F"/>
                </a:solidFill>
                <a:effectLst/>
                <a:uLnTx/>
                <a:uFillTx/>
                <a:latin typeface="CVS Health Sans"/>
                <a:ea typeface="+mn-ea"/>
                <a:cs typeface="+mn-cs"/>
              </a:rPr>
              <a:t>Onum</a:t>
            </a:r>
            <a:r>
              <a:rPr kumimoji="0" lang="en-US" sz="1200" b="0" i="0" u="none" strike="noStrike" kern="1200" cap="none" spc="0" normalizeH="0" baseline="0" noProof="0">
                <a:ln>
                  <a:noFill/>
                </a:ln>
                <a:solidFill>
                  <a:srgbClr val="3F3F3F"/>
                </a:solidFill>
                <a:effectLst/>
                <a:uLnTx/>
                <a:uFillTx/>
                <a:latin typeface="CVS Health Sans"/>
                <a:ea typeface="+mn-ea"/>
                <a:cs typeface="+mn-cs"/>
              </a:rPr>
              <a:t>, </a:t>
            </a:r>
            <a:r>
              <a:rPr kumimoji="0" lang="en-US" sz="1200" b="0" i="0" u="none" strike="noStrike" kern="1200" cap="none" spc="0" normalizeH="0" baseline="0" noProof="0" err="1">
                <a:ln>
                  <a:noFill/>
                </a:ln>
                <a:solidFill>
                  <a:srgbClr val="3F3F3F"/>
                </a:solidFill>
                <a:effectLst/>
                <a:uLnTx/>
                <a:uFillTx/>
                <a:latin typeface="CVS Health Sans"/>
                <a:ea typeface="+mn-ea"/>
                <a:cs typeface="+mn-cs"/>
              </a:rPr>
              <a:t>NiFi</a:t>
            </a:r>
            <a:r>
              <a:rPr kumimoji="0" lang="en-US" sz="1200" b="0" i="0" u="none" strike="noStrike" kern="1200" cap="none" spc="0" normalizeH="0" baseline="0" noProof="0">
                <a:ln>
                  <a:noFill/>
                </a:ln>
                <a:solidFill>
                  <a:srgbClr val="3F3F3F"/>
                </a:solidFill>
                <a:effectLst/>
                <a:uLnTx/>
                <a:uFillTx/>
                <a:latin typeface="CVS Health Sans"/>
                <a:ea typeface="+mn-ea"/>
                <a:cs typeface="+mn-cs"/>
              </a:rPr>
              <a:t>), and target ADLS Gen2 landing zones. This is followed by a series of deep-dive workshops with CVS’s technical SMEs (John Haley, Chris Robinson) to map the current ingestion landscape, define data quality contracts, and finalize the architectural patterns for Auto Loader, schema evolution, and the Dead-Letter Queue (DLQ).</a:t>
            </a:r>
          </a:p>
        </p:txBody>
      </p:sp>
      <p:sp>
        <p:nvSpPr>
          <p:cNvPr id="8" name="Phase Card 11">
            <a:extLst>
              <a:ext uri="{FF2B5EF4-FFF2-40B4-BE49-F238E27FC236}">
                <a16:creationId xmlns:a16="http://schemas.microsoft.com/office/drawing/2014/main" id="{E41BA813-34C9-4710-DF58-0AD2A075EE29}"/>
              </a:ext>
            </a:extLst>
          </p:cNvPr>
          <p:cNvSpPr/>
          <p:nvPr/>
        </p:nvSpPr>
        <p:spPr bwMode="gray">
          <a:xfrm>
            <a:off x="4364197" y="2260000"/>
            <a:ext cx="3474720" cy="3815436"/>
          </a:xfrm>
          <a:prstGeom prst="rect">
            <a:avLst/>
          </a:prstGeom>
          <a:solidFill>
            <a:schemeClr val="bg1">
              <a:lumMod val="95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lIns="137160" tIns="91440" rIns="137160" bIns="9144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3F3F3F"/>
                </a:solidFill>
                <a:effectLst/>
                <a:uLnTx/>
                <a:uFillTx/>
                <a:latin typeface="CVS Health Sans"/>
                <a:ea typeface="+mn-ea"/>
                <a:cs typeface="+mn-cs"/>
              </a:rPr>
              <a:t>2. Implement &amp; Validate</a:t>
            </a:r>
          </a:p>
          <a:p>
            <a:pPr marL="0" marR="0" lvl="0" indent="0" algn="l" defTabSz="914400" rtl="0" eaLnBrk="1" fontAlgn="auto" latinLnBrk="0" hangingPunct="1">
              <a:lnSpc>
                <a:spcPct val="100000"/>
              </a:lnSpc>
              <a:spcBef>
                <a:spcPts val="1200"/>
              </a:spcBef>
              <a:spcAft>
                <a:spcPts val="300"/>
              </a:spcAft>
              <a:buClrTx/>
              <a:buSzTx/>
              <a:buFontTx/>
              <a:buNone/>
              <a:tabLst/>
              <a:defRPr/>
            </a:pPr>
            <a:r>
              <a:rPr kumimoji="0" lang="en-US" sz="1300" b="1" i="0" u="none" strike="noStrike" kern="1200" cap="none" spc="0" normalizeH="0" baseline="0" noProof="0">
                <a:ln>
                  <a:noFill/>
                </a:ln>
                <a:solidFill>
                  <a:srgbClr val="0A4B8C"/>
                </a:solidFill>
                <a:effectLst/>
                <a:uLnTx/>
                <a:uFillTx/>
                <a:latin typeface="CVS Health Sans"/>
                <a:ea typeface="+mn-ea"/>
                <a:cs typeface="+mn-cs"/>
              </a:rPr>
              <a:t>Key Activities</a:t>
            </a:r>
          </a:p>
          <a:p>
            <a:pPr marL="171450" indent="-171450">
              <a:spcAft>
                <a:spcPts val="300"/>
              </a:spcAft>
              <a:buFont typeface="Arial" panose="020B0604020202020204" pitchFamily="34" charset="0"/>
              <a:buChar char="•"/>
              <a:defRPr/>
            </a:pPr>
            <a:r>
              <a:rPr kumimoji="0" lang="en-US" sz="1200" b="0" i="0" u="none" strike="noStrike" kern="1200" cap="none" spc="0" normalizeH="0" baseline="0" noProof="0">
                <a:ln>
                  <a:noFill/>
                </a:ln>
                <a:solidFill>
                  <a:srgbClr val="3F3F3F"/>
                </a:solidFill>
                <a:effectLst/>
                <a:uLnTx/>
                <a:uFillTx/>
                <a:latin typeface="CVS Health Sans"/>
                <a:ea typeface="+mn-ea"/>
                <a:cs typeface="+mn-cs"/>
              </a:rPr>
              <a:t>Auto Loader Pipeline Development</a:t>
            </a:r>
          </a:p>
          <a:p>
            <a:pPr marL="171450" indent="-171450">
              <a:spcAft>
                <a:spcPts val="300"/>
              </a:spcAft>
              <a:buFont typeface="Arial" panose="020B0604020202020204" pitchFamily="34" charset="0"/>
              <a:buChar char="•"/>
              <a:defRPr/>
            </a:pPr>
            <a:r>
              <a:rPr kumimoji="0" lang="en-US" sz="1200" b="0" i="0" u="none" strike="noStrike" kern="1200" cap="none" spc="0" normalizeH="0" baseline="0" noProof="0">
                <a:ln>
                  <a:noFill/>
                </a:ln>
                <a:solidFill>
                  <a:srgbClr val="3F3F3F"/>
                </a:solidFill>
                <a:effectLst/>
                <a:uLnTx/>
                <a:uFillTx/>
                <a:latin typeface="CVS Health Sans"/>
                <a:ea typeface="+mn-ea"/>
                <a:cs typeface="+mn-cs"/>
              </a:rPr>
              <a:t>Data Contract &amp; DLQ Implementation</a:t>
            </a:r>
            <a:endParaRPr lang="en-US" sz="1200">
              <a:solidFill>
                <a:srgbClr val="3F3F3F"/>
              </a:solidFill>
              <a:latin typeface="CVS Health Sans"/>
            </a:endParaRPr>
          </a:p>
          <a:p>
            <a:pPr marL="171450" indent="-171450">
              <a:spcAft>
                <a:spcPts val="300"/>
              </a:spcAft>
              <a:buFont typeface="Arial" panose="020B0604020202020204" pitchFamily="34" charset="0"/>
              <a:buChar char="•"/>
              <a:defRPr/>
            </a:pPr>
            <a:r>
              <a:rPr kumimoji="0" lang="en-US" sz="1200" b="0" i="0" u="none" strike="noStrike" kern="1200" cap="none" spc="0" normalizeH="0" baseline="0" noProof="0">
                <a:ln>
                  <a:noFill/>
                </a:ln>
                <a:solidFill>
                  <a:srgbClr val="3F3F3F"/>
                </a:solidFill>
                <a:effectLst/>
                <a:uLnTx/>
                <a:uFillTx/>
                <a:latin typeface="CVS Health Sans"/>
                <a:ea typeface="+mn-ea"/>
                <a:cs typeface="+mn-cs"/>
              </a:rPr>
              <a:t>Performance &amp; Scalability Testing</a:t>
            </a:r>
          </a:p>
          <a:p>
            <a:pPr marL="0" marR="0" lvl="0" indent="0" algn="l" defTabSz="914400" rtl="0" eaLnBrk="1" fontAlgn="auto" latinLnBrk="0" hangingPunct="1">
              <a:lnSpc>
                <a:spcPct val="100000"/>
              </a:lnSpc>
              <a:spcBef>
                <a:spcPts val="1400"/>
              </a:spcBef>
              <a:spcAft>
                <a:spcPts val="300"/>
              </a:spcAft>
              <a:buClrTx/>
              <a:buSzTx/>
              <a:buFontTx/>
              <a:buNone/>
              <a:tabLst/>
              <a:defRPr/>
            </a:pPr>
            <a:r>
              <a:rPr kumimoji="0" lang="en-US" sz="1300" b="1" i="0" u="none" strike="noStrike" kern="1200" cap="none" spc="0" normalizeH="0" baseline="0" noProof="0">
                <a:ln>
                  <a:noFill/>
                </a:ln>
                <a:solidFill>
                  <a:srgbClr val="0A4B8C"/>
                </a:solidFill>
                <a:effectLst/>
                <a:uLnTx/>
                <a:uFillTx/>
                <a:latin typeface="CVS Health Sans"/>
                <a:ea typeface="+mn-ea"/>
                <a:cs typeface="+mn-cs"/>
              </a:rPr>
              <a:t>Description</a:t>
            </a:r>
          </a:p>
          <a:p>
            <a:pPr>
              <a:defRPr/>
            </a:pPr>
            <a:r>
              <a:rPr kumimoji="0" lang="en-US" sz="1200" b="0" i="0" u="none" strike="noStrike" kern="1200" cap="none" spc="0" normalizeH="0" baseline="0" noProof="0">
                <a:ln>
                  <a:noFill/>
                </a:ln>
                <a:solidFill>
                  <a:srgbClr val="3F3F3F"/>
                </a:solidFill>
                <a:effectLst/>
                <a:uLnTx/>
                <a:uFillTx/>
                <a:latin typeface="CVS Health Sans"/>
                <a:ea typeface="+mn-ea"/>
                <a:cs typeface="+mn-cs"/>
              </a:rPr>
              <a:t>Based on our architectural design, we will develop the core </a:t>
            </a:r>
            <a:r>
              <a:rPr kumimoji="0" lang="en-US" sz="1200" b="0" i="0" u="none" strike="noStrike" kern="1200" cap="none" spc="0" normalizeH="0" baseline="0" noProof="0" err="1">
                <a:ln>
                  <a:noFill/>
                </a:ln>
                <a:solidFill>
                  <a:srgbClr val="3F3F3F"/>
                </a:solidFill>
                <a:effectLst/>
                <a:uLnTx/>
                <a:uFillTx/>
                <a:latin typeface="CVS Health Sans"/>
                <a:ea typeface="+mn-ea"/>
                <a:cs typeface="+mn-cs"/>
              </a:rPr>
              <a:t>PySpark</a:t>
            </a:r>
            <a:r>
              <a:rPr kumimoji="0" lang="en-US" sz="1200" b="0" i="0" u="none" strike="noStrike" kern="1200" cap="none" spc="0" normalizeH="0" baseline="0" noProof="0">
                <a:ln>
                  <a:noFill/>
                </a:ln>
                <a:solidFill>
                  <a:srgbClr val="3F3F3F"/>
                </a:solidFill>
                <a:effectLst/>
                <a:uLnTx/>
                <a:uFillTx/>
                <a:latin typeface="CVS Health Sans"/>
                <a:ea typeface="+mn-ea"/>
                <a:cs typeface="+mn-cs"/>
              </a:rPr>
              <a:t> streaming pipelines using Databricks Auto Loader. This includes configuring the </a:t>
            </a:r>
            <a:r>
              <a:rPr kumimoji="0" lang="en-US" sz="1200" b="0" i="0" u="none" strike="noStrike" kern="1200" cap="none" spc="0" normalizeH="0" baseline="0" noProof="0" err="1">
                <a:ln>
                  <a:noFill/>
                </a:ln>
                <a:solidFill>
                  <a:srgbClr val="3F3F3F"/>
                </a:solidFill>
                <a:effectLst/>
                <a:uLnTx/>
                <a:uFillTx/>
                <a:latin typeface="Consolas" panose="020B0609020204030204" pitchFamily="49" charset="0"/>
                <a:cs typeface="Consolas" panose="020B0609020204030204" pitchFamily="49" charset="0"/>
              </a:rPr>
              <a:t>cloudFiles</a:t>
            </a:r>
            <a:r>
              <a:rPr kumimoji="0" lang="en-US" sz="1200" b="0" i="0" u="none" strike="noStrike" kern="1200" cap="none" spc="0" normalizeH="0" baseline="0" noProof="0">
                <a:ln>
                  <a:noFill/>
                </a:ln>
                <a:solidFill>
                  <a:srgbClr val="3F3F3F"/>
                </a:solidFill>
                <a:effectLst/>
                <a:uLnTx/>
                <a:uFillTx/>
                <a:latin typeface="CVS Health Sans"/>
                <a:ea typeface="+mn-ea"/>
                <a:cs typeface="+mn-cs"/>
              </a:rPr>
              <a:t> source, enforcing a </a:t>
            </a:r>
            <a:r>
              <a:rPr kumimoji="0" lang="en-US" sz="1200" b="0" i="0" u="none" strike="noStrike" kern="1200" cap="none" spc="0" normalizeH="0" baseline="0" noProof="0">
                <a:ln>
                  <a:noFill/>
                </a:ln>
                <a:solidFill>
                  <a:srgbClr val="3F3F3F"/>
                </a:solidFill>
                <a:effectLst/>
                <a:uLnTx/>
                <a:uFillTx/>
                <a:latin typeface="Consolas" panose="020B0609020204030204" pitchFamily="49" charset="0"/>
                <a:cs typeface="Consolas" panose="020B0609020204030204" pitchFamily="49" charset="0"/>
              </a:rPr>
              <a:t>rescue</a:t>
            </a:r>
            <a:r>
              <a:rPr kumimoji="0" lang="en-US" sz="1200" b="0" i="0" u="none" strike="noStrike" kern="1200" cap="none" spc="0" normalizeH="0" baseline="0" noProof="0">
                <a:ln>
                  <a:noFill/>
                </a:ln>
                <a:solidFill>
                  <a:srgbClr val="3F3F3F"/>
                </a:solidFill>
                <a:effectLst/>
                <a:uLnTx/>
                <a:uFillTx/>
                <a:latin typeface="CVS Health Sans"/>
                <a:ea typeface="+mn-ea"/>
                <a:cs typeface="+mn-cs"/>
              </a:rPr>
              <a:t> mode for schema evolution to ensure pipeline resilience, and establishing a robust DLQ process to gracefully handle corrupted or malformed records. The pipelines will be rigorously tested for performance to ensure they can handle the projected 150+ TB/day volume.</a:t>
            </a:r>
          </a:p>
        </p:txBody>
      </p:sp>
      <p:sp>
        <p:nvSpPr>
          <p:cNvPr id="9" name="Phase Card 12">
            <a:extLst>
              <a:ext uri="{FF2B5EF4-FFF2-40B4-BE49-F238E27FC236}">
                <a16:creationId xmlns:a16="http://schemas.microsoft.com/office/drawing/2014/main" id="{C596D3D0-9DC5-FC1C-E639-E6DACF93D709}"/>
              </a:ext>
            </a:extLst>
          </p:cNvPr>
          <p:cNvSpPr/>
          <p:nvPr/>
        </p:nvSpPr>
        <p:spPr bwMode="gray">
          <a:xfrm>
            <a:off x="8141018" y="2260000"/>
            <a:ext cx="3474720" cy="3815436"/>
          </a:xfrm>
          <a:prstGeom prst="rect">
            <a:avLst/>
          </a:prstGeom>
          <a:solidFill>
            <a:schemeClr val="bg1">
              <a:lumMod val="95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lIns="137160" tIns="91440" rIns="137160" bIns="9144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3F3F3F"/>
                </a:solidFill>
                <a:effectLst/>
                <a:uLnTx/>
                <a:uFillTx/>
                <a:latin typeface="CVS Health Sans"/>
                <a:ea typeface="+mn-ea"/>
                <a:cs typeface="+mn-cs"/>
              </a:rPr>
              <a:t>3. Operationalize &amp; Hand Off</a:t>
            </a:r>
          </a:p>
          <a:p>
            <a:pPr marL="0" marR="0" lvl="0" indent="0" algn="l" defTabSz="914400" rtl="0" eaLnBrk="1" fontAlgn="auto" latinLnBrk="0" hangingPunct="1">
              <a:lnSpc>
                <a:spcPct val="100000"/>
              </a:lnSpc>
              <a:spcBef>
                <a:spcPts val="1200"/>
              </a:spcBef>
              <a:spcAft>
                <a:spcPts val="300"/>
              </a:spcAft>
              <a:buClrTx/>
              <a:buSzTx/>
              <a:buFontTx/>
              <a:buNone/>
              <a:tabLst/>
              <a:defRPr/>
            </a:pPr>
            <a:r>
              <a:rPr kumimoji="0" lang="en-US" sz="1300" b="1" i="0" u="none" strike="noStrike" kern="1200" cap="none" spc="0" normalizeH="0" baseline="0" noProof="0">
                <a:ln>
                  <a:noFill/>
                </a:ln>
                <a:solidFill>
                  <a:srgbClr val="0A4B8C"/>
                </a:solidFill>
                <a:effectLst/>
                <a:uLnTx/>
                <a:uFillTx/>
                <a:latin typeface="CVS Health Sans"/>
                <a:ea typeface="+mn-ea"/>
                <a:cs typeface="+mn-cs"/>
              </a:rPr>
              <a:t>Key Activities</a:t>
            </a:r>
          </a:p>
          <a:p>
            <a:pPr marL="171450" indent="-171450">
              <a:spcAft>
                <a:spcPts val="300"/>
              </a:spcAft>
              <a:buFont typeface="Arial" panose="020B0604020202020204" pitchFamily="34" charset="0"/>
              <a:buChar char="•"/>
              <a:defRPr/>
            </a:pPr>
            <a:r>
              <a:rPr kumimoji="0" lang="en-US" sz="1200" b="0" i="0" u="none" strike="noStrike" kern="1200" cap="none" spc="0" normalizeH="0" baseline="0" noProof="0">
                <a:ln>
                  <a:noFill/>
                </a:ln>
                <a:solidFill>
                  <a:srgbClr val="3F3F3F"/>
                </a:solidFill>
                <a:effectLst/>
                <a:uLnTx/>
                <a:uFillTx/>
                <a:latin typeface="CVS Health Sans"/>
                <a:ea typeface="+mn-ea"/>
                <a:cs typeface="+mn-cs"/>
              </a:rPr>
              <a:t>Finalize Operational Runbooks</a:t>
            </a:r>
          </a:p>
          <a:p>
            <a:pPr marL="171450" indent="-171450">
              <a:spcAft>
                <a:spcPts val="300"/>
              </a:spcAft>
              <a:buFont typeface="Arial" panose="020B0604020202020204" pitchFamily="34" charset="0"/>
              <a:buChar char="•"/>
              <a:defRPr/>
            </a:pPr>
            <a:r>
              <a:rPr kumimoji="0" lang="en-US" sz="1200" b="0" i="0" u="none" strike="noStrike" kern="1200" cap="none" spc="0" normalizeH="0" baseline="0" noProof="0">
                <a:ln>
                  <a:noFill/>
                </a:ln>
                <a:solidFill>
                  <a:srgbClr val="3F3F3F"/>
                </a:solidFill>
                <a:effectLst/>
                <a:uLnTx/>
                <a:uFillTx/>
                <a:latin typeface="CVS Health Sans"/>
                <a:ea typeface="+mn-ea"/>
                <a:cs typeface="+mn-cs"/>
              </a:rPr>
              <a:t>Handoff to Downstream Workstreams</a:t>
            </a:r>
            <a:endParaRPr lang="en-US" sz="1200">
              <a:solidFill>
                <a:srgbClr val="3F3F3F"/>
              </a:solidFill>
              <a:latin typeface="CVS Health Sans"/>
            </a:endParaRPr>
          </a:p>
          <a:p>
            <a:pPr marL="171450" indent="-171450">
              <a:spcAft>
                <a:spcPts val="300"/>
              </a:spcAft>
              <a:buFont typeface="Arial" panose="020B0604020202020204" pitchFamily="34" charset="0"/>
              <a:buChar char="•"/>
              <a:defRPr/>
            </a:pPr>
            <a:r>
              <a:rPr kumimoji="0" lang="en-US" sz="1200" b="0" i="0" u="none" strike="noStrike" kern="1200" cap="none" spc="0" normalizeH="0" baseline="0" noProof="0">
                <a:ln>
                  <a:noFill/>
                </a:ln>
                <a:solidFill>
                  <a:srgbClr val="3F3F3F"/>
                </a:solidFill>
                <a:effectLst/>
                <a:uLnTx/>
                <a:uFillTx/>
                <a:latin typeface="CVS Health Sans"/>
                <a:ea typeface="+mn-ea"/>
                <a:cs typeface="+mn-cs"/>
              </a:rPr>
              <a:t>Establish Monitoring &amp; Alerting</a:t>
            </a:r>
          </a:p>
          <a:p>
            <a:pPr marL="0" marR="0" lvl="0" indent="0" algn="l" defTabSz="914400" rtl="0" eaLnBrk="1" fontAlgn="auto" latinLnBrk="0" hangingPunct="1">
              <a:lnSpc>
                <a:spcPct val="100000"/>
              </a:lnSpc>
              <a:spcBef>
                <a:spcPts val="1400"/>
              </a:spcBef>
              <a:spcAft>
                <a:spcPts val="300"/>
              </a:spcAft>
              <a:buClrTx/>
              <a:buSzTx/>
              <a:buFontTx/>
              <a:buNone/>
              <a:tabLst/>
              <a:defRPr/>
            </a:pPr>
            <a:r>
              <a:rPr kumimoji="0" lang="en-US" sz="1300" b="1" i="0" u="none" strike="noStrike" kern="1200" cap="none" spc="0" normalizeH="0" baseline="0" noProof="0">
                <a:ln>
                  <a:noFill/>
                </a:ln>
                <a:solidFill>
                  <a:srgbClr val="0A4B8C"/>
                </a:solidFill>
                <a:effectLst/>
                <a:uLnTx/>
                <a:uFillTx/>
                <a:latin typeface="CVS Health Sans"/>
                <a:ea typeface="+mn-ea"/>
                <a:cs typeface="+mn-cs"/>
              </a:rPr>
              <a:t>Description</a:t>
            </a:r>
          </a:p>
          <a:p>
            <a:pPr>
              <a:defRPr/>
            </a:pPr>
            <a:r>
              <a:rPr kumimoji="0" lang="en-US" sz="1200" b="0" i="0" u="none" strike="noStrike" kern="1200" cap="none" spc="0" normalizeH="0" baseline="0" noProof="0">
                <a:ln>
                  <a:noFill/>
                </a:ln>
                <a:solidFill>
                  <a:srgbClr val="3F3F3F"/>
                </a:solidFill>
                <a:effectLst/>
                <a:uLnTx/>
                <a:uFillTx/>
                <a:latin typeface="CVS Health Sans"/>
                <a:ea typeface="+mn-ea"/>
                <a:cs typeface="+mn-cs"/>
              </a:rPr>
              <a:t>The validated ingestion architecture will be fully documented in operational runbooks and handed off to the teams managing the Silver layer (Workstream C). We will conclude by implementing comprehensive monitoring and alerting on the Bronze pipelines to track data freshness, volume, and quality, ensuring a stable foundation for all downstream analytics.</a:t>
            </a:r>
          </a:p>
        </p:txBody>
      </p:sp>
      <p:cxnSp>
        <p:nvCxnSpPr>
          <p:cNvPr id="10" name="Straight Connector 13">
            <a:extLst>
              <a:ext uri="{FF2B5EF4-FFF2-40B4-BE49-F238E27FC236}">
                <a16:creationId xmlns:a16="http://schemas.microsoft.com/office/drawing/2014/main" id="{674F9B8C-68C8-37FE-B301-548CCA8409DF}"/>
              </a:ext>
            </a:extLst>
          </p:cNvPr>
          <p:cNvCxnSpPr>
            <a:cxnSpLocks/>
          </p:cNvCxnSpPr>
          <p:nvPr/>
        </p:nvCxnSpPr>
        <p:spPr>
          <a:xfrm>
            <a:off x="4213146" y="2510000"/>
            <a:ext cx="0" cy="3315436"/>
          </a:xfrm>
          <a:prstGeom prst="line">
            <a:avLst/>
          </a:prstGeom>
          <a:ln w="12700" cmpd="sng">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Arrow: Chevron 14">
            <a:extLst>
              <a:ext uri="{FF2B5EF4-FFF2-40B4-BE49-F238E27FC236}">
                <a16:creationId xmlns:a16="http://schemas.microsoft.com/office/drawing/2014/main" id="{24318627-18E0-D02B-C5BB-8E26D4FB401C}"/>
              </a:ext>
            </a:extLst>
          </p:cNvPr>
          <p:cNvSpPr/>
          <p:nvPr/>
        </p:nvSpPr>
        <p:spPr bwMode="gray">
          <a:xfrm>
            <a:off x="4075986" y="3984838"/>
            <a:ext cx="274320" cy="365760"/>
          </a:xfrm>
          <a:prstGeom prst="chevron">
            <a:avLst/>
          </a:prstGeom>
          <a:solidFill>
            <a:schemeClr val="tx2"/>
          </a:solidFill>
          <a:ln w="19050">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cxnSp>
        <p:nvCxnSpPr>
          <p:cNvPr id="12" name="Straight Connector 15">
            <a:extLst>
              <a:ext uri="{FF2B5EF4-FFF2-40B4-BE49-F238E27FC236}">
                <a16:creationId xmlns:a16="http://schemas.microsoft.com/office/drawing/2014/main" id="{8DF87FEE-7855-4D52-60F7-EA75956C4954}"/>
              </a:ext>
            </a:extLst>
          </p:cNvPr>
          <p:cNvCxnSpPr>
            <a:cxnSpLocks/>
          </p:cNvCxnSpPr>
          <p:nvPr/>
        </p:nvCxnSpPr>
        <p:spPr>
          <a:xfrm>
            <a:off x="7989967" y="2510000"/>
            <a:ext cx="0" cy="3315436"/>
          </a:xfrm>
          <a:prstGeom prst="line">
            <a:avLst/>
          </a:prstGeom>
          <a:ln w="12700" cmpd="sng">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Arrow: Chevron 16">
            <a:extLst>
              <a:ext uri="{FF2B5EF4-FFF2-40B4-BE49-F238E27FC236}">
                <a16:creationId xmlns:a16="http://schemas.microsoft.com/office/drawing/2014/main" id="{1F233445-F9D0-6018-546E-13A491D2B78B}"/>
              </a:ext>
            </a:extLst>
          </p:cNvPr>
          <p:cNvSpPr/>
          <p:nvPr/>
        </p:nvSpPr>
        <p:spPr bwMode="gray">
          <a:xfrm>
            <a:off x="7852807" y="3984838"/>
            <a:ext cx="274320" cy="365760"/>
          </a:xfrm>
          <a:prstGeom prst="chevron">
            <a:avLst/>
          </a:prstGeom>
          <a:solidFill>
            <a:schemeClr val="tx2"/>
          </a:solidFill>
          <a:ln w="19050">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Tree>
    <p:extLst>
      <p:ext uri="{BB962C8B-B14F-4D97-AF65-F5344CB8AC3E}">
        <p14:creationId xmlns:p14="http://schemas.microsoft.com/office/powerpoint/2010/main" val="5379334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2FC85-1EBF-5E45-8510-458FC584139E}"/>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22A0353E-3BEA-AB6B-C2EA-77F530ADD14D}"/>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4" name="thinkcell data - do not delete" hidden="1">
                        <a:extLst>
                          <a:ext uri="{FF2B5EF4-FFF2-40B4-BE49-F238E27FC236}">
                            <a16:creationId xmlns:a16="http://schemas.microsoft.com/office/drawing/2014/main" id="{22A0353E-3BEA-AB6B-C2EA-77F530ADD14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7435196C-548B-0D1A-F66C-5DA94AB4B1B9}"/>
              </a:ext>
            </a:extLst>
          </p:cNvPr>
          <p:cNvSpPr>
            <a:spLocks noGrp="1"/>
          </p:cNvSpPr>
          <p:nvPr>
            <p:ph type="title"/>
          </p:nvPr>
        </p:nvSpPr>
        <p:spPr/>
        <p:txBody>
          <a:bodyPr vert="horz" rIns="0"/>
          <a:lstStyle/>
          <a:p>
            <a:r>
              <a:rPr lang="en-US"/>
              <a:t>Workstream B – Framework</a:t>
            </a:r>
          </a:p>
        </p:txBody>
      </p:sp>
      <p:sp>
        <p:nvSpPr>
          <p:cNvPr id="6" name="Rectangle 5">
            <a:extLst>
              <a:ext uri="{FF2B5EF4-FFF2-40B4-BE49-F238E27FC236}">
                <a16:creationId xmlns:a16="http://schemas.microsoft.com/office/drawing/2014/main" id="{F128127A-194B-5403-9F42-149325200FC6}"/>
              </a:ext>
            </a:extLst>
          </p:cNvPr>
          <p:cNvSpPr/>
          <p:nvPr/>
        </p:nvSpPr>
        <p:spPr bwMode="gray">
          <a:xfrm>
            <a:off x="12494101" y="0"/>
            <a:ext cx="5360592" cy="1645946"/>
          </a:xfrm>
          <a:prstGeom prst="rect">
            <a:avLst/>
          </a:prstGeom>
          <a:solidFill>
            <a:schemeClr val="accent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solidFill>
                  <a:schemeClr val="bg1"/>
                </a:solidFill>
              </a:rPr>
              <a:t>Visual of how this work will be done – workshops, interviews, create architecture current state views, target state, gap analysis, recommendations by theme, etc.</a:t>
            </a:r>
          </a:p>
          <a:p>
            <a:pPr algn="ctr"/>
            <a:endParaRPr lang="en-US" sz="1000">
              <a:solidFill>
                <a:schemeClr val="bg1"/>
              </a:solidFill>
            </a:endParaRPr>
          </a:p>
          <a:p>
            <a:pPr algn="ctr"/>
            <a:endParaRPr lang="en-US" sz="1000">
              <a:solidFill>
                <a:schemeClr val="bg1"/>
              </a:solidFill>
            </a:endParaRPr>
          </a:p>
        </p:txBody>
      </p:sp>
      <p:sp>
        <p:nvSpPr>
          <p:cNvPr id="14" name="Content Placeholder 13">
            <a:extLst>
              <a:ext uri="{FF2B5EF4-FFF2-40B4-BE49-F238E27FC236}">
                <a16:creationId xmlns:a16="http://schemas.microsoft.com/office/drawing/2014/main" id="{7D254884-1BC2-5A5D-0A6D-DDC8DC9BB8B1}"/>
              </a:ext>
            </a:extLst>
          </p:cNvPr>
          <p:cNvSpPr>
            <a:spLocks noGrp="1"/>
          </p:cNvSpPr>
          <p:nvPr>
            <p:ph idx="1"/>
          </p:nvPr>
        </p:nvSpPr>
        <p:spPr/>
        <p:txBody>
          <a:bodyPr/>
          <a:lstStyle/>
          <a:p>
            <a:r>
              <a:rPr lang="en-US"/>
              <a:t>Insert table, what are the things we need first for us to perform the data source rationalization (inventory of data sources, </a:t>
            </a:r>
            <a:r>
              <a:rPr lang="en-US" err="1"/>
              <a:t>etc</a:t>
            </a:r>
            <a:r>
              <a:rPr lang="en-US"/>
              <a:t>). Once we have them, what do we do with it.</a:t>
            </a:r>
          </a:p>
        </p:txBody>
      </p:sp>
    </p:spTree>
    <p:extLst>
      <p:ext uri="{BB962C8B-B14F-4D97-AF65-F5344CB8AC3E}">
        <p14:creationId xmlns:p14="http://schemas.microsoft.com/office/powerpoint/2010/main" val="36383181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Rounded Rectangle 94">
            <a:extLst>
              <a:ext uri="{FF2B5EF4-FFF2-40B4-BE49-F238E27FC236}">
                <a16:creationId xmlns:a16="http://schemas.microsoft.com/office/drawing/2014/main" id="{D5851A8B-A8FB-A2F9-2DB4-16528A91B313}"/>
              </a:ext>
            </a:extLst>
          </p:cNvPr>
          <p:cNvSpPr/>
          <p:nvPr/>
        </p:nvSpPr>
        <p:spPr bwMode="gray">
          <a:xfrm>
            <a:off x="830685" y="4446431"/>
            <a:ext cx="10187188" cy="1495451"/>
          </a:xfrm>
          <a:prstGeom prst="roundRect">
            <a:avLst>
              <a:gd name="adj" fmla="val 9215"/>
            </a:avLst>
          </a:prstGeom>
          <a:ln>
            <a:solidFill>
              <a:srgbClr val="868686"/>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500" b="1">
              <a:solidFill>
                <a:schemeClr val="bg1"/>
              </a:solidFill>
            </a:endParaRPr>
          </a:p>
        </p:txBody>
      </p:sp>
      <p:sp>
        <p:nvSpPr>
          <p:cNvPr id="3" name="Title 2">
            <a:extLst>
              <a:ext uri="{FF2B5EF4-FFF2-40B4-BE49-F238E27FC236}">
                <a16:creationId xmlns:a16="http://schemas.microsoft.com/office/drawing/2014/main" id="{A09EDF06-6F70-0DD1-CF44-90FA2C228A77}"/>
              </a:ext>
            </a:extLst>
          </p:cNvPr>
          <p:cNvSpPr>
            <a:spLocks noGrp="1"/>
          </p:cNvSpPr>
          <p:nvPr>
            <p:ph type="title"/>
          </p:nvPr>
        </p:nvSpPr>
        <p:spPr/>
        <p:txBody>
          <a:bodyPr/>
          <a:lstStyle/>
          <a:p>
            <a:r>
              <a:rPr lang="en-US"/>
              <a:t>Workstream B – Key Architecture Components</a:t>
            </a:r>
          </a:p>
        </p:txBody>
      </p:sp>
      <p:sp>
        <p:nvSpPr>
          <p:cNvPr id="10" name="Rounded Rectangle 9">
            <a:extLst>
              <a:ext uri="{FF2B5EF4-FFF2-40B4-BE49-F238E27FC236}">
                <a16:creationId xmlns:a16="http://schemas.microsoft.com/office/drawing/2014/main" id="{394B026B-F6BC-D79D-EB17-1F2509D99C1F}"/>
              </a:ext>
            </a:extLst>
          </p:cNvPr>
          <p:cNvSpPr/>
          <p:nvPr/>
        </p:nvSpPr>
        <p:spPr bwMode="gray">
          <a:xfrm>
            <a:off x="824247" y="1712888"/>
            <a:ext cx="1526146" cy="2640171"/>
          </a:xfrm>
          <a:prstGeom prst="roundRect">
            <a:avLst>
              <a:gd name="adj" fmla="val 6118"/>
            </a:avLst>
          </a:prstGeom>
          <a:ln>
            <a:solidFill>
              <a:srgbClr val="868686"/>
            </a:solidFill>
          </a:ln>
        </p:spPr>
        <p:style>
          <a:lnRef idx="2">
            <a:schemeClr val="dk1"/>
          </a:lnRef>
          <a:fillRef idx="1">
            <a:schemeClr val="lt1"/>
          </a:fillRef>
          <a:effectRef idx="0">
            <a:schemeClr val="dk1"/>
          </a:effectRef>
          <a:fontRef idx="minor">
            <a:schemeClr val="dk1"/>
          </a:fontRef>
        </p:style>
        <p:txBody>
          <a:bodyPr rtlCol="0" anchor="ctr"/>
          <a:lstStyle/>
          <a:p>
            <a:pPr marL="171450" indent="-171450">
              <a:buFont typeface="Arial" panose="020B0604020202020204" pitchFamily="34" charset="0"/>
              <a:buChar char="•"/>
            </a:pPr>
            <a:r>
              <a:rPr lang="en-US" sz="900">
                <a:solidFill>
                  <a:schemeClr val="tx1"/>
                </a:solidFill>
              </a:rPr>
              <a:t>Endpoint and asset</a:t>
            </a:r>
          </a:p>
          <a:p>
            <a:pPr marL="171450" indent="-171450">
              <a:buFont typeface="Arial" panose="020B0604020202020204" pitchFamily="34" charset="0"/>
              <a:buChar char="•"/>
            </a:pPr>
            <a:r>
              <a:rPr lang="en-US" sz="900">
                <a:solidFill>
                  <a:schemeClr val="tx1"/>
                </a:solidFill>
              </a:rPr>
              <a:t>Network and firewall</a:t>
            </a:r>
          </a:p>
          <a:p>
            <a:pPr marL="171450" indent="-171450">
              <a:buFont typeface="Arial" panose="020B0604020202020204" pitchFamily="34" charset="0"/>
              <a:buChar char="•"/>
            </a:pPr>
            <a:r>
              <a:rPr lang="en-US" sz="900">
                <a:solidFill>
                  <a:schemeClr val="tx1"/>
                </a:solidFill>
              </a:rPr>
              <a:t>Identity and access</a:t>
            </a:r>
          </a:p>
          <a:p>
            <a:pPr marL="171450" indent="-171450">
              <a:buFont typeface="Arial" panose="020B0604020202020204" pitchFamily="34" charset="0"/>
              <a:buChar char="•"/>
            </a:pPr>
            <a:r>
              <a:rPr lang="en-US" sz="900">
                <a:solidFill>
                  <a:schemeClr val="tx1"/>
                </a:solidFill>
              </a:rPr>
              <a:t>Cloud and SaaS</a:t>
            </a:r>
          </a:p>
          <a:p>
            <a:pPr marL="171450" indent="-171450">
              <a:buFont typeface="Arial" panose="020B0604020202020204" pitchFamily="34" charset="0"/>
              <a:buChar char="•"/>
            </a:pPr>
            <a:r>
              <a:rPr lang="en-US" sz="900">
                <a:solidFill>
                  <a:schemeClr val="tx1"/>
                </a:solidFill>
              </a:rPr>
              <a:t>Application and infrastructure logs</a:t>
            </a:r>
          </a:p>
          <a:p>
            <a:pPr marL="171450" indent="-171450">
              <a:buFont typeface="Arial" panose="020B0604020202020204" pitchFamily="34" charset="0"/>
              <a:buChar char="•"/>
            </a:pPr>
            <a:r>
              <a:rPr lang="en-US" sz="900">
                <a:solidFill>
                  <a:schemeClr val="tx1"/>
                </a:solidFill>
              </a:rPr>
              <a:t>Vulnerability and threat intelligence feeds</a:t>
            </a:r>
          </a:p>
        </p:txBody>
      </p:sp>
      <p:sp>
        <p:nvSpPr>
          <p:cNvPr id="2" name="Rounded Rectangle 1">
            <a:extLst>
              <a:ext uri="{FF2B5EF4-FFF2-40B4-BE49-F238E27FC236}">
                <a16:creationId xmlns:a16="http://schemas.microsoft.com/office/drawing/2014/main" id="{652E5DF5-82AC-6720-58D7-4AD0327F9C3E}"/>
              </a:ext>
            </a:extLst>
          </p:cNvPr>
          <p:cNvSpPr/>
          <p:nvPr/>
        </p:nvSpPr>
        <p:spPr bwMode="gray">
          <a:xfrm>
            <a:off x="824247" y="1712890"/>
            <a:ext cx="1526146" cy="631065"/>
          </a:xfrm>
          <a:prstGeom prst="roundRect">
            <a:avLst/>
          </a:prstGeom>
          <a:solidFill>
            <a:srgbClr val="3975AC"/>
          </a:solidFill>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050" b="1">
                <a:solidFill>
                  <a:schemeClr val="bg1"/>
                </a:solidFill>
              </a:rPr>
              <a:t>1 Telemetry Sources</a:t>
            </a:r>
          </a:p>
        </p:txBody>
      </p:sp>
      <p:sp>
        <p:nvSpPr>
          <p:cNvPr id="11" name="Rounded Rectangle 10">
            <a:extLst>
              <a:ext uri="{FF2B5EF4-FFF2-40B4-BE49-F238E27FC236}">
                <a16:creationId xmlns:a16="http://schemas.microsoft.com/office/drawing/2014/main" id="{CC309F28-9907-24B2-D7B6-9F7C7DACD547}"/>
              </a:ext>
            </a:extLst>
          </p:cNvPr>
          <p:cNvSpPr/>
          <p:nvPr/>
        </p:nvSpPr>
        <p:spPr bwMode="gray">
          <a:xfrm>
            <a:off x="2548728" y="1712890"/>
            <a:ext cx="1526146" cy="2640169"/>
          </a:xfrm>
          <a:prstGeom prst="roundRect">
            <a:avLst>
              <a:gd name="adj" fmla="val 6118"/>
            </a:avLst>
          </a:prstGeom>
          <a:ln>
            <a:solidFill>
              <a:srgbClr val="868686"/>
            </a:solidFill>
          </a:ln>
        </p:spPr>
        <p:style>
          <a:lnRef idx="2">
            <a:schemeClr val="dk1"/>
          </a:lnRef>
          <a:fillRef idx="1">
            <a:schemeClr val="lt1"/>
          </a:fillRef>
          <a:effectRef idx="0">
            <a:schemeClr val="dk1"/>
          </a:effectRef>
          <a:fontRef idx="minor">
            <a:schemeClr val="dk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i="0" u="none" strike="noStrike" kern="1200" cap="none" spc="0" normalizeH="0" baseline="0" noProof="0" err="1">
                <a:ln>
                  <a:noFill/>
                </a:ln>
                <a:solidFill>
                  <a:srgbClr val="000000"/>
                </a:solidFill>
                <a:effectLst/>
                <a:uLnTx/>
                <a:uFillTx/>
                <a:latin typeface="CVS Health Sans"/>
                <a:ea typeface="+mn-ea"/>
                <a:cs typeface="+mn-cs"/>
              </a:rPr>
              <a:t>Cribl</a:t>
            </a:r>
            <a:endParaRPr kumimoji="0" lang="en-US" sz="900" i="0" u="none" strike="noStrike" kern="1200" cap="none" spc="0" normalizeH="0" baseline="0" noProof="0">
              <a:ln>
                <a:noFill/>
              </a:ln>
              <a:solidFill>
                <a:srgbClr val="000000"/>
              </a:solidFill>
              <a:effectLst/>
              <a:uLnTx/>
              <a:uFillTx/>
              <a:latin typeface="CVS Health San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i="0" u="none" strike="noStrike" kern="1200" cap="none" spc="0" normalizeH="0" baseline="0" noProof="0" err="1">
                <a:ln>
                  <a:noFill/>
                </a:ln>
                <a:solidFill>
                  <a:srgbClr val="000000"/>
                </a:solidFill>
                <a:effectLst/>
                <a:uLnTx/>
                <a:uFillTx/>
                <a:latin typeface="CVS Health Sans"/>
                <a:ea typeface="+mn-ea"/>
                <a:cs typeface="+mn-cs"/>
              </a:rPr>
              <a:t>Onum</a:t>
            </a:r>
            <a:endParaRPr kumimoji="0" lang="en-US" sz="900" i="0" u="none" strike="noStrike" kern="1200" cap="none" spc="0" normalizeH="0" baseline="0" noProof="0">
              <a:ln>
                <a:noFill/>
              </a:ln>
              <a:solidFill>
                <a:srgbClr val="000000"/>
              </a:solidFill>
              <a:effectLst/>
              <a:uLnTx/>
              <a:uFillTx/>
              <a:latin typeface="CVS Health San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i="0" u="none" strike="noStrike" kern="1200" cap="none" spc="0" normalizeH="0" baseline="0" noProof="0">
                <a:ln>
                  <a:noFill/>
                </a:ln>
                <a:solidFill>
                  <a:srgbClr val="000000"/>
                </a:solidFill>
                <a:effectLst/>
                <a:uLnTx/>
                <a:uFillTx/>
                <a:latin typeface="CVS Health Sans"/>
                <a:ea typeface="+mn-ea"/>
                <a:cs typeface="+mn-cs"/>
              </a:rPr>
              <a:t>Apache </a:t>
            </a:r>
            <a:r>
              <a:rPr kumimoji="0" lang="en-US" sz="900" i="0" u="none" strike="noStrike" kern="1200" cap="none" spc="0" normalizeH="0" baseline="0" noProof="0" err="1">
                <a:ln>
                  <a:noFill/>
                </a:ln>
                <a:solidFill>
                  <a:srgbClr val="000000"/>
                </a:solidFill>
                <a:effectLst/>
                <a:uLnTx/>
                <a:uFillTx/>
                <a:latin typeface="CVS Health Sans"/>
                <a:ea typeface="+mn-ea"/>
                <a:cs typeface="+mn-cs"/>
              </a:rPr>
              <a:t>NiFi</a:t>
            </a:r>
            <a:endParaRPr kumimoji="0" lang="en-US" sz="900" i="0" u="none" strike="noStrike" kern="1200" cap="none" spc="0" normalizeH="0" baseline="0" noProof="0">
              <a:ln>
                <a:noFill/>
              </a:ln>
              <a:solidFill>
                <a:srgbClr val="000000"/>
              </a:solidFill>
              <a:effectLst/>
              <a:uLnTx/>
              <a:uFillTx/>
              <a:latin typeface="CVS Health San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i="0" u="none" strike="noStrike" kern="1200" cap="none" spc="0" normalizeH="0" baseline="0" noProof="0">
                <a:ln>
                  <a:noFill/>
                </a:ln>
                <a:solidFill>
                  <a:srgbClr val="000000"/>
                </a:solidFill>
                <a:effectLst/>
                <a:uLnTx/>
                <a:uFillTx/>
                <a:latin typeface="CVS Health Sans"/>
                <a:ea typeface="+mn-ea"/>
                <a:cs typeface="+mn-cs"/>
              </a:rPr>
              <a:t>Azure-native export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i="0" u="none" strike="noStrike" kern="1200" cap="none" spc="0" normalizeH="0" baseline="0" noProof="0">
                <a:ln>
                  <a:noFill/>
                </a:ln>
                <a:solidFill>
                  <a:srgbClr val="000000"/>
                </a:solidFill>
                <a:effectLst/>
                <a:uLnTx/>
                <a:uFillTx/>
                <a:latin typeface="CVS Health Sans"/>
                <a:ea typeface="+mn-ea"/>
                <a:cs typeface="+mn-cs"/>
              </a:rPr>
              <a:t>Cloud storage delivery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i="0" u="none" strike="noStrike" kern="1200" cap="none" spc="0" normalizeH="0" baseline="0" noProof="0">
                <a:ln>
                  <a:noFill/>
                </a:ln>
                <a:solidFill>
                  <a:srgbClr val="000000"/>
                </a:solidFill>
                <a:effectLst/>
                <a:uLnTx/>
                <a:uFillTx/>
                <a:latin typeface="CVS Health Sans"/>
                <a:ea typeface="+mn-ea"/>
                <a:cs typeface="+mn-cs"/>
              </a:rPr>
              <a:t>Existing forward pathways</a:t>
            </a:r>
          </a:p>
        </p:txBody>
      </p:sp>
      <p:sp>
        <p:nvSpPr>
          <p:cNvPr id="4" name="Rounded Rectangle 3">
            <a:extLst>
              <a:ext uri="{FF2B5EF4-FFF2-40B4-BE49-F238E27FC236}">
                <a16:creationId xmlns:a16="http://schemas.microsoft.com/office/drawing/2014/main" id="{D18D23FB-4C17-8FC5-A1C9-F025D3021861}"/>
              </a:ext>
            </a:extLst>
          </p:cNvPr>
          <p:cNvSpPr/>
          <p:nvPr/>
        </p:nvSpPr>
        <p:spPr bwMode="gray">
          <a:xfrm>
            <a:off x="2548728" y="1712890"/>
            <a:ext cx="1526146" cy="631065"/>
          </a:xfrm>
          <a:prstGeom prst="roundRect">
            <a:avLst/>
          </a:prstGeom>
          <a:solidFill>
            <a:srgbClr val="3975AC"/>
          </a:solidFill>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050" b="1">
                <a:solidFill>
                  <a:schemeClr val="bg1"/>
                </a:solidFill>
              </a:rPr>
              <a:t>2 Routing &amp; Transport</a:t>
            </a:r>
          </a:p>
        </p:txBody>
      </p:sp>
      <p:sp>
        <p:nvSpPr>
          <p:cNvPr id="12" name="Rounded Rectangle 11">
            <a:extLst>
              <a:ext uri="{FF2B5EF4-FFF2-40B4-BE49-F238E27FC236}">
                <a16:creationId xmlns:a16="http://schemas.microsoft.com/office/drawing/2014/main" id="{2429C9B1-E437-82C5-7A08-D299F3E632BE}"/>
              </a:ext>
            </a:extLst>
          </p:cNvPr>
          <p:cNvSpPr/>
          <p:nvPr/>
        </p:nvSpPr>
        <p:spPr bwMode="gray">
          <a:xfrm>
            <a:off x="4271920" y="1712889"/>
            <a:ext cx="1526146" cy="2640169"/>
          </a:xfrm>
          <a:prstGeom prst="roundRect">
            <a:avLst>
              <a:gd name="adj" fmla="val 6118"/>
            </a:avLst>
          </a:prstGeom>
          <a:ln>
            <a:solidFill>
              <a:srgbClr val="868686"/>
            </a:solidFill>
          </a:ln>
        </p:spPr>
        <p:style>
          <a:lnRef idx="2">
            <a:schemeClr val="dk1"/>
          </a:lnRef>
          <a:fillRef idx="1">
            <a:schemeClr val="lt1"/>
          </a:fillRef>
          <a:effectRef idx="0">
            <a:schemeClr val="dk1"/>
          </a:effectRef>
          <a:fontRef idx="minor">
            <a:schemeClr val="dk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00" b="0" i="0" u="none" strike="noStrike" kern="1200" cap="none" spc="0" normalizeH="0" baseline="0" noProof="0">
              <a:ln>
                <a:noFill/>
              </a:ln>
              <a:solidFill>
                <a:srgbClr val="000000"/>
              </a:solidFill>
              <a:effectLst/>
              <a:uLnTx/>
              <a:uFillTx/>
              <a:latin typeface="CVS Health San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a:solidFill>
                <a:srgbClr val="000000"/>
              </a:solidFill>
              <a:latin typeface="CVS Health San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00" b="0" i="0" u="none" strike="noStrike" kern="1200" cap="none" spc="0" normalizeH="0" baseline="0" noProof="0">
              <a:ln>
                <a:noFill/>
              </a:ln>
              <a:solidFill>
                <a:srgbClr val="000000"/>
              </a:solidFill>
              <a:effectLst/>
              <a:uLnTx/>
              <a:uFillTx/>
              <a:latin typeface="CVS Health San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CVS Health Sans"/>
                <a:ea typeface="+mn-ea"/>
                <a:cs typeface="+mn-cs"/>
              </a:rPr>
              <a:t>Source-aligned paths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a:solidFill>
                  <a:srgbClr val="000000"/>
                </a:solidFill>
                <a:latin typeface="CVS Health Sans"/>
              </a:rPr>
              <a:t>Environment separation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CVS Health Sans"/>
                <a:ea typeface="+mn-ea"/>
                <a:cs typeface="+mn-cs"/>
              </a:rPr>
              <a:t>Time-based folders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a:solidFill>
                  <a:srgbClr val="000000"/>
                </a:solidFill>
                <a:latin typeface="CVS Health Sans"/>
              </a:rPr>
              <a:t>Immutable raw payloads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CVS Health Sans"/>
                <a:ea typeface="+mn-ea"/>
                <a:cs typeface="+mn-cs"/>
              </a:rPr>
              <a:t>Retention and lifecycle policies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a:solidFill>
                  <a:srgbClr val="000000"/>
                </a:solidFill>
                <a:latin typeface="CVS Health Sans"/>
              </a:rPr>
              <a:t>Replay and quarantine zones</a:t>
            </a:r>
            <a:endParaRPr kumimoji="0" lang="en-US" sz="9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5" name="Rounded Rectangle 4">
            <a:extLst>
              <a:ext uri="{FF2B5EF4-FFF2-40B4-BE49-F238E27FC236}">
                <a16:creationId xmlns:a16="http://schemas.microsoft.com/office/drawing/2014/main" id="{02F9E248-D8C2-93E4-5479-A39E0923DA3A}"/>
              </a:ext>
            </a:extLst>
          </p:cNvPr>
          <p:cNvSpPr/>
          <p:nvPr/>
        </p:nvSpPr>
        <p:spPr bwMode="gray">
          <a:xfrm>
            <a:off x="4273209" y="1712890"/>
            <a:ext cx="1526146" cy="631065"/>
          </a:xfrm>
          <a:prstGeom prst="roundRect">
            <a:avLst/>
          </a:prstGeom>
          <a:solidFill>
            <a:srgbClr val="3975AC"/>
          </a:solidFill>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050" b="1">
                <a:solidFill>
                  <a:schemeClr val="bg1"/>
                </a:solidFill>
              </a:rPr>
              <a:t>3 ADLS Landing</a:t>
            </a:r>
          </a:p>
        </p:txBody>
      </p:sp>
      <p:sp>
        <p:nvSpPr>
          <p:cNvPr id="13" name="Rounded Rectangle 12">
            <a:extLst>
              <a:ext uri="{FF2B5EF4-FFF2-40B4-BE49-F238E27FC236}">
                <a16:creationId xmlns:a16="http://schemas.microsoft.com/office/drawing/2014/main" id="{049E2643-868F-9AB5-04DF-2FC1CB14ECAB}"/>
              </a:ext>
            </a:extLst>
          </p:cNvPr>
          <p:cNvSpPr/>
          <p:nvPr/>
        </p:nvSpPr>
        <p:spPr bwMode="gray">
          <a:xfrm>
            <a:off x="5997689" y="1712889"/>
            <a:ext cx="1526146" cy="2640169"/>
          </a:xfrm>
          <a:prstGeom prst="roundRect">
            <a:avLst>
              <a:gd name="adj" fmla="val 6118"/>
            </a:avLst>
          </a:prstGeom>
          <a:ln>
            <a:solidFill>
              <a:srgbClr val="868686"/>
            </a:solidFill>
          </a:ln>
        </p:spPr>
        <p:style>
          <a:lnRef idx="2">
            <a:schemeClr val="dk1"/>
          </a:lnRef>
          <a:fillRef idx="1">
            <a:schemeClr val="lt1"/>
          </a:fillRef>
          <a:effectRef idx="0">
            <a:schemeClr val="dk1"/>
          </a:effectRef>
          <a:fontRef idx="minor">
            <a:schemeClr val="dk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00" b="0" i="0" u="none" strike="noStrike" kern="1200" cap="none" spc="0" normalizeH="0" baseline="0" noProof="0">
              <a:ln>
                <a:noFill/>
              </a:ln>
              <a:solidFill>
                <a:srgbClr val="000000"/>
              </a:solidFill>
              <a:effectLst/>
              <a:uLnTx/>
              <a:uFillTx/>
              <a:latin typeface="CVS Health San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00" b="0" i="0" u="none" strike="noStrike" kern="1200" cap="none" spc="0" normalizeH="0" baseline="0" noProof="0">
              <a:ln>
                <a:noFill/>
              </a:ln>
              <a:solidFill>
                <a:srgbClr val="000000"/>
              </a:solidFill>
              <a:effectLst/>
              <a:uLnTx/>
              <a:uFillTx/>
              <a:latin typeface="CVS Health San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00" b="0" i="0" u="none" strike="noStrike" kern="1200" cap="none" spc="0" normalizeH="0" baseline="0" noProof="0">
              <a:ln>
                <a:noFill/>
              </a:ln>
              <a:solidFill>
                <a:srgbClr val="000000"/>
              </a:solidFill>
              <a:effectLst/>
              <a:uLnTx/>
              <a:uFillTx/>
              <a:latin typeface="CVS Health Sans"/>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900">
                <a:solidFill>
                  <a:srgbClr val="000000"/>
                </a:solidFill>
                <a:latin typeface="CVS Health Sans"/>
              </a:rPr>
              <a:t>Event Grid/file notification</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900">
                <a:solidFill>
                  <a:srgbClr val="000000"/>
                </a:solidFill>
                <a:latin typeface="CVS Health Sans"/>
              </a:rPr>
              <a:t>Databricks Auto Loader</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900">
                <a:solidFill>
                  <a:srgbClr val="000000"/>
                </a:solidFill>
                <a:latin typeface="CVS Health Sans"/>
              </a:rPr>
              <a:t>Streaming checkpoints and schema state</a:t>
            </a:r>
          </a:p>
          <a:p>
            <a:pPr marR="0" lvl="0" algn="l" defTabSz="914400" rtl="0" eaLnBrk="1" fontAlgn="auto" latinLnBrk="0" hangingPunct="1">
              <a:lnSpc>
                <a:spcPct val="100000"/>
              </a:lnSpc>
              <a:spcBef>
                <a:spcPts val="0"/>
              </a:spcBef>
              <a:spcAft>
                <a:spcPts val="0"/>
              </a:spcAft>
              <a:buClrTx/>
              <a:buSzTx/>
              <a:tabLst/>
              <a:defRPr/>
            </a:pPr>
            <a:endParaRPr kumimoji="0" lang="en-US" sz="9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6" name="Rounded Rectangle 5">
            <a:extLst>
              <a:ext uri="{FF2B5EF4-FFF2-40B4-BE49-F238E27FC236}">
                <a16:creationId xmlns:a16="http://schemas.microsoft.com/office/drawing/2014/main" id="{EAE5FD3A-05C5-AC2E-36EE-DBF2762F7ADD}"/>
              </a:ext>
            </a:extLst>
          </p:cNvPr>
          <p:cNvSpPr/>
          <p:nvPr/>
        </p:nvSpPr>
        <p:spPr bwMode="gray">
          <a:xfrm>
            <a:off x="5997690" y="1712890"/>
            <a:ext cx="1526146" cy="631065"/>
          </a:xfrm>
          <a:prstGeom prst="roundRect">
            <a:avLst/>
          </a:prstGeom>
          <a:solidFill>
            <a:srgbClr val="3975AC"/>
          </a:solidFill>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050" b="1">
                <a:solidFill>
                  <a:schemeClr val="bg1"/>
                </a:solidFill>
              </a:rPr>
              <a:t>4 Event Ingestion</a:t>
            </a:r>
          </a:p>
        </p:txBody>
      </p:sp>
      <p:sp>
        <p:nvSpPr>
          <p:cNvPr id="14" name="Rounded Rectangle 13">
            <a:extLst>
              <a:ext uri="{FF2B5EF4-FFF2-40B4-BE49-F238E27FC236}">
                <a16:creationId xmlns:a16="http://schemas.microsoft.com/office/drawing/2014/main" id="{17A9E4E0-BEE7-A12B-77CA-A4644018A91A}"/>
              </a:ext>
            </a:extLst>
          </p:cNvPr>
          <p:cNvSpPr/>
          <p:nvPr/>
        </p:nvSpPr>
        <p:spPr bwMode="gray">
          <a:xfrm>
            <a:off x="9446653" y="1712888"/>
            <a:ext cx="1526146" cy="2640169"/>
          </a:xfrm>
          <a:prstGeom prst="roundRect">
            <a:avLst>
              <a:gd name="adj" fmla="val 6118"/>
            </a:avLst>
          </a:prstGeom>
          <a:ln>
            <a:solidFill>
              <a:srgbClr val="868686"/>
            </a:solidFill>
          </a:ln>
        </p:spPr>
        <p:style>
          <a:lnRef idx="2">
            <a:schemeClr val="dk1"/>
          </a:lnRef>
          <a:fillRef idx="1">
            <a:schemeClr val="lt1"/>
          </a:fillRef>
          <a:effectRef idx="0">
            <a:schemeClr val="dk1"/>
          </a:effectRef>
          <a:fontRef idx="minor">
            <a:schemeClr val="dk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00" b="0" i="0" u="none" strike="noStrike" kern="1200" cap="none" spc="0" normalizeH="0" baseline="0" noProof="0">
              <a:ln>
                <a:noFill/>
              </a:ln>
              <a:solidFill>
                <a:srgbClr val="000000"/>
              </a:solidFill>
              <a:effectLst/>
              <a:uLnTx/>
              <a:uFillTx/>
              <a:latin typeface="CVS Health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CVS Health San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CVS Health Sans"/>
                <a:ea typeface="+mn-ea"/>
                <a:cs typeface="+mn-cs"/>
              </a:rPr>
              <a:t>Workstream C: OCSF / Silver transformation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a:solidFill>
                  <a:srgbClr val="000000"/>
                </a:solidFill>
                <a:latin typeface="CVS Health Sans"/>
              </a:rPr>
              <a:t>Workstream D: query-conversion validation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CVS Health Sans"/>
                <a:ea typeface="+mn-ea"/>
                <a:cs typeface="+mn-cs"/>
              </a:rPr>
              <a:t>Platform Operations: monitoring and support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a:solidFill>
                  <a:srgbClr val="000000"/>
                </a:solidFill>
                <a:latin typeface="CVS Health Sans"/>
              </a:rPr>
              <a:t>Governance: lineage, classification and audit</a:t>
            </a:r>
            <a:endParaRPr kumimoji="0" lang="en-US" sz="9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7" name="Rounded Rectangle 6">
            <a:extLst>
              <a:ext uri="{FF2B5EF4-FFF2-40B4-BE49-F238E27FC236}">
                <a16:creationId xmlns:a16="http://schemas.microsoft.com/office/drawing/2014/main" id="{4E3A3A55-EE48-0D48-8C0A-8E73D1B5DBE3}"/>
              </a:ext>
            </a:extLst>
          </p:cNvPr>
          <p:cNvSpPr/>
          <p:nvPr/>
        </p:nvSpPr>
        <p:spPr bwMode="gray">
          <a:xfrm>
            <a:off x="9446653" y="1712890"/>
            <a:ext cx="1526146" cy="631065"/>
          </a:xfrm>
          <a:prstGeom prst="roundRect">
            <a:avLst/>
          </a:prstGeom>
          <a:solidFill>
            <a:srgbClr val="3975AC"/>
          </a:solidFill>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050" b="1">
                <a:solidFill>
                  <a:schemeClr val="bg1"/>
                </a:solidFill>
              </a:rPr>
              <a:t>6 Consumers</a:t>
            </a:r>
          </a:p>
        </p:txBody>
      </p:sp>
      <p:sp>
        <p:nvSpPr>
          <p:cNvPr id="15" name="Rounded Rectangle 14">
            <a:extLst>
              <a:ext uri="{FF2B5EF4-FFF2-40B4-BE49-F238E27FC236}">
                <a16:creationId xmlns:a16="http://schemas.microsoft.com/office/drawing/2014/main" id="{3EAEBAEA-92E0-0CA3-E801-D6645079022B}"/>
              </a:ext>
            </a:extLst>
          </p:cNvPr>
          <p:cNvSpPr/>
          <p:nvPr/>
        </p:nvSpPr>
        <p:spPr bwMode="gray">
          <a:xfrm>
            <a:off x="7719593" y="1712889"/>
            <a:ext cx="1526146" cy="2640169"/>
          </a:xfrm>
          <a:prstGeom prst="roundRect">
            <a:avLst>
              <a:gd name="adj" fmla="val 6118"/>
            </a:avLst>
          </a:prstGeom>
          <a:ln>
            <a:solidFill>
              <a:srgbClr val="868686"/>
            </a:solidFill>
          </a:ln>
        </p:spPr>
        <p:style>
          <a:lnRef idx="2">
            <a:schemeClr val="dk1"/>
          </a:lnRef>
          <a:fillRef idx="1">
            <a:schemeClr val="lt1"/>
          </a:fillRef>
          <a:effectRef idx="0">
            <a:schemeClr val="dk1"/>
          </a:effectRef>
          <a:fontRef idx="minor">
            <a:schemeClr val="dk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00" b="0" i="0" u="none" strike="noStrike" kern="1200" cap="none" spc="0" normalizeH="0" baseline="0" noProof="0">
              <a:ln>
                <a:noFill/>
              </a:ln>
              <a:solidFill>
                <a:srgbClr val="000000"/>
              </a:solidFill>
              <a:effectLst/>
              <a:uLnTx/>
              <a:uFillTx/>
              <a:latin typeface="CVS Health Sans"/>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kumimoji="0" lang="en-US" sz="900" b="0" i="0" u="none" strike="noStrike" kern="1200" cap="none" spc="0" normalizeH="0" baseline="0" noProof="0">
              <a:ln>
                <a:noFill/>
              </a:ln>
              <a:solidFill>
                <a:srgbClr val="000000"/>
              </a:solidFill>
              <a:effectLst/>
              <a:uLnTx/>
              <a:uFillTx/>
              <a:latin typeface="CVS Health San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CVS Health Sans"/>
                <a:ea typeface="+mn-ea"/>
                <a:cs typeface="+mn-cs"/>
              </a:rPr>
              <a:t>RAW source fields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a:solidFill>
                  <a:srgbClr val="000000"/>
                </a:solidFill>
                <a:latin typeface="CVS Health Sans"/>
              </a:rPr>
              <a:t>Common ingestion metadata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a:solidFill>
                  <a:srgbClr val="000000"/>
                </a:solidFill>
                <a:latin typeface="CVS Health Sans"/>
              </a:rPr>
              <a:t>Source identifiers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CVS Health Sans"/>
                <a:ea typeface="+mn-ea"/>
                <a:cs typeface="+mn-cs"/>
              </a:rPr>
              <a:t>Ingestion timestamps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a:solidFill>
                  <a:srgbClr val="000000"/>
                </a:solidFill>
                <a:latin typeface="CVS Health Sans"/>
              </a:rPr>
              <a:t>Payload and schema version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CVS Health Sans"/>
                <a:ea typeface="+mn-ea"/>
                <a:cs typeface="+mn-cs"/>
              </a:rPr>
              <a:t>Quality and processing status</a:t>
            </a:r>
          </a:p>
        </p:txBody>
      </p:sp>
      <p:sp>
        <p:nvSpPr>
          <p:cNvPr id="8" name="Rounded Rectangle 7">
            <a:extLst>
              <a:ext uri="{FF2B5EF4-FFF2-40B4-BE49-F238E27FC236}">
                <a16:creationId xmlns:a16="http://schemas.microsoft.com/office/drawing/2014/main" id="{4A93CD48-3EC4-F630-BE84-823F8EF6A34F}"/>
              </a:ext>
            </a:extLst>
          </p:cNvPr>
          <p:cNvSpPr/>
          <p:nvPr/>
        </p:nvSpPr>
        <p:spPr bwMode="gray">
          <a:xfrm>
            <a:off x="7722171" y="1712890"/>
            <a:ext cx="1526146" cy="631065"/>
          </a:xfrm>
          <a:prstGeom prst="roundRect">
            <a:avLst/>
          </a:prstGeom>
          <a:solidFill>
            <a:srgbClr val="3975AC"/>
          </a:solidFill>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050" b="1">
                <a:solidFill>
                  <a:schemeClr val="bg1"/>
                </a:solidFill>
              </a:rPr>
              <a:t>5 Bronze Delta Tables</a:t>
            </a:r>
          </a:p>
        </p:txBody>
      </p:sp>
      <p:sp>
        <p:nvSpPr>
          <p:cNvPr id="9" name="Rounded Rectangle 8">
            <a:extLst>
              <a:ext uri="{FF2B5EF4-FFF2-40B4-BE49-F238E27FC236}">
                <a16:creationId xmlns:a16="http://schemas.microsoft.com/office/drawing/2014/main" id="{81548E6A-B5BA-D59A-8781-596A6E8D2B41}"/>
              </a:ext>
            </a:extLst>
          </p:cNvPr>
          <p:cNvSpPr/>
          <p:nvPr/>
        </p:nvSpPr>
        <p:spPr bwMode="gray">
          <a:xfrm>
            <a:off x="830686" y="4446432"/>
            <a:ext cx="10187188" cy="385950"/>
          </a:xfrm>
          <a:prstGeom prst="roundRect">
            <a:avLst/>
          </a:prstGeom>
          <a:solidFill>
            <a:srgbClr val="3975AC"/>
          </a:solidFill>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500" b="1">
                <a:solidFill>
                  <a:schemeClr val="bg1"/>
                </a:solidFill>
              </a:rPr>
              <a:t>Cross-cutting foundation</a:t>
            </a:r>
          </a:p>
        </p:txBody>
      </p:sp>
      <p:sp>
        <p:nvSpPr>
          <p:cNvPr id="23" name="TextBox 22">
            <a:extLst>
              <a:ext uri="{FF2B5EF4-FFF2-40B4-BE49-F238E27FC236}">
                <a16:creationId xmlns:a16="http://schemas.microsoft.com/office/drawing/2014/main" id="{55F11F89-E5E2-8C60-23BB-E2EFA8DCE1FA}"/>
              </a:ext>
            </a:extLst>
          </p:cNvPr>
          <p:cNvSpPr txBox="1"/>
          <p:nvPr/>
        </p:nvSpPr>
        <p:spPr>
          <a:xfrm>
            <a:off x="2275372" y="2752157"/>
            <a:ext cx="344510" cy="584775"/>
          </a:xfrm>
          <a:prstGeom prst="rect">
            <a:avLst/>
          </a:prstGeom>
          <a:noFill/>
        </p:spPr>
        <p:txBody>
          <a:bodyPr wrap="square">
            <a:spAutoFit/>
          </a:bodyPr>
          <a:lstStyle/>
          <a:p>
            <a:r>
              <a:rPr lang="en-US" sz="3200" b="1">
                <a:solidFill>
                  <a:srgbClr val="00A78E"/>
                </a:solidFill>
              </a:rPr>
              <a:t>›</a:t>
            </a:r>
            <a:endParaRPr lang="en-US" sz="3200"/>
          </a:p>
        </p:txBody>
      </p:sp>
      <p:sp>
        <p:nvSpPr>
          <p:cNvPr id="24" name="TextBox 23">
            <a:extLst>
              <a:ext uri="{FF2B5EF4-FFF2-40B4-BE49-F238E27FC236}">
                <a16:creationId xmlns:a16="http://schemas.microsoft.com/office/drawing/2014/main" id="{54E06CB4-7BC6-1A9D-4E27-FF227FCD2B1E}"/>
              </a:ext>
            </a:extLst>
          </p:cNvPr>
          <p:cNvSpPr txBox="1"/>
          <p:nvPr/>
        </p:nvSpPr>
        <p:spPr>
          <a:xfrm>
            <a:off x="3999208" y="2752157"/>
            <a:ext cx="344510" cy="584775"/>
          </a:xfrm>
          <a:prstGeom prst="rect">
            <a:avLst/>
          </a:prstGeom>
          <a:noFill/>
        </p:spPr>
        <p:txBody>
          <a:bodyPr wrap="square">
            <a:spAutoFit/>
          </a:bodyPr>
          <a:lstStyle/>
          <a:p>
            <a:r>
              <a:rPr lang="en-US" sz="3200" b="1">
                <a:solidFill>
                  <a:srgbClr val="00A78E"/>
                </a:solidFill>
              </a:rPr>
              <a:t>›</a:t>
            </a:r>
            <a:endParaRPr lang="en-US" sz="3200"/>
          </a:p>
        </p:txBody>
      </p:sp>
      <p:sp>
        <p:nvSpPr>
          <p:cNvPr id="25" name="TextBox 24">
            <a:extLst>
              <a:ext uri="{FF2B5EF4-FFF2-40B4-BE49-F238E27FC236}">
                <a16:creationId xmlns:a16="http://schemas.microsoft.com/office/drawing/2014/main" id="{06301962-9321-6E95-F5E0-23690043F0F4}"/>
              </a:ext>
            </a:extLst>
          </p:cNvPr>
          <p:cNvSpPr txBox="1"/>
          <p:nvPr/>
        </p:nvSpPr>
        <p:spPr>
          <a:xfrm>
            <a:off x="5745586" y="2752157"/>
            <a:ext cx="344510" cy="584775"/>
          </a:xfrm>
          <a:prstGeom prst="rect">
            <a:avLst/>
          </a:prstGeom>
          <a:noFill/>
        </p:spPr>
        <p:txBody>
          <a:bodyPr wrap="square">
            <a:spAutoFit/>
          </a:bodyPr>
          <a:lstStyle/>
          <a:p>
            <a:r>
              <a:rPr lang="en-US" sz="3200" b="1">
                <a:solidFill>
                  <a:srgbClr val="00A78E"/>
                </a:solidFill>
              </a:rPr>
              <a:t>›</a:t>
            </a:r>
            <a:endParaRPr lang="en-US" sz="3200"/>
          </a:p>
        </p:txBody>
      </p:sp>
      <p:sp>
        <p:nvSpPr>
          <p:cNvPr id="26" name="TextBox 25">
            <a:extLst>
              <a:ext uri="{FF2B5EF4-FFF2-40B4-BE49-F238E27FC236}">
                <a16:creationId xmlns:a16="http://schemas.microsoft.com/office/drawing/2014/main" id="{24ED4A2B-CEE9-89AB-8676-2BDEA26D4F01}"/>
              </a:ext>
            </a:extLst>
          </p:cNvPr>
          <p:cNvSpPr txBox="1"/>
          <p:nvPr/>
        </p:nvSpPr>
        <p:spPr>
          <a:xfrm>
            <a:off x="7446881" y="2752157"/>
            <a:ext cx="344510" cy="584775"/>
          </a:xfrm>
          <a:prstGeom prst="rect">
            <a:avLst/>
          </a:prstGeom>
          <a:noFill/>
        </p:spPr>
        <p:txBody>
          <a:bodyPr wrap="square">
            <a:spAutoFit/>
          </a:bodyPr>
          <a:lstStyle/>
          <a:p>
            <a:r>
              <a:rPr lang="en-US" sz="3200" b="1">
                <a:solidFill>
                  <a:srgbClr val="00A78E"/>
                </a:solidFill>
              </a:rPr>
              <a:t>›</a:t>
            </a:r>
            <a:endParaRPr lang="en-US" sz="3200"/>
          </a:p>
        </p:txBody>
      </p:sp>
      <p:sp>
        <p:nvSpPr>
          <p:cNvPr id="27" name="TextBox 26">
            <a:extLst>
              <a:ext uri="{FF2B5EF4-FFF2-40B4-BE49-F238E27FC236}">
                <a16:creationId xmlns:a16="http://schemas.microsoft.com/office/drawing/2014/main" id="{E172AFCC-ACE8-7B39-400E-A209A4F0A82B}"/>
              </a:ext>
            </a:extLst>
          </p:cNvPr>
          <p:cNvSpPr txBox="1"/>
          <p:nvPr/>
        </p:nvSpPr>
        <p:spPr>
          <a:xfrm>
            <a:off x="9176514" y="2752157"/>
            <a:ext cx="344510" cy="584775"/>
          </a:xfrm>
          <a:prstGeom prst="rect">
            <a:avLst/>
          </a:prstGeom>
          <a:noFill/>
        </p:spPr>
        <p:txBody>
          <a:bodyPr wrap="square">
            <a:spAutoFit/>
          </a:bodyPr>
          <a:lstStyle/>
          <a:p>
            <a:r>
              <a:rPr lang="en-US" sz="3200" b="1">
                <a:solidFill>
                  <a:srgbClr val="00A78E"/>
                </a:solidFill>
              </a:rPr>
              <a:t>›</a:t>
            </a:r>
            <a:endParaRPr lang="en-US" sz="3200"/>
          </a:p>
        </p:txBody>
      </p:sp>
      <p:sp>
        <p:nvSpPr>
          <p:cNvPr id="31" name="TextBox 30">
            <a:extLst>
              <a:ext uri="{FF2B5EF4-FFF2-40B4-BE49-F238E27FC236}">
                <a16:creationId xmlns:a16="http://schemas.microsoft.com/office/drawing/2014/main" id="{665DB069-7F3D-C3B0-77CA-3446B4553B1D}"/>
              </a:ext>
            </a:extLst>
          </p:cNvPr>
          <p:cNvSpPr txBox="1"/>
          <p:nvPr/>
        </p:nvSpPr>
        <p:spPr>
          <a:xfrm>
            <a:off x="511934" y="948253"/>
            <a:ext cx="10022983" cy="338554"/>
          </a:xfrm>
          <a:prstGeom prst="rect">
            <a:avLst/>
          </a:prstGeom>
          <a:noFill/>
        </p:spPr>
        <p:txBody>
          <a:bodyPr wrap="square">
            <a:spAutoFit/>
          </a:bodyPr>
          <a:lstStyle/>
          <a:p>
            <a:r>
              <a:rPr kumimoji="0" lang="en-US" sz="1600" b="0" i="0" u="none" strike="noStrike" kern="1200" cap="none" spc="0" normalizeH="0" baseline="0" noProof="0">
                <a:ln>
                  <a:noFill/>
                </a:ln>
                <a:solidFill>
                  <a:prstClr val="white"/>
                </a:solidFill>
                <a:effectLst/>
                <a:uLnTx/>
                <a:uFillTx/>
                <a:latin typeface="CVS Health Sans"/>
                <a:ea typeface="+mj-ea"/>
                <a:cs typeface="+mj-cs"/>
              </a:rPr>
              <a:t>A metadata-driven control plane for onboarding prioritized telemetry into governed Bronze Delta tables</a:t>
            </a:r>
            <a:endParaRPr lang="en-US"/>
          </a:p>
        </p:txBody>
      </p:sp>
      <p:grpSp>
        <p:nvGrpSpPr>
          <p:cNvPr id="89" name="Group 88">
            <a:extLst>
              <a:ext uri="{FF2B5EF4-FFF2-40B4-BE49-F238E27FC236}">
                <a16:creationId xmlns:a16="http://schemas.microsoft.com/office/drawing/2014/main" id="{969E6257-8AE0-7289-D3C8-7D3135CFC2B6}"/>
              </a:ext>
            </a:extLst>
          </p:cNvPr>
          <p:cNvGrpSpPr/>
          <p:nvPr/>
        </p:nvGrpSpPr>
        <p:grpSpPr>
          <a:xfrm>
            <a:off x="946592" y="4966367"/>
            <a:ext cx="1494228" cy="841248"/>
            <a:chOff x="824247" y="5213626"/>
            <a:chExt cx="1494228" cy="841248"/>
          </a:xfrm>
        </p:grpSpPr>
        <p:sp>
          <p:nvSpPr>
            <p:cNvPr id="71" name="Shape 32">
              <a:extLst>
                <a:ext uri="{FF2B5EF4-FFF2-40B4-BE49-F238E27FC236}">
                  <a16:creationId xmlns:a16="http://schemas.microsoft.com/office/drawing/2014/main" id="{EB2410F9-A3C1-0C5B-2A7C-688F41819A1F}"/>
                </a:ext>
              </a:extLst>
            </p:cNvPr>
            <p:cNvSpPr/>
            <p:nvPr/>
          </p:nvSpPr>
          <p:spPr>
            <a:xfrm>
              <a:off x="824247" y="5213626"/>
              <a:ext cx="1494228" cy="841248"/>
            </a:xfrm>
            <a:prstGeom prst="roundRect">
              <a:avLst>
                <a:gd name="adj" fmla="val 4348"/>
              </a:avLst>
            </a:prstGeom>
            <a:solidFill>
              <a:srgbClr val="0B315E"/>
            </a:solidFill>
            <a:ln w="12700">
              <a:solidFill>
                <a:srgbClr val="0B315E"/>
              </a:solidFill>
              <a:prstDash val="solid"/>
            </a:ln>
          </p:spPr>
          <p:txBody>
            <a:bodyPr/>
            <a:lstStyle/>
            <a:p>
              <a:endParaRPr lang="en-US"/>
            </a:p>
          </p:txBody>
        </p:sp>
        <p:sp>
          <p:nvSpPr>
            <p:cNvPr id="72" name="Text 33">
              <a:extLst>
                <a:ext uri="{FF2B5EF4-FFF2-40B4-BE49-F238E27FC236}">
                  <a16:creationId xmlns:a16="http://schemas.microsoft.com/office/drawing/2014/main" id="{47C98512-878C-6525-D83D-01658718D635}"/>
                </a:ext>
              </a:extLst>
            </p:cNvPr>
            <p:cNvSpPr/>
            <p:nvPr/>
          </p:nvSpPr>
          <p:spPr>
            <a:xfrm>
              <a:off x="933975" y="5341642"/>
              <a:ext cx="1312190" cy="201168"/>
            </a:xfrm>
            <a:prstGeom prst="rect">
              <a:avLst/>
            </a:prstGeom>
            <a:noFill/>
            <a:ln/>
          </p:spPr>
          <p:txBody>
            <a:bodyPr wrap="square" lIns="0" tIns="0" rIns="0" bIns="0" rtlCol="0" anchor="ctr"/>
            <a:lstStyle/>
            <a:p>
              <a:pPr marL="0" indent="0">
                <a:buNone/>
              </a:pPr>
              <a:r>
                <a:rPr lang="en-US" sz="1000" b="1">
                  <a:solidFill>
                    <a:srgbClr val="FFFFFF"/>
                  </a:solidFill>
                </a:rPr>
                <a:t>Data contracts</a:t>
              </a:r>
              <a:endParaRPr lang="en-US" sz="1000"/>
            </a:p>
          </p:txBody>
        </p:sp>
        <p:sp>
          <p:nvSpPr>
            <p:cNvPr id="73" name="Text 34">
              <a:extLst>
                <a:ext uri="{FF2B5EF4-FFF2-40B4-BE49-F238E27FC236}">
                  <a16:creationId xmlns:a16="http://schemas.microsoft.com/office/drawing/2014/main" id="{8A382A4A-18B0-02AB-B8C7-31504F5A4E91}"/>
                </a:ext>
              </a:extLst>
            </p:cNvPr>
            <p:cNvSpPr/>
            <p:nvPr/>
          </p:nvSpPr>
          <p:spPr>
            <a:xfrm>
              <a:off x="933975" y="5597674"/>
              <a:ext cx="1312190" cy="310896"/>
            </a:xfrm>
            <a:prstGeom prst="rect">
              <a:avLst/>
            </a:prstGeom>
            <a:noFill/>
            <a:ln/>
          </p:spPr>
          <p:txBody>
            <a:bodyPr wrap="square" lIns="0" tIns="0" rIns="0" bIns="0" rtlCol="0" anchor="ctr"/>
            <a:lstStyle/>
            <a:p>
              <a:pPr marL="0" indent="0">
                <a:buNone/>
              </a:pPr>
              <a:r>
                <a:rPr lang="en-US" sz="800">
                  <a:solidFill>
                    <a:srgbClr val="DDEAF5"/>
                  </a:solidFill>
                </a:rPr>
                <a:t>Owner, format, SLA, classification</a:t>
              </a:r>
              <a:endParaRPr lang="en-US" sz="800"/>
            </a:p>
          </p:txBody>
        </p:sp>
      </p:grpSp>
      <p:grpSp>
        <p:nvGrpSpPr>
          <p:cNvPr id="90" name="Group 89">
            <a:extLst>
              <a:ext uri="{FF2B5EF4-FFF2-40B4-BE49-F238E27FC236}">
                <a16:creationId xmlns:a16="http://schemas.microsoft.com/office/drawing/2014/main" id="{47A85C74-DB96-F438-DBDD-95A7B1308F18}"/>
              </a:ext>
            </a:extLst>
          </p:cNvPr>
          <p:cNvGrpSpPr/>
          <p:nvPr/>
        </p:nvGrpSpPr>
        <p:grpSpPr>
          <a:xfrm>
            <a:off x="2639585" y="4966367"/>
            <a:ext cx="1494228" cy="841248"/>
            <a:chOff x="2786391" y="5170868"/>
            <a:chExt cx="1494228" cy="841248"/>
          </a:xfrm>
        </p:grpSpPr>
        <p:sp>
          <p:nvSpPr>
            <p:cNvPr id="74" name="Shape 35">
              <a:extLst>
                <a:ext uri="{FF2B5EF4-FFF2-40B4-BE49-F238E27FC236}">
                  <a16:creationId xmlns:a16="http://schemas.microsoft.com/office/drawing/2014/main" id="{53F9CE04-0053-ECEB-DB41-5D944151C8D3}"/>
                </a:ext>
              </a:extLst>
            </p:cNvPr>
            <p:cNvSpPr/>
            <p:nvPr/>
          </p:nvSpPr>
          <p:spPr>
            <a:xfrm>
              <a:off x="2786391" y="5170868"/>
              <a:ext cx="1494228" cy="841248"/>
            </a:xfrm>
            <a:prstGeom prst="roundRect">
              <a:avLst>
                <a:gd name="adj" fmla="val 4348"/>
              </a:avLst>
            </a:prstGeom>
            <a:solidFill>
              <a:srgbClr val="0B315E"/>
            </a:solidFill>
            <a:ln w="12700">
              <a:solidFill>
                <a:srgbClr val="0B315E"/>
              </a:solidFill>
              <a:prstDash val="solid"/>
            </a:ln>
          </p:spPr>
          <p:txBody>
            <a:bodyPr/>
            <a:lstStyle/>
            <a:p>
              <a:endParaRPr lang="en-US"/>
            </a:p>
          </p:txBody>
        </p:sp>
        <p:sp>
          <p:nvSpPr>
            <p:cNvPr id="75" name="Text 36">
              <a:extLst>
                <a:ext uri="{FF2B5EF4-FFF2-40B4-BE49-F238E27FC236}">
                  <a16:creationId xmlns:a16="http://schemas.microsoft.com/office/drawing/2014/main" id="{ED370DA6-879C-53B0-8381-9ACC866CC5FF}"/>
                </a:ext>
              </a:extLst>
            </p:cNvPr>
            <p:cNvSpPr/>
            <p:nvPr/>
          </p:nvSpPr>
          <p:spPr>
            <a:xfrm>
              <a:off x="2896119" y="5298884"/>
              <a:ext cx="1312190" cy="201168"/>
            </a:xfrm>
            <a:prstGeom prst="rect">
              <a:avLst/>
            </a:prstGeom>
            <a:noFill/>
            <a:ln/>
          </p:spPr>
          <p:txBody>
            <a:bodyPr wrap="square" lIns="0" tIns="0" rIns="0" bIns="0" rtlCol="0" anchor="ctr"/>
            <a:lstStyle/>
            <a:p>
              <a:pPr marL="0" indent="0">
                <a:buNone/>
              </a:pPr>
              <a:r>
                <a:rPr lang="en-US" sz="1000" b="1">
                  <a:solidFill>
                    <a:srgbClr val="FFFFFF"/>
                  </a:solidFill>
                </a:rPr>
                <a:t>Security</a:t>
              </a:r>
              <a:endParaRPr lang="en-US" sz="1000"/>
            </a:p>
          </p:txBody>
        </p:sp>
        <p:sp>
          <p:nvSpPr>
            <p:cNvPr id="76" name="Text 37">
              <a:extLst>
                <a:ext uri="{FF2B5EF4-FFF2-40B4-BE49-F238E27FC236}">
                  <a16:creationId xmlns:a16="http://schemas.microsoft.com/office/drawing/2014/main" id="{BDE06411-1E0F-69B2-DEB2-5E2413CA87F3}"/>
                </a:ext>
              </a:extLst>
            </p:cNvPr>
            <p:cNvSpPr/>
            <p:nvPr/>
          </p:nvSpPr>
          <p:spPr>
            <a:xfrm>
              <a:off x="2896119" y="5554916"/>
              <a:ext cx="1312190" cy="310896"/>
            </a:xfrm>
            <a:prstGeom prst="rect">
              <a:avLst/>
            </a:prstGeom>
            <a:noFill/>
            <a:ln/>
          </p:spPr>
          <p:txBody>
            <a:bodyPr wrap="square" lIns="0" tIns="0" rIns="0" bIns="0" rtlCol="0" anchor="ctr"/>
            <a:lstStyle/>
            <a:p>
              <a:pPr marL="0" indent="0">
                <a:buNone/>
              </a:pPr>
              <a:r>
                <a:rPr lang="en-US" sz="800">
                  <a:solidFill>
                    <a:srgbClr val="DDEAF5"/>
                  </a:solidFill>
                </a:rPr>
                <a:t>Managed identity, groups, least privilege</a:t>
              </a:r>
              <a:endParaRPr lang="en-US" sz="800"/>
            </a:p>
          </p:txBody>
        </p:sp>
      </p:grpSp>
      <p:grpSp>
        <p:nvGrpSpPr>
          <p:cNvPr id="91" name="Group 90">
            <a:extLst>
              <a:ext uri="{FF2B5EF4-FFF2-40B4-BE49-F238E27FC236}">
                <a16:creationId xmlns:a16="http://schemas.microsoft.com/office/drawing/2014/main" id="{0AEC7F52-1C64-B2BC-B004-0CB43C72B7F6}"/>
              </a:ext>
            </a:extLst>
          </p:cNvPr>
          <p:cNvGrpSpPr/>
          <p:nvPr/>
        </p:nvGrpSpPr>
        <p:grpSpPr>
          <a:xfrm>
            <a:off x="4332578" y="4966367"/>
            <a:ext cx="1494228" cy="841248"/>
            <a:chOff x="4688343" y="5170868"/>
            <a:chExt cx="1494228" cy="841248"/>
          </a:xfrm>
        </p:grpSpPr>
        <p:sp>
          <p:nvSpPr>
            <p:cNvPr id="77" name="Shape 38">
              <a:extLst>
                <a:ext uri="{FF2B5EF4-FFF2-40B4-BE49-F238E27FC236}">
                  <a16:creationId xmlns:a16="http://schemas.microsoft.com/office/drawing/2014/main" id="{D2BDBCD0-7B3A-7BC7-0016-4255AB6691BE}"/>
                </a:ext>
              </a:extLst>
            </p:cNvPr>
            <p:cNvSpPr/>
            <p:nvPr/>
          </p:nvSpPr>
          <p:spPr>
            <a:xfrm>
              <a:off x="4688343" y="5170868"/>
              <a:ext cx="1494228" cy="841248"/>
            </a:xfrm>
            <a:prstGeom prst="roundRect">
              <a:avLst>
                <a:gd name="adj" fmla="val 4348"/>
              </a:avLst>
            </a:prstGeom>
            <a:solidFill>
              <a:srgbClr val="0B315E"/>
            </a:solidFill>
            <a:ln w="12700">
              <a:solidFill>
                <a:srgbClr val="0B315E"/>
              </a:solidFill>
              <a:prstDash val="solid"/>
            </a:ln>
          </p:spPr>
          <p:txBody>
            <a:bodyPr/>
            <a:lstStyle/>
            <a:p>
              <a:endParaRPr lang="en-US"/>
            </a:p>
          </p:txBody>
        </p:sp>
        <p:sp>
          <p:nvSpPr>
            <p:cNvPr id="78" name="Text 39">
              <a:extLst>
                <a:ext uri="{FF2B5EF4-FFF2-40B4-BE49-F238E27FC236}">
                  <a16:creationId xmlns:a16="http://schemas.microsoft.com/office/drawing/2014/main" id="{4EE36067-A72F-EE7A-234D-58416CC380BB}"/>
                </a:ext>
              </a:extLst>
            </p:cNvPr>
            <p:cNvSpPr/>
            <p:nvPr/>
          </p:nvSpPr>
          <p:spPr>
            <a:xfrm>
              <a:off x="4798071" y="5298884"/>
              <a:ext cx="1312190" cy="201168"/>
            </a:xfrm>
            <a:prstGeom prst="rect">
              <a:avLst/>
            </a:prstGeom>
            <a:noFill/>
            <a:ln/>
          </p:spPr>
          <p:txBody>
            <a:bodyPr wrap="square" lIns="0" tIns="0" rIns="0" bIns="0" rtlCol="0" anchor="ctr"/>
            <a:lstStyle/>
            <a:p>
              <a:pPr marL="0" indent="0">
                <a:buNone/>
              </a:pPr>
              <a:r>
                <a:rPr lang="en-US" sz="1000" b="1">
                  <a:solidFill>
                    <a:srgbClr val="FFFFFF"/>
                  </a:solidFill>
                </a:rPr>
                <a:t>Reliability</a:t>
              </a:r>
              <a:endParaRPr lang="en-US" sz="1000"/>
            </a:p>
          </p:txBody>
        </p:sp>
        <p:sp>
          <p:nvSpPr>
            <p:cNvPr id="79" name="Text 40">
              <a:extLst>
                <a:ext uri="{FF2B5EF4-FFF2-40B4-BE49-F238E27FC236}">
                  <a16:creationId xmlns:a16="http://schemas.microsoft.com/office/drawing/2014/main" id="{D1369212-470F-FCEB-E7AA-29607D0BE917}"/>
                </a:ext>
              </a:extLst>
            </p:cNvPr>
            <p:cNvSpPr/>
            <p:nvPr/>
          </p:nvSpPr>
          <p:spPr>
            <a:xfrm>
              <a:off x="4798071" y="5554916"/>
              <a:ext cx="1312190" cy="310896"/>
            </a:xfrm>
            <a:prstGeom prst="rect">
              <a:avLst/>
            </a:prstGeom>
            <a:noFill/>
            <a:ln/>
          </p:spPr>
          <p:txBody>
            <a:bodyPr wrap="square" lIns="0" tIns="0" rIns="0" bIns="0" rtlCol="0" anchor="ctr"/>
            <a:lstStyle/>
            <a:p>
              <a:pPr marL="0" indent="0">
                <a:buNone/>
              </a:pPr>
              <a:r>
                <a:rPr lang="en-US" sz="800">
                  <a:solidFill>
                    <a:srgbClr val="DDEAF5"/>
                  </a:solidFill>
                </a:rPr>
                <a:t>Replay, DLQ, checkpoint recovery</a:t>
              </a:r>
              <a:endParaRPr lang="en-US" sz="800"/>
            </a:p>
          </p:txBody>
        </p:sp>
      </p:grpSp>
      <p:grpSp>
        <p:nvGrpSpPr>
          <p:cNvPr id="92" name="Group 91">
            <a:extLst>
              <a:ext uri="{FF2B5EF4-FFF2-40B4-BE49-F238E27FC236}">
                <a16:creationId xmlns:a16="http://schemas.microsoft.com/office/drawing/2014/main" id="{11DB77D5-C8B9-8FBD-537B-2F9C00546A00}"/>
              </a:ext>
            </a:extLst>
          </p:cNvPr>
          <p:cNvGrpSpPr/>
          <p:nvPr/>
        </p:nvGrpSpPr>
        <p:grpSpPr>
          <a:xfrm>
            <a:off x="6025571" y="4966367"/>
            <a:ext cx="1494228" cy="841248"/>
            <a:chOff x="6590295" y="5170868"/>
            <a:chExt cx="1494228" cy="841248"/>
          </a:xfrm>
        </p:grpSpPr>
        <p:sp>
          <p:nvSpPr>
            <p:cNvPr id="80" name="Shape 41">
              <a:extLst>
                <a:ext uri="{FF2B5EF4-FFF2-40B4-BE49-F238E27FC236}">
                  <a16:creationId xmlns:a16="http://schemas.microsoft.com/office/drawing/2014/main" id="{03E497E2-CAD2-7240-19A0-FF4DA7903EA3}"/>
                </a:ext>
              </a:extLst>
            </p:cNvPr>
            <p:cNvSpPr/>
            <p:nvPr/>
          </p:nvSpPr>
          <p:spPr>
            <a:xfrm>
              <a:off x="6590295" y="5170868"/>
              <a:ext cx="1494228" cy="841248"/>
            </a:xfrm>
            <a:prstGeom prst="roundRect">
              <a:avLst>
                <a:gd name="adj" fmla="val 4348"/>
              </a:avLst>
            </a:prstGeom>
            <a:solidFill>
              <a:srgbClr val="0B315E"/>
            </a:solidFill>
            <a:ln w="12700">
              <a:solidFill>
                <a:srgbClr val="0B315E"/>
              </a:solidFill>
              <a:prstDash val="solid"/>
            </a:ln>
          </p:spPr>
          <p:txBody>
            <a:bodyPr/>
            <a:lstStyle/>
            <a:p>
              <a:endParaRPr lang="en-US"/>
            </a:p>
          </p:txBody>
        </p:sp>
        <p:sp>
          <p:nvSpPr>
            <p:cNvPr id="81" name="Text 42">
              <a:extLst>
                <a:ext uri="{FF2B5EF4-FFF2-40B4-BE49-F238E27FC236}">
                  <a16:creationId xmlns:a16="http://schemas.microsoft.com/office/drawing/2014/main" id="{838C4028-45E6-0AD3-251D-DE5BCF04B850}"/>
                </a:ext>
              </a:extLst>
            </p:cNvPr>
            <p:cNvSpPr/>
            <p:nvPr/>
          </p:nvSpPr>
          <p:spPr>
            <a:xfrm>
              <a:off x="6700023" y="5298884"/>
              <a:ext cx="1312190" cy="201168"/>
            </a:xfrm>
            <a:prstGeom prst="rect">
              <a:avLst/>
            </a:prstGeom>
            <a:noFill/>
            <a:ln/>
          </p:spPr>
          <p:txBody>
            <a:bodyPr wrap="square" lIns="0" tIns="0" rIns="0" bIns="0" rtlCol="0" anchor="ctr"/>
            <a:lstStyle/>
            <a:p>
              <a:pPr marL="0" indent="0">
                <a:buNone/>
              </a:pPr>
              <a:r>
                <a:rPr lang="en-US" sz="1000" b="1">
                  <a:solidFill>
                    <a:srgbClr val="FFFFFF"/>
                  </a:solidFill>
                </a:rPr>
                <a:t>Observability</a:t>
              </a:r>
              <a:endParaRPr lang="en-US" sz="1000"/>
            </a:p>
          </p:txBody>
        </p:sp>
        <p:sp>
          <p:nvSpPr>
            <p:cNvPr id="82" name="Text 43">
              <a:extLst>
                <a:ext uri="{FF2B5EF4-FFF2-40B4-BE49-F238E27FC236}">
                  <a16:creationId xmlns:a16="http://schemas.microsoft.com/office/drawing/2014/main" id="{E1DCD687-E301-D4BB-25A5-46A43A70851F}"/>
                </a:ext>
              </a:extLst>
            </p:cNvPr>
            <p:cNvSpPr/>
            <p:nvPr/>
          </p:nvSpPr>
          <p:spPr>
            <a:xfrm>
              <a:off x="6700023" y="5554916"/>
              <a:ext cx="1312190" cy="310896"/>
            </a:xfrm>
            <a:prstGeom prst="rect">
              <a:avLst/>
            </a:prstGeom>
            <a:noFill/>
            <a:ln/>
          </p:spPr>
          <p:txBody>
            <a:bodyPr wrap="square" lIns="0" tIns="0" rIns="0" bIns="0" rtlCol="0" anchor="ctr"/>
            <a:lstStyle/>
            <a:p>
              <a:pPr marL="0" indent="0">
                <a:buNone/>
              </a:pPr>
              <a:r>
                <a:rPr lang="en-US" sz="800">
                  <a:solidFill>
                    <a:srgbClr val="DDEAF5"/>
                  </a:solidFill>
                </a:rPr>
                <a:t>Freshness, volume, latency, drift</a:t>
              </a:r>
              <a:endParaRPr lang="en-US" sz="800"/>
            </a:p>
          </p:txBody>
        </p:sp>
      </p:grpSp>
      <p:grpSp>
        <p:nvGrpSpPr>
          <p:cNvPr id="93" name="Group 92">
            <a:extLst>
              <a:ext uri="{FF2B5EF4-FFF2-40B4-BE49-F238E27FC236}">
                <a16:creationId xmlns:a16="http://schemas.microsoft.com/office/drawing/2014/main" id="{8351FF4D-81E5-555B-6F6D-421B66001045}"/>
              </a:ext>
            </a:extLst>
          </p:cNvPr>
          <p:cNvGrpSpPr/>
          <p:nvPr/>
        </p:nvGrpSpPr>
        <p:grpSpPr>
          <a:xfrm>
            <a:off x="7718564" y="4966367"/>
            <a:ext cx="1494228" cy="841248"/>
            <a:chOff x="8156833" y="5170868"/>
            <a:chExt cx="1494228" cy="841248"/>
          </a:xfrm>
        </p:grpSpPr>
        <p:sp>
          <p:nvSpPr>
            <p:cNvPr id="83" name="Shape 44">
              <a:extLst>
                <a:ext uri="{FF2B5EF4-FFF2-40B4-BE49-F238E27FC236}">
                  <a16:creationId xmlns:a16="http://schemas.microsoft.com/office/drawing/2014/main" id="{43A07685-02FE-B6D3-7CDD-7B775AF08E8D}"/>
                </a:ext>
              </a:extLst>
            </p:cNvPr>
            <p:cNvSpPr/>
            <p:nvPr/>
          </p:nvSpPr>
          <p:spPr>
            <a:xfrm>
              <a:off x="8156833" y="5170868"/>
              <a:ext cx="1494228" cy="841248"/>
            </a:xfrm>
            <a:prstGeom prst="roundRect">
              <a:avLst>
                <a:gd name="adj" fmla="val 4348"/>
              </a:avLst>
            </a:prstGeom>
            <a:solidFill>
              <a:srgbClr val="0B315E"/>
            </a:solidFill>
            <a:ln w="12700">
              <a:solidFill>
                <a:srgbClr val="0B315E"/>
              </a:solidFill>
              <a:prstDash val="solid"/>
            </a:ln>
          </p:spPr>
          <p:txBody>
            <a:bodyPr/>
            <a:lstStyle/>
            <a:p>
              <a:endParaRPr lang="en-US"/>
            </a:p>
          </p:txBody>
        </p:sp>
        <p:sp>
          <p:nvSpPr>
            <p:cNvPr id="84" name="Text 45">
              <a:extLst>
                <a:ext uri="{FF2B5EF4-FFF2-40B4-BE49-F238E27FC236}">
                  <a16:creationId xmlns:a16="http://schemas.microsoft.com/office/drawing/2014/main" id="{A3571F37-2804-6A6F-71B2-CF8C176FF564}"/>
                </a:ext>
              </a:extLst>
            </p:cNvPr>
            <p:cNvSpPr/>
            <p:nvPr/>
          </p:nvSpPr>
          <p:spPr>
            <a:xfrm>
              <a:off x="8266561" y="5298884"/>
              <a:ext cx="1312190" cy="201168"/>
            </a:xfrm>
            <a:prstGeom prst="rect">
              <a:avLst/>
            </a:prstGeom>
            <a:noFill/>
            <a:ln/>
          </p:spPr>
          <p:txBody>
            <a:bodyPr wrap="square" lIns="0" tIns="0" rIns="0" bIns="0" rtlCol="0" anchor="ctr"/>
            <a:lstStyle/>
            <a:p>
              <a:pPr marL="0" indent="0">
                <a:buNone/>
              </a:pPr>
              <a:r>
                <a:rPr lang="en-US" sz="1000" b="1">
                  <a:solidFill>
                    <a:srgbClr val="FFFFFF"/>
                  </a:solidFill>
                </a:rPr>
                <a:t>Engineering</a:t>
              </a:r>
              <a:endParaRPr lang="en-US" sz="1000"/>
            </a:p>
          </p:txBody>
        </p:sp>
        <p:sp>
          <p:nvSpPr>
            <p:cNvPr id="85" name="Text 46">
              <a:extLst>
                <a:ext uri="{FF2B5EF4-FFF2-40B4-BE49-F238E27FC236}">
                  <a16:creationId xmlns:a16="http://schemas.microsoft.com/office/drawing/2014/main" id="{C3ADF5BC-AB1E-9179-80FF-4BDC5BF49C96}"/>
                </a:ext>
              </a:extLst>
            </p:cNvPr>
            <p:cNvSpPr/>
            <p:nvPr/>
          </p:nvSpPr>
          <p:spPr>
            <a:xfrm>
              <a:off x="8266561" y="5554916"/>
              <a:ext cx="1312190" cy="310896"/>
            </a:xfrm>
            <a:prstGeom prst="rect">
              <a:avLst/>
            </a:prstGeom>
            <a:noFill/>
            <a:ln/>
          </p:spPr>
          <p:txBody>
            <a:bodyPr wrap="square" lIns="0" tIns="0" rIns="0" bIns="0" rtlCol="0" anchor="ctr"/>
            <a:lstStyle/>
            <a:p>
              <a:pPr marL="0" indent="0">
                <a:buNone/>
              </a:pPr>
              <a:r>
                <a:rPr lang="en-US" sz="800">
                  <a:solidFill>
                    <a:srgbClr val="DDEAF5"/>
                  </a:solidFill>
                </a:rPr>
                <a:t>Templates, tests, CI/CD, IaC</a:t>
              </a:r>
              <a:endParaRPr lang="en-US" sz="800"/>
            </a:p>
          </p:txBody>
        </p:sp>
      </p:grpSp>
      <p:grpSp>
        <p:nvGrpSpPr>
          <p:cNvPr id="94" name="Group 93">
            <a:extLst>
              <a:ext uri="{FF2B5EF4-FFF2-40B4-BE49-F238E27FC236}">
                <a16:creationId xmlns:a16="http://schemas.microsoft.com/office/drawing/2014/main" id="{18044227-DB19-5712-2178-54F05D7F1B5F}"/>
              </a:ext>
            </a:extLst>
          </p:cNvPr>
          <p:cNvGrpSpPr/>
          <p:nvPr/>
        </p:nvGrpSpPr>
        <p:grpSpPr>
          <a:xfrm>
            <a:off x="9411555" y="4966367"/>
            <a:ext cx="1494228" cy="841248"/>
            <a:chOff x="9760789" y="5170868"/>
            <a:chExt cx="1494228" cy="841248"/>
          </a:xfrm>
        </p:grpSpPr>
        <p:sp>
          <p:nvSpPr>
            <p:cNvPr id="86" name="Shape 47">
              <a:extLst>
                <a:ext uri="{FF2B5EF4-FFF2-40B4-BE49-F238E27FC236}">
                  <a16:creationId xmlns:a16="http://schemas.microsoft.com/office/drawing/2014/main" id="{B3CCD3AB-39FD-D2C5-E436-8797E6CB9CCB}"/>
                </a:ext>
              </a:extLst>
            </p:cNvPr>
            <p:cNvSpPr/>
            <p:nvPr/>
          </p:nvSpPr>
          <p:spPr>
            <a:xfrm>
              <a:off x="9760789" y="5170868"/>
              <a:ext cx="1494228" cy="841248"/>
            </a:xfrm>
            <a:prstGeom prst="roundRect">
              <a:avLst>
                <a:gd name="adj" fmla="val 4348"/>
              </a:avLst>
            </a:prstGeom>
            <a:solidFill>
              <a:srgbClr val="0B315E"/>
            </a:solidFill>
            <a:ln w="12700">
              <a:solidFill>
                <a:srgbClr val="0B315E"/>
              </a:solidFill>
              <a:prstDash val="solid"/>
            </a:ln>
          </p:spPr>
          <p:txBody>
            <a:bodyPr/>
            <a:lstStyle/>
            <a:p>
              <a:endParaRPr lang="en-US"/>
            </a:p>
          </p:txBody>
        </p:sp>
        <p:sp>
          <p:nvSpPr>
            <p:cNvPr id="87" name="Text 48">
              <a:extLst>
                <a:ext uri="{FF2B5EF4-FFF2-40B4-BE49-F238E27FC236}">
                  <a16:creationId xmlns:a16="http://schemas.microsoft.com/office/drawing/2014/main" id="{BCF9BEAD-BE93-A484-4415-D81A52DB8099}"/>
                </a:ext>
              </a:extLst>
            </p:cNvPr>
            <p:cNvSpPr/>
            <p:nvPr/>
          </p:nvSpPr>
          <p:spPr>
            <a:xfrm>
              <a:off x="9870517" y="5298884"/>
              <a:ext cx="1312190" cy="201168"/>
            </a:xfrm>
            <a:prstGeom prst="rect">
              <a:avLst/>
            </a:prstGeom>
            <a:noFill/>
            <a:ln/>
          </p:spPr>
          <p:txBody>
            <a:bodyPr wrap="square" lIns="0" tIns="0" rIns="0" bIns="0" rtlCol="0" anchor="ctr"/>
            <a:lstStyle/>
            <a:p>
              <a:pPr marL="0" indent="0">
                <a:buNone/>
              </a:pPr>
              <a:r>
                <a:rPr lang="en-US" sz="1000" b="1">
                  <a:solidFill>
                    <a:srgbClr val="FFFFFF"/>
                  </a:solidFill>
                </a:rPr>
                <a:t>Operations</a:t>
              </a:r>
              <a:endParaRPr lang="en-US" sz="1000"/>
            </a:p>
          </p:txBody>
        </p:sp>
        <p:sp>
          <p:nvSpPr>
            <p:cNvPr id="88" name="Text 49">
              <a:extLst>
                <a:ext uri="{FF2B5EF4-FFF2-40B4-BE49-F238E27FC236}">
                  <a16:creationId xmlns:a16="http://schemas.microsoft.com/office/drawing/2014/main" id="{2766EE13-FC0E-5D4E-68C7-567C260DAAB5}"/>
                </a:ext>
              </a:extLst>
            </p:cNvPr>
            <p:cNvSpPr/>
            <p:nvPr/>
          </p:nvSpPr>
          <p:spPr>
            <a:xfrm>
              <a:off x="9870517" y="5554916"/>
              <a:ext cx="1312190" cy="310896"/>
            </a:xfrm>
            <a:prstGeom prst="rect">
              <a:avLst/>
            </a:prstGeom>
            <a:noFill/>
            <a:ln/>
          </p:spPr>
          <p:txBody>
            <a:bodyPr wrap="square" lIns="0" tIns="0" rIns="0" bIns="0" rtlCol="0" anchor="ctr"/>
            <a:lstStyle/>
            <a:p>
              <a:pPr marL="0" indent="0">
                <a:buNone/>
              </a:pPr>
              <a:r>
                <a:rPr lang="en-US" sz="800">
                  <a:solidFill>
                    <a:srgbClr val="DDEAF5"/>
                  </a:solidFill>
                </a:rPr>
                <a:t>Runbooks, escalation, handoff</a:t>
              </a:r>
              <a:endParaRPr lang="en-US" sz="800"/>
            </a:p>
          </p:txBody>
        </p:sp>
      </p:grpSp>
    </p:spTree>
    <p:extLst>
      <p:ext uri="{BB962C8B-B14F-4D97-AF65-F5344CB8AC3E}">
        <p14:creationId xmlns:p14="http://schemas.microsoft.com/office/powerpoint/2010/main" val="39051873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751EC-0646-3766-13CD-FB64E54EAE5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24F3F19-5CC0-484A-3E88-DD60DF616BE5}"/>
              </a:ext>
            </a:extLst>
          </p:cNvPr>
          <p:cNvSpPr>
            <a:spLocks noGrp="1"/>
          </p:cNvSpPr>
          <p:nvPr>
            <p:ph type="title"/>
          </p:nvPr>
        </p:nvSpPr>
        <p:spPr/>
        <p:txBody>
          <a:bodyPr/>
          <a:lstStyle/>
          <a:p>
            <a:r>
              <a:rPr lang="en-US"/>
              <a:t>Workstream B – Pre-Requisite Components for Scaling </a:t>
            </a:r>
          </a:p>
        </p:txBody>
      </p:sp>
      <p:sp>
        <p:nvSpPr>
          <p:cNvPr id="31" name="TextBox 30">
            <a:extLst>
              <a:ext uri="{FF2B5EF4-FFF2-40B4-BE49-F238E27FC236}">
                <a16:creationId xmlns:a16="http://schemas.microsoft.com/office/drawing/2014/main" id="{906F06FF-1D51-8E35-8F84-09E44351E7D9}"/>
              </a:ext>
            </a:extLst>
          </p:cNvPr>
          <p:cNvSpPr txBox="1"/>
          <p:nvPr/>
        </p:nvSpPr>
        <p:spPr>
          <a:xfrm>
            <a:off x="511934" y="948253"/>
            <a:ext cx="10022983" cy="338554"/>
          </a:xfrm>
          <a:prstGeom prst="rect">
            <a:avLst/>
          </a:prstGeom>
          <a:noFill/>
        </p:spPr>
        <p:txBody>
          <a:bodyPr wrap="square">
            <a:spAutoFit/>
          </a:bodyPr>
          <a:lstStyle/>
          <a:p>
            <a:r>
              <a:rPr kumimoji="0" lang="en-US" sz="1600" b="0" i="0" u="none" strike="noStrike" kern="1200" cap="none" spc="0" normalizeH="0" baseline="0" noProof="0">
                <a:ln>
                  <a:noFill/>
                </a:ln>
                <a:solidFill>
                  <a:prstClr val="white"/>
                </a:solidFill>
                <a:effectLst/>
                <a:uLnTx/>
                <a:uFillTx/>
                <a:latin typeface="CVS Health Sans"/>
                <a:ea typeface="+mj-ea"/>
                <a:cs typeface="+mj-cs"/>
              </a:rPr>
              <a:t>The initial architecture should cover the full source lifecycle, even where detailed design decisions remain open.</a:t>
            </a:r>
            <a:endParaRPr lang="en-US"/>
          </a:p>
        </p:txBody>
      </p:sp>
      <p:sp>
        <p:nvSpPr>
          <p:cNvPr id="16" name="Shape 2">
            <a:extLst>
              <a:ext uri="{FF2B5EF4-FFF2-40B4-BE49-F238E27FC236}">
                <a16:creationId xmlns:a16="http://schemas.microsoft.com/office/drawing/2014/main" id="{9F6E9273-56AC-177F-6FF8-55F4BB9B8B18}"/>
              </a:ext>
            </a:extLst>
          </p:cNvPr>
          <p:cNvSpPr/>
          <p:nvPr/>
        </p:nvSpPr>
        <p:spPr>
          <a:xfrm>
            <a:off x="502920" y="1497300"/>
            <a:ext cx="2743200" cy="3691642"/>
          </a:xfrm>
          <a:prstGeom prst="roundRect">
            <a:avLst>
              <a:gd name="adj" fmla="val 2000"/>
            </a:avLst>
          </a:prstGeom>
          <a:solidFill>
            <a:srgbClr val="FFFFFF"/>
          </a:solidFill>
          <a:ln w="12700">
            <a:solidFill>
              <a:srgbClr val="D6E1EA"/>
            </a:solidFill>
            <a:prstDash val="solid"/>
          </a:ln>
          <a:effectLst>
            <a:outerShdw blurRad="15240" dist="6350" dir="2700000" algn="bl" rotWithShape="0">
              <a:srgbClr val="000000">
                <a:alpha val="12000"/>
              </a:srgbClr>
            </a:outerShdw>
          </a:effectLst>
        </p:spPr>
        <p:txBody>
          <a:bodyPr/>
          <a:lstStyle/>
          <a:p>
            <a:endParaRPr lang="en-US"/>
          </a:p>
        </p:txBody>
      </p:sp>
      <p:sp>
        <p:nvSpPr>
          <p:cNvPr id="17" name="Shape 3">
            <a:extLst>
              <a:ext uri="{FF2B5EF4-FFF2-40B4-BE49-F238E27FC236}">
                <a16:creationId xmlns:a16="http://schemas.microsoft.com/office/drawing/2014/main" id="{AE4C7AC4-D6B3-CDC3-9F07-94DCFBC02FB9}"/>
              </a:ext>
            </a:extLst>
          </p:cNvPr>
          <p:cNvSpPr/>
          <p:nvPr/>
        </p:nvSpPr>
        <p:spPr>
          <a:xfrm>
            <a:off x="502920" y="1497300"/>
            <a:ext cx="73152" cy="3691642"/>
          </a:xfrm>
          <a:prstGeom prst="rect">
            <a:avLst/>
          </a:prstGeom>
          <a:solidFill>
            <a:srgbClr val="00A78E"/>
          </a:solidFill>
          <a:ln w="12700">
            <a:solidFill>
              <a:srgbClr val="00A78E"/>
            </a:solidFill>
            <a:prstDash val="solid"/>
          </a:ln>
        </p:spPr>
        <p:txBody>
          <a:bodyPr/>
          <a:lstStyle/>
          <a:p>
            <a:endParaRPr lang="en-US"/>
          </a:p>
        </p:txBody>
      </p:sp>
      <p:sp>
        <p:nvSpPr>
          <p:cNvPr id="18" name="Text 4">
            <a:extLst>
              <a:ext uri="{FF2B5EF4-FFF2-40B4-BE49-F238E27FC236}">
                <a16:creationId xmlns:a16="http://schemas.microsoft.com/office/drawing/2014/main" id="{5F4275BB-E47E-BE4B-DD05-882829B49136}"/>
              </a:ext>
            </a:extLst>
          </p:cNvPr>
          <p:cNvSpPr/>
          <p:nvPr/>
        </p:nvSpPr>
        <p:spPr>
          <a:xfrm>
            <a:off x="667512" y="1616172"/>
            <a:ext cx="2450592" cy="208820"/>
          </a:xfrm>
          <a:prstGeom prst="rect">
            <a:avLst/>
          </a:prstGeom>
          <a:noFill/>
          <a:ln/>
        </p:spPr>
        <p:txBody>
          <a:bodyPr wrap="square" lIns="0" tIns="0" rIns="0" bIns="0" rtlCol="0" anchor="ctr"/>
          <a:lstStyle/>
          <a:p>
            <a:pPr marL="0" indent="0">
              <a:buNone/>
            </a:pPr>
            <a:r>
              <a:rPr lang="en-US" sz="1250" b="1">
                <a:solidFill>
                  <a:srgbClr val="0B315E"/>
                </a:solidFill>
              </a:rPr>
              <a:t>1. Source &amp; Contract Readiness</a:t>
            </a:r>
            <a:endParaRPr lang="en-US" sz="1250"/>
          </a:p>
        </p:txBody>
      </p:sp>
      <p:sp>
        <p:nvSpPr>
          <p:cNvPr id="19" name="Text 5">
            <a:extLst>
              <a:ext uri="{FF2B5EF4-FFF2-40B4-BE49-F238E27FC236}">
                <a16:creationId xmlns:a16="http://schemas.microsoft.com/office/drawing/2014/main" id="{AFF971AD-AFE7-7688-D7D5-8469205AFF5B}"/>
              </a:ext>
            </a:extLst>
          </p:cNvPr>
          <p:cNvSpPr/>
          <p:nvPr/>
        </p:nvSpPr>
        <p:spPr>
          <a:xfrm>
            <a:off x="649224" y="1954500"/>
            <a:ext cx="2487168" cy="3259086"/>
          </a:xfrm>
          <a:prstGeom prst="rect">
            <a:avLst/>
          </a:prstGeom>
          <a:noFill/>
          <a:ln/>
        </p:spPr>
        <p:txBody>
          <a:bodyPr wrap="square" lIns="254" tIns="254" rIns="254" bIns="254" rtlCol="0" anchor="t"/>
          <a:lstStyle/>
          <a:p>
            <a:pPr marL="127000" indent="-127000">
              <a:buSzPct val="100000"/>
              <a:buChar char="•"/>
            </a:pPr>
            <a:r>
              <a:rPr lang="en-US" sz="920">
                <a:solidFill>
                  <a:srgbClr val="243447"/>
                </a:solidFill>
              </a:rPr>
              <a:t>Reconciled inventory and source family</a:t>
            </a:r>
            <a:endParaRPr lang="en-US" sz="920"/>
          </a:p>
          <a:p>
            <a:pPr marL="127000" indent="-127000">
              <a:buSzPct val="100000"/>
              <a:buChar char="•"/>
            </a:pPr>
            <a:r>
              <a:rPr lang="en-US" sz="920">
                <a:solidFill>
                  <a:srgbClr val="243447"/>
                </a:solidFill>
              </a:rPr>
              <a:t>Named owner and downstream use cases</a:t>
            </a:r>
            <a:endParaRPr lang="en-US" sz="920"/>
          </a:p>
          <a:p>
            <a:pPr marL="127000" indent="-127000">
              <a:buSzPct val="100000"/>
              <a:buChar char="•"/>
            </a:pPr>
            <a:r>
              <a:rPr lang="en-US" sz="920">
                <a:solidFill>
                  <a:srgbClr val="243447"/>
                </a:solidFill>
              </a:rPr>
              <a:t>Representative payload and format</a:t>
            </a:r>
            <a:endParaRPr lang="en-US" sz="920"/>
          </a:p>
          <a:p>
            <a:pPr marL="127000" indent="-127000">
              <a:buSzPct val="100000"/>
              <a:buChar char="•"/>
            </a:pPr>
            <a:r>
              <a:rPr lang="en-US" sz="920">
                <a:solidFill>
                  <a:srgbClr val="243447"/>
                </a:solidFill>
              </a:rPr>
              <a:t>Daily volume, burst and arrival profile</a:t>
            </a:r>
            <a:endParaRPr lang="en-US" sz="920"/>
          </a:p>
          <a:p>
            <a:pPr marL="127000" indent="-127000">
              <a:buSzPct val="100000"/>
              <a:buChar char="•"/>
            </a:pPr>
            <a:r>
              <a:rPr lang="en-US" sz="920">
                <a:solidFill>
                  <a:srgbClr val="243447"/>
                </a:solidFill>
              </a:rPr>
              <a:t>Classification and retention</a:t>
            </a:r>
            <a:endParaRPr lang="en-US" sz="920"/>
          </a:p>
          <a:p>
            <a:pPr marL="127000" indent="-127000">
              <a:buSzPct val="100000"/>
              <a:buChar char="•"/>
            </a:pPr>
            <a:r>
              <a:rPr lang="en-US" sz="920">
                <a:solidFill>
                  <a:srgbClr val="243447"/>
                </a:solidFill>
              </a:rPr>
              <a:t>Freshness, quality and schema contract</a:t>
            </a:r>
            <a:endParaRPr lang="en-US" sz="920"/>
          </a:p>
          <a:p>
            <a:pPr marL="127000" indent="-127000">
              <a:buSzPct val="100000"/>
              <a:buChar char="•"/>
            </a:pPr>
            <a:r>
              <a:rPr lang="en-US" sz="920">
                <a:solidFill>
                  <a:srgbClr val="243447"/>
                </a:solidFill>
              </a:rPr>
              <a:t>Routing and filtering ownership</a:t>
            </a:r>
            <a:endParaRPr lang="en-US" sz="920"/>
          </a:p>
        </p:txBody>
      </p:sp>
      <p:sp>
        <p:nvSpPr>
          <p:cNvPr id="20" name="Shape 6">
            <a:extLst>
              <a:ext uri="{FF2B5EF4-FFF2-40B4-BE49-F238E27FC236}">
                <a16:creationId xmlns:a16="http://schemas.microsoft.com/office/drawing/2014/main" id="{72AF4B21-34EE-D11C-0517-9F4763E5C885}"/>
              </a:ext>
            </a:extLst>
          </p:cNvPr>
          <p:cNvSpPr/>
          <p:nvPr/>
        </p:nvSpPr>
        <p:spPr>
          <a:xfrm>
            <a:off x="3401568" y="1497300"/>
            <a:ext cx="2743200" cy="3691642"/>
          </a:xfrm>
          <a:prstGeom prst="roundRect">
            <a:avLst>
              <a:gd name="adj" fmla="val 2000"/>
            </a:avLst>
          </a:prstGeom>
          <a:solidFill>
            <a:srgbClr val="FFFFFF"/>
          </a:solidFill>
          <a:ln w="12700">
            <a:solidFill>
              <a:srgbClr val="D6E1EA"/>
            </a:solidFill>
            <a:prstDash val="solid"/>
          </a:ln>
          <a:effectLst>
            <a:outerShdw blurRad="15240" dist="6350" dir="2700000" algn="bl" rotWithShape="0">
              <a:srgbClr val="000000">
                <a:alpha val="12000"/>
              </a:srgbClr>
            </a:outerShdw>
          </a:effectLst>
        </p:spPr>
        <p:txBody>
          <a:bodyPr/>
          <a:lstStyle/>
          <a:p>
            <a:endParaRPr lang="en-US"/>
          </a:p>
        </p:txBody>
      </p:sp>
      <p:sp>
        <p:nvSpPr>
          <p:cNvPr id="21" name="Shape 7">
            <a:extLst>
              <a:ext uri="{FF2B5EF4-FFF2-40B4-BE49-F238E27FC236}">
                <a16:creationId xmlns:a16="http://schemas.microsoft.com/office/drawing/2014/main" id="{4D87BB53-35EE-F719-8869-7D3909BBEAB5}"/>
              </a:ext>
            </a:extLst>
          </p:cNvPr>
          <p:cNvSpPr/>
          <p:nvPr/>
        </p:nvSpPr>
        <p:spPr>
          <a:xfrm>
            <a:off x="3401568" y="1497300"/>
            <a:ext cx="73152" cy="3691642"/>
          </a:xfrm>
          <a:prstGeom prst="rect">
            <a:avLst/>
          </a:prstGeom>
          <a:solidFill>
            <a:srgbClr val="0A4B8C"/>
          </a:solidFill>
          <a:ln w="12700">
            <a:solidFill>
              <a:srgbClr val="0A4B8C"/>
            </a:solidFill>
            <a:prstDash val="solid"/>
          </a:ln>
        </p:spPr>
        <p:txBody>
          <a:bodyPr/>
          <a:lstStyle/>
          <a:p>
            <a:endParaRPr lang="en-US"/>
          </a:p>
        </p:txBody>
      </p:sp>
      <p:sp>
        <p:nvSpPr>
          <p:cNvPr id="22" name="Text 8">
            <a:extLst>
              <a:ext uri="{FF2B5EF4-FFF2-40B4-BE49-F238E27FC236}">
                <a16:creationId xmlns:a16="http://schemas.microsoft.com/office/drawing/2014/main" id="{A2A05F9B-A1C5-729A-162A-1EA40F3F63B9}"/>
              </a:ext>
            </a:extLst>
          </p:cNvPr>
          <p:cNvSpPr/>
          <p:nvPr/>
        </p:nvSpPr>
        <p:spPr>
          <a:xfrm>
            <a:off x="3566160" y="1616172"/>
            <a:ext cx="2450592" cy="208820"/>
          </a:xfrm>
          <a:prstGeom prst="rect">
            <a:avLst/>
          </a:prstGeom>
          <a:noFill/>
          <a:ln/>
        </p:spPr>
        <p:txBody>
          <a:bodyPr wrap="square" lIns="0" tIns="0" rIns="0" bIns="0" rtlCol="0" anchor="ctr"/>
          <a:lstStyle/>
          <a:p>
            <a:pPr marL="0" indent="0">
              <a:buNone/>
            </a:pPr>
            <a:r>
              <a:rPr lang="en-US" sz="1250" b="1">
                <a:solidFill>
                  <a:srgbClr val="0B315E"/>
                </a:solidFill>
              </a:rPr>
              <a:t>2. Platform &amp; Connectivity</a:t>
            </a:r>
            <a:endParaRPr lang="en-US" sz="1250"/>
          </a:p>
        </p:txBody>
      </p:sp>
      <p:sp>
        <p:nvSpPr>
          <p:cNvPr id="28" name="Text 9">
            <a:extLst>
              <a:ext uri="{FF2B5EF4-FFF2-40B4-BE49-F238E27FC236}">
                <a16:creationId xmlns:a16="http://schemas.microsoft.com/office/drawing/2014/main" id="{9298D544-C659-8116-C623-ACC2B5FF122E}"/>
              </a:ext>
            </a:extLst>
          </p:cNvPr>
          <p:cNvSpPr/>
          <p:nvPr/>
        </p:nvSpPr>
        <p:spPr>
          <a:xfrm>
            <a:off x="3547872" y="1954500"/>
            <a:ext cx="2487168" cy="3259086"/>
          </a:xfrm>
          <a:prstGeom prst="rect">
            <a:avLst/>
          </a:prstGeom>
          <a:noFill/>
          <a:ln/>
        </p:spPr>
        <p:txBody>
          <a:bodyPr wrap="square" lIns="254" tIns="254" rIns="254" bIns="254" rtlCol="0" anchor="t"/>
          <a:lstStyle/>
          <a:p>
            <a:pPr marL="127000" indent="-127000">
              <a:buSzPct val="100000"/>
              <a:buChar char="•"/>
            </a:pPr>
            <a:r>
              <a:rPr lang="en-US" sz="920">
                <a:solidFill>
                  <a:srgbClr val="243447"/>
                </a:solidFill>
              </a:rPr>
              <a:t>Development and production landing zones</a:t>
            </a:r>
            <a:endParaRPr lang="en-US" sz="920"/>
          </a:p>
          <a:p>
            <a:pPr marL="127000" indent="-127000">
              <a:buSzPct val="100000"/>
              <a:buChar char="•"/>
            </a:pPr>
            <a:r>
              <a:rPr lang="en-US" sz="920">
                <a:solidFill>
                  <a:srgbClr val="243447"/>
                </a:solidFill>
              </a:rPr>
              <a:t>Managed identities and access groups</a:t>
            </a:r>
            <a:endParaRPr lang="en-US" sz="920"/>
          </a:p>
          <a:p>
            <a:pPr marL="127000" indent="-127000">
              <a:buSzPct val="100000"/>
              <a:buChar char="•"/>
            </a:pPr>
            <a:r>
              <a:rPr lang="en-US" sz="920">
                <a:solidFill>
                  <a:srgbClr val="243447"/>
                </a:solidFill>
              </a:rPr>
              <a:t>Network route, firewall and private DNS</a:t>
            </a:r>
            <a:endParaRPr lang="en-US" sz="920"/>
          </a:p>
          <a:p>
            <a:pPr marL="127000" indent="-127000">
              <a:buSzPct val="100000"/>
              <a:buChar char="•"/>
            </a:pPr>
            <a:r>
              <a:rPr lang="en-US" sz="920">
                <a:solidFill>
                  <a:srgbClr val="243447"/>
                </a:solidFill>
              </a:rPr>
              <a:t>ADLS hierarchy and lifecycle control</a:t>
            </a:r>
            <a:endParaRPr lang="en-US" sz="920"/>
          </a:p>
          <a:p>
            <a:pPr marL="127000" indent="-127000">
              <a:buSzPct val="100000"/>
              <a:buChar char="•"/>
            </a:pPr>
            <a:r>
              <a:rPr lang="en-US" sz="920">
                <a:solidFill>
                  <a:srgbClr val="243447"/>
                </a:solidFill>
              </a:rPr>
              <a:t>Event Grid and Auto Loader state</a:t>
            </a:r>
            <a:endParaRPr lang="en-US" sz="920"/>
          </a:p>
          <a:p>
            <a:pPr marL="127000" indent="-127000">
              <a:buSzPct val="100000"/>
              <a:buChar char="•"/>
            </a:pPr>
            <a:r>
              <a:rPr lang="en-US" sz="920">
                <a:solidFill>
                  <a:srgbClr val="243447"/>
                </a:solidFill>
              </a:rPr>
              <a:t>Unity Catalog registration pattern</a:t>
            </a:r>
            <a:endParaRPr lang="en-US" sz="920"/>
          </a:p>
          <a:p>
            <a:pPr marL="127000" indent="-127000">
              <a:buSzPct val="100000"/>
              <a:buChar char="•"/>
            </a:pPr>
            <a:r>
              <a:rPr lang="en-US" sz="920">
                <a:solidFill>
                  <a:srgbClr val="243447"/>
                </a:solidFill>
              </a:rPr>
              <a:t>Compute, secrets and key standards</a:t>
            </a:r>
            <a:endParaRPr lang="en-US" sz="920"/>
          </a:p>
        </p:txBody>
      </p:sp>
      <p:sp>
        <p:nvSpPr>
          <p:cNvPr id="29" name="Shape 10">
            <a:extLst>
              <a:ext uri="{FF2B5EF4-FFF2-40B4-BE49-F238E27FC236}">
                <a16:creationId xmlns:a16="http://schemas.microsoft.com/office/drawing/2014/main" id="{D1684705-1E83-FCE9-DC7C-E6DB6B2899D7}"/>
              </a:ext>
            </a:extLst>
          </p:cNvPr>
          <p:cNvSpPr/>
          <p:nvPr/>
        </p:nvSpPr>
        <p:spPr>
          <a:xfrm>
            <a:off x="6300216" y="1497300"/>
            <a:ext cx="2697480" cy="3691642"/>
          </a:xfrm>
          <a:prstGeom prst="roundRect">
            <a:avLst>
              <a:gd name="adj" fmla="val 2034"/>
            </a:avLst>
          </a:prstGeom>
          <a:solidFill>
            <a:srgbClr val="FFFFFF"/>
          </a:solidFill>
          <a:ln w="12700">
            <a:solidFill>
              <a:srgbClr val="D6E1EA"/>
            </a:solidFill>
            <a:prstDash val="solid"/>
          </a:ln>
          <a:effectLst>
            <a:outerShdw blurRad="15240" dist="6350" dir="2700000" algn="bl" rotWithShape="0">
              <a:srgbClr val="000000">
                <a:alpha val="12000"/>
              </a:srgbClr>
            </a:outerShdw>
          </a:effectLst>
        </p:spPr>
        <p:txBody>
          <a:bodyPr/>
          <a:lstStyle/>
          <a:p>
            <a:endParaRPr lang="en-US"/>
          </a:p>
        </p:txBody>
      </p:sp>
      <p:sp>
        <p:nvSpPr>
          <p:cNvPr id="30" name="Shape 11">
            <a:extLst>
              <a:ext uri="{FF2B5EF4-FFF2-40B4-BE49-F238E27FC236}">
                <a16:creationId xmlns:a16="http://schemas.microsoft.com/office/drawing/2014/main" id="{DA580E81-AF7F-5C0A-1230-82853949E0D8}"/>
              </a:ext>
            </a:extLst>
          </p:cNvPr>
          <p:cNvSpPr/>
          <p:nvPr/>
        </p:nvSpPr>
        <p:spPr>
          <a:xfrm>
            <a:off x="6300216" y="1497300"/>
            <a:ext cx="73152" cy="3691642"/>
          </a:xfrm>
          <a:prstGeom prst="rect">
            <a:avLst/>
          </a:prstGeom>
          <a:solidFill>
            <a:srgbClr val="E6A700"/>
          </a:solidFill>
          <a:ln w="12700">
            <a:solidFill>
              <a:srgbClr val="E6A700"/>
            </a:solidFill>
            <a:prstDash val="solid"/>
          </a:ln>
        </p:spPr>
        <p:txBody>
          <a:bodyPr/>
          <a:lstStyle/>
          <a:p>
            <a:endParaRPr lang="en-US"/>
          </a:p>
        </p:txBody>
      </p:sp>
      <p:sp>
        <p:nvSpPr>
          <p:cNvPr id="32" name="Text 12">
            <a:extLst>
              <a:ext uri="{FF2B5EF4-FFF2-40B4-BE49-F238E27FC236}">
                <a16:creationId xmlns:a16="http://schemas.microsoft.com/office/drawing/2014/main" id="{CC0D0F0F-9CFF-B020-1A77-0992A5E95CD7}"/>
              </a:ext>
            </a:extLst>
          </p:cNvPr>
          <p:cNvSpPr/>
          <p:nvPr/>
        </p:nvSpPr>
        <p:spPr>
          <a:xfrm>
            <a:off x="6464808" y="1616172"/>
            <a:ext cx="2404872" cy="208820"/>
          </a:xfrm>
          <a:prstGeom prst="rect">
            <a:avLst/>
          </a:prstGeom>
          <a:noFill/>
          <a:ln/>
        </p:spPr>
        <p:txBody>
          <a:bodyPr wrap="square" lIns="0" tIns="0" rIns="0" bIns="0" rtlCol="0" anchor="ctr"/>
          <a:lstStyle/>
          <a:p>
            <a:pPr marL="0" indent="0">
              <a:buNone/>
            </a:pPr>
            <a:r>
              <a:rPr lang="en-US" sz="1250" b="1">
                <a:solidFill>
                  <a:srgbClr val="0B315E"/>
                </a:solidFill>
              </a:rPr>
              <a:t>3. Engineering &amp; Quality</a:t>
            </a:r>
            <a:endParaRPr lang="en-US" sz="1250"/>
          </a:p>
        </p:txBody>
      </p:sp>
      <p:sp>
        <p:nvSpPr>
          <p:cNvPr id="33" name="Text 13">
            <a:extLst>
              <a:ext uri="{FF2B5EF4-FFF2-40B4-BE49-F238E27FC236}">
                <a16:creationId xmlns:a16="http://schemas.microsoft.com/office/drawing/2014/main" id="{2BE905BC-606B-92D8-231E-7A4472C644C1}"/>
              </a:ext>
            </a:extLst>
          </p:cNvPr>
          <p:cNvSpPr/>
          <p:nvPr/>
        </p:nvSpPr>
        <p:spPr>
          <a:xfrm>
            <a:off x="6446520" y="1954500"/>
            <a:ext cx="2441448" cy="3259086"/>
          </a:xfrm>
          <a:prstGeom prst="rect">
            <a:avLst/>
          </a:prstGeom>
          <a:noFill/>
          <a:ln/>
        </p:spPr>
        <p:txBody>
          <a:bodyPr wrap="square" lIns="254" tIns="254" rIns="254" bIns="254" rtlCol="0" anchor="t"/>
          <a:lstStyle/>
          <a:p>
            <a:pPr marL="127000" indent="-127000">
              <a:buSzPct val="100000"/>
              <a:buChar char="•"/>
            </a:pPr>
            <a:r>
              <a:rPr lang="en-US" sz="920">
                <a:solidFill>
                  <a:srgbClr val="243447"/>
                </a:solidFill>
              </a:rPr>
              <a:t>Parameterized ingestion template</a:t>
            </a:r>
            <a:endParaRPr lang="en-US" sz="920"/>
          </a:p>
          <a:p>
            <a:pPr marL="127000" indent="-127000">
              <a:buSzPct val="100000"/>
              <a:buChar char="•"/>
            </a:pPr>
            <a:r>
              <a:rPr lang="en-US" sz="920">
                <a:solidFill>
                  <a:srgbClr val="243447"/>
                </a:solidFill>
              </a:rPr>
              <a:t>Source-specific parser and metadata</a:t>
            </a:r>
            <a:endParaRPr lang="en-US" sz="920"/>
          </a:p>
          <a:p>
            <a:pPr marL="127000" indent="-127000">
              <a:buSzPct val="100000"/>
              <a:buChar char="•"/>
            </a:pPr>
            <a:r>
              <a:rPr lang="en-US" sz="920">
                <a:solidFill>
                  <a:srgbClr val="243447"/>
                </a:solidFill>
              </a:rPr>
              <a:t>Schema evolution and rescued data</a:t>
            </a:r>
            <a:endParaRPr lang="en-US" sz="920"/>
          </a:p>
          <a:p>
            <a:pPr marL="127000" indent="-127000">
              <a:buSzPct val="100000"/>
              <a:buChar char="•"/>
            </a:pPr>
            <a:r>
              <a:rPr lang="en-US" sz="920">
                <a:solidFill>
                  <a:srgbClr val="243447"/>
                </a:solidFill>
              </a:rPr>
              <a:t>Idempotency and duplicates</a:t>
            </a:r>
            <a:endParaRPr lang="en-US" sz="920"/>
          </a:p>
          <a:p>
            <a:pPr marL="127000" indent="-127000">
              <a:buSzPct val="100000"/>
              <a:buChar char="•"/>
            </a:pPr>
            <a:r>
              <a:rPr lang="en-US" sz="920">
                <a:solidFill>
                  <a:srgbClr val="243447"/>
                </a:solidFill>
              </a:rPr>
              <a:t>DLQ, quarantine and replay</a:t>
            </a:r>
            <a:endParaRPr lang="en-US" sz="920"/>
          </a:p>
          <a:p>
            <a:pPr marL="127000" indent="-127000">
              <a:buSzPct val="100000"/>
              <a:buChar char="•"/>
            </a:pPr>
            <a:r>
              <a:rPr lang="en-US" sz="920">
                <a:solidFill>
                  <a:srgbClr val="243447"/>
                </a:solidFill>
              </a:rPr>
              <a:t>Automated unit and integration tests</a:t>
            </a:r>
            <a:endParaRPr lang="en-US" sz="920"/>
          </a:p>
          <a:p>
            <a:pPr marL="127000" indent="-127000">
              <a:buSzPct val="100000"/>
              <a:buChar char="•"/>
            </a:pPr>
            <a:r>
              <a:rPr lang="en-US" sz="920">
                <a:solidFill>
                  <a:srgbClr val="243447"/>
                </a:solidFill>
              </a:rPr>
              <a:t>Load, burst, deployment and rollback</a:t>
            </a:r>
            <a:endParaRPr lang="en-US" sz="920"/>
          </a:p>
        </p:txBody>
      </p:sp>
      <p:sp>
        <p:nvSpPr>
          <p:cNvPr id="34" name="Shape 14">
            <a:extLst>
              <a:ext uri="{FF2B5EF4-FFF2-40B4-BE49-F238E27FC236}">
                <a16:creationId xmlns:a16="http://schemas.microsoft.com/office/drawing/2014/main" id="{BC4557C4-78B7-EDC0-F95C-0906D8C76382}"/>
              </a:ext>
            </a:extLst>
          </p:cNvPr>
          <p:cNvSpPr/>
          <p:nvPr/>
        </p:nvSpPr>
        <p:spPr>
          <a:xfrm>
            <a:off x="9153144" y="1497300"/>
            <a:ext cx="2551176" cy="3691642"/>
          </a:xfrm>
          <a:prstGeom prst="roundRect">
            <a:avLst>
              <a:gd name="adj" fmla="val 2151"/>
            </a:avLst>
          </a:prstGeom>
          <a:solidFill>
            <a:srgbClr val="FFFFFF"/>
          </a:solidFill>
          <a:ln w="12700">
            <a:solidFill>
              <a:srgbClr val="D6E1EA"/>
            </a:solidFill>
            <a:prstDash val="solid"/>
          </a:ln>
          <a:effectLst>
            <a:outerShdw blurRad="15240" dist="6350" dir="2700000" algn="bl" rotWithShape="0">
              <a:srgbClr val="000000">
                <a:alpha val="12000"/>
              </a:srgbClr>
            </a:outerShdw>
          </a:effectLst>
        </p:spPr>
        <p:txBody>
          <a:bodyPr/>
          <a:lstStyle/>
          <a:p>
            <a:endParaRPr lang="en-US"/>
          </a:p>
        </p:txBody>
      </p:sp>
      <p:sp>
        <p:nvSpPr>
          <p:cNvPr id="35" name="Shape 15">
            <a:extLst>
              <a:ext uri="{FF2B5EF4-FFF2-40B4-BE49-F238E27FC236}">
                <a16:creationId xmlns:a16="http://schemas.microsoft.com/office/drawing/2014/main" id="{EE5DFBA7-FBFD-34D8-4DC4-6D6728B2147E}"/>
              </a:ext>
            </a:extLst>
          </p:cNvPr>
          <p:cNvSpPr/>
          <p:nvPr/>
        </p:nvSpPr>
        <p:spPr>
          <a:xfrm>
            <a:off x="9153144" y="1497300"/>
            <a:ext cx="73152" cy="3691642"/>
          </a:xfrm>
          <a:prstGeom prst="rect">
            <a:avLst/>
          </a:prstGeom>
          <a:solidFill>
            <a:srgbClr val="2E8B57"/>
          </a:solidFill>
          <a:ln w="12700">
            <a:solidFill>
              <a:srgbClr val="2E8B57"/>
            </a:solidFill>
            <a:prstDash val="solid"/>
          </a:ln>
        </p:spPr>
        <p:txBody>
          <a:bodyPr/>
          <a:lstStyle/>
          <a:p>
            <a:endParaRPr lang="en-US"/>
          </a:p>
        </p:txBody>
      </p:sp>
      <p:sp>
        <p:nvSpPr>
          <p:cNvPr id="36" name="Text 16">
            <a:extLst>
              <a:ext uri="{FF2B5EF4-FFF2-40B4-BE49-F238E27FC236}">
                <a16:creationId xmlns:a16="http://schemas.microsoft.com/office/drawing/2014/main" id="{986ABD7A-5AEF-12BA-82AA-388D48263F86}"/>
              </a:ext>
            </a:extLst>
          </p:cNvPr>
          <p:cNvSpPr/>
          <p:nvPr/>
        </p:nvSpPr>
        <p:spPr>
          <a:xfrm>
            <a:off x="9317736" y="1616172"/>
            <a:ext cx="2258568" cy="208820"/>
          </a:xfrm>
          <a:prstGeom prst="rect">
            <a:avLst/>
          </a:prstGeom>
          <a:noFill/>
          <a:ln/>
        </p:spPr>
        <p:txBody>
          <a:bodyPr wrap="square" lIns="0" tIns="0" rIns="0" bIns="0" rtlCol="0" anchor="ctr"/>
          <a:lstStyle/>
          <a:p>
            <a:pPr marL="0" indent="0">
              <a:buNone/>
            </a:pPr>
            <a:r>
              <a:rPr lang="en-US" sz="1250" b="1">
                <a:solidFill>
                  <a:srgbClr val="0B315E"/>
                </a:solidFill>
              </a:rPr>
              <a:t>4. Operational Readiness</a:t>
            </a:r>
            <a:endParaRPr lang="en-US" sz="1250"/>
          </a:p>
        </p:txBody>
      </p:sp>
      <p:sp>
        <p:nvSpPr>
          <p:cNvPr id="37" name="Text 17">
            <a:extLst>
              <a:ext uri="{FF2B5EF4-FFF2-40B4-BE49-F238E27FC236}">
                <a16:creationId xmlns:a16="http://schemas.microsoft.com/office/drawing/2014/main" id="{352AC077-2930-38A1-1239-7E637E77E7C7}"/>
              </a:ext>
            </a:extLst>
          </p:cNvPr>
          <p:cNvSpPr/>
          <p:nvPr/>
        </p:nvSpPr>
        <p:spPr>
          <a:xfrm>
            <a:off x="9299448" y="1954500"/>
            <a:ext cx="2295144" cy="3259086"/>
          </a:xfrm>
          <a:prstGeom prst="rect">
            <a:avLst/>
          </a:prstGeom>
          <a:noFill/>
          <a:ln/>
        </p:spPr>
        <p:txBody>
          <a:bodyPr wrap="square" lIns="254" tIns="254" rIns="254" bIns="254" rtlCol="0" anchor="t"/>
          <a:lstStyle/>
          <a:p>
            <a:pPr marL="127000" indent="-127000">
              <a:buSzPct val="100000"/>
              <a:buChar char="•"/>
            </a:pPr>
            <a:r>
              <a:rPr lang="en-US" sz="920">
                <a:solidFill>
                  <a:srgbClr val="243447"/>
                </a:solidFill>
              </a:rPr>
              <a:t>Freshness and volume alerting</a:t>
            </a:r>
            <a:endParaRPr lang="en-US" sz="920"/>
          </a:p>
          <a:p>
            <a:pPr marL="127000" indent="-127000">
              <a:buSzPct val="100000"/>
              <a:buChar char="•"/>
            </a:pPr>
            <a:r>
              <a:rPr lang="en-US" sz="920">
                <a:solidFill>
                  <a:srgbClr val="243447"/>
                </a:solidFill>
              </a:rPr>
              <a:t>Schema drift and failure monitoring</a:t>
            </a:r>
            <a:endParaRPr lang="en-US" sz="920"/>
          </a:p>
          <a:p>
            <a:pPr marL="127000" indent="-127000">
              <a:buSzPct val="100000"/>
              <a:buChar char="•"/>
            </a:pPr>
            <a:r>
              <a:rPr lang="en-US" sz="920">
                <a:solidFill>
                  <a:srgbClr val="243447"/>
                </a:solidFill>
              </a:rPr>
              <a:t>Cost and capacity controls</a:t>
            </a:r>
            <a:endParaRPr lang="en-US" sz="920"/>
          </a:p>
          <a:p>
            <a:pPr marL="127000" indent="-127000">
              <a:buSzPct val="100000"/>
              <a:buChar char="•"/>
            </a:pPr>
            <a:r>
              <a:rPr lang="en-US" sz="920">
                <a:solidFill>
                  <a:srgbClr val="243447"/>
                </a:solidFill>
              </a:rPr>
              <a:t>Upstream outage behavior</a:t>
            </a:r>
            <a:endParaRPr lang="en-US" sz="920"/>
          </a:p>
          <a:p>
            <a:pPr marL="127000" indent="-127000">
              <a:buSzPct val="100000"/>
              <a:buChar char="•"/>
            </a:pPr>
            <a:r>
              <a:rPr lang="en-US" sz="920">
                <a:solidFill>
                  <a:srgbClr val="243447"/>
                </a:solidFill>
              </a:rPr>
              <a:t>Support owner and escalation path</a:t>
            </a:r>
            <a:endParaRPr lang="en-US" sz="920"/>
          </a:p>
          <a:p>
            <a:pPr marL="127000" indent="-127000">
              <a:buSzPct val="100000"/>
              <a:buChar char="•"/>
            </a:pPr>
            <a:r>
              <a:rPr lang="en-US" sz="920">
                <a:solidFill>
                  <a:srgbClr val="243447"/>
                </a:solidFill>
              </a:rPr>
              <a:t>Operational runbook and SLO evidence</a:t>
            </a:r>
            <a:endParaRPr lang="en-US" sz="920"/>
          </a:p>
          <a:p>
            <a:pPr marL="127000" indent="-127000">
              <a:buSzPct val="100000"/>
              <a:buChar char="•"/>
            </a:pPr>
            <a:r>
              <a:rPr lang="en-US" sz="920">
                <a:solidFill>
                  <a:srgbClr val="243447"/>
                </a:solidFill>
              </a:rPr>
              <a:t>Bronze-to-Silver acceptance</a:t>
            </a:r>
            <a:endParaRPr lang="en-US" sz="920"/>
          </a:p>
        </p:txBody>
      </p:sp>
      <p:sp>
        <p:nvSpPr>
          <p:cNvPr id="38" name="Shape 18">
            <a:extLst>
              <a:ext uri="{FF2B5EF4-FFF2-40B4-BE49-F238E27FC236}">
                <a16:creationId xmlns:a16="http://schemas.microsoft.com/office/drawing/2014/main" id="{6CCA3B23-DC8A-08EF-F0B3-C97829414514}"/>
              </a:ext>
            </a:extLst>
          </p:cNvPr>
          <p:cNvSpPr/>
          <p:nvPr/>
        </p:nvSpPr>
        <p:spPr>
          <a:xfrm>
            <a:off x="502920" y="5464809"/>
            <a:ext cx="11201400" cy="438912"/>
          </a:xfrm>
          <a:prstGeom prst="roundRect">
            <a:avLst>
              <a:gd name="adj" fmla="val 10417"/>
            </a:avLst>
          </a:prstGeom>
          <a:solidFill>
            <a:srgbClr val="E5F4F4"/>
          </a:solidFill>
          <a:ln w="12700">
            <a:solidFill>
              <a:srgbClr val="00A78E"/>
            </a:solidFill>
            <a:prstDash val="solid"/>
          </a:ln>
        </p:spPr>
        <p:txBody>
          <a:bodyPr/>
          <a:lstStyle/>
          <a:p>
            <a:endParaRPr lang="en-US"/>
          </a:p>
        </p:txBody>
      </p:sp>
      <p:sp>
        <p:nvSpPr>
          <p:cNvPr id="39" name="Text 19">
            <a:extLst>
              <a:ext uri="{FF2B5EF4-FFF2-40B4-BE49-F238E27FC236}">
                <a16:creationId xmlns:a16="http://schemas.microsoft.com/office/drawing/2014/main" id="{69699895-41AE-B6B2-C8E8-FCFCC4DC2D19}"/>
              </a:ext>
            </a:extLst>
          </p:cNvPr>
          <p:cNvSpPr/>
          <p:nvPr/>
        </p:nvSpPr>
        <p:spPr>
          <a:xfrm>
            <a:off x="1005840" y="5583681"/>
            <a:ext cx="10241280" cy="164592"/>
          </a:xfrm>
          <a:prstGeom prst="rect">
            <a:avLst/>
          </a:prstGeom>
          <a:noFill/>
          <a:ln/>
        </p:spPr>
        <p:txBody>
          <a:bodyPr wrap="square" lIns="0" tIns="0" rIns="0" bIns="0" rtlCol="0" anchor="ctr"/>
          <a:lstStyle/>
          <a:p>
            <a:pPr marL="0" indent="0" algn="ctr">
              <a:buNone/>
            </a:pPr>
            <a:r>
              <a:rPr lang="en-US" sz="1150" b="1">
                <a:solidFill>
                  <a:srgbClr val="0B315E"/>
                </a:solidFill>
              </a:rPr>
              <a:t>Definition of onboarded: governed, observable, recoverable, supportable and accepted by the downstream consumer.</a:t>
            </a:r>
            <a:endParaRPr lang="en-US" sz="1150"/>
          </a:p>
        </p:txBody>
      </p:sp>
    </p:spTree>
    <p:extLst>
      <p:ext uri="{BB962C8B-B14F-4D97-AF65-F5344CB8AC3E}">
        <p14:creationId xmlns:p14="http://schemas.microsoft.com/office/powerpoint/2010/main" val="15323162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8C044-E0AE-0611-F42E-28D0AE0AE03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0CE9E38-8AC4-DEC8-6827-B738995DAEA0}"/>
              </a:ext>
            </a:extLst>
          </p:cNvPr>
          <p:cNvSpPr>
            <a:spLocks noGrp="1"/>
          </p:cNvSpPr>
          <p:nvPr>
            <p:ph type="title"/>
          </p:nvPr>
        </p:nvSpPr>
        <p:spPr/>
        <p:txBody>
          <a:bodyPr/>
          <a:lstStyle/>
          <a:p>
            <a:r>
              <a:rPr lang="en-US"/>
              <a:t>Workstream B – Repeatable Source Onboarding Lifecycle</a:t>
            </a:r>
          </a:p>
        </p:txBody>
      </p:sp>
      <p:sp>
        <p:nvSpPr>
          <p:cNvPr id="31" name="TextBox 30">
            <a:extLst>
              <a:ext uri="{FF2B5EF4-FFF2-40B4-BE49-F238E27FC236}">
                <a16:creationId xmlns:a16="http://schemas.microsoft.com/office/drawing/2014/main" id="{A2A9A8E5-31C5-4BFD-5FB2-3A9E345B1CE2}"/>
              </a:ext>
            </a:extLst>
          </p:cNvPr>
          <p:cNvSpPr txBox="1"/>
          <p:nvPr/>
        </p:nvSpPr>
        <p:spPr>
          <a:xfrm>
            <a:off x="511934" y="948253"/>
            <a:ext cx="10022983" cy="338554"/>
          </a:xfrm>
          <a:prstGeom prst="rect">
            <a:avLst/>
          </a:prstGeom>
          <a:noFill/>
        </p:spPr>
        <p:txBody>
          <a:bodyPr wrap="square">
            <a:spAutoFit/>
          </a:bodyPr>
          <a:lstStyle/>
          <a:p>
            <a:r>
              <a:rPr kumimoji="0" lang="en-US" sz="1600" b="0" i="0" u="none" strike="noStrike" kern="1200" cap="none" spc="0" normalizeH="0" baseline="0" noProof="0">
                <a:ln>
                  <a:noFill/>
                </a:ln>
                <a:solidFill>
                  <a:prstClr val="white"/>
                </a:solidFill>
                <a:effectLst/>
                <a:uLnTx/>
                <a:uFillTx/>
                <a:latin typeface="CVS Health Sans"/>
                <a:ea typeface="+mj-ea"/>
                <a:cs typeface="+mj-cs"/>
              </a:rPr>
              <a:t>Every prioritized source progresses through the same evidence-based control gates</a:t>
            </a:r>
            <a:endParaRPr lang="en-US"/>
          </a:p>
        </p:txBody>
      </p:sp>
      <p:sp>
        <p:nvSpPr>
          <p:cNvPr id="2" name="Shape 2">
            <a:extLst>
              <a:ext uri="{FF2B5EF4-FFF2-40B4-BE49-F238E27FC236}">
                <a16:creationId xmlns:a16="http://schemas.microsoft.com/office/drawing/2014/main" id="{243D953B-7F89-7E83-A0F6-53C32C155490}"/>
              </a:ext>
            </a:extLst>
          </p:cNvPr>
          <p:cNvSpPr/>
          <p:nvPr/>
        </p:nvSpPr>
        <p:spPr>
          <a:xfrm>
            <a:off x="438912" y="1744514"/>
            <a:ext cx="1444752" cy="1261872"/>
          </a:xfrm>
          <a:prstGeom prst="hexagon">
            <a:avLst/>
          </a:prstGeom>
          <a:solidFill>
            <a:srgbClr val="00A78E"/>
          </a:solidFill>
          <a:ln w="15240">
            <a:solidFill>
              <a:srgbClr val="FFFFFF"/>
            </a:solidFill>
            <a:prstDash val="solid"/>
          </a:ln>
        </p:spPr>
        <p:txBody>
          <a:bodyPr/>
          <a:lstStyle/>
          <a:p>
            <a:endParaRPr lang="en-US"/>
          </a:p>
        </p:txBody>
      </p:sp>
      <p:sp>
        <p:nvSpPr>
          <p:cNvPr id="4" name="Text 3">
            <a:extLst>
              <a:ext uri="{FF2B5EF4-FFF2-40B4-BE49-F238E27FC236}">
                <a16:creationId xmlns:a16="http://schemas.microsoft.com/office/drawing/2014/main" id="{D80CA12A-10B6-8CEA-44B0-E9BF7214796C}"/>
              </a:ext>
            </a:extLst>
          </p:cNvPr>
          <p:cNvSpPr/>
          <p:nvPr/>
        </p:nvSpPr>
        <p:spPr>
          <a:xfrm>
            <a:off x="923544" y="1872530"/>
            <a:ext cx="457200" cy="274320"/>
          </a:xfrm>
          <a:prstGeom prst="rect">
            <a:avLst/>
          </a:prstGeom>
          <a:noFill/>
          <a:ln/>
        </p:spPr>
        <p:txBody>
          <a:bodyPr wrap="square" lIns="0" tIns="0" rIns="0" bIns="0" rtlCol="0" anchor="ctr"/>
          <a:lstStyle/>
          <a:p>
            <a:pPr marL="0" indent="0" algn="ctr">
              <a:buNone/>
            </a:pPr>
            <a:r>
              <a:rPr lang="en-US" sz="1800" b="1">
                <a:solidFill>
                  <a:srgbClr val="FFFFFF"/>
                </a:solidFill>
              </a:rPr>
              <a:t>1</a:t>
            </a:r>
            <a:endParaRPr lang="en-US" sz="1800"/>
          </a:p>
        </p:txBody>
      </p:sp>
      <p:sp>
        <p:nvSpPr>
          <p:cNvPr id="5" name="Text 4">
            <a:extLst>
              <a:ext uri="{FF2B5EF4-FFF2-40B4-BE49-F238E27FC236}">
                <a16:creationId xmlns:a16="http://schemas.microsoft.com/office/drawing/2014/main" id="{C875D398-0708-32B8-1F34-714F0A1D522D}"/>
              </a:ext>
            </a:extLst>
          </p:cNvPr>
          <p:cNvSpPr/>
          <p:nvPr/>
        </p:nvSpPr>
        <p:spPr>
          <a:xfrm>
            <a:off x="548640" y="2220002"/>
            <a:ext cx="1225296" cy="201168"/>
          </a:xfrm>
          <a:prstGeom prst="rect">
            <a:avLst/>
          </a:prstGeom>
          <a:noFill/>
          <a:ln/>
        </p:spPr>
        <p:txBody>
          <a:bodyPr wrap="square" lIns="0" tIns="0" rIns="0" bIns="0" rtlCol="0" anchor="ctr"/>
          <a:lstStyle/>
          <a:p>
            <a:pPr marL="0" indent="0" algn="ctr">
              <a:buNone/>
            </a:pPr>
            <a:r>
              <a:rPr lang="en-US" sz="950" b="1">
                <a:solidFill>
                  <a:srgbClr val="FFFFFF"/>
                </a:solidFill>
              </a:rPr>
              <a:t>DISCOVER</a:t>
            </a:r>
            <a:endParaRPr lang="en-US" sz="950"/>
          </a:p>
        </p:txBody>
      </p:sp>
      <p:sp>
        <p:nvSpPr>
          <p:cNvPr id="6" name="Text 5">
            <a:extLst>
              <a:ext uri="{FF2B5EF4-FFF2-40B4-BE49-F238E27FC236}">
                <a16:creationId xmlns:a16="http://schemas.microsoft.com/office/drawing/2014/main" id="{BB39B3A8-17DA-535A-7472-92D98796E6B2}"/>
              </a:ext>
            </a:extLst>
          </p:cNvPr>
          <p:cNvSpPr/>
          <p:nvPr/>
        </p:nvSpPr>
        <p:spPr>
          <a:xfrm>
            <a:off x="594360" y="2494322"/>
            <a:ext cx="1133856" cy="347472"/>
          </a:xfrm>
          <a:prstGeom prst="rect">
            <a:avLst/>
          </a:prstGeom>
          <a:noFill/>
          <a:ln/>
        </p:spPr>
        <p:txBody>
          <a:bodyPr wrap="square" lIns="0" tIns="0" rIns="0" bIns="0" rtlCol="0" anchor="ctr"/>
          <a:lstStyle/>
          <a:p>
            <a:pPr marL="0" indent="0" algn="ctr">
              <a:buNone/>
            </a:pPr>
            <a:r>
              <a:rPr lang="en-US" sz="750">
                <a:solidFill>
                  <a:srgbClr val="E6F1F7"/>
                </a:solidFill>
              </a:rPr>
              <a:t>Owner, family, usage, payload, volume and disposition</a:t>
            </a:r>
            <a:endParaRPr lang="en-US" sz="750"/>
          </a:p>
        </p:txBody>
      </p:sp>
      <p:sp>
        <p:nvSpPr>
          <p:cNvPr id="7" name="Text 6">
            <a:extLst>
              <a:ext uri="{FF2B5EF4-FFF2-40B4-BE49-F238E27FC236}">
                <a16:creationId xmlns:a16="http://schemas.microsoft.com/office/drawing/2014/main" id="{1F913020-D62C-34AD-6B10-6EFF5AC0789B}"/>
              </a:ext>
            </a:extLst>
          </p:cNvPr>
          <p:cNvSpPr/>
          <p:nvPr/>
        </p:nvSpPr>
        <p:spPr>
          <a:xfrm>
            <a:off x="1911096" y="2192570"/>
            <a:ext cx="128016" cy="274320"/>
          </a:xfrm>
          <a:prstGeom prst="rect">
            <a:avLst/>
          </a:prstGeom>
          <a:noFill/>
          <a:ln/>
        </p:spPr>
        <p:txBody>
          <a:bodyPr wrap="square" lIns="0" tIns="0" rIns="0" bIns="0" rtlCol="0" anchor="ctr"/>
          <a:lstStyle/>
          <a:p>
            <a:pPr marL="0" indent="0" algn="ctr">
              <a:buNone/>
            </a:pPr>
            <a:r>
              <a:rPr lang="en-US" sz="1800" b="1">
                <a:solidFill>
                  <a:srgbClr val="34C6D3"/>
                </a:solidFill>
              </a:rPr>
              <a:t>›</a:t>
            </a:r>
            <a:endParaRPr lang="en-US" sz="1800"/>
          </a:p>
        </p:txBody>
      </p:sp>
      <p:sp>
        <p:nvSpPr>
          <p:cNvPr id="8" name="Shape 7">
            <a:extLst>
              <a:ext uri="{FF2B5EF4-FFF2-40B4-BE49-F238E27FC236}">
                <a16:creationId xmlns:a16="http://schemas.microsoft.com/office/drawing/2014/main" id="{16C6B0C5-940E-FAE0-E3B9-FCECE5B2A79F}"/>
              </a:ext>
            </a:extLst>
          </p:cNvPr>
          <p:cNvSpPr/>
          <p:nvPr/>
        </p:nvSpPr>
        <p:spPr>
          <a:xfrm>
            <a:off x="2103120" y="1963970"/>
            <a:ext cx="1444752" cy="1261872"/>
          </a:xfrm>
          <a:prstGeom prst="hexagon">
            <a:avLst/>
          </a:prstGeom>
          <a:solidFill>
            <a:srgbClr val="00A78E"/>
          </a:solidFill>
          <a:ln w="15240">
            <a:solidFill>
              <a:srgbClr val="FFFFFF"/>
            </a:solidFill>
            <a:prstDash val="solid"/>
          </a:ln>
        </p:spPr>
        <p:txBody>
          <a:bodyPr/>
          <a:lstStyle/>
          <a:p>
            <a:endParaRPr lang="en-US"/>
          </a:p>
        </p:txBody>
      </p:sp>
      <p:sp>
        <p:nvSpPr>
          <p:cNvPr id="9" name="Text 8">
            <a:extLst>
              <a:ext uri="{FF2B5EF4-FFF2-40B4-BE49-F238E27FC236}">
                <a16:creationId xmlns:a16="http://schemas.microsoft.com/office/drawing/2014/main" id="{4516A151-3D4A-75C5-23C3-35A7E6FC2FA0}"/>
              </a:ext>
            </a:extLst>
          </p:cNvPr>
          <p:cNvSpPr/>
          <p:nvPr/>
        </p:nvSpPr>
        <p:spPr>
          <a:xfrm>
            <a:off x="2587752" y="2091986"/>
            <a:ext cx="457200" cy="274320"/>
          </a:xfrm>
          <a:prstGeom prst="rect">
            <a:avLst/>
          </a:prstGeom>
          <a:noFill/>
          <a:ln/>
        </p:spPr>
        <p:txBody>
          <a:bodyPr wrap="square" lIns="0" tIns="0" rIns="0" bIns="0" rtlCol="0" anchor="ctr"/>
          <a:lstStyle/>
          <a:p>
            <a:pPr marL="0" indent="0" algn="ctr">
              <a:buNone/>
            </a:pPr>
            <a:r>
              <a:rPr lang="en-US" sz="1800" b="1">
                <a:solidFill>
                  <a:srgbClr val="FFFFFF"/>
                </a:solidFill>
              </a:rPr>
              <a:t>2</a:t>
            </a:r>
            <a:endParaRPr lang="en-US" sz="1800"/>
          </a:p>
        </p:txBody>
      </p:sp>
      <p:sp>
        <p:nvSpPr>
          <p:cNvPr id="10" name="Text 9">
            <a:extLst>
              <a:ext uri="{FF2B5EF4-FFF2-40B4-BE49-F238E27FC236}">
                <a16:creationId xmlns:a16="http://schemas.microsoft.com/office/drawing/2014/main" id="{9A4D7E2F-80AD-79F0-119F-A829EDC5F71F}"/>
              </a:ext>
            </a:extLst>
          </p:cNvPr>
          <p:cNvSpPr/>
          <p:nvPr/>
        </p:nvSpPr>
        <p:spPr>
          <a:xfrm>
            <a:off x="2212848" y="2439458"/>
            <a:ext cx="1225296" cy="201168"/>
          </a:xfrm>
          <a:prstGeom prst="rect">
            <a:avLst/>
          </a:prstGeom>
          <a:noFill/>
          <a:ln/>
        </p:spPr>
        <p:txBody>
          <a:bodyPr wrap="square" lIns="0" tIns="0" rIns="0" bIns="0" rtlCol="0" anchor="ctr"/>
          <a:lstStyle/>
          <a:p>
            <a:pPr marL="0" indent="0" algn="ctr">
              <a:buNone/>
            </a:pPr>
            <a:r>
              <a:rPr lang="en-US" sz="950" b="1">
                <a:solidFill>
                  <a:srgbClr val="FFFFFF"/>
                </a:solidFill>
              </a:rPr>
              <a:t>CONTRACT</a:t>
            </a:r>
            <a:endParaRPr lang="en-US" sz="950"/>
          </a:p>
        </p:txBody>
      </p:sp>
      <p:sp>
        <p:nvSpPr>
          <p:cNvPr id="11" name="Text 10">
            <a:extLst>
              <a:ext uri="{FF2B5EF4-FFF2-40B4-BE49-F238E27FC236}">
                <a16:creationId xmlns:a16="http://schemas.microsoft.com/office/drawing/2014/main" id="{A12B7047-264F-3165-5987-6F42B6CE052D}"/>
              </a:ext>
            </a:extLst>
          </p:cNvPr>
          <p:cNvSpPr/>
          <p:nvPr/>
        </p:nvSpPr>
        <p:spPr>
          <a:xfrm>
            <a:off x="2258568" y="2713778"/>
            <a:ext cx="1133856" cy="347472"/>
          </a:xfrm>
          <a:prstGeom prst="rect">
            <a:avLst/>
          </a:prstGeom>
          <a:noFill/>
          <a:ln/>
        </p:spPr>
        <p:txBody>
          <a:bodyPr wrap="square" lIns="0" tIns="0" rIns="0" bIns="0" rtlCol="0" anchor="ctr"/>
          <a:lstStyle/>
          <a:p>
            <a:pPr marL="0" indent="0" algn="ctr">
              <a:buNone/>
            </a:pPr>
            <a:r>
              <a:rPr lang="en-US" sz="750">
                <a:solidFill>
                  <a:srgbClr val="E6F1F7"/>
                </a:solidFill>
              </a:rPr>
              <a:t>Schema, classification, retention, quality and SLA</a:t>
            </a:r>
            <a:endParaRPr lang="en-US" sz="750"/>
          </a:p>
        </p:txBody>
      </p:sp>
      <p:sp>
        <p:nvSpPr>
          <p:cNvPr id="12" name="Text 11">
            <a:extLst>
              <a:ext uri="{FF2B5EF4-FFF2-40B4-BE49-F238E27FC236}">
                <a16:creationId xmlns:a16="http://schemas.microsoft.com/office/drawing/2014/main" id="{B2F114AE-D7F0-CF08-741A-988D7A2DC187}"/>
              </a:ext>
            </a:extLst>
          </p:cNvPr>
          <p:cNvSpPr/>
          <p:nvPr/>
        </p:nvSpPr>
        <p:spPr>
          <a:xfrm>
            <a:off x="3575304" y="2412026"/>
            <a:ext cx="128016" cy="274320"/>
          </a:xfrm>
          <a:prstGeom prst="rect">
            <a:avLst/>
          </a:prstGeom>
          <a:noFill/>
          <a:ln/>
        </p:spPr>
        <p:txBody>
          <a:bodyPr wrap="square" lIns="0" tIns="0" rIns="0" bIns="0" rtlCol="0" anchor="ctr"/>
          <a:lstStyle/>
          <a:p>
            <a:pPr marL="0" indent="0" algn="ctr">
              <a:buNone/>
            </a:pPr>
            <a:r>
              <a:rPr lang="en-US" sz="1800" b="1">
                <a:solidFill>
                  <a:srgbClr val="34C6D3"/>
                </a:solidFill>
              </a:rPr>
              <a:t>›</a:t>
            </a:r>
            <a:endParaRPr lang="en-US" sz="1800"/>
          </a:p>
        </p:txBody>
      </p:sp>
      <p:sp>
        <p:nvSpPr>
          <p:cNvPr id="13" name="Shape 12">
            <a:extLst>
              <a:ext uri="{FF2B5EF4-FFF2-40B4-BE49-F238E27FC236}">
                <a16:creationId xmlns:a16="http://schemas.microsoft.com/office/drawing/2014/main" id="{BB427514-AE68-CBD7-3C75-995BC12632BD}"/>
              </a:ext>
            </a:extLst>
          </p:cNvPr>
          <p:cNvSpPr/>
          <p:nvPr/>
        </p:nvSpPr>
        <p:spPr>
          <a:xfrm>
            <a:off x="3767328" y="1744514"/>
            <a:ext cx="1444752" cy="1261872"/>
          </a:xfrm>
          <a:prstGeom prst="hexagon">
            <a:avLst/>
          </a:prstGeom>
          <a:solidFill>
            <a:srgbClr val="0A4B8C"/>
          </a:solidFill>
          <a:ln w="15240">
            <a:solidFill>
              <a:srgbClr val="FFFFFF"/>
            </a:solidFill>
            <a:prstDash val="solid"/>
          </a:ln>
        </p:spPr>
        <p:txBody>
          <a:bodyPr/>
          <a:lstStyle/>
          <a:p>
            <a:endParaRPr lang="en-US"/>
          </a:p>
        </p:txBody>
      </p:sp>
      <p:sp>
        <p:nvSpPr>
          <p:cNvPr id="14" name="Text 13">
            <a:extLst>
              <a:ext uri="{FF2B5EF4-FFF2-40B4-BE49-F238E27FC236}">
                <a16:creationId xmlns:a16="http://schemas.microsoft.com/office/drawing/2014/main" id="{780A495E-EDC0-8B48-D106-C73203ABC8B6}"/>
              </a:ext>
            </a:extLst>
          </p:cNvPr>
          <p:cNvSpPr/>
          <p:nvPr/>
        </p:nvSpPr>
        <p:spPr>
          <a:xfrm>
            <a:off x="4251960" y="1872530"/>
            <a:ext cx="457200" cy="274320"/>
          </a:xfrm>
          <a:prstGeom prst="rect">
            <a:avLst/>
          </a:prstGeom>
          <a:noFill/>
          <a:ln/>
        </p:spPr>
        <p:txBody>
          <a:bodyPr wrap="square" lIns="0" tIns="0" rIns="0" bIns="0" rtlCol="0" anchor="ctr"/>
          <a:lstStyle/>
          <a:p>
            <a:pPr marL="0" indent="0" algn="ctr">
              <a:buNone/>
            </a:pPr>
            <a:r>
              <a:rPr lang="en-US" sz="1800" b="1">
                <a:solidFill>
                  <a:srgbClr val="FFFFFF"/>
                </a:solidFill>
              </a:rPr>
              <a:t>3</a:t>
            </a:r>
            <a:endParaRPr lang="en-US" sz="1800"/>
          </a:p>
        </p:txBody>
      </p:sp>
      <p:sp>
        <p:nvSpPr>
          <p:cNvPr id="15" name="Text 14">
            <a:extLst>
              <a:ext uri="{FF2B5EF4-FFF2-40B4-BE49-F238E27FC236}">
                <a16:creationId xmlns:a16="http://schemas.microsoft.com/office/drawing/2014/main" id="{BAA8B78C-0458-B4D7-6FEC-E89483C1A297}"/>
              </a:ext>
            </a:extLst>
          </p:cNvPr>
          <p:cNvSpPr/>
          <p:nvPr/>
        </p:nvSpPr>
        <p:spPr>
          <a:xfrm>
            <a:off x="3877056" y="2220002"/>
            <a:ext cx="1225296" cy="201168"/>
          </a:xfrm>
          <a:prstGeom prst="rect">
            <a:avLst/>
          </a:prstGeom>
          <a:noFill/>
          <a:ln/>
        </p:spPr>
        <p:txBody>
          <a:bodyPr wrap="square" lIns="0" tIns="0" rIns="0" bIns="0" rtlCol="0" anchor="ctr"/>
          <a:lstStyle/>
          <a:p>
            <a:pPr marL="0" indent="0" algn="ctr">
              <a:buNone/>
            </a:pPr>
            <a:r>
              <a:rPr lang="en-US" sz="950" b="1">
                <a:solidFill>
                  <a:srgbClr val="FFFFFF"/>
                </a:solidFill>
              </a:rPr>
              <a:t>DESIGN</a:t>
            </a:r>
            <a:endParaRPr lang="en-US" sz="950"/>
          </a:p>
        </p:txBody>
      </p:sp>
      <p:sp>
        <p:nvSpPr>
          <p:cNvPr id="23" name="Text 15">
            <a:extLst>
              <a:ext uri="{FF2B5EF4-FFF2-40B4-BE49-F238E27FC236}">
                <a16:creationId xmlns:a16="http://schemas.microsoft.com/office/drawing/2014/main" id="{933C5692-1DCF-5408-39B1-4EB3663EDB8C}"/>
              </a:ext>
            </a:extLst>
          </p:cNvPr>
          <p:cNvSpPr/>
          <p:nvPr/>
        </p:nvSpPr>
        <p:spPr>
          <a:xfrm>
            <a:off x="3922776" y="2494322"/>
            <a:ext cx="1133856" cy="347472"/>
          </a:xfrm>
          <a:prstGeom prst="rect">
            <a:avLst/>
          </a:prstGeom>
          <a:noFill/>
          <a:ln/>
        </p:spPr>
        <p:txBody>
          <a:bodyPr wrap="square" lIns="0" tIns="0" rIns="0" bIns="0" rtlCol="0" anchor="ctr"/>
          <a:lstStyle/>
          <a:p>
            <a:pPr marL="0" indent="0" algn="ctr">
              <a:buNone/>
            </a:pPr>
            <a:r>
              <a:rPr lang="en-US" sz="750">
                <a:solidFill>
                  <a:srgbClr val="E6F1F7"/>
                </a:solidFill>
              </a:rPr>
              <a:t>Route, landing, table, access, DLQ and replay</a:t>
            </a:r>
            <a:endParaRPr lang="en-US" sz="750"/>
          </a:p>
        </p:txBody>
      </p:sp>
      <p:sp>
        <p:nvSpPr>
          <p:cNvPr id="24" name="Text 16">
            <a:extLst>
              <a:ext uri="{FF2B5EF4-FFF2-40B4-BE49-F238E27FC236}">
                <a16:creationId xmlns:a16="http://schemas.microsoft.com/office/drawing/2014/main" id="{C534E69E-8584-7DC2-5722-3D59A85FA6B2}"/>
              </a:ext>
            </a:extLst>
          </p:cNvPr>
          <p:cNvSpPr/>
          <p:nvPr/>
        </p:nvSpPr>
        <p:spPr>
          <a:xfrm>
            <a:off x="5239512" y="2192570"/>
            <a:ext cx="128016" cy="274320"/>
          </a:xfrm>
          <a:prstGeom prst="rect">
            <a:avLst/>
          </a:prstGeom>
          <a:noFill/>
          <a:ln/>
        </p:spPr>
        <p:txBody>
          <a:bodyPr wrap="square" lIns="0" tIns="0" rIns="0" bIns="0" rtlCol="0" anchor="ctr"/>
          <a:lstStyle/>
          <a:p>
            <a:pPr marL="0" indent="0" algn="ctr">
              <a:buNone/>
            </a:pPr>
            <a:r>
              <a:rPr lang="en-US" sz="1800" b="1">
                <a:solidFill>
                  <a:srgbClr val="34C6D3"/>
                </a:solidFill>
              </a:rPr>
              <a:t>›</a:t>
            </a:r>
            <a:endParaRPr lang="en-US" sz="1800"/>
          </a:p>
        </p:txBody>
      </p:sp>
      <p:sp>
        <p:nvSpPr>
          <p:cNvPr id="25" name="Shape 17">
            <a:extLst>
              <a:ext uri="{FF2B5EF4-FFF2-40B4-BE49-F238E27FC236}">
                <a16:creationId xmlns:a16="http://schemas.microsoft.com/office/drawing/2014/main" id="{EBB30371-5953-06B0-313F-A03C2C833253}"/>
              </a:ext>
            </a:extLst>
          </p:cNvPr>
          <p:cNvSpPr/>
          <p:nvPr/>
        </p:nvSpPr>
        <p:spPr>
          <a:xfrm>
            <a:off x="5431536" y="1963970"/>
            <a:ext cx="1444752" cy="1261872"/>
          </a:xfrm>
          <a:prstGeom prst="hexagon">
            <a:avLst/>
          </a:prstGeom>
          <a:solidFill>
            <a:srgbClr val="0A4B8C"/>
          </a:solidFill>
          <a:ln w="15240">
            <a:solidFill>
              <a:srgbClr val="FFFFFF"/>
            </a:solidFill>
            <a:prstDash val="solid"/>
          </a:ln>
        </p:spPr>
        <p:txBody>
          <a:bodyPr/>
          <a:lstStyle/>
          <a:p>
            <a:endParaRPr lang="en-US"/>
          </a:p>
        </p:txBody>
      </p:sp>
      <p:sp>
        <p:nvSpPr>
          <p:cNvPr id="26" name="Text 18">
            <a:extLst>
              <a:ext uri="{FF2B5EF4-FFF2-40B4-BE49-F238E27FC236}">
                <a16:creationId xmlns:a16="http://schemas.microsoft.com/office/drawing/2014/main" id="{389DB853-B571-DF55-BC93-10889B0EF2E1}"/>
              </a:ext>
            </a:extLst>
          </p:cNvPr>
          <p:cNvSpPr/>
          <p:nvPr/>
        </p:nvSpPr>
        <p:spPr>
          <a:xfrm>
            <a:off x="5916168" y="2091986"/>
            <a:ext cx="457200" cy="274320"/>
          </a:xfrm>
          <a:prstGeom prst="rect">
            <a:avLst/>
          </a:prstGeom>
          <a:noFill/>
          <a:ln/>
        </p:spPr>
        <p:txBody>
          <a:bodyPr wrap="square" lIns="0" tIns="0" rIns="0" bIns="0" rtlCol="0" anchor="ctr"/>
          <a:lstStyle/>
          <a:p>
            <a:pPr marL="0" indent="0" algn="ctr">
              <a:buNone/>
            </a:pPr>
            <a:r>
              <a:rPr lang="en-US" sz="1800" b="1">
                <a:solidFill>
                  <a:srgbClr val="FFFFFF"/>
                </a:solidFill>
              </a:rPr>
              <a:t>4</a:t>
            </a:r>
            <a:endParaRPr lang="en-US" sz="1800"/>
          </a:p>
        </p:txBody>
      </p:sp>
      <p:sp>
        <p:nvSpPr>
          <p:cNvPr id="27" name="Text 19">
            <a:extLst>
              <a:ext uri="{FF2B5EF4-FFF2-40B4-BE49-F238E27FC236}">
                <a16:creationId xmlns:a16="http://schemas.microsoft.com/office/drawing/2014/main" id="{F2DC360B-310C-AF51-E3F9-1A7913C91453}"/>
              </a:ext>
            </a:extLst>
          </p:cNvPr>
          <p:cNvSpPr/>
          <p:nvPr/>
        </p:nvSpPr>
        <p:spPr>
          <a:xfrm>
            <a:off x="5541264" y="2439458"/>
            <a:ext cx="1225296" cy="201168"/>
          </a:xfrm>
          <a:prstGeom prst="rect">
            <a:avLst/>
          </a:prstGeom>
          <a:noFill/>
          <a:ln/>
        </p:spPr>
        <p:txBody>
          <a:bodyPr wrap="square" lIns="0" tIns="0" rIns="0" bIns="0" rtlCol="0" anchor="ctr"/>
          <a:lstStyle/>
          <a:p>
            <a:pPr marL="0" indent="0" algn="ctr">
              <a:buNone/>
            </a:pPr>
            <a:r>
              <a:rPr lang="en-US" sz="950" b="1">
                <a:solidFill>
                  <a:srgbClr val="FFFFFF"/>
                </a:solidFill>
              </a:rPr>
              <a:t>BUILD</a:t>
            </a:r>
            <a:endParaRPr lang="en-US" sz="950"/>
          </a:p>
        </p:txBody>
      </p:sp>
      <p:sp>
        <p:nvSpPr>
          <p:cNvPr id="40" name="Text 20">
            <a:extLst>
              <a:ext uri="{FF2B5EF4-FFF2-40B4-BE49-F238E27FC236}">
                <a16:creationId xmlns:a16="http://schemas.microsoft.com/office/drawing/2014/main" id="{83300EB1-D9FD-955E-788C-F06212A8043F}"/>
              </a:ext>
            </a:extLst>
          </p:cNvPr>
          <p:cNvSpPr/>
          <p:nvPr/>
        </p:nvSpPr>
        <p:spPr>
          <a:xfrm>
            <a:off x="5586984" y="2713778"/>
            <a:ext cx="1133856" cy="347472"/>
          </a:xfrm>
          <a:prstGeom prst="rect">
            <a:avLst/>
          </a:prstGeom>
          <a:noFill/>
          <a:ln/>
        </p:spPr>
        <p:txBody>
          <a:bodyPr wrap="square" lIns="0" tIns="0" rIns="0" bIns="0" rtlCol="0" anchor="ctr"/>
          <a:lstStyle/>
          <a:p>
            <a:pPr marL="0" indent="0" algn="ctr">
              <a:buNone/>
            </a:pPr>
            <a:r>
              <a:rPr lang="en-US" sz="750">
                <a:solidFill>
                  <a:srgbClr val="E6F1F7"/>
                </a:solidFill>
              </a:rPr>
              <a:t>Config, parser, metadata, tests and monitoring</a:t>
            </a:r>
            <a:endParaRPr lang="en-US" sz="750"/>
          </a:p>
        </p:txBody>
      </p:sp>
      <p:sp>
        <p:nvSpPr>
          <p:cNvPr id="41" name="Text 21">
            <a:extLst>
              <a:ext uri="{FF2B5EF4-FFF2-40B4-BE49-F238E27FC236}">
                <a16:creationId xmlns:a16="http://schemas.microsoft.com/office/drawing/2014/main" id="{B918F9D9-17F6-2A3A-B3CC-74FF7A05ED76}"/>
              </a:ext>
            </a:extLst>
          </p:cNvPr>
          <p:cNvSpPr/>
          <p:nvPr/>
        </p:nvSpPr>
        <p:spPr>
          <a:xfrm>
            <a:off x="6903720" y="2412026"/>
            <a:ext cx="128016" cy="274320"/>
          </a:xfrm>
          <a:prstGeom prst="rect">
            <a:avLst/>
          </a:prstGeom>
          <a:noFill/>
          <a:ln/>
        </p:spPr>
        <p:txBody>
          <a:bodyPr wrap="square" lIns="0" tIns="0" rIns="0" bIns="0" rtlCol="0" anchor="ctr"/>
          <a:lstStyle/>
          <a:p>
            <a:pPr marL="0" indent="0" algn="ctr">
              <a:buNone/>
            </a:pPr>
            <a:r>
              <a:rPr lang="en-US" sz="1800" b="1">
                <a:solidFill>
                  <a:srgbClr val="34C6D3"/>
                </a:solidFill>
              </a:rPr>
              <a:t>›</a:t>
            </a:r>
            <a:endParaRPr lang="en-US" sz="1800"/>
          </a:p>
        </p:txBody>
      </p:sp>
      <p:sp>
        <p:nvSpPr>
          <p:cNvPr id="42" name="Shape 22">
            <a:extLst>
              <a:ext uri="{FF2B5EF4-FFF2-40B4-BE49-F238E27FC236}">
                <a16:creationId xmlns:a16="http://schemas.microsoft.com/office/drawing/2014/main" id="{B232724B-329A-5947-2C5D-066ADBF00608}"/>
              </a:ext>
            </a:extLst>
          </p:cNvPr>
          <p:cNvSpPr/>
          <p:nvPr/>
        </p:nvSpPr>
        <p:spPr>
          <a:xfrm>
            <a:off x="7095744" y="1744514"/>
            <a:ext cx="1444752" cy="1261872"/>
          </a:xfrm>
          <a:prstGeom prst="hexagon">
            <a:avLst/>
          </a:prstGeom>
          <a:solidFill>
            <a:srgbClr val="3D8EC3"/>
          </a:solidFill>
          <a:ln w="15240">
            <a:solidFill>
              <a:srgbClr val="FFFFFF"/>
            </a:solidFill>
            <a:prstDash val="solid"/>
          </a:ln>
        </p:spPr>
        <p:txBody>
          <a:bodyPr/>
          <a:lstStyle/>
          <a:p>
            <a:endParaRPr lang="en-US"/>
          </a:p>
        </p:txBody>
      </p:sp>
      <p:sp>
        <p:nvSpPr>
          <p:cNvPr id="43" name="Text 23">
            <a:extLst>
              <a:ext uri="{FF2B5EF4-FFF2-40B4-BE49-F238E27FC236}">
                <a16:creationId xmlns:a16="http://schemas.microsoft.com/office/drawing/2014/main" id="{5C5D37DB-A8D5-8539-F3D0-6B8CB4405AF7}"/>
              </a:ext>
            </a:extLst>
          </p:cNvPr>
          <p:cNvSpPr/>
          <p:nvPr/>
        </p:nvSpPr>
        <p:spPr>
          <a:xfrm>
            <a:off x="7580376" y="1872530"/>
            <a:ext cx="457200" cy="274320"/>
          </a:xfrm>
          <a:prstGeom prst="rect">
            <a:avLst/>
          </a:prstGeom>
          <a:noFill/>
          <a:ln/>
        </p:spPr>
        <p:txBody>
          <a:bodyPr wrap="square" lIns="0" tIns="0" rIns="0" bIns="0" rtlCol="0" anchor="ctr"/>
          <a:lstStyle/>
          <a:p>
            <a:pPr marL="0" indent="0" algn="ctr">
              <a:buNone/>
            </a:pPr>
            <a:r>
              <a:rPr lang="en-US" sz="1800" b="1">
                <a:solidFill>
                  <a:srgbClr val="FFFFFF"/>
                </a:solidFill>
              </a:rPr>
              <a:t>5</a:t>
            </a:r>
            <a:endParaRPr lang="en-US" sz="1800"/>
          </a:p>
        </p:txBody>
      </p:sp>
      <p:sp>
        <p:nvSpPr>
          <p:cNvPr id="44" name="Text 24">
            <a:extLst>
              <a:ext uri="{FF2B5EF4-FFF2-40B4-BE49-F238E27FC236}">
                <a16:creationId xmlns:a16="http://schemas.microsoft.com/office/drawing/2014/main" id="{208DA0A5-034E-4468-C162-CDED9AA0597F}"/>
              </a:ext>
            </a:extLst>
          </p:cNvPr>
          <p:cNvSpPr/>
          <p:nvPr/>
        </p:nvSpPr>
        <p:spPr>
          <a:xfrm>
            <a:off x="7205472" y="2220002"/>
            <a:ext cx="1225296" cy="201168"/>
          </a:xfrm>
          <a:prstGeom prst="rect">
            <a:avLst/>
          </a:prstGeom>
          <a:noFill/>
          <a:ln/>
        </p:spPr>
        <p:txBody>
          <a:bodyPr wrap="square" lIns="0" tIns="0" rIns="0" bIns="0" rtlCol="0" anchor="ctr"/>
          <a:lstStyle/>
          <a:p>
            <a:pPr marL="0" indent="0" algn="ctr">
              <a:buNone/>
            </a:pPr>
            <a:r>
              <a:rPr lang="en-US" sz="950" b="1">
                <a:solidFill>
                  <a:srgbClr val="FFFFFF"/>
                </a:solidFill>
              </a:rPr>
              <a:t>VALIDATE</a:t>
            </a:r>
            <a:endParaRPr lang="en-US" sz="950"/>
          </a:p>
        </p:txBody>
      </p:sp>
      <p:sp>
        <p:nvSpPr>
          <p:cNvPr id="45" name="Text 25">
            <a:extLst>
              <a:ext uri="{FF2B5EF4-FFF2-40B4-BE49-F238E27FC236}">
                <a16:creationId xmlns:a16="http://schemas.microsoft.com/office/drawing/2014/main" id="{2706CBA7-4D87-6753-465B-6E0CEE484F22}"/>
              </a:ext>
            </a:extLst>
          </p:cNvPr>
          <p:cNvSpPr/>
          <p:nvPr/>
        </p:nvSpPr>
        <p:spPr>
          <a:xfrm>
            <a:off x="7251192" y="2494322"/>
            <a:ext cx="1133856" cy="347472"/>
          </a:xfrm>
          <a:prstGeom prst="rect">
            <a:avLst/>
          </a:prstGeom>
          <a:noFill/>
          <a:ln/>
        </p:spPr>
        <p:txBody>
          <a:bodyPr wrap="square" lIns="0" tIns="0" rIns="0" bIns="0" rtlCol="0" anchor="ctr"/>
          <a:lstStyle/>
          <a:p>
            <a:pPr marL="0" indent="0" algn="ctr">
              <a:buNone/>
            </a:pPr>
            <a:r>
              <a:rPr lang="en-US" sz="750">
                <a:solidFill>
                  <a:srgbClr val="E6F1F7"/>
                </a:solidFill>
              </a:rPr>
              <a:t>Completeness, parity, failure, replay and throughput</a:t>
            </a:r>
            <a:endParaRPr lang="en-US" sz="750"/>
          </a:p>
        </p:txBody>
      </p:sp>
      <p:sp>
        <p:nvSpPr>
          <p:cNvPr id="46" name="Text 26">
            <a:extLst>
              <a:ext uri="{FF2B5EF4-FFF2-40B4-BE49-F238E27FC236}">
                <a16:creationId xmlns:a16="http://schemas.microsoft.com/office/drawing/2014/main" id="{8D8AE93B-6E4A-D50E-5ABB-13E9D4646A10}"/>
              </a:ext>
            </a:extLst>
          </p:cNvPr>
          <p:cNvSpPr/>
          <p:nvPr/>
        </p:nvSpPr>
        <p:spPr>
          <a:xfrm>
            <a:off x="8567928" y="2192570"/>
            <a:ext cx="128016" cy="274320"/>
          </a:xfrm>
          <a:prstGeom prst="rect">
            <a:avLst/>
          </a:prstGeom>
          <a:noFill/>
          <a:ln/>
        </p:spPr>
        <p:txBody>
          <a:bodyPr wrap="square" lIns="0" tIns="0" rIns="0" bIns="0" rtlCol="0" anchor="ctr"/>
          <a:lstStyle/>
          <a:p>
            <a:pPr marL="0" indent="0" algn="ctr">
              <a:buNone/>
            </a:pPr>
            <a:r>
              <a:rPr lang="en-US" sz="1800" b="1">
                <a:solidFill>
                  <a:srgbClr val="34C6D3"/>
                </a:solidFill>
              </a:rPr>
              <a:t>›</a:t>
            </a:r>
            <a:endParaRPr lang="en-US" sz="1800"/>
          </a:p>
        </p:txBody>
      </p:sp>
      <p:sp>
        <p:nvSpPr>
          <p:cNvPr id="47" name="Shape 27">
            <a:extLst>
              <a:ext uri="{FF2B5EF4-FFF2-40B4-BE49-F238E27FC236}">
                <a16:creationId xmlns:a16="http://schemas.microsoft.com/office/drawing/2014/main" id="{98A85207-9A51-86E6-67DA-A1727150268B}"/>
              </a:ext>
            </a:extLst>
          </p:cNvPr>
          <p:cNvSpPr/>
          <p:nvPr/>
        </p:nvSpPr>
        <p:spPr>
          <a:xfrm>
            <a:off x="8759952" y="1963970"/>
            <a:ext cx="1444752" cy="1261872"/>
          </a:xfrm>
          <a:prstGeom prst="hexagon">
            <a:avLst/>
          </a:prstGeom>
          <a:solidFill>
            <a:srgbClr val="0B315E"/>
          </a:solidFill>
          <a:ln w="15240">
            <a:solidFill>
              <a:srgbClr val="FFFFFF"/>
            </a:solidFill>
            <a:prstDash val="solid"/>
          </a:ln>
        </p:spPr>
        <p:txBody>
          <a:bodyPr/>
          <a:lstStyle/>
          <a:p>
            <a:endParaRPr lang="en-US"/>
          </a:p>
        </p:txBody>
      </p:sp>
      <p:sp>
        <p:nvSpPr>
          <p:cNvPr id="48" name="Text 28">
            <a:extLst>
              <a:ext uri="{FF2B5EF4-FFF2-40B4-BE49-F238E27FC236}">
                <a16:creationId xmlns:a16="http://schemas.microsoft.com/office/drawing/2014/main" id="{FF65EEB2-1C56-2056-75BF-39BB032D4754}"/>
              </a:ext>
            </a:extLst>
          </p:cNvPr>
          <p:cNvSpPr/>
          <p:nvPr/>
        </p:nvSpPr>
        <p:spPr>
          <a:xfrm>
            <a:off x="9244584" y="2091986"/>
            <a:ext cx="457200" cy="274320"/>
          </a:xfrm>
          <a:prstGeom prst="rect">
            <a:avLst/>
          </a:prstGeom>
          <a:noFill/>
          <a:ln/>
        </p:spPr>
        <p:txBody>
          <a:bodyPr wrap="square" lIns="0" tIns="0" rIns="0" bIns="0" rtlCol="0" anchor="ctr"/>
          <a:lstStyle/>
          <a:p>
            <a:pPr marL="0" indent="0" algn="ctr">
              <a:buNone/>
            </a:pPr>
            <a:r>
              <a:rPr lang="en-US" sz="1800" b="1">
                <a:solidFill>
                  <a:srgbClr val="FFFFFF"/>
                </a:solidFill>
              </a:rPr>
              <a:t>6</a:t>
            </a:r>
            <a:endParaRPr lang="en-US" sz="1800"/>
          </a:p>
        </p:txBody>
      </p:sp>
      <p:sp>
        <p:nvSpPr>
          <p:cNvPr id="49" name="Text 29">
            <a:extLst>
              <a:ext uri="{FF2B5EF4-FFF2-40B4-BE49-F238E27FC236}">
                <a16:creationId xmlns:a16="http://schemas.microsoft.com/office/drawing/2014/main" id="{DC478D43-357A-B041-8E23-0EF099828EB3}"/>
              </a:ext>
            </a:extLst>
          </p:cNvPr>
          <p:cNvSpPr/>
          <p:nvPr/>
        </p:nvSpPr>
        <p:spPr>
          <a:xfrm>
            <a:off x="8869680" y="2439458"/>
            <a:ext cx="1225296" cy="201168"/>
          </a:xfrm>
          <a:prstGeom prst="rect">
            <a:avLst/>
          </a:prstGeom>
          <a:noFill/>
          <a:ln/>
        </p:spPr>
        <p:txBody>
          <a:bodyPr wrap="square" lIns="0" tIns="0" rIns="0" bIns="0" rtlCol="0" anchor="ctr"/>
          <a:lstStyle/>
          <a:p>
            <a:pPr marL="0" indent="0" algn="ctr">
              <a:buNone/>
            </a:pPr>
            <a:r>
              <a:rPr lang="en-US" sz="950" b="1">
                <a:solidFill>
                  <a:srgbClr val="FFFFFF"/>
                </a:solidFill>
              </a:rPr>
              <a:t>ACTIVATE</a:t>
            </a:r>
            <a:endParaRPr lang="en-US" sz="950"/>
          </a:p>
        </p:txBody>
      </p:sp>
      <p:sp>
        <p:nvSpPr>
          <p:cNvPr id="50" name="Text 30">
            <a:extLst>
              <a:ext uri="{FF2B5EF4-FFF2-40B4-BE49-F238E27FC236}">
                <a16:creationId xmlns:a16="http://schemas.microsoft.com/office/drawing/2014/main" id="{2841B161-AD9B-DE78-8D27-F938B4557E3B}"/>
              </a:ext>
            </a:extLst>
          </p:cNvPr>
          <p:cNvSpPr/>
          <p:nvPr/>
        </p:nvSpPr>
        <p:spPr>
          <a:xfrm>
            <a:off x="8915400" y="2713778"/>
            <a:ext cx="1133856" cy="347472"/>
          </a:xfrm>
          <a:prstGeom prst="rect">
            <a:avLst/>
          </a:prstGeom>
          <a:noFill/>
          <a:ln/>
        </p:spPr>
        <p:txBody>
          <a:bodyPr wrap="square" lIns="0" tIns="0" rIns="0" bIns="0" rtlCol="0" anchor="ctr"/>
          <a:lstStyle/>
          <a:p>
            <a:pPr marL="0" indent="0" algn="ctr">
              <a:buNone/>
            </a:pPr>
            <a:r>
              <a:rPr lang="en-US" sz="750">
                <a:solidFill>
                  <a:srgbClr val="E6F1F7"/>
                </a:solidFill>
              </a:rPr>
              <a:t>Approvals, live route, alerts, baselines and inventory</a:t>
            </a:r>
            <a:endParaRPr lang="en-US" sz="750"/>
          </a:p>
        </p:txBody>
      </p:sp>
      <p:sp>
        <p:nvSpPr>
          <p:cNvPr id="51" name="Text 31">
            <a:extLst>
              <a:ext uri="{FF2B5EF4-FFF2-40B4-BE49-F238E27FC236}">
                <a16:creationId xmlns:a16="http://schemas.microsoft.com/office/drawing/2014/main" id="{CDB9F437-B702-A883-5F8D-7734CBAC3A18}"/>
              </a:ext>
            </a:extLst>
          </p:cNvPr>
          <p:cNvSpPr/>
          <p:nvPr/>
        </p:nvSpPr>
        <p:spPr>
          <a:xfrm>
            <a:off x="10232136" y="2412026"/>
            <a:ext cx="128016" cy="274320"/>
          </a:xfrm>
          <a:prstGeom prst="rect">
            <a:avLst/>
          </a:prstGeom>
          <a:noFill/>
          <a:ln/>
        </p:spPr>
        <p:txBody>
          <a:bodyPr wrap="square" lIns="0" tIns="0" rIns="0" bIns="0" rtlCol="0" anchor="ctr"/>
          <a:lstStyle/>
          <a:p>
            <a:pPr marL="0" indent="0" algn="ctr">
              <a:buNone/>
            </a:pPr>
            <a:r>
              <a:rPr lang="en-US" sz="1800" b="1">
                <a:solidFill>
                  <a:srgbClr val="34C6D3"/>
                </a:solidFill>
              </a:rPr>
              <a:t>›</a:t>
            </a:r>
            <a:endParaRPr lang="en-US" sz="1800"/>
          </a:p>
        </p:txBody>
      </p:sp>
      <p:sp>
        <p:nvSpPr>
          <p:cNvPr id="52" name="Shape 32">
            <a:extLst>
              <a:ext uri="{FF2B5EF4-FFF2-40B4-BE49-F238E27FC236}">
                <a16:creationId xmlns:a16="http://schemas.microsoft.com/office/drawing/2014/main" id="{35042388-6F5A-1570-51EA-85C8D75477D8}"/>
              </a:ext>
            </a:extLst>
          </p:cNvPr>
          <p:cNvSpPr/>
          <p:nvPr/>
        </p:nvSpPr>
        <p:spPr>
          <a:xfrm>
            <a:off x="10424160" y="1744514"/>
            <a:ext cx="1444752" cy="1261872"/>
          </a:xfrm>
          <a:prstGeom prst="hexagon">
            <a:avLst/>
          </a:prstGeom>
          <a:solidFill>
            <a:srgbClr val="0B315E"/>
          </a:solidFill>
          <a:ln w="15240">
            <a:solidFill>
              <a:srgbClr val="FFFFFF"/>
            </a:solidFill>
            <a:prstDash val="solid"/>
          </a:ln>
        </p:spPr>
        <p:txBody>
          <a:bodyPr/>
          <a:lstStyle/>
          <a:p>
            <a:endParaRPr lang="en-US"/>
          </a:p>
        </p:txBody>
      </p:sp>
      <p:sp>
        <p:nvSpPr>
          <p:cNvPr id="53" name="Text 33">
            <a:extLst>
              <a:ext uri="{FF2B5EF4-FFF2-40B4-BE49-F238E27FC236}">
                <a16:creationId xmlns:a16="http://schemas.microsoft.com/office/drawing/2014/main" id="{F8188122-DE10-F634-7AB2-B59CB4C9CA47}"/>
              </a:ext>
            </a:extLst>
          </p:cNvPr>
          <p:cNvSpPr/>
          <p:nvPr/>
        </p:nvSpPr>
        <p:spPr>
          <a:xfrm>
            <a:off x="10908792" y="1872530"/>
            <a:ext cx="457200" cy="274320"/>
          </a:xfrm>
          <a:prstGeom prst="rect">
            <a:avLst/>
          </a:prstGeom>
          <a:noFill/>
          <a:ln/>
        </p:spPr>
        <p:txBody>
          <a:bodyPr wrap="square" lIns="0" tIns="0" rIns="0" bIns="0" rtlCol="0" anchor="ctr"/>
          <a:lstStyle/>
          <a:p>
            <a:pPr marL="0" indent="0" algn="ctr">
              <a:buNone/>
            </a:pPr>
            <a:r>
              <a:rPr lang="en-US" sz="1800" b="1">
                <a:solidFill>
                  <a:srgbClr val="FFFFFF"/>
                </a:solidFill>
              </a:rPr>
              <a:t>7</a:t>
            </a:r>
            <a:endParaRPr lang="en-US" sz="1800"/>
          </a:p>
        </p:txBody>
      </p:sp>
      <p:sp>
        <p:nvSpPr>
          <p:cNvPr id="54" name="Text 34">
            <a:extLst>
              <a:ext uri="{FF2B5EF4-FFF2-40B4-BE49-F238E27FC236}">
                <a16:creationId xmlns:a16="http://schemas.microsoft.com/office/drawing/2014/main" id="{48E4253E-B1A2-99EB-7212-61F0B5D5A2AD}"/>
              </a:ext>
            </a:extLst>
          </p:cNvPr>
          <p:cNvSpPr/>
          <p:nvPr/>
        </p:nvSpPr>
        <p:spPr>
          <a:xfrm>
            <a:off x="10533888" y="2220002"/>
            <a:ext cx="1225296" cy="201168"/>
          </a:xfrm>
          <a:prstGeom prst="rect">
            <a:avLst/>
          </a:prstGeom>
          <a:noFill/>
          <a:ln/>
        </p:spPr>
        <p:txBody>
          <a:bodyPr wrap="square" lIns="0" tIns="0" rIns="0" bIns="0" rtlCol="0" anchor="ctr"/>
          <a:lstStyle/>
          <a:p>
            <a:pPr marL="0" indent="0" algn="ctr">
              <a:buNone/>
            </a:pPr>
            <a:r>
              <a:rPr lang="en-US" sz="950" b="1">
                <a:solidFill>
                  <a:srgbClr val="FFFFFF"/>
                </a:solidFill>
              </a:rPr>
              <a:t>OPERATE</a:t>
            </a:r>
            <a:endParaRPr lang="en-US" sz="950"/>
          </a:p>
        </p:txBody>
      </p:sp>
      <p:sp>
        <p:nvSpPr>
          <p:cNvPr id="55" name="Text 35">
            <a:extLst>
              <a:ext uri="{FF2B5EF4-FFF2-40B4-BE49-F238E27FC236}">
                <a16:creationId xmlns:a16="http://schemas.microsoft.com/office/drawing/2014/main" id="{8E05B9C6-F0DD-312F-DF9C-6A278004B4B0}"/>
              </a:ext>
            </a:extLst>
          </p:cNvPr>
          <p:cNvSpPr/>
          <p:nvPr/>
        </p:nvSpPr>
        <p:spPr>
          <a:xfrm>
            <a:off x="10579608" y="2494322"/>
            <a:ext cx="1133856" cy="347472"/>
          </a:xfrm>
          <a:prstGeom prst="rect">
            <a:avLst/>
          </a:prstGeom>
          <a:noFill/>
          <a:ln/>
        </p:spPr>
        <p:txBody>
          <a:bodyPr wrap="square" lIns="0" tIns="0" rIns="0" bIns="0" rtlCol="0" anchor="ctr"/>
          <a:lstStyle/>
          <a:p>
            <a:pPr marL="0" indent="0" algn="ctr">
              <a:buNone/>
            </a:pPr>
            <a:r>
              <a:rPr lang="en-US" sz="750">
                <a:solidFill>
                  <a:srgbClr val="E6F1F7"/>
                </a:solidFill>
              </a:rPr>
              <a:t>SLOs, drift, incidents, cost and recertification</a:t>
            </a:r>
            <a:endParaRPr lang="en-US" sz="750"/>
          </a:p>
        </p:txBody>
      </p:sp>
      <p:sp>
        <p:nvSpPr>
          <p:cNvPr id="56" name="Shape 36">
            <a:extLst>
              <a:ext uri="{FF2B5EF4-FFF2-40B4-BE49-F238E27FC236}">
                <a16:creationId xmlns:a16="http://schemas.microsoft.com/office/drawing/2014/main" id="{647FBDB0-12AC-6FE8-3385-BAD2B78BEF89}"/>
              </a:ext>
            </a:extLst>
          </p:cNvPr>
          <p:cNvSpPr/>
          <p:nvPr/>
        </p:nvSpPr>
        <p:spPr>
          <a:xfrm>
            <a:off x="566928" y="3427894"/>
            <a:ext cx="2587752" cy="1417320"/>
          </a:xfrm>
          <a:prstGeom prst="roundRect">
            <a:avLst>
              <a:gd name="adj" fmla="val 3226"/>
            </a:avLst>
          </a:prstGeom>
          <a:solidFill>
            <a:srgbClr val="FFFFFF"/>
          </a:solidFill>
          <a:ln w="15240">
            <a:solidFill>
              <a:srgbClr val="00A78E"/>
            </a:solidFill>
            <a:prstDash val="solid"/>
          </a:ln>
          <a:effectLst>
            <a:outerShdw blurRad="10160" dist="4445" dir="2700000" algn="bl" rotWithShape="0">
              <a:srgbClr val="000000">
                <a:alpha val="10000"/>
              </a:srgbClr>
            </a:outerShdw>
          </a:effectLst>
        </p:spPr>
        <p:txBody>
          <a:bodyPr/>
          <a:lstStyle/>
          <a:p>
            <a:endParaRPr lang="en-US"/>
          </a:p>
        </p:txBody>
      </p:sp>
      <p:sp>
        <p:nvSpPr>
          <p:cNvPr id="57" name="Shape 37">
            <a:extLst>
              <a:ext uri="{FF2B5EF4-FFF2-40B4-BE49-F238E27FC236}">
                <a16:creationId xmlns:a16="http://schemas.microsoft.com/office/drawing/2014/main" id="{D361048C-F747-E718-3F34-49B38F87A571}"/>
              </a:ext>
            </a:extLst>
          </p:cNvPr>
          <p:cNvSpPr/>
          <p:nvPr/>
        </p:nvSpPr>
        <p:spPr>
          <a:xfrm>
            <a:off x="731520" y="3583342"/>
            <a:ext cx="749808" cy="310896"/>
          </a:xfrm>
          <a:prstGeom prst="roundRect">
            <a:avLst>
              <a:gd name="adj" fmla="val 23529"/>
            </a:avLst>
          </a:prstGeom>
          <a:solidFill>
            <a:srgbClr val="00A78E"/>
          </a:solidFill>
          <a:ln w="12700">
            <a:solidFill>
              <a:srgbClr val="00A78E"/>
            </a:solidFill>
            <a:prstDash val="solid"/>
          </a:ln>
        </p:spPr>
        <p:txBody>
          <a:bodyPr/>
          <a:lstStyle/>
          <a:p>
            <a:endParaRPr lang="en-US"/>
          </a:p>
        </p:txBody>
      </p:sp>
      <p:sp>
        <p:nvSpPr>
          <p:cNvPr id="58" name="Text 38">
            <a:extLst>
              <a:ext uri="{FF2B5EF4-FFF2-40B4-BE49-F238E27FC236}">
                <a16:creationId xmlns:a16="http://schemas.microsoft.com/office/drawing/2014/main" id="{E6033DC5-293E-5C26-4AAD-D6601E17D70C}"/>
              </a:ext>
            </a:extLst>
          </p:cNvPr>
          <p:cNvSpPr/>
          <p:nvPr/>
        </p:nvSpPr>
        <p:spPr>
          <a:xfrm>
            <a:off x="768096" y="3647350"/>
            <a:ext cx="676656" cy="146304"/>
          </a:xfrm>
          <a:prstGeom prst="rect">
            <a:avLst/>
          </a:prstGeom>
          <a:noFill/>
          <a:ln/>
        </p:spPr>
        <p:txBody>
          <a:bodyPr wrap="square" lIns="0" tIns="0" rIns="0" bIns="0" rtlCol="0" anchor="ctr"/>
          <a:lstStyle/>
          <a:p>
            <a:pPr marL="0" indent="0" algn="ctr">
              <a:buNone/>
            </a:pPr>
            <a:r>
              <a:rPr lang="en-US" sz="850" b="1">
                <a:solidFill>
                  <a:srgbClr val="FFFFFF"/>
                </a:solidFill>
              </a:rPr>
              <a:t>Gate 1-2</a:t>
            </a:r>
            <a:endParaRPr lang="en-US" sz="850"/>
          </a:p>
        </p:txBody>
      </p:sp>
      <p:sp>
        <p:nvSpPr>
          <p:cNvPr id="59" name="Text 39">
            <a:extLst>
              <a:ext uri="{FF2B5EF4-FFF2-40B4-BE49-F238E27FC236}">
                <a16:creationId xmlns:a16="http://schemas.microsoft.com/office/drawing/2014/main" id="{C60CC478-B6A7-F00B-6215-FF3376A96A09}"/>
              </a:ext>
            </a:extLst>
          </p:cNvPr>
          <p:cNvSpPr/>
          <p:nvPr/>
        </p:nvSpPr>
        <p:spPr>
          <a:xfrm>
            <a:off x="731520" y="4003966"/>
            <a:ext cx="2249424" cy="237744"/>
          </a:xfrm>
          <a:prstGeom prst="rect">
            <a:avLst/>
          </a:prstGeom>
          <a:noFill/>
          <a:ln/>
        </p:spPr>
        <p:txBody>
          <a:bodyPr wrap="square" lIns="0" tIns="0" rIns="0" bIns="0" rtlCol="0" anchor="ctr"/>
          <a:lstStyle/>
          <a:p>
            <a:pPr marL="0" indent="0">
              <a:buNone/>
            </a:pPr>
            <a:r>
              <a:rPr lang="en-US" sz="1150" b="1">
                <a:solidFill>
                  <a:srgbClr val="0B315E"/>
                </a:solidFill>
              </a:rPr>
              <a:t>Source approved for engineering</a:t>
            </a:r>
            <a:endParaRPr lang="en-US" sz="1150"/>
          </a:p>
        </p:txBody>
      </p:sp>
      <p:sp>
        <p:nvSpPr>
          <p:cNvPr id="60" name="Text 40">
            <a:extLst>
              <a:ext uri="{FF2B5EF4-FFF2-40B4-BE49-F238E27FC236}">
                <a16:creationId xmlns:a16="http://schemas.microsoft.com/office/drawing/2014/main" id="{BF168BBF-2F04-2DF5-9BE7-61E00D7EC6C1}"/>
              </a:ext>
            </a:extLst>
          </p:cNvPr>
          <p:cNvSpPr/>
          <p:nvPr/>
        </p:nvSpPr>
        <p:spPr>
          <a:xfrm>
            <a:off x="731520" y="4314862"/>
            <a:ext cx="2249424" cy="347472"/>
          </a:xfrm>
          <a:prstGeom prst="rect">
            <a:avLst/>
          </a:prstGeom>
          <a:noFill/>
          <a:ln/>
        </p:spPr>
        <p:txBody>
          <a:bodyPr wrap="square" lIns="0" tIns="0" rIns="0" bIns="0" rtlCol="0" anchor="ctr"/>
          <a:lstStyle/>
          <a:p>
            <a:pPr marL="0" indent="0">
              <a:buNone/>
            </a:pPr>
            <a:r>
              <a:rPr lang="en-US" sz="870">
                <a:solidFill>
                  <a:srgbClr val="243447"/>
                </a:solidFill>
              </a:rPr>
              <a:t>Owner, active use case and minimum contract agreed</a:t>
            </a:r>
            <a:endParaRPr lang="en-US" sz="870"/>
          </a:p>
        </p:txBody>
      </p:sp>
      <p:sp>
        <p:nvSpPr>
          <p:cNvPr id="61" name="Shape 41">
            <a:extLst>
              <a:ext uri="{FF2B5EF4-FFF2-40B4-BE49-F238E27FC236}">
                <a16:creationId xmlns:a16="http://schemas.microsoft.com/office/drawing/2014/main" id="{4ACEE0D7-8743-7890-A56F-685F4ED36191}"/>
              </a:ext>
            </a:extLst>
          </p:cNvPr>
          <p:cNvSpPr/>
          <p:nvPr/>
        </p:nvSpPr>
        <p:spPr>
          <a:xfrm>
            <a:off x="3383280" y="3427894"/>
            <a:ext cx="2587752" cy="1417320"/>
          </a:xfrm>
          <a:prstGeom prst="roundRect">
            <a:avLst>
              <a:gd name="adj" fmla="val 3226"/>
            </a:avLst>
          </a:prstGeom>
          <a:solidFill>
            <a:srgbClr val="FFFFFF"/>
          </a:solidFill>
          <a:ln w="15240">
            <a:solidFill>
              <a:srgbClr val="0A4B8C"/>
            </a:solidFill>
            <a:prstDash val="solid"/>
          </a:ln>
          <a:effectLst>
            <a:outerShdw blurRad="10160" dist="4445" dir="2700000" algn="bl" rotWithShape="0">
              <a:srgbClr val="000000">
                <a:alpha val="10000"/>
              </a:srgbClr>
            </a:outerShdw>
          </a:effectLst>
        </p:spPr>
        <p:txBody>
          <a:bodyPr/>
          <a:lstStyle/>
          <a:p>
            <a:endParaRPr lang="en-US"/>
          </a:p>
        </p:txBody>
      </p:sp>
      <p:sp>
        <p:nvSpPr>
          <p:cNvPr id="62" name="Shape 42">
            <a:extLst>
              <a:ext uri="{FF2B5EF4-FFF2-40B4-BE49-F238E27FC236}">
                <a16:creationId xmlns:a16="http://schemas.microsoft.com/office/drawing/2014/main" id="{900E1620-70FA-2C4B-884C-F88861F01B0B}"/>
              </a:ext>
            </a:extLst>
          </p:cNvPr>
          <p:cNvSpPr/>
          <p:nvPr/>
        </p:nvSpPr>
        <p:spPr>
          <a:xfrm>
            <a:off x="3547872" y="3583342"/>
            <a:ext cx="749808" cy="310896"/>
          </a:xfrm>
          <a:prstGeom prst="roundRect">
            <a:avLst>
              <a:gd name="adj" fmla="val 23529"/>
            </a:avLst>
          </a:prstGeom>
          <a:solidFill>
            <a:srgbClr val="0A4B8C"/>
          </a:solidFill>
          <a:ln w="12700">
            <a:solidFill>
              <a:srgbClr val="0A4B8C"/>
            </a:solidFill>
            <a:prstDash val="solid"/>
          </a:ln>
        </p:spPr>
        <p:txBody>
          <a:bodyPr/>
          <a:lstStyle/>
          <a:p>
            <a:endParaRPr lang="en-US"/>
          </a:p>
        </p:txBody>
      </p:sp>
      <p:sp>
        <p:nvSpPr>
          <p:cNvPr id="63" name="Text 43">
            <a:extLst>
              <a:ext uri="{FF2B5EF4-FFF2-40B4-BE49-F238E27FC236}">
                <a16:creationId xmlns:a16="http://schemas.microsoft.com/office/drawing/2014/main" id="{315729B8-9412-F022-DA98-F298CEE57F5C}"/>
              </a:ext>
            </a:extLst>
          </p:cNvPr>
          <p:cNvSpPr/>
          <p:nvPr/>
        </p:nvSpPr>
        <p:spPr>
          <a:xfrm>
            <a:off x="3584448" y="3647350"/>
            <a:ext cx="676656" cy="146304"/>
          </a:xfrm>
          <a:prstGeom prst="rect">
            <a:avLst/>
          </a:prstGeom>
          <a:noFill/>
          <a:ln/>
        </p:spPr>
        <p:txBody>
          <a:bodyPr wrap="square" lIns="0" tIns="0" rIns="0" bIns="0" rtlCol="0" anchor="ctr"/>
          <a:lstStyle/>
          <a:p>
            <a:pPr marL="0" indent="0" algn="ctr">
              <a:buNone/>
            </a:pPr>
            <a:r>
              <a:rPr lang="en-US" sz="850" b="1">
                <a:solidFill>
                  <a:srgbClr val="FFFFFF"/>
                </a:solidFill>
              </a:rPr>
              <a:t>Gate 3-4</a:t>
            </a:r>
            <a:endParaRPr lang="en-US" sz="850"/>
          </a:p>
        </p:txBody>
      </p:sp>
      <p:sp>
        <p:nvSpPr>
          <p:cNvPr id="64" name="Text 44">
            <a:extLst>
              <a:ext uri="{FF2B5EF4-FFF2-40B4-BE49-F238E27FC236}">
                <a16:creationId xmlns:a16="http://schemas.microsoft.com/office/drawing/2014/main" id="{F7A188B7-20F6-E318-A257-09029E25F84C}"/>
              </a:ext>
            </a:extLst>
          </p:cNvPr>
          <p:cNvSpPr/>
          <p:nvPr/>
        </p:nvSpPr>
        <p:spPr>
          <a:xfrm>
            <a:off x="3547872" y="4003966"/>
            <a:ext cx="2249424" cy="237744"/>
          </a:xfrm>
          <a:prstGeom prst="rect">
            <a:avLst/>
          </a:prstGeom>
          <a:noFill/>
          <a:ln/>
        </p:spPr>
        <p:txBody>
          <a:bodyPr wrap="square" lIns="0" tIns="0" rIns="0" bIns="0" rtlCol="0" anchor="ctr"/>
          <a:lstStyle/>
          <a:p>
            <a:pPr marL="0" indent="0">
              <a:buNone/>
            </a:pPr>
            <a:r>
              <a:rPr lang="en-US" sz="1150" b="1">
                <a:solidFill>
                  <a:srgbClr val="0B315E"/>
                </a:solidFill>
              </a:rPr>
              <a:t>Implementation ready</a:t>
            </a:r>
            <a:endParaRPr lang="en-US" sz="1150"/>
          </a:p>
        </p:txBody>
      </p:sp>
      <p:sp>
        <p:nvSpPr>
          <p:cNvPr id="65" name="Text 45">
            <a:extLst>
              <a:ext uri="{FF2B5EF4-FFF2-40B4-BE49-F238E27FC236}">
                <a16:creationId xmlns:a16="http://schemas.microsoft.com/office/drawing/2014/main" id="{21C43071-5A04-DBDC-EDAA-A42FC0B0440D}"/>
              </a:ext>
            </a:extLst>
          </p:cNvPr>
          <p:cNvSpPr/>
          <p:nvPr/>
        </p:nvSpPr>
        <p:spPr>
          <a:xfrm>
            <a:off x="3547872" y="4314862"/>
            <a:ext cx="2249424" cy="347472"/>
          </a:xfrm>
          <a:prstGeom prst="rect">
            <a:avLst/>
          </a:prstGeom>
          <a:noFill/>
          <a:ln/>
        </p:spPr>
        <p:txBody>
          <a:bodyPr wrap="square" lIns="0" tIns="0" rIns="0" bIns="0" rtlCol="0" anchor="ctr"/>
          <a:lstStyle/>
          <a:p>
            <a:pPr marL="0" indent="0">
              <a:buNone/>
            </a:pPr>
            <a:r>
              <a:rPr lang="en-US" sz="870">
                <a:solidFill>
                  <a:srgbClr val="243447"/>
                </a:solidFill>
              </a:rPr>
              <a:t>Technical design and build evidence complete</a:t>
            </a:r>
            <a:endParaRPr lang="en-US" sz="870"/>
          </a:p>
        </p:txBody>
      </p:sp>
      <p:sp>
        <p:nvSpPr>
          <p:cNvPr id="66" name="Shape 46">
            <a:extLst>
              <a:ext uri="{FF2B5EF4-FFF2-40B4-BE49-F238E27FC236}">
                <a16:creationId xmlns:a16="http://schemas.microsoft.com/office/drawing/2014/main" id="{12028917-A6B5-2C24-6095-F42EDA9117B9}"/>
              </a:ext>
            </a:extLst>
          </p:cNvPr>
          <p:cNvSpPr/>
          <p:nvPr/>
        </p:nvSpPr>
        <p:spPr>
          <a:xfrm>
            <a:off x="6199632" y="3427894"/>
            <a:ext cx="2587752" cy="1417320"/>
          </a:xfrm>
          <a:prstGeom prst="roundRect">
            <a:avLst>
              <a:gd name="adj" fmla="val 3226"/>
            </a:avLst>
          </a:prstGeom>
          <a:solidFill>
            <a:srgbClr val="FFFFFF"/>
          </a:solidFill>
          <a:ln w="15240">
            <a:solidFill>
              <a:srgbClr val="3D8EC3"/>
            </a:solidFill>
            <a:prstDash val="solid"/>
          </a:ln>
          <a:effectLst>
            <a:outerShdw blurRad="10160" dist="4445" dir="2700000" algn="bl" rotWithShape="0">
              <a:srgbClr val="000000">
                <a:alpha val="10000"/>
              </a:srgbClr>
            </a:outerShdw>
          </a:effectLst>
        </p:spPr>
        <p:txBody>
          <a:bodyPr/>
          <a:lstStyle/>
          <a:p>
            <a:endParaRPr lang="en-US"/>
          </a:p>
        </p:txBody>
      </p:sp>
      <p:sp>
        <p:nvSpPr>
          <p:cNvPr id="67" name="Shape 47">
            <a:extLst>
              <a:ext uri="{FF2B5EF4-FFF2-40B4-BE49-F238E27FC236}">
                <a16:creationId xmlns:a16="http://schemas.microsoft.com/office/drawing/2014/main" id="{9DE6AE61-FA86-6E5B-8A44-22A18240BF7C}"/>
              </a:ext>
            </a:extLst>
          </p:cNvPr>
          <p:cNvSpPr/>
          <p:nvPr/>
        </p:nvSpPr>
        <p:spPr>
          <a:xfrm>
            <a:off x="6364224" y="3583342"/>
            <a:ext cx="749808" cy="310896"/>
          </a:xfrm>
          <a:prstGeom prst="roundRect">
            <a:avLst>
              <a:gd name="adj" fmla="val 23529"/>
            </a:avLst>
          </a:prstGeom>
          <a:solidFill>
            <a:srgbClr val="3D8EC3"/>
          </a:solidFill>
          <a:ln w="12700">
            <a:solidFill>
              <a:srgbClr val="00A78E"/>
            </a:solidFill>
            <a:prstDash val="solid"/>
          </a:ln>
        </p:spPr>
        <p:txBody>
          <a:bodyPr/>
          <a:lstStyle/>
          <a:p>
            <a:endParaRPr lang="en-US"/>
          </a:p>
        </p:txBody>
      </p:sp>
      <p:sp>
        <p:nvSpPr>
          <p:cNvPr id="68" name="Text 48">
            <a:extLst>
              <a:ext uri="{FF2B5EF4-FFF2-40B4-BE49-F238E27FC236}">
                <a16:creationId xmlns:a16="http://schemas.microsoft.com/office/drawing/2014/main" id="{87869C43-3476-9BCD-5F6C-FCC59B6187EF}"/>
              </a:ext>
            </a:extLst>
          </p:cNvPr>
          <p:cNvSpPr/>
          <p:nvPr/>
        </p:nvSpPr>
        <p:spPr>
          <a:xfrm>
            <a:off x="6400800" y="3647350"/>
            <a:ext cx="676656" cy="146304"/>
          </a:xfrm>
          <a:prstGeom prst="rect">
            <a:avLst/>
          </a:prstGeom>
          <a:noFill/>
          <a:ln/>
        </p:spPr>
        <p:txBody>
          <a:bodyPr wrap="square" lIns="0" tIns="0" rIns="0" bIns="0" rtlCol="0" anchor="ctr"/>
          <a:lstStyle/>
          <a:p>
            <a:pPr marL="0" indent="0" algn="ctr">
              <a:buNone/>
            </a:pPr>
            <a:r>
              <a:rPr lang="en-US" sz="850" b="1">
                <a:solidFill>
                  <a:srgbClr val="FFFFFF"/>
                </a:solidFill>
              </a:rPr>
              <a:t>Gate 5</a:t>
            </a:r>
            <a:endParaRPr lang="en-US" sz="850"/>
          </a:p>
        </p:txBody>
      </p:sp>
      <p:sp>
        <p:nvSpPr>
          <p:cNvPr id="69" name="Text 49">
            <a:extLst>
              <a:ext uri="{FF2B5EF4-FFF2-40B4-BE49-F238E27FC236}">
                <a16:creationId xmlns:a16="http://schemas.microsoft.com/office/drawing/2014/main" id="{D4A85734-CB8A-7AF1-0522-E80B29D2992A}"/>
              </a:ext>
            </a:extLst>
          </p:cNvPr>
          <p:cNvSpPr/>
          <p:nvPr/>
        </p:nvSpPr>
        <p:spPr>
          <a:xfrm>
            <a:off x="6364224" y="4003966"/>
            <a:ext cx="2249424" cy="237744"/>
          </a:xfrm>
          <a:prstGeom prst="rect">
            <a:avLst/>
          </a:prstGeom>
          <a:noFill/>
          <a:ln/>
        </p:spPr>
        <p:txBody>
          <a:bodyPr wrap="square" lIns="0" tIns="0" rIns="0" bIns="0" rtlCol="0" anchor="ctr"/>
          <a:lstStyle/>
          <a:p>
            <a:pPr marL="0" indent="0">
              <a:buNone/>
            </a:pPr>
            <a:r>
              <a:rPr lang="en-US" sz="1150" b="1">
                <a:solidFill>
                  <a:srgbClr val="0B315E"/>
                </a:solidFill>
              </a:rPr>
              <a:t>Production candidate</a:t>
            </a:r>
            <a:endParaRPr lang="en-US" sz="1150"/>
          </a:p>
        </p:txBody>
      </p:sp>
      <p:sp>
        <p:nvSpPr>
          <p:cNvPr id="70" name="Text 50">
            <a:extLst>
              <a:ext uri="{FF2B5EF4-FFF2-40B4-BE49-F238E27FC236}">
                <a16:creationId xmlns:a16="http://schemas.microsoft.com/office/drawing/2014/main" id="{76BE2E32-050C-29E6-66A3-F30315797BD0}"/>
              </a:ext>
            </a:extLst>
          </p:cNvPr>
          <p:cNvSpPr/>
          <p:nvPr/>
        </p:nvSpPr>
        <p:spPr>
          <a:xfrm>
            <a:off x="6364224" y="4314862"/>
            <a:ext cx="2249424" cy="347472"/>
          </a:xfrm>
          <a:prstGeom prst="rect">
            <a:avLst/>
          </a:prstGeom>
          <a:noFill/>
          <a:ln/>
        </p:spPr>
        <p:txBody>
          <a:bodyPr wrap="square" lIns="0" tIns="0" rIns="0" bIns="0" rtlCol="0" anchor="ctr"/>
          <a:lstStyle/>
          <a:p>
            <a:pPr marL="0" indent="0">
              <a:buNone/>
            </a:pPr>
            <a:r>
              <a:rPr lang="en-US" sz="870">
                <a:solidFill>
                  <a:srgbClr val="243447"/>
                </a:solidFill>
              </a:rPr>
              <a:t>Quality, replay, failure and performance evidence accepted</a:t>
            </a:r>
            <a:endParaRPr lang="en-US" sz="870"/>
          </a:p>
        </p:txBody>
      </p:sp>
      <p:sp>
        <p:nvSpPr>
          <p:cNvPr id="71" name="Shape 51">
            <a:extLst>
              <a:ext uri="{FF2B5EF4-FFF2-40B4-BE49-F238E27FC236}">
                <a16:creationId xmlns:a16="http://schemas.microsoft.com/office/drawing/2014/main" id="{E7FEC998-D384-1087-0C77-C95BC8158323}"/>
              </a:ext>
            </a:extLst>
          </p:cNvPr>
          <p:cNvSpPr/>
          <p:nvPr/>
        </p:nvSpPr>
        <p:spPr>
          <a:xfrm>
            <a:off x="9015984" y="3427894"/>
            <a:ext cx="2587752" cy="1417320"/>
          </a:xfrm>
          <a:prstGeom prst="roundRect">
            <a:avLst>
              <a:gd name="adj" fmla="val 3226"/>
            </a:avLst>
          </a:prstGeom>
          <a:solidFill>
            <a:srgbClr val="FFFFFF"/>
          </a:solidFill>
          <a:ln w="15240">
            <a:solidFill>
              <a:srgbClr val="0A315E"/>
            </a:solidFill>
            <a:prstDash val="solid"/>
          </a:ln>
          <a:effectLst>
            <a:outerShdw blurRad="10160" dist="4445" dir="2700000" algn="bl" rotWithShape="0">
              <a:srgbClr val="000000">
                <a:alpha val="10000"/>
              </a:srgbClr>
            </a:outerShdw>
          </a:effectLst>
        </p:spPr>
        <p:txBody>
          <a:bodyPr/>
          <a:lstStyle/>
          <a:p>
            <a:endParaRPr lang="en-US"/>
          </a:p>
        </p:txBody>
      </p:sp>
      <p:sp>
        <p:nvSpPr>
          <p:cNvPr id="72" name="Shape 52">
            <a:extLst>
              <a:ext uri="{FF2B5EF4-FFF2-40B4-BE49-F238E27FC236}">
                <a16:creationId xmlns:a16="http://schemas.microsoft.com/office/drawing/2014/main" id="{52C27F2B-0FE7-06EF-FF79-496F7AB64E7B}"/>
              </a:ext>
            </a:extLst>
          </p:cNvPr>
          <p:cNvSpPr/>
          <p:nvPr/>
        </p:nvSpPr>
        <p:spPr>
          <a:xfrm>
            <a:off x="9180576" y="3583342"/>
            <a:ext cx="749808" cy="310896"/>
          </a:xfrm>
          <a:prstGeom prst="roundRect">
            <a:avLst>
              <a:gd name="adj" fmla="val 23529"/>
            </a:avLst>
          </a:prstGeom>
          <a:solidFill>
            <a:srgbClr val="0A315E"/>
          </a:solidFill>
          <a:ln w="12700">
            <a:solidFill>
              <a:srgbClr val="0A4B8C"/>
            </a:solidFill>
            <a:prstDash val="solid"/>
          </a:ln>
        </p:spPr>
        <p:txBody>
          <a:bodyPr/>
          <a:lstStyle/>
          <a:p>
            <a:endParaRPr lang="en-US"/>
          </a:p>
        </p:txBody>
      </p:sp>
      <p:sp>
        <p:nvSpPr>
          <p:cNvPr id="73" name="Text 53">
            <a:extLst>
              <a:ext uri="{FF2B5EF4-FFF2-40B4-BE49-F238E27FC236}">
                <a16:creationId xmlns:a16="http://schemas.microsoft.com/office/drawing/2014/main" id="{0A66C5CF-C670-3A0A-326E-2EBDB73E9036}"/>
              </a:ext>
            </a:extLst>
          </p:cNvPr>
          <p:cNvSpPr/>
          <p:nvPr/>
        </p:nvSpPr>
        <p:spPr>
          <a:xfrm>
            <a:off x="9217152" y="3647350"/>
            <a:ext cx="676656" cy="146304"/>
          </a:xfrm>
          <a:prstGeom prst="rect">
            <a:avLst/>
          </a:prstGeom>
          <a:noFill/>
          <a:ln/>
        </p:spPr>
        <p:txBody>
          <a:bodyPr wrap="square" lIns="0" tIns="0" rIns="0" bIns="0" rtlCol="0" anchor="ctr"/>
          <a:lstStyle/>
          <a:p>
            <a:pPr marL="0" indent="0" algn="ctr">
              <a:buNone/>
            </a:pPr>
            <a:r>
              <a:rPr lang="en-US" sz="850" b="1">
                <a:solidFill>
                  <a:srgbClr val="FFFFFF"/>
                </a:solidFill>
              </a:rPr>
              <a:t>Gate 6-7</a:t>
            </a:r>
            <a:endParaRPr lang="en-US" sz="850"/>
          </a:p>
        </p:txBody>
      </p:sp>
      <p:sp>
        <p:nvSpPr>
          <p:cNvPr id="74" name="Text 54">
            <a:extLst>
              <a:ext uri="{FF2B5EF4-FFF2-40B4-BE49-F238E27FC236}">
                <a16:creationId xmlns:a16="http://schemas.microsoft.com/office/drawing/2014/main" id="{72145CF0-61D9-5261-8E3E-581CF2754B05}"/>
              </a:ext>
            </a:extLst>
          </p:cNvPr>
          <p:cNvSpPr/>
          <p:nvPr/>
        </p:nvSpPr>
        <p:spPr>
          <a:xfrm>
            <a:off x="9180576" y="4003966"/>
            <a:ext cx="2249424" cy="237744"/>
          </a:xfrm>
          <a:prstGeom prst="rect">
            <a:avLst/>
          </a:prstGeom>
          <a:noFill/>
          <a:ln/>
        </p:spPr>
        <p:txBody>
          <a:bodyPr wrap="square" lIns="0" tIns="0" rIns="0" bIns="0" rtlCol="0" anchor="ctr"/>
          <a:lstStyle/>
          <a:p>
            <a:pPr marL="0" indent="0">
              <a:buNone/>
            </a:pPr>
            <a:r>
              <a:rPr lang="en-US" sz="1150" b="1">
                <a:solidFill>
                  <a:srgbClr val="0B315E"/>
                </a:solidFill>
              </a:rPr>
              <a:t>Operational service</a:t>
            </a:r>
            <a:endParaRPr lang="en-US" sz="1150"/>
          </a:p>
        </p:txBody>
      </p:sp>
      <p:sp>
        <p:nvSpPr>
          <p:cNvPr id="75" name="Text 55">
            <a:extLst>
              <a:ext uri="{FF2B5EF4-FFF2-40B4-BE49-F238E27FC236}">
                <a16:creationId xmlns:a16="http://schemas.microsoft.com/office/drawing/2014/main" id="{8F92252E-D22C-3025-754D-9589D7B22B13}"/>
              </a:ext>
            </a:extLst>
          </p:cNvPr>
          <p:cNvSpPr/>
          <p:nvPr/>
        </p:nvSpPr>
        <p:spPr>
          <a:xfrm>
            <a:off x="9180576" y="4314862"/>
            <a:ext cx="2249424" cy="347472"/>
          </a:xfrm>
          <a:prstGeom prst="rect">
            <a:avLst/>
          </a:prstGeom>
          <a:noFill/>
          <a:ln/>
        </p:spPr>
        <p:txBody>
          <a:bodyPr wrap="square" lIns="0" tIns="0" rIns="0" bIns="0" rtlCol="0" anchor="ctr"/>
          <a:lstStyle/>
          <a:p>
            <a:pPr marL="0" indent="0">
              <a:buNone/>
            </a:pPr>
            <a:r>
              <a:rPr lang="en-US" sz="870">
                <a:solidFill>
                  <a:srgbClr val="243447"/>
                </a:solidFill>
              </a:rPr>
              <a:t>Approvals, monitoring, runbook and support ownership active</a:t>
            </a:r>
            <a:endParaRPr lang="en-US" sz="870"/>
          </a:p>
        </p:txBody>
      </p:sp>
      <p:sp>
        <p:nvSpPr>
          <p:cNvPr id="76" name="Shape 56">
            <a:extLst>
              <a:ext uri="{FF2B5EF4-FFF2-40B4-BE49-F238E27FC236}">
                <a16:creationId xmlns:a16="http://schemas.microsoft.com/office/drawing/2014/main" id="{0D030247-DED4-776F-343D-BF7454244C00}"/>
              </a:ext>
            </a:extLst>
          </p:cNvPr>
          <p:cNvSpPr/>
          <p:nvPr/>
        </p:nvSpPr>
        <p:spPr>
          <a:xfrm>
            <a:off x="566928" y="5137828"/>
            <a:ext cx="11036808" cy="448934"/>
          </a:xfrm>
          <a:prstGeom prst="roundRect">
            <a:avLst>
              <a:gd name="adj" fmla="val 5435"/>
            </a:avLst>
          </a:prstGeom>
          <a:solidFill>
            <a:srgbClr val="E8F0F8"/>
          </a:solidFill>
          <a:ln w="12700">
            <a:solidFill>
              <a:srgbClr val="0A4B8C"/>
            </a:solidFill>
            <a:prstDash val="solid"/>
          </a:ln>
        </p:spPr>
        <p:txBody>
          <a:bodyPr/>
          <a:lstStyle/>
          <a:p>
            <a:endParaRPr lang="en-US"/>
          </a:p>
        </p:txBody>
      </p:sp>
      <p:sp>
        <p:nvSpPr>
          <p:cNvPr id="77" name="Text 57">
            <a:extLst>
              <a:ext uri="{FF2B5EF4-FFF2-40B4-BE49-F238E27FC236}">
                <a16:creationId xmlns:a16="http://schemas.microsoft.com/office/drawing/2014/main" id="{69205644-5A92-B44E-7ECA-35F5D3E7C1FA}"/>
              </a:ext>
            </a:extLst>
          </p:cNvPr>
          <p:cNvSpPr/>
          <p:nvPr/>
        </p:nvSpPr>
        <p:spPr>
          <a:xfrm>
            <a:off x="731520" y="5281822"/>
            <a:ext cx="1223974" cy="201168"/>
          </a:xfrm>
          <a:prstGeom prst="rect">
            <a:avLst/>
          </a:prstGeom>
          <a:noFill/>
          <a:ln/>
        </p:spPr>
        <p:txBody>
          <a:bodyPr wrap="square" lIns="0" tIns="0" rIns="0" bIns="0" rtlCol="0" anchor="ctr"/>
          <a:lstStyle/>
          <a:p>
            <a:pPr marL="0" indent="0">
              <a:buNone/>
            </a:pPr>
            <a:r>
              <a:rPr lang="en-US" sz="1150" b="1">
                <a:solidFill>
                  <a:srgbClr val="0A4B8C"/>
                </a:solidFill>
              </a:rPr>
              <a:t>Scale mechanism</a:t>
            </a:r>
            <a:endParaRPr lang="en-US" sz="1150"/>
          </a:p>
        </p:txBody>
      </p:sp>
      <p:sp>
        <p:nvSpPr>
          <p:cNvPr id="78" name="Text 58">
            <a:extLst>
              <a:ext uri="{FF2B5EF4-FFF2-40B4-BE49-F238E27FC236}">
                <a16:creationId xmlns:a16="http://schemas.microsoft.com/office/drawing/2014/main" id="{C0972967-EB3B-159F-7B20-7899546ECE3B}"/>
              </a:ext>
            </a:extLst>
          </p:cNvPr>
          <p:cNvSpPr/>
          <p:nvPr/>
        </p:nvSpPr>
        <p:spPr>
          <a:xfrm>
            <a:off x="1911096" y="5190382"/>
            <a:ext cx="9518904" cy="384048"/>
          </a:xfrm>
          <a:prstGeom prst="rect">
            <a:avLst/>
          </a:prstGeom>
          <a:noFill/>
          <a:ln/>
        </p:spPr>
        <p:txBody>
          <a:bodyPr wrap="square" lIns="0" tIns="0" rIns="0" bIns="0" rtlCol="0" anchor="ctr"/>
          <a:lstStyle/>
          <a:p>
            <a:pPr marL="0" indent="0">
              <a:buNone/>
            </a:pPr>
            <a:r>
              <a:rPr lang="en-US" sz="1100">
                <a:solidFill>
                  <a:srgbClr val="0B315E"/>
                </a:solidFill>
              </a:rPr>
              <a:t>Use the same gates, evidence templates and acceptance criteria for each source family, then automate repeatable configuration rather than duplicating pipeline code.</a:t>
            </a:r>
            <a:endParaRPr lang="en-US" sz="1100"/>
          </a:p>
        </p:txBody>
      </p:sp>
    </p:spTree>
    <p:extLst>
      <p:ext uri="{BB962C8B-B14F-4D97-AF65-F5344CB8AC3E}">
        <p14:creationId xmlns:p14="http://schemas.microsoft.com/office/powerpoint/2010/main" val="3470299647"/>
      </p:ext>
    </p:extLst>
  </p:cSld>
  <p:clrMapOvr>
    <a:masterClrMapping/>
  </p:clrMapOvr>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8B64F-7C76-CA27-852A-682D9297802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A3B2C9F-661A-BD6E-B850-F6E19D72CA0F}"/>
              </a:ext>
            </a:extLst>
          </p:cNvPr>
          <p:cNvSpPr>
            <a:spLocks noGrp="1"/>
          </p:cNvSpPr>
          <p:nvPr>
            <p:ph type="title"/>
          </p:nvPr>
        </p:nvSpPr>
        <p:spPr/>
        <p:txBody>
          <a:bodyPr/>
          <a:lstStyle/>
          <a:p>
            <a:r>
              <a:rPr lang="en-US"/>
              <a:t>Workstream B – Scope Boundaries and Integration Responsibilities</a:t>
            </a:r>
          </a:p>
        </p:txBody>
      </p:sp>
      <p:sp>
        <p:nvSpPr>
          <p:cNvPr id="31" name="TextBox 30">
            <a:extLst>
              <a:ext uri="{FF2B5EF4-FFF2-40B4-BE49-F238E27FC236}">
                <a16:creationId xmlns:a16="http://schemas.microsoft.com/office/drawing/2014/main" id="{767C5328-CEFD-301B-1277-6B6724DF88E7}"/>
              </a:ext>
            </a:extLst>
          </p:cNvPr>
          <p:cNvSpPr txBox="1"/>
          <p:nvPr/>
        </p:nvSpPr>
        <p:spPr>
          <a:xfrm>
            <a:off x="511934" y="948253"/>
            <a:ext cx="10022983" cy="338554"/>
          </a:xfrm>
          <a:prstGeom prst="rect">
            <a:avLst/>
          </a:prstGeom>
          <a:noFill/>
        </p:spPr>
        <p:txBody>
          <a:bodyPr wrap="square">
            <a:spAutoFit/>
          </a:bodyPr>
          <a:lstStyle/>
          <a:p>
            <a:r>
              <a:rPr kumimoji="0" lang="en-US" sz="1600" b="0" i="0" u="none" strike="noStrike" kern="1200" cap="none" spc="0" normalizeH="0" baseline="0" noProof="0">
                <a:ln>
                  <a:noFill/>
                </a:ln>
                <a:solidFill>
                  <a:prstClr val="white"/>
                </a:solidFill>
                <a:effectLst/>
                <a:uLnTx/>
                <a:uFillTx/>
                <a:latin typeface="CVS Health Sans"/>
                <a:ea typeface="+mj-ea"/>
                <a:cs typeface="+mj-cs"/>
              </a:rPr>
              <a:t>Clarify who owns each part of the end-to-end path before source onboarding begins</a:t>
            </a:r>
            <a:endParaRPr lang="en-US"/>
          </a:p>
        </p:txBody>
      </p:sp>
      <p:sp>
        <p:nvSpPr>
          <p:cNvPr id="17" name="Shape 2">
            <a:extLst>
              <a:ext uri="{FF2B5EF4-FFF2-40B4-BE49-F238E27FC236}">
                <a16:creationId xmlns:a16="http://schemas.microsoft.com/office/drawing/2014/main" id="{1DDB4C7C-ADB3-CD23-0458-8DBD6A8584C3}"/>
              </a:ext>
            </a:extLst>
          </p:cNvPr>
          <p:cNvSpPr/>
          <p:nvPr/>
        </p:nvSpPr>
        <p:spPr>
          <a:xfrm>
            <a:off x="721604" y="1614516"/>
            <a:ext cx="2935995" cy="3445337"/>
          </a:xfrm>
          <a:prstGeom prst="roundRect">
            <a:avLst>
              <a:gd name="adj" fmla="val 1449"/>
            </a:avLst>
          </a:prstGeom>
          <a:solidFill>
            <a:srgbClr val="FFFFFF"/>
          </a:solidFill>
          <a:ln w="19050">
            <a:solidFill>
              <a:srgbClr val="5B6B7A"/>
            </a:solidFill>
            <a:prstDash val="solid"/>
          </a:ln>
          <a:effectLst>
            <a:outerShdw blurRad="12700" dist="5080" dir="2700000" algn="bl" rotWithShape="0">
              <a:srgbClr val="000000">
                <a:alpha val="10000"/>
              </a:srgbClr>
            </a:outerShdw>
          </a:effectLst>
        </p:spPr>
        <p:txBody>
          <a:bodyPr/>
          <a:lstStyle/>
          <a:p>
            <a:endParaRPr lang="en-US"/>
          </a:p>
        </p:txBody>
      </p:sp>
      <p:sp>
        <p:nvSpPr>
          <p:cNvPr id="18" name="Shape 3">
            <a:extLst>
              <a:ext uri="{FF2B5EF4-FFF2-40B4-BE49-F238E27FC236}">
                <a16:creationId xmlns:a16="http://schemas.microsoft.com/office/drawing/2014/main" id="{34F27FF2-D721-CF1D-7687-2C1858E4A2DC}"/>
              </a:ext>
            </a:extLst>
          </p:cNvPr>
          <p:cNvSpPr/>
          <p:nvPr/>
        </p:nvSpPr>
        <p:spPr>
          <a:xfrm>
            <a:off x="721604" y="1614516"/>
            <a:ext cx="2935995" cy="530352"/>
          </a:xfrm>
          <a:prstGeom prst="rect">
            <a:avLst/>
          </a:prstGeom>
          <a:solidFill>
            <a:srgbClr val="5B6B7A"/>
          </a:solidFill>
          <a:ln w="12700">
            <a:solidFill>
              <a:srgbClr val="5B6B7A"/>
            </a:solidFill>
            <a:prstDash val="solid"/>
          </a:ln>
        </p:spPr>
        <p:txBody>
          <a:bodyPr/>
          <a:lstStyle/>
          <a:p>
            <a:endParaRPr lang="en-US"/>
          </a:p>
        </p:txBody>
      </p:sp>
      <p:sp>
        <p:nvSpPr>
          <p:cNvPr id="19" name="Text 4">
            <a:extLst>
              <a:ext uri="{FF2B5EF4-FFF2-40B4-BE49-F238E27FC236}">
                <a16:creationId xmlns:a16="http://schemas.microsoft.com/office/drawing/2014/main" id="{26658954-DDF8-BCDD-6100-89D9B352BA23}"/>
              </a:ext>
            </a:extLst>
          </p:cNvPr>
          <p:cNvSpPr/>
          <p:nvPr/>
        </p:nvSpPr>
        <p:spPr>
          <a:xfrm>
            <a:off x="640080" y="1788252"/>
            <a:ext cx="2880360" cy="182880"/>
          </a:xfrm>
          <a:prstGeom prst="rect">
            <a:avLst/>
          </a:prstGeom>
          <a:noFill/>
          <a:ln/>
        </p:spPr>
        <p:txBody>
          <a:bodyPr wrap="square" lIns="0" tIns="0" rIns="0" bIns="0" rtlCol="0" anchor="ctr"/>
          <a:lstStyle/>
          <a:p>
            <a:pPr marL="0" indent="0" algn="ctr">
              <a:buNone/>
            </a:pPr>
            <a:r>
              <a:rPr lang="en-US" sz="1100" b="1">
                <a:solidFill>
                  <a:srgbClr val="FFFFFF"/>
                </a:solidFill>
              </a:rPr>
              <a:t>UPSTREAM PLATFORM OWNERS</a:t>
            </a:r>
            <a:endParaRPr lang="en-US" sz="1100"/>
          </a:p>
        </p:txBody>
      </p:sp>
      <p:sp>
        <p:nvSpPr>
          <p:cNvPr id="20" name="Text 5">
            <a:extLst>
              <a:ext uri="{FF2B5EF4-FFF2-40B4-BE49-F238E27FC236}">
                <a16:creationId xmlns:a16="http://schemas.microsoft.com/office/drawing/2014/main" id="{F0021A8C-FDF7-947A-9EC3-ED224543352C}"/>
              </a:ext>
            </a:extLst>
          </p:cNvPr>
          <p:cNvSpPr/>
          <p:nvPr/>
        </p:nvSpPr>
        <p:spPr>
          <a:xfrm>
            <a:off x="905294" y="2373468"/>
            <a:ext cx="2578570" cy="1691752"/>
          </a:xfrm>
          <a:prstGeom prst="rect">
            <a:avLst/>
          </a:prstGeom>
          <a:noFill/>
          <a:ln/>
        </p:spPr>
        <p:txBody>
          <a:bodyPr wrap="square" lIns="0" tIns="0" rIns="0" bIns="0" rtlCol="0" anchor="ctr"/>
          <a:lstStyle/>
          <a:p>
            <a:pPr marL="152400" indent="-152400">
              <a:buSzPct val="100000"/>
              <a:buChar char="•"/>
            </a:pPr>
            <a:r>
              <a:rPr lang="en-US" sz="1020">
                <a:solidFill>
                  <a:srgbClr val="243447"/>
                </a:solidFill>
              </a:rPr>
              <a:t>Generate and format telemetry</a:t>
            </a:r>
            <a:endParaRPr lang="en-US" sz="1020"/>
          </a:p>
          <a:p>
            <a:pPr marL="152400" indent="-152400">
              <a:buSzPct val="100000"/>
              <a:buChar char="•"/>
            </a:pPr>
            <a:r>
              <a:rPr lang="en-US" sz="1020">
                <a:solidFill>
                  <a:srgbClr val="243447"/>
                </a:solidFill>
              </a:rPr>
              <a:t>Administer Cribl, Onum and NiFi</a:t>
            </a:r>
            <a:endParaRPr lang="en-US" sz="1020"/>
          </a:p>
          <a:p>
            <a:pPr marL="152400" indent="-152400">
              <a:buSzPct val="100000"/>
              <a:buChar char="•"/>
            </a:pPr>
            <a:r>
              <a:rPr lang="en-US" sz="1020">
                <a:solidFill>
                  <a:srgbClr val="243447"/>
                </a:solidFill>
              </a:rPr>
              <a:t>Approve production routes and filters</a:t>
            </a:r>
            <a:endParaRPr lang="en-US" sz="1020"/>
          </a:p>
          <a:p>
            <a:pPr marL="152400" indent="-152400">
              <a:buSzPct val="100000"/>
              <a:buChar char="•"/>
            </a:pPr>
            <a:r>
              <a:rPr lang="en-US" sz="1020">
                <a:solidFill>
                  <a:srgbClr val="243447"/>
                </a:solidFill>
              </a:rPr>
              <a:t>Operate queues and forwarding paths</a:t>
            </a:r>
            <a:endParaRPr lang="en-US" sz="1020"/>
          </a:p>
          <a:p>
            <a:pPr marL="152400" indent="-152400">
              <a:buSzPct val="100000"/>
              <a:buChar char="•"/>
            </a:pPr>
            <a:r>
              <a:rPr lang="en-US" sz="1020">
                <a:solidFill>
                  <a:srgbClr val="243447"/>
                </a:solidFill>
              </a:rPr>
              <a:t>Provide payload samples and volume profiles</a:t>
            </a:r>
            <a:endParaRPr lang="en-US" sz="1020"/>
          </a:p>
        </p:txBody>
      </p:sp>
      <p:sp>
        <p:nvSpPr>
          <p:cNvPr id="21" name="Text 6">
            <a:extLst>
              <a:ext uri="{FF2B5EF4-FFF2-40B4-BE49-F238E27FC236}">
                <a16:creationId xmlns:a16="http://schemas.microsoft.com/office/drawing/2014/main" id="{432EB446-10EE-F1AB-94D6-0000901FC830}"/>
              </a:ext>
            </a:extLst>
          </p:cNvPr>
          <p:cNvSpPr/>
          <p:nvPr/>
        </p:nvSpPr>
        <p:spPr>
          <a:xfrm>
            <a:off x="3718416" y="3249006"/>
            <a:ext cx="310896" cy="548640"/>
          </a:xfrm>
          <a:prstGeom prst="rect">
            <a:avLst/>
          </a:prstGeom>
          <a:noFill/>
          <a:ln/>
        </p:spPr>
        <p:txBody>
          <a:bodyPr wrap="square" lIns="0" tIns="0" rIns="0" bIns="0" rtlCol="0" anchor="ctr"/>
          <a:lstStyle/>
          <a:p>
            <a:pPr marL="0" indent="0" algn="ctr">
              <a:buNone/>
            </a:pPr>
            <a:r>
              <a:rPr lang="en-US" sz="3400" b="1">
                <a:solidFill>
                  <a:srgbClr val="34C6D3"/>
                </a:solidFill>
              </a:rPr>
              <a:t>›</a:t>
            </a:r>
            <a:endParaRPr lang="en-US" sz="3400"/>
          </a:p>
        </p:txBody>
      </p:sp>
      <p:sp>
        <p:nvSpPr>
          <p:cNvPr id="22" name="Shape 7">
            <a:extLst>
              <a:ext uri="{FF2B5EF4-FFF2-40B4-BE49-F238E27FC236}">
                <a16:creationId xmlns:a16="http://schemas.microsoft.com/office/drawing/2014/main" id="{7A89E32E-2597-1491-9851-D96F688ABE86}"/>
              </a:ext>
            </a:extLst>
          </p:cNvPr>
          <p:cNvSpPr/>
          <p:nvPr/>
        </p:nvSpPr>
        <p:spPr>
          <a:xfrm>
            <a:off x="4123944" y="1614516"/>
            <a:ext cx="4081274" cy="3445337"/>
          </a:xfrm>
          <a:prstGeom prst="roundRect">
            <a:avLst>
              <a:gd name="adj" fmla="val 1111"/>
            </a:avLst>
          </a:prstGeom>
          <a:solidFill>
            <a:srgbClr val="FFFFFF"/>
          </a:solidFill>
          <a:ln w="19050">
            <a:solidFill>
              <a:srgbClr val="00A78E"/>
            </a:solidFill>
            <a:prstDash val="solid"/>
          </a:ln>
          <a:effectLst>
            <a:outerShdw blurRad="12700" dist="5080" dir="2700000" algn="bl" rotWithShape="0">
              <a:srgbClr val="000000">
                <a:alpha val="10000"/>
              </a:srgbClr>
            </a:outerShdw>
          </a:effectLst>
        </p:spPr>
        <p:txBody>
          <a:bodyPr/>
          <a:lstStyle/>
          <a:p>
            <a:endParaRPr lang="en-US"/>
          </a:p>
        </p:txBody>
      </p:sp>
      <p:sp>
        <p:nvSpPr>
          <p:cNvPr id="28" name="Shape 8">
            <a:extLst>
              <a:ext uri="{FF2B5EF4-FFF2-40B4-BE49-F238E27FC236}">
                <a16:creationId xmlns:a16="http://schemas.microsoft.com/office/drawing/2014/main" id="{F4C14912-73D1-8A14-77A8-1825CF9D1458}"/>
              </a:ext>
            </a:extLst>
          </p:cNvPr>
          <p:cNvSpPr/>
          <p:nvPr/>
        </p:nvSpPr>
        <p:spPr>
          <a:xfrm>
            <a:off x="4123944" y="1614516"/>
            <a:ext cx="4081274" cy="530352"/>
          </a:xfrm>
          <a:prstGeom prst="rect">
            <a:avLst/>
          </a:prstGeom>
          <a:solidFill>
            <a:srgbClr val="00A78E"/>
          </a:solidFill>
          <a:ln w="12700">
            <a:solidFill>
              <a:srgbClr val="00A78E"/>
            </a:solidFill>
            <a:prstDash val="solid"/>
          </a:ln>
        </p:spPr>
        <p:txBody>
          <a:bodyPr/>
          <a:lstStyle/>
          <a:p>
            <a:endParaRPr lang="en-US"/>
          </a:p>
        </p:txBody>
      </p:sp>
      <p:sp>
        <p:nvSpPr>
          <p:cNvPr id="29" name="Text 9">
            <a:extLst>
              <a:ext uri="{FF2B5EF4-FFF2-40B4-BE49-F238E27FC236}">
                <a16:creationId xmlns:a16="http://schemas.microsoft.com/office/drawing/2014/main" id="{D421E00B-EE9F-E37F-F0B9-733117A392FE}"/>
              </a:ext>
            </a:extLst>
          </p:cNvPr>
          <p:cNvSpPr/>
          <p:nvPr/>
        </p:nvSpPr>
        <p:spPr>
          <a:xfrm>
            <a:off x="4234456" y="1788252"/>
            <a:ext cx="4086584" cy="182880"/>
          </a:xfrm>
          <a:prstGeom prst="rect">
            <a:avLst/>
          </a:prstGeom>
          <a:noFill/>
          <a:ln/>
        </p:spPr>
        <p:txBody>
          <a:bodyPr wrap="square" lIns="0" tIns="0" rIns="0" bIns="0" rtlCol="0" anchor="ctr"/>
          <a:lstStyle/>
          <a:p>
            <a:pPr marL="0" indent="0" algn="ctr">
              <a:buNone/>
            </a:pPr>
            <a:r>
              <a:rPr lang="en-US" sz="1100" b="1">
                <a:solidFill>
                  <a:srgbClr val="FFFFFF"/>
                </a:solidFill>
              </a:rPr>
              <a:t>WORKSTREAM B CONTROL PLANE</a:t>
            </a:r>
            <a:endParaRPr lang="en-US" sz="1100"/>
          </a:p>
        </p:txBody>
      </p:sp>
      <p:sp>
        <p:nvSpPr>
          <p:cNvPr id="30" name="Text 10">
            <a:extLst>
              <a:ext uri="{FF2B5EF4-FFF2-40B4-BE49-F238E27FC236}">
                <a16:creationId xmlns:a16="http://schemas.microsoft.com/office/drawing/2014/main" id="{F8F07BFD-87E7-8FED-96BF-9B90C5650456}"/>
              </a:ext>
            </a:extLst>
          </p:cNvPr>
          <p:cNvSpPr/>
          <p:nvPr/>
        </p:nvSpPr>
        <p:spPr>
          <a:xfrm>
            <a:off x="4296948" y="2373468"/>
            <a:ext cx="3756382" cy="1691752"/>
          </a:xfrm>
          <a:prstGeom prst="rect">
            <a:avLst/>
          </a:prstGeom>
          <a:noFill/>
          <a:ln/>
        </p:spPr>
        <p:txBody>
          <a:bodyPr wrap="square" lIns="0" tIns="0" rIns="0" bIns="0" rtlCol="0" anchor="ctr"/>
          <a:lstStyle/>
          <a:p>
            <a:pPr marL="152400" indent="-152400">
              <a:buSzPct val="100000"/>
              <a:buChar char="•"/>
            </a:pPr>
            <a:r>
              <a:rPr lang="en-US" sz="1020">
                <a:solidFill>
                  <a:srgbClr val="243447"/>
                </a:solidFill>
              </a:rPr>
              <a:t>Coordinate source contracts and priorities</a:t>
            </a:r>
            <a:endParaRPr lang="en-US" sz="1020"/>
          </a:p>
          <a:p>
            <a:pPr marL="152400" indent="-152400">
              <a:buSzPct val="100000"/>
              <a:buChar char="•"/>
            </a:pPr>
            <a:r>
              <a:rPr lang="en-US" sz="1020">
                <a:solidFill>
                  <a:srgbClr val="243447"/>
                </a:solidFill>
              </a:rPr>
              <a:t>Define source-to-Bronze mapping</a:t>
            </a:r>
            <a:endParaRPr lang="en-US" sz="1020"/>
          </a:p>
          <a:p>
            <a:pPr marL="152400" indent="-152400">
              <a:buSzPct val="100000"/>
              <a:buChar char="•"/>
            </a:pPr>
            <a:r>
              <a:rPr lang="en-US" sz="1020">
                <a:solidFill>
                  <a:srgbClr val="243447"/>
                </a:solidFill>
              </a:rPr>
              <a:t>Implement Auto Loader ingestion</a:t>
            </a:r>
            <a:endParaRPr lang="en-US" sz="1020"/>
          </a:p>
          <a:p>
            <a:pPr marL="152400" indent="-152400">
              <a:buSzPct val="100000"/>
              <a:buChar char="•"/>
            </a:pPr>
            <a:r>
              <a:rPr lang="en-US" sz="1020">
                <a:solidFill>
                  <a:srgbClr val="243447"/>
                </a:solidFill>
              </a:rPr>
              <a:t>Create governed Bronze Delta outputs</a:t>
            </a:r>
            <a:endParaRPr lang="en-US" sz="1020"/>
          </a:p>
          <a:p>
            <a:pPr marL="152400" indent="-152400">
              <a:buSzPct val="100000"/>
              <a:buChar char="•"/>
            </a:pPr>
            <a:r>
              <a:rPr lang="en-US" sz="1020">
                <a:solidFill>
                  <a:srgbClr val="243447"/>
                </a:solidFill>
              </a:rPr>
              <a:t>Implement schema evolution, DLQ and replay</a:t>
            </a:r>
            <a:endParaRPr lang="en-US" sz="1020"/>
          </a:p>
          <a:p>
            <a:pPr marL="152400" indent="-152400">
              <a:buSzPct val="100000"/>
              <a:buChar char="•"/>
            </a:pPr>
            <a:r>
              <a:rPr lang="en-US" sz="1020">
                <a:solidFill>
                  <a:srgbClr val="243447"/>
                </a:solidFill>
              </a:rPr>
              <a:t>Monitor freshness, volume, quality and failures</a:t>
            </a:r>
            <a:endParaRPr lang="en-US" sz="1020"/>
          </a:p>
          <a:p>
            <a:pPr marL="152400" indent="-152400">
              <a:buSzPct val="100000"/>
              <a:buChar char="•"/>
            </a:pPr>
            <a:r>
              <a:rPr lang="en-US" sz="1020">
                <a:solidFill>
                  <a:srgbClr val="243447"/>
                </a:solidFill>
              </a:rPr>
              <a:t>Deliver runbooks and operational evidence</a:t>
            </a:r>
            <a:endParaRPr lang="en-US" sz="1020"/>
          </a:p>
        </p:txBody>
      </p:sp>
      <p:sp>
        <p:nvSpPr>
          <p:cNvPr id="32" name="Text 11">
            <a:extLst>
              <a:ext uri="{FF2B5EF4-FFF2-40B4-BE49-F238E27FC236}">
                <a16:creationId xmlns:a16="http://schemas.microsoft.com/office/drawing/2014/main" id="{CE8796B4-4238-296B-8BCC-23D9CC446B1C}"/>
              </a:ext>
            </a:extLst>
          </p:cNvPr>
          <p:cNvSpPr/>
          <p:nvPr/>
        </p:nvSpPr>
        <p:spPr>
          <a:xfrm>
            <a:off x="8277376" y="3249006"/>
            <a:ext cx="310896" cy="548640"/>
          </a:xfrm>
          <a:prstGeom prst="rect">
            <a:avLst/>
          </a:prstGeom>
          <a:noFill/>
          <a:ln/>
        </p:spPr>
        <p:txBody>
          <a:bodyPr wrap="square" lIns="0" tIns="0" rIns="0" bIns="0" rtlCol="0" anchor="ctr"/>
          <a:lstStyle/>
          <a:p>
            <a:pPr marL="0" indent="0" algn="ctr">
              <a:buNone/>
            </a:pPr>
            <a:r>
              <a:rPr lang="en-US" sz="3400" b="1">
                <a:solidFill>
                  <a:srgbClr val="34C6D3"/>
                </a:solidFill>
              </a:rPr>
              <a:t>›</a:t>
            </a:r>
            <a:endParaRPr lang="en-US" sz="3400"/>
          </a:p>
        </p:txBody>
      </p:sp>
      <p:sp>
        <p:nvSpPr>
          <p:cNvPr id="33" name="Shape 12">
            <a:extLst>
              <a:ext uri="{FF2B5EF4-FFF2-40B4-BE49-F238E27FC236}">
                <a16:creationId xmlns:a16="http://schemas.microsoft.com/office/drawing/2014/main" id="{3341AA38-2E07-6E8A-DDE0-F47C41714502}"/>
              </a:ext>
            </a:extLst>
          </p:cNvPr>
          <p:cNvSpPr/>
          <p:nvPr/>
        </p:nvSpPr>
        <p:spPr>
          <a:xfrm>
            <a:off x="8641080" y="1614516"/>
            <a:ext cx="2889504" cy="3445337"/>
          </a:xfrm>
          <a:prstGeom prst="roundRect">
            <a:avLst>
              <a:gd name="adj" fmla="val 1493"/>
            </a:avLst>
          </a:prstGeom>
          <a:solidFill>
            <a:srgbClr val="FFFFFF"/>
          </a:solidFill>
          <a:ln w="19050">
            <a:solidFill>
              <a:srgbClr val="0A4B8C"/>
            </a:solidFill>
            <a:prstDash val="solid"/>
          </a:ln>
          <a:effectLst>
            <a:outerShdw blurRad="12700" dist="5080" dir="2700000" algn="bl" rotWithShape="0">
              <a:srgbClr val="000000">
                <a:alpha val="10000"/>
              </a:srgbClr>
            </a:outerShdw>
          </a:effectLst>
        </p:spPr>
        <p:txBody>
          <a:bodyPr/>
          <a:lstStyle/>
          <a:p>
            <a:endParaRPr lang="en-US"/>
          </a:p>
        </p:txBody>
      </p:sp>
      <p:sp>
        <p:nvSpPr>
          <p:cNvPr id="34" name="Shape 13">
            <a:extLst>
              <a:ext uri="{FF2B5EF4-FFF2-40B4-BE49-F238E27FC236}">
                <a16:creationId xmlns:a16="http://schemas.microsoft.com/office/drawing/2014/main" id="{1F386393-7217-1260-1D55-19975EC2499A}"/>
              </a:ext>
            </a:extLst>
          </p:cNvPr>
          <p:cNvSpPr/>
          <p:nvPr/>
        </p:nvSpPr>
        <p:spPr>
          <a:xfrm>
            <a:off x="8641080" y="1614516"/>
            <a:ext cx="2889504" cy="530352"/>
          </a:xfrm>
          <a:prstGeom prst="rect">
            <a:avLst/>
          </a:prstGeom>
          <a:solidFill>
            <a:srgbClr val="0A4B8C"/>
          </a:solidFill>
          <a:ln w="12700">
            <a:solidFill>
              <a:srgbClr val="0A4B8C"/>
            </a:solidFill>
            <a:prstDash val="solid"/>
          </a:ln>
        </p:spPr>
        <p:txBody>
          <a:bodyPr/>
          <a:lstStyle/>
          <a:p>
            <a:endParaRPr lang="en-US"/>
          </a:p>
        </p:txBody>
      </p:sp>
      <p:sp>
        <p:nvSpPr>
          <p:cNvPr id="35" name="Text 14">
            <a:extLst>
              <a:ext uri="{FF2B5EF4-FFF2-40B4-BE49-F238E27FC236}">
                <a16:creationId xmlns:a16="http://schemas.microsoft.com/office/drawing/2014/main" id="{16A0C0D7-2780-CF09-065D-EDDC8FFAD52E}"/>
              </a:ext>
            </a:extLst>
          </p:cNvPr>
          <p:cNvSpPr/>
          <p:nvPr/>
        </p:nvSpPr>
        <p:spPr>
          <a:xfrm>
            <a:off x="8778240" y="1788252"/>
            <a:ext cx="2788920" cy="182880"/>
          </a:xfrm>
          <a:prstGeom prst="rect">
            <a:avLst/>
          </a:prstGeom>
          <a:noFill/>
          <a:ln/>
        </p:spPr>
        <p:txBody>
          <a:bodyPr wrap="square" lIns="0" tIns="0" rIns="0" bIns="0" rtlCol="0" anchor="ctr"/>
          <a:lstStyle/>
          <a:p>
            <a:pPr marL="0" indent="0" algn="ctr">
              <a:buNone/>
            </a:pPr>
            <a:r>
              <a:rPr lang="en-US" sz="1100" b="1">
                <a:solidFill>
                  <a:srgbClr val="FFFFFF"/>
                </a:solidFill>
              </a:rPr>
              <a:t>DOWNSTREAM OWNERS</a:t>
            </a:r>
            <a:endParaRPr lang="en-US" sz="1100"/>
          </a:p>
        </p:txBody>
      </p:sp>
      <p:sp>
        <p:nvSpPr>
          <p:cNvPr id="36" name="Text 15">
            <a:extLst>
              <a:ext uri="{FF2B5EF4-FFF2-40B4-BE49-F238E27FC236}">
                <a16:creationId xmlns:a16="http://schemas.microsoft.com/office/drawing/2014/main" id="{ABCD8C47-0EDE-472E-A992-443D74105790}"/>
              </a:ext>
            </a:extLst>
          </p:cNvPr>
          <p:cNvSpPr/>
          <p:nvPr/>
        </p:nvSpPr>
        <p:spPr>
          <a:xfrm>
            <a:off x="8851392" y="2373468"/>
            <a:ext cx="2527238" cy="1691752"/>
          </a:xfrm>
          <a:prstGeom prst="rect">
            <a:avLst/>
          </a:prstGeom>
          <a:noFill/>
          <a:ln/>
        </p:spPr>
        <p:txBody>
          <a:bodyPr wrap="square" lIns="0" tIns="0" rIns="0" bIns="0" rtlCol="0" anchor="ctr"/>
          <a:lstStyle/>
          <a:p>
            <a:pPr marL="152400" indent="-152400">
              <a:buSzPct val="100000"/>
              <a:buChar char="•"/>
            </a:pPr>
            <a:r>
              <a:rPr lang="en-US" sz="1020">
                <a:solidFill>
                  <a:srgbClr val="243447"/>
                </a:solidFill>
              </a:rPr>
              <a:t>Workstream C: Silver / OCSF transformation</a:t>
            </a:r>
            <a:endParaRPr lang="en-US" sz="1020"/>
          </a:p>
          <a:p>
            <a:pPr marL="152400" indent="-152400">
              <a:buSzPct val="100000"/>
              <a:buChar char="•"/>
            </a:pPr>
            <a:r>
              <a:rPr lang="en-US" sz="1020">
                <a:solidFill>
                  <a:srgbClr val="243447"/>
                </a:solidFill>
              </a:rPr>
              <a:t>Workstream D: analytics validation</a:t>
            </a:r>
            <a:endParaRPr lang="en-US" sz="1020"/>
          </a:p>
          <a:p>
            <a:pPr marL="152400" indent="-152400">
              <a:buSzPct val="100000"/>
              <a:buChar char="•"/>
            </a:pPr>
            <a:r>
              <a:rPr lang="en-US" sz="1020">
                <a:solidFill>
                  <a:srgbClr val="243447"/>
                </a:solidFill>
              </a:rPr>
              <a:t>Governance: classification, access and audit</a:t>
            </a:r>
            <a:endParaRPr lang="en-US" sz="1020"/>
          </a:p>
          <a:p>
            <a:pPr marL="152400" indent="-152400">
              <a:buSzPct val="100000"/>
              <a:buChar char="•"/>
            </a:pPr>
            <a:r>
              <a:rPr lang="en-US" sz="1020">
                <a:solidFill>
                  <a:srgbClr val="243447"/>
                </a:solidFill>
              </a:rPr>
              <a:t>Platform Operations: production support</a:t>
            </a:r>
            <a:endParaRPr lang="en-US" sz="1020"/>
          </a:p>
          <a:p>
            <a:pPr marL="152400" indent="-152400">
              <a:buSzPct val="100000"/>
              <a:buChar char="•"/>
            </a:pPr>
            <a:r>
              <a:rPr lang="en-US" sz="1020">
                <a:solidFill>
                  <a:srgbClr val="243447"/>
                </a:solidFill>
              </a:rPr>
              <a:t>Consumer teams: use-case acceptance</a:t>
            </a:r>
            <a:endParaRPr lang="en-US" sz="1020"/>
          </a:p>
        </p:txBody>
      </p:sp>
      <p:sp>
        <p:nvSpPr>
          <p:cNvPr id="37" name="Shape 16">
            <a:extLst>
              <a:ext uri="{FF2B5EF4-FFF2-40B4-BE49-F238E27FC236}">
                <a16:creationId xmlns:a16="http://schemas.microsoft.com/office/drawing/2014/main" id="{483AEDD2-6C62-D9CC-EEC5-DA6C911F8016}"/>
              </a:ext>
            </a:extLst>
          </p:cNvPr>
          <p:cNvSpPr/>
          <p:nvPr/>
        </p:nvSpPr>
        <p:spPr>
          <a:xfrm>
            <a:off x="721604" y="5189820"/>
            <a:ext cx="10808980" cy="557784"/>
          </a:xfrm>
          <a:prstGeom prst="roundRect">
            <a:avLst>
              <a:gd name="adj" fmla="val 6557"/>
            </a:avLst>
          </a:prstGeom>
          <a:solidFill>
            <a:srgbClr val="0B315E"/>
          </a:solidFill>
          <a:ln w="12700">
            <a:solidFill>
              <a:srgbClr val="0B315E"/>
            </a:solidFill>
            <a:prstDash val="solid"/>
          </a:ln>
        </p:spPr>
        <p:txBody>
          <a:bodyPr/>
          <a:lstStyle/>
          <a:p>
            <a:endParaRPr lang="en-US"/>
          </a:p>
        </p:txBody>
      </p:sp>
      <p:sp>
        <p:nvSpPr>
          <p:cNvPr id="38" name="Text 17">
            <a:extLst>
              <a:ext uri="{FF2B5EF4-FFF2-40B4-BE49-F238E27FC236}">
                <a16:creationId xmlns:a16="http://schemas.microsoft.com/office/drawing/2014/main" id="{4263F90B-D58C-85D2-551E-14198D4CC487}"/>
              </a:ext>
            </a:extLst>
          </p:cNvPr>
          <p:cNvSpPr/>
          <p:nvPr/>
        </p:nvSpPr>
        <p:spPr>
          <a:xfrm>
            <a:off x="922772" y="5345268"/>
            <a:ext cx="10402488" cy="237744"/>
          </a:xfrm>
          <a:prstGeom prst="rect">
            <a:avLst/>
          </a:prstGeom>
          <a:noFill/>
          <a:ln/>
        </p:spPr>
        <p:txBody>
          <a:bodyPr wrap="square" lIns="0" tIns="0" rIns="0" bIns="0" rtlCol="0" anchor="ctr"/>
          <a:lstStyle/>
          <a:p>
            <a:pPr marL="0" indent="0" algn="ctr">
              <a:buNone/>
            </a:pPr>
            <a:r>
              <a:rPr lang="en-US" sz="1060" b="1">
                <a:solidFill>
                  <a:srgbClr val="FFFFFF"/>
                </a:solidFill>
              </a:rPr>
              <a:t>Boundary statement: </a:t>
            </a:r>
            <a:r>
              <a:rPr lang="en-US" sz="1060">
                <a:solidFill>
                  <a:srgbClr val="FFFFFF"/>
                </a:solidFill>
              </a:rPr>
              <a:t>Workstream B validates the end-to-end pathway and owns reliable ingestion into Bronze. It does not own every upstream routing platform or downstream Silver and Gold transformation.</a:t>
            </a:r>
            <a:endParaRPr lang="en-US" sz="1060"/>
          </a:p>
        </p:txBody>
      </p:sp>
    </p:spTree>
    <p:extLst>
      <p:ext uri="{BB962C8B-B14F-4D97-AF65-F5344CB8AC3E}">
        <p14:creationId xmlns:p14="http://schemas.microsoft.com/office/powerpoint/2010/main" val="22434188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0D144DC-C940-52CA-6041-3A27F4DFC93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08" imgH="608" progId="TCLayout.ActiveDocument.1">
                  <p:embed/>
                </p:oleObj>
              </mc:Choice>
              <mc:Fallback>
                <p:oleObj name="thinkcell Slide" r:id="rId4" imgW="608" imgH="608" progId="TCLayout.ActiveDocument.1">
                  <p:embed/>
                  <p:pic>
                    <p:nvPicPr>
                      <p:cNvPr id="4" name="thinkcell data - do not delete" hidden="1">
                        <a:extLst>
                          <a:ext uri="{FF2B5EF4-FFF2-40B4-BE49-F238E27FC236}">
                            <a16:creationId xmlns:a16="http://schemas.microsoft.com/office/drawing/2014/main" id="{F0D144DC-C940-52CA-6041-3A27F4DFC93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5DE7414A-0A2A-1737-5865-58295A87DFFD}"/>
              </a:ext>
            </a:extLst>
          </p:cNvPr>
          <p:cNvSpPr>
            <a:spLocks noGrp="1"/>
          </p:cNvSpPr>
          <p:nvPr>
            <p:ph type="title"/>
          </p:nvPr>
        </p:nvSpPr>
        <p:spPr/>
        <p:txBody>
          <a:bodyPr vert="horz" rIns="0"/>
          <a:lstStyle/>
          <a:p>
            <a:r>
              <a:rPr lang="en-US"/>
              <a:t>Workstream B – Information Request List</a:t>
            </a:r>
          </a:p>
        </p:txBody>
      </p:sp>
      <p:sp>
        <p:nvSpPr>
          <p:cNvPr id="6" name="Rectangle 5">
            <a:extLst>
              <a:ext uri="{FF2B5EF4-FFF2-40B4-BE49-F238E27FC236}">
                <a16:creationId xmlns:a16="http://schemas.microsoft.com/office/drawing/2014/main" id="{8A4F06CF-65F6-D5EE-97FE-BEC66DD048A2}"/>
              </a:ext>
            </a:extLst>
          </p:cNvPr>
          <p:cNvSpPr/>
          <p:nvPr/>
        </p:nvSpPr>
        <p:spPr bwMode="gray">
          <a:xfrm>
            <a:off x="12475961" y="0"/>
            <a:ext cx="5360592" cy="1645946"/>
          </a:xfrm>
          <a:prstGeom prst="rect">
            <a:avLst/>
          </a:prstGeom>
          <a:solidFill>
            <a:schemeClr val="accent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solidFill>
                  <a:schemeClr val="bg1"/>
                </a:solidFill>
              </a:rPr>
              <a:t>How to accelerate this</a:t>
            </a:r>
          </a:p>
          <a:p>
            <a:pPr algn="ctr"/>
            <a:endParaRPr lang="en-US" sz="1000">
              <a:solidFill>
                <a:schemeClr val="bg1"/>
              </a:solidFill>
            </a:endParaRPr>
          </a:p>
        </p:txBody>
      </p:sp>
      <p:sp>
        <p:nvSpPr>
          <p:cNvPr id="5" name="Content Placeholder 1">
            <a:extLst>
              <a:ext uri="{FF2B5EF4-FFF2-40B4-BE49-F238E27FC236}">
                <a16:creationId xmlns:a16="http://schemas.microsoft.com/office/drawing/2014/main" id="{53F23082-AE72-9B45-9CC3-C74289A69716}"/>
              </a:ext>
            </a:extLst>
          </p:cNvPr>
          <p:cNvSpPr>
            <a:spLocks noGrp="1"/>
          </p:cNvSpPr>
          <p:nvPr>
            <p:ph idx="1"/>
          </p:nvPr>
        </p:nvSpPr>
        <p:spPr>
          <a:xfrm>
            <a:off x="587375" y="1494292"/>
            <a:ext cx="11028363" cy="520000"/>
          </a:xfrm>
        </p:spPr>
        <p:txBody>
          <a:bodyPr>
            <a:normAutofit lnSpcReduction="10000"/>
          </a:bodyPr>
          <a:lstStyle/>
          <a:p>
            <a:pPr>
              <a:spcBef>
                <a:spcPts val="0"/>
              </a:spcBef>
            </a:pPr>
            <a:r>
              <a:rPr lang="en-US" sz="1200" b="0"/>
              <a:t>To accelerate the Bronze layer implementation and meet our critical path timelines, we request the following information and access from the CVS team. Providing these items within the first two weeks is crucial for preventing delays and beating the December 1st change freeze. </a:t>
            </a:r>
            <a:r>
              <a:rPr lang="en-US" sz="1200" b="1"/>
              <a:t>Providing these items within the first week is crucial for beating the December 1st change freeze.</a:t>
            </a:r>
          </a:p>
        </p:txBody>
      </p:sp>
      <p:graphicFrame>
        <p:nvGraphicFramePr>
          <p:cNvPr id="7" name="Information Request Table">
            <a:extLst>
              <a:ext uri="{FF2B5EF4-FFF2-40B4-BE49-F238E27FC236}">
                <a16:creationId xmlns:a16="http://schemas.microsoft.com/office/drawing/2014/main" id="{2EE76BE3-14A0-C8F7-650D-6897DCB26B22}"/>
              </a:ext>
            </a:extLst>
          </p:cNvPr>
          <p:cNvGraphicFramePr>
            <a:graphicFrameLocks noGrp="1"/>
          </p:cNvGraphicFramePr>
          <p:nvPr>
            <p:extLst>
              <p:ext uri="{D42A27DB-BD31-4B8C-83A1-F6EECF244321}">
                <p14:modId xmlns:p14="http://schemas.microsoft.com/office/powerpoint/2010/main" val="154107966"/>
              </p:ext>
            </p:extLst>
          </p:nvPr>
        </p:nvGraphicFramePr>
        <p:xfrm>
          <a:off x="587375" y="2080000"/>
          <a:ext cx="11028363" cy="3339240"/>
        </p:xfrm>
        <a:graphic>
          <a:graphicData uri="http://schemas.openxmlformats.org/drawingml/2006/table">
            <a:tbl>
              <a:tblPr firstRow="1" bandRow="1">
                <a:tableStyleId>{08FB837D-C827-4EFA-A057-4D05807E0F7C}</a:tableStyleId>
              </a:tblPr>
              <a:tblGrid>
                <a:gridCol w="2150000">
                  <a:extLst>
                    <a:ext uri="{9D8B030D-6E8A-4147-A177-3AD203B41FA5}">
                      <a16:colId xmlns:a16="http://schemas.microsoft.com/office/drawing/2014/main" val="20000"/>
                    </a:ext>
                  </a:extLst>
                </a:gridCol>
                <a:gridCol w="6728363">
                  <a:extLst>
                    <a:ext uri="{9D8B030D-6E8A-4147-A177-3AD203B41FA5}">
                      <a16:colId xmlns:a16="http://schemas.microsoft.com/office/drawing/2014/main" val="20001"/>
                    </a:ext>
                  </a:extLst>
                </a:gridCol>
                <a:gridCol w="2150000">
                  <a:extLst>
                    <a:ext uri="{9D8B030D-6E8A-4147-A177-3AD203B41FA5}">
                      <a16:colId xmlns:a16="http://schemas.microsoft.com/office/drawing/2014/main" val="20002"/>
                    </a:ext>
                  </a:extLst>
                </a:gridCol>
              </a:tblGrid>
              <a:tr h="300000">
                <a:tc>
                  <a:txBody>
                    <a:bodyPr/>
                    <a:lstStyle/>
                    <a:p>
                      <a:pPr>
                        <a:spcBef>
                          <a:spcPts val="0"/>
                        </a:spcBef>
                        <a:spcAft>
                          <a:spcPts val="0"/>
                        </a:spcAft>
                      </a:pPr>
                      <a:r>
                        <a:rPr lang="en-US" sz="1200"/>
                        <a:t>Category</a:t>
                      </a:r>
                    </a:p>
                  </a:txBody>
                  <a:tcPr marL="73152" marR="73152" anchor="ctr"/>
                </a:tc>
                <a:tc>
                  <a:txBody>
                    <a:bodyPr/>
                    <a:lstStyle/>
                    <a:p>
                      <a:pPr>
                        <a:spcBef>
                          <a:spcPts val="0"/>
                        </a:spcBef>
                        <a:spcAft>
                          <a:spcPts val="0"/>
                        </a:spcAft>
                      </a:pPr>
                      <a:r>
                        <a:rPr lang="en-US" sz="1200"/>
                        <a:t>Specific Request</a:t>
                      </a:r>
                    </a:p>
                  </a:txBody>
                  <a:tcPr marL="73152" marR="73152" anchor="ctr"/>
                </a:tc>
                <a:tc>
                  <a:txBody>
                    <a:bodyPr/>
                    <a:lstStyle/>
                    <a:p>
                      <a:pPr>
                        <a:spcBef>
                          <a:spcPts val="0"/>
                        </a:spcBef>
                        <a:spcAft>
                          <a:spcPts val="0"/>
                        </a:spcAft>
                      </a:pPr>
                      <a:r>
                        <a:rPr lang="en-US" sz="1200"/>
                        <a:t>Required From</a:t>
                      </a:r>
                    </a:p>
                  </a:txBody>
                  <a:tcPr marL="73152" marR="73152" anchor="ctr"/>
                </a:tc>
                <a:extLst>
                  <a:ext uri="{0D108BD9-81ED-4DB2-BD59-A6C34878D82A}">
                    <a16:rowId xmlns:a16="http://schemas.microsoft.com/office/drawing/2014/main" val="10000"/>
                  </a:ext>
                </a:extLst>
              </a:tr>
              <a:tr h="900000">
                <a:tc>
                  <a:txBody>
                    <a:bodyPr/>
                    <a:lstStyle/>
                    <a:p>
                      <a:pPr>
                        <a:spcBef>
                          <a:spcPts val="0"/>
                        </a:spcBef>
                        <a:spcAft>
                          <a:spcPts val="0"/>
                        </a:spcAft>
                      </a:pPr>
                      <a:r>
                        <a:rPr lang="en-US" sz="1050" b="1"/>
                        <a:t>1. Documentation &amp; Current State</a:t>
                      </a:r>
                    </a:p>
                  </a:txBody>
                  <a:tcPr marL="73152" marR="73152" anchor="ctr"/>
                </a:tc>
                <a:tc>
                  <a:txBody>
                    <a:bodyPr/>
                    <a:lstStyle/>
                    <a:p>
                      <a:pPr marL="171450" marR="0" indent="-171450" defTabSz="91440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050"/>
                        <a:t>All current architecture diagrams for </a:t>
                      </a:r>
                      <a:r>
                        <a:rPr lang="en-US" sz="1050" err="1"/>
                        <a:t>Onum</a:t>
                      </a:r>
                      <a:r>
                        <a:rPr lang="en-US" sz="1050"/>
                        <a:t>, Apache </a:t>
                      </a:r>
                      <a:r>
                        <a:rPr lang="en-US" sz="1050" err="1"/>
                        <a:t>NiFi</a:t>
                      </a:r>
                      <a:r>
                        <a:rPr lang="en-US" sz="1050"/>
                        <a:t>, and </a:t>
                      </a:r>
                      <a:r>
                        <a:rPr lang="en-US" sz="1050" err="1"/>
                        <a:t>Cribl</a:t>
                      </a:r>
                      <a:r>
                        <a:rPr lang="en-US" sz="1050"/>
                        <a:t> Stream.</a:t>
                      </a:r>
                    </a:p>
                    <a:p>
                      <a:pPr marL="171450" marR="0" indent="-171450" defTabSz="91440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050">
                          <a:highlight>
                            <a:srgbClr val="FFFF00"/>
                          </a:highlight>
                        </a:rPr>
                        <a:t>Documentation on existing data contracts, schemas, and data types for the top 20 high-volume data sources.</a:t>
                      </a:r>
                    </a:p>
                    <a:p>
                      <a:pPr marL="171450" marR="0" indent="-171450" defTabSz="91440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050"/>
                        <a:t>A complete inventory of target ADLS Gen2 landing zones, including directory structures and access policies.</a:t>
                      </a:r>
                    </a:p>
                  </a:txBody>
                  <a:tcPr marL="73152" marR="73152" anchor="ctr"/>
                </a:tc>
                <a:tc>
                  <a:txBody>
                    <a:bodyPr/>
                    <a:lstStyle/>
                    <a:p>
                      <a:pPr>
                        <a:spcBef>
                          <a:spcPts val="0"/>
                        </a:spcBef>
                        <a:spcAft>
                          <a:spcPts val="0"/>
                        </a:spcAft>
                      </a:pPr>
                      <a:r>
                        <a:rPr lang="en-US" sz="1050"/>
                        <a:t>Architecture, Security, and Platform Teams</a:t>
                      </a:r>
                    </a:p>
                  </a:txBody>
                  <a:tcPr marL="73152" marR="73152" anchor="ctr"/>
                </a:tc>
                <a:extLst>
                  <a:ext uri="{0D108BD9-81ED-4DB2-BD59-A6C34878D82A}">
                    <a16:rowId xmlns:a16="http://schemas.microsoft.com/office/drawing/2014/main" val="10001"/>
                  </a:ext>
                </a:extLst>
              </a:tr>
              <a:tr h="700000">
                <a:tc>
                  <a:txBody>
                    <a:bodyPr/>
                    <a:lstStyle/>
                    <a:p>
                      <a:pPr>
                        <a:spcBef>
                          <a:spcPts val="0"/>
                        </a:spcBef>
                        <a:spcAft>
                          <a:spcPts val="0"/>
                        </a:spcAft>
                      </a:pPr>
                      <a:r>
                        <a:rPr lang="en-US" sz="1050" b="1"/>
                        <a:t>2. System &amp; Environment Access</a:t>
                      </a:r>
                    </a:p>
                  </a:txBody>
                  <a:tcPr marL="73152" marR="73152" anchor="ctr"/>
                </a:tc>
                <a:tc>
                  <a:txBody>
                    <a:bodyPr/>
                    <a:lstStyle/>
                    <a:p>
                      <a:pPr marL="171450" marR="0" indent="-171450" defTabSz="91440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050"/>
                        <a:t>Read-access to production configurations for Onum and Apache NiFi to understand current routing and filtering logic.</a:t>
                      </a:r>
                    </a:p>
                    <a:p>
                      <a:pPr marL="171450" marR="0" indent="-171450" defTabSz="91440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050"/>
                        <a:t>Contributor-level access to a non-production ADLS Gen2 container for development and testing of Auto Loader pipelines.</a:t>
                      </a:r>
                    </a:p>
                    <a:p>
                      <a:pPr marL="171450" marR="0" indent="-171450" defTabSz="91440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050"/>
                        <a:t>Read-access to the raw log payload samples (Tanium, Falcon, Zscaler).</a:t>
                      </a:r>
                    </a:p>
                  </a:txBody>
                  <a:tcPr marL="73152" marR="73152" anchor="ctr"/>
                </a:tc>
                <a:tc>
                  <a:txBody>
                    <a:bodyPr/>
                    <a:lstStyle/>
                    <a:p>
                      <a:pPr>
                        <a:spcBef>
                          <a:spcPts val="0"/>
                        </a:spcBef>
                        <a:spcAft>
                          <a:spcPts val="0"/>
                        </a:spcAft>
                      </a:pPr>
                      <a:r>
                        <a:rPr lang="en-US" sz="1050"/>
                        <a:t>Platform and IT Operations Teams</a:t>
                      </a:r>
                    </a:p>
                  </a:txBody>
                  <a:tcPr marL="73152" marR="73152" anchor="ctr"/>
                </a:tc>
                <a:extLst>
                  <a:ext uri="{0D108BD9-81ED-4DB2-BD59-A6C34878D82A}">
                    <a16:rowId xmlns:a16="http://schemas.microsoft.com/office/drawing/2014/main" val="10002"/>
                  </a:ext>
                </a:extLst>
              </a:tr>
              <a:tr h="600000">
                <a:tc>
                  <a:txBody>
                    <a:bodyPr/>
                    <a:lstStyle/>
                    <a:p>
                      <a:pPr>
                        <a:spcBef>
                          <a:spcPts val="0"/>
                        </a:spcBef>
                        <a:spcAft>
                          <a:spcPts val="0"/>
                        </a:spcAft>
                      </a:pPr>
                      <a:r>
                        <a:rPr lang="en-US" sz="1050" b="1"/>
                        <a:t>3. Stakeholder &amp; SME Availability</a:t>
                      </a:r>
                    </a:p>
                  </a:txBody>
                  <a:tcPr marL="73152" marR="73152" anchor="ctr"/>
                </a:tc>
                <a:tc>
                  <a:txBody>
                    <a:bodyPr/>
                    <a:lstStyle/>
                    <a:p>
                      <a:pPr marL="171450" marR="0" indent="-171450" defTabSz="91440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050"/>
                        <a:t>A list of primary contacts and nominated SMEs for each ingestion source (e.g., Splunk, Tanium, CrowdStrike, Palo Alto, Zscaler).</a:t>
                      </a:r>
                    </a:p>
                    <a:p>
                      <a:pPr marL="171450" marR="0" indent="-171450" defTabSz="91440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050"/>
                        <a:t>Confirmed availability for the initial 2-hour kickoff workshop and subsequent deep-dive sessions with ingestion SMEs.</a:t>
                      </a:r>
                    </a:p>
                  </a:txBody>
                  <a:tcPr marL="73152" marR="73152" anchor="ctr"/>
                </a:tc>
                <a:tc>
                  <a:txBody>
                    <a:bodyPr/>
                    <a:lstStyle/>
                    <a:p>
                      <a:pPr>
                        <a:spcBef>
                          <a:spcPts val="0"/>
                        </a:spcBef>
                        <a:spcAft>
                          <a:spcPts val="0"/>
                        </a:spcAft>
                      </a:pPr>
                      <a:r>
                        <a:rPr lang="en-US" sz="1050"/>
                        <a:t>Project and Program Leadership</a:t>
                      </a:r>
                    </a:p>
                  </a:txBody>
                  <a:tcPr marL="73152" marR="73152" anchor="ctr"/>
                </a:tc>
                <a:extLst>
                  <a:ext uri="{0D108BD9-81ED-4DB2-BD59-A6C34878D82A}">
                    <a16:rowId xmlns:a16="http://schemas.microsoft.com/office/drawing/2014/main" val="10003"/>
                  </a:ext>
                </a:extLst>
              </a:tr>
              <a:tr h="600000">
                <a:tc>
                  <a:txBody>
                    <a:bodyPr/>
                    <a:lstStyle/>
                    <a:p>
                      <a:pPr>
                        <a:spcBef>
                          <a:spcPts val="0"/>
                        </a:spcBef>
                        <a:spcAft>
                          <a:spcPts val="0"/>
                        </a:spcAft>
                      </a:pPr>
                      <a:r>
                        <a:rPr lang="en-US" sz="1050" b="1"/>
                        <a:t>4. Approvals &amp; Governance</a:t>
                      </a:r>
                    </a:p>
                  </a:txBody>
                  <a:tcPr marL="73152" marR="73152" anchor="ctr"/>
                </a:tc>
                <a:tc>
                  <a:txBody>
                    <a:bodyPr/>
                    <a:lstStyle/>
                    <a:p>
                      <a:pPr marL="171450" marR="0" indent="-17145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50"/>
                        <a:t>A clear point of contact for timely decisions regarding Bronze table schemas, data retention policies, and DLQ processing logic.</a:t>
                      </a:r>
                    </a:p>
                    <a:p>
                      <a:pPr marL="171450" marR="0" indent="-17145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50"/>
                        <a:t>Formal agreement from the Architecture Review Board on the proposed use of Databricks Auto Loader and the schema evolution strategy.</a:t>
                      </a:r>
                    </a:p>
                  </a:txBody>
                  <a:tcPr marL="73152" marR="73152" anchor="ctr"/>
                </a:tc>
                <a:tc>
                  <a:txBody>
                    <a:bodyPr/>
                    <a:lstStyle/>
                    <a:p>
                      <a:pPr>
                        <a:spcBef>
                          <a:spcPts val="0"/>
                        </a:spcBef>
                        <a:spcAft>
                          <a:spcPts val="0"/>
                        </a:spcAft>
                      </a:pPr>
                      <a:r>
                        <a:rPr lang="en-US" sz="1050"/>
                        <a:t>Architecture Review Board and Security Leadership</a:t>
                      </a:r>
                    </a:p>
                  </a:txBody>
                  <a:tcPr marL="73152" marR="73152"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17050885"/>
      </p:ext>
    </p:extLst>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891CE11-7B69-0261-DD22-073487961E23}"/>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4" name="thinkcell data - do not delete" hidden="1">
                        <a:extLst>
                          <a:ext uri="{FF2B5EF4-FFF2-40B4-BE49-F238E27FC236}">
                            <a16:creationId xmlns:a16="http://schemas.microsoft.com/office/drawing/2014/main" id="{F891CE11-7B69-0261-DD22-073487961E2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D65CE26D-73CF-AC23-968E-D9C5FB342EB0}"/>
              </a:ext>
            </a:extLst>
          </p:cNvPr>
          <p:cNvSpPr>
            <a:spLocks noGrp="1"/>
          </p:cNvSpPr>
          <p:nvPr>
            <p:ph type="title"/>
          </p:nvPr>
        </p:nvSpPr>
        <p:spPr/>
        <p:txBody>
          <a:bodyPr vert="horz" rIns="0"/>
          <a:lstStyle/>
          <a:p>
            <a:r>
              <a:rPr lang="en-US"/>
              <a:t>Workstream B – Proposed Meetings</a:t>
            </a:r>
          </a:p>
        </p:txBody>
      </p:sp>
      <p:sp>
        <p:nvSpPr>
          <p:cNvPr id="6" name="Rectangle 5">
            <a:extLst>
              <a:ext uri="{FF2B5EF4-FFF2-40B4-BE49-F238E27FC236}">
                <a16:creationId xmlns:a16="http://schemas.microsoft.com/office/drawing/2014/main" id="{D06ED13A-ABE4-488D-AF75-9C5821587793}"/>
              </a:ext>
            </a:extLst>
          </p:cNvPr>
          <p:cNvSpPr/>
          <p:nvPr/>
        </p:nvSpPr>
        <p:spPr bwMode="gray">
          <a:xfrm>
            <a:off x="12454697" y="0"/>
            <a:ext cx="5360592" cy="1645946"/>
          </a:xfrm>
          <a:prstGeom prst="rect">
            <a:avLst/>
          </a:prstGeom>
          <a:solidFill>
            <a:schemeClr val="accent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solidFill>
                  <a:schemeClr val="bg1"/>
                </a:solidFill>
              </a:rPr>
              <a:t>MK to give a template</a:t>
            </a:r>
          </a:p>
          <a:p>
            <a:pPr algn="ctr"/>
            <a:endParaRPr lang="en-US" sz="1000">
              <a:solidFill>
                <a:schemeClr val="bg1"/>
              </a:solidFill>
            </a:endParaRPr>
          </a:p>
          <a:p>
            <a:pPr algn="ctr"/>
            <a:r>
              <a:rPr lang="en-US" sz="1000">
                <a:solidFill>
                  <a:schemeClr val="bg1"/>
                </a:solidFill>
              </a:rPr>
              <a:t>Next 2 months?</a:t>
            </a:r>
          </a:p>
        </p:txBody>
      </p:sp>
      <p:sp>
        <p:nvSpPr>
          <p:cNvPr id="5" name="Content Placeholder 1">
            <a:extLst>
              <a:ext uri="{FF2B5EF4-FFF2-40B4-BE49-F238E27FC236}">
                <a16:creationId xmlns:a16="http://schemas.microsoft.com/office/drawing/2014/main" id="{3876990E-B69C-1457-1B79-941714625F0B}"/>
              </a:ext>
            </a:extLst>
          </p:cNvPr>
          <p:cNvSpPr>
            <a:spLocks noGrp="1"/>
          </p:cNvSpPr>
          <p:nvPr>
            <p:ph idx="1"/>
          </p:nvPr>
        </p:nvSpPr>
        <p:spPr>
          <a:xfrm>
            <a:off x="587375" y="1494292"/>
            <a:ext cx="11028363" cy="520000"/>
          </a:xfrm>
        </p:spPr>
        <p:txBody>
          <a:bodyPr>
            <a:normAutofit/>
          </a:bodyPr>
          <a:lstStyle/>
          <a:p>
            <a:pPr>
              <a:spcBef>
                <a:spcPts val="0"/>
              </a:spcBef>
            </a:pPr>
            <a:r>
              <a:rPr lang="en-US" sz="1200" b="0"/>
              <a:t>To establish a strong operating rhythm for Workstream B, we propose the following meeting schedule for the first two months. This cadence is designed to drive architectural alignment, facilitate rapid decision-making, and ensure all ingestion-related dependencies are proactively managed.</a:t>
            </a:r>
          </a:p>
        </p:txBody>
      </p:sp>
      <p:graphicFrame>
        <p:nvGraphicFramePr>
          <p:cNvPr id="7" name="Proposed Meetings Table">
            <a:extLst>
              <a:ext uri="{FF2B5EF4-FFF2-40B4-BE49-F238E27FC236}">
                <a16:creationId xmlns:a16="http://schemas.microsoft.com/office/drawing/2014/main" id="{777CBEAC-812C-2BA0-B6DE-002AF1739FB2}"/>
              </a:ext>
            </a:extLst>
          </p:cNvPr>
          <p:cNvGraphicFramePr>
            <a:graphicFrameLocks noGrp="1"/>
          </p:cNvGraphicFramePr>
          <p:nvPr>
            <p:extLst>
              <p:ext uri="{D42A27DB-BD31-4B8C-83A1-F6EECF244321}">
                <p14:modId xmlns:p14="http://schemas.microsoft.com/office/powerpoint/2010/main" val="1463106009"/>
              </p:ext>
            </p:extLst>
          </p:nvPr>
        </p:nvGraphicFramePr>
        <p:xfrm>
          <a:off x="587375" y="2080000"/>
          <a:ext cx="11028363" cy="2830000"/>
        </p:xfrm>
        <a:graphic>
          <a:graphicData uri="http://schemas.openxmlformats.org/drawingml/2006/table">
            <a:tbl>
              <a:tblPr firstRow="1" bandRow="1">
                <a:tableStyleId>{08FB837D-C827-4EFA-A057-4D05807E0F7C}</a:tableStyleId>
              </a:tblPr>
              <a:tblGrid>
                <a:gridCol w="2750000">
                  <a:extLst>
                    <a:ext uri="{9D8B030D-6E8A-4147-A177-3AD203B41FA5}">
                      <a16:colId xmlns:a16="http://schemas.microsoft.com/office/drawing/2014/main" val="20000"/>
                    </a:ext>
                  </a:extLst>
                </a:gridCol>
                <a:gridCol w="1600000">
                  <a:extLst>
                    <a:ext uri="{9D8B030D-6E8A-4147-A177-3AD203B41FA5}">
                      <a16:colId xmlns:a16="http://schemas.microsoft.com/office/drawing/2014/main" val="20001"/>
                    </a:ext>
                  </a:extLst>
                </a:gridCol>
                <a:gridCol w="6678363">
                  <a:extLst>
                    <a:ext uri="{9D8B030D-6E8A-4147-A177-3AD203B41FA5}">
                      <a16:colId xmlns:a16="http://schemas.microsoft.com/office/drawing/2014/main" val="20002"/>
                    </a:ext>
                  </a:extLst>
                </a:gridCol>
              </a:tblGrid>
              <a:tr h="290000">
                <a:tc>
                  <a:txBody>
                    <a:bodyPr/>
                    <a:lstStyle/>
                    <a:p>
                      <a:pPr>
                        <a:spcBef>
                          <a:spcPts val="0"/>
                        </a:spcBef>
                        <a:spcAft>
                          <a:spcPts val="0"/>
                        </a:spcAft>
                      </a:pPr>
                      <a:r>
                        <a:rPr lang="en-US" sz="1100"/>
                        <a:t>Meeting</a:t>
                      </a:r>
                    </a:p>
                  </a:txBody>
                  <a:tcPr marL="73152" marR="73152" anchor="ctr"/>
                </a:tc>
                <a:tc>
                  <a:txBody>
                    <a:bodyPr/>
                    <a:lstStyle/>
                    <a:p>
                      <a:pPr>
                        <a:spcBef>
                          <a:spcPts val="0"/>
                        </a:spcBef>
                        <a:spcAft>
                          <a:spcPts val="0"/>
                        </a:spcAft>
                      </a:pPr>
                      <a:r>
                        <a:rPr lang="en-US" sz="1100"/>
                        <a:t>Date(s)</a:t>
                      </a:r>
                    </a:p>
                  </a:txBody>
                  <a:tcPr marL="73152" marR="73152" anchor="ctr"/>
                </a:tc>
                <a:tc>
                  <a:txBody>
                    <a:bodyPr/>
                    <a:lstStyle/>
                    <a:p>
                      <a:pPr>
                        <a:spcBef>
                          <a:spcPts val="0"/>
                        </a:spcBef>
                        <a:spcAft>
                          <a:spcPts val="0"/>
                        </a:spcAft>
                      </a:pPr>
                      <a:r>
                        <a:rPr lang="en-US" sz="1100"/>
                        <a:t>Purpose &amp; Key Attendees</a:t>
                      </a:r>
                    </a:p>
                  </a:txBody>
                  <a:tcPr marL="73152" marR="73152" anchor="ctr"/>
                </a:tc>
                <a:extLst>
                  <a:ext uri="{0D108BD9-81ED-4DB2-BD59-A6C34878D82A}">
                    <a16:rowId xmlns:a16="http://schemas.microsoft.com/office/drawing/2014/main" val="10000"/>
                  </a:ext>
                </a:extLst>
              </a:tr>
              <a:tr h="270000">
                <a:tc gridSpan="3">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100" b="1">
                          <a:solidFill>
                            <a:schemeClr val="bg1"/>
                          </a:solidFill>
                        </a:rPr>
                        <a:t>Month 1: October 2026 – Architecture, Design &amp; Kickoff</a:t>
                      </a:r>
                    </a:p>
                  </a:txBody>
                  <a:tcPr marL="73152" marR="73152" anchor="ctr">
                    <a:solidFill>
                      <a:srgbClr val="0A4B8C"/>
                    </a:solidFill>
                  </a:tcPr>
                </a:tc>
                <a:tc hMerge="1">
                  <a:txBody>
                    <a:bodyPr/>
                    <a:lstStyle/>
                    <a:p>
                      <a:endParaRPr lang="en-US" sz="1000"/>
                    </a:p>
                  </a:txBody>
                  <a:tcPr marL="73152" marR="73152" anchor="ctr">
                    <a:solidFill>
                      <a:srgbClr val="0A4B8C"/>
                    </a:solidFill>
                  </a:tcPr>
                </a:tc>
                <a:tc hMerge="1">
                  <a:txBody>
                    <a:bodyPr/>
                    <a:lstStyle/>
                    <a:p>
                      <a:endParaRPr lang="en-US" sz="1000"/>
                    </a:p>
                  </a:txBody>
                  <a:tcPr marL="73152" marR="73152" anchor="ctr">
                    <a:solidFill>
                      <a:srgbClr val="0A4B8C"/>
                    </a:solidFill>
                  </a:tcPr>
                </a:tc>
                <a:extLst>
                  <a:ext uri="{0D108BD9-81ED-4DB2-BD59-A6C34878D82A}">
                    <a16:rowId xmlns:a16="http://schemas.microsoft.com/office/drawing/2014/main" val="10001"/>
                  </a:ext>
                </a:extLst>
              </a:tr>
              <a:tr h="400000">
                <a:tc>
                  <a:txBody>
                    <a:bodyPr/>
                    <a:lstStyle/>
                    <a:p>
                      <a:pPr>
                        <a:spcBef>
                          <a:spcPts val="0"/>
                        </a:spcBef>
                        <a:spcAft>
                          <a:spcPts val="0"/>
                        </a:spcAft>
                      </a:pPr>
                      <a:r>
                        <a:rPr lang="en-US" sz="1000" b="1"/>
                        <a:t>Workstream B Kickoff &amp; Architecture Deep-Dive</a:t>
                      </a:r>
                    </a:p>
                  </a:txBody>
                  <a:tcPr marL="73152" marR="73152" anchor="ctr"/>
                </a:tc>
                <a:tc>
                  <a:txBody>
                    <a:bodyPr/>
                    <a:lstStyle/>
                    <a:p>
                      <a:pPr>
                        <a:spcBef>
                          <a:spcPts val="0"/>
                        </a:spcBef>
                        <a:spcAft>
                          <a:spcPts val="0"/>
                        </a:spcAft>
                      </a:pPr>
                      <a:r>
                        <a:rPr lang="en-US" sz="1000"/>
                        <a:t>Oct 17, 2026</a:t>
                      </a:r>
                    </a:p>
                  </a:txBody>
                  <a:tcPr marL="73152" marR="73152" anchor="ct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000"/>
                        <a:t>Align all WS-B stakeholders on the execution plan, review initial data source documentation, and confirm IRL ownership. </a:t>
                      </a:r>
                      <a:r>
                        <a:rPr lang="en-US" sz="1000" b="1"/>
                        <a:t>Attendees</a:t>
                      </a:r>
                      <a:r>
                        <a:rPr lang="en-US" sz="1000"/>
                        <a:t>: KPMG architects and relevant CVS SMEs.</a:t>
                      </a:r>
                    </a:p>
                  </a:txBody>
                  <a:tcPr marL="73152" marR="73152" anchor="ctr"/>
                </a:tc>
                <a:extLst>
                  <a:ext uri="{0D108BD9-81ED-4DB2-BD59-A6C34878D82A}">
                    <a16:rowId xmlns:a16="http://schemas.microsoft.com/office/drawing/2014/main" val="10002"/>
                  </a:ext>
                </a:extLst>
              </a:tr>
              <a:tr h="400000">
                <a:tc>
                  <a:txBody>
                    <a:bodyPr/>
                    <a:lstStyle/>
                    <a:p>
                      <a:pPr>
                        <a:spcBef>
                          <a:spcPts val="0"/>
                        </a:spcBef>
                        <a:spcAft>
                          <a:spcPts val="0"/>
                        </a:spcAft>
                      </a:pPr>
                      <a:r>
                        <a:rPr lang="en-US" sz="1000" b="1"/>
                        <a:t>Ingestion Source Technical Deep-Dive Series</a:t>
                      </a:r>
                    </a:p>
                  </a:txBody>
                  <a:tcPr marL="73152" marR="73152" anchor="ctr"/>
                </a:tc>
                <a:tc>
                  <a:txBody>
                    <a:bodyPr/>
                    <a:lstStyle/>
                    <a:p>
                      <a:pPr>
                        <a:spcBef>
                          <a:spcPts val="0"/>
                        </a:spcBef>
                        <a:spcAft>
                          <a:spcPts val="0"/>
                        </a:spcAft>
                      </a:pPr>
                      <a:r>
                        <a:rPr lang="en-US" sz="1000"/>
                        <a:t>Weekly (Thursdays)</a:t>
                      </a:r>
                    </a:p>
                  </a:txBody>
                  <a:tcPr marL="73152" marR="73152" anchor="ctr"/>
                </a:tc>
                <a:tc>
                  <a:txBody>
                    <a:bodyPr/>
                    <a:lstStyle/>
                    <a:p>
                      <a:pPr>
                        <a:spcBef>
                          <a:spcPts val="0"/>
                        </a:spcBef>
                        <a:spcAft>
                          <a:spcPts val="0"/>
                        </a:spcAft>
                      </a:pPr>
                      <a:r>
                        <a:rPr lang="en-US" sz="1000"/>
                        <a:t>Technical working sessions focused on specific data sources (e.g., Tanium, Onum, NiFi). Define data contracts, schema requirements, and DLQ rules. </a:t>
                      </a:r>
                      <a:r>
                        <a:rPr lang="en-US" sz="1000" b="1"/>
                        <a:t>Attendees</a:t>
                      </a:r>
                      <a:r>
                        <a:rPr lang="en-US" sz="1000"/>
                        <a:t>: KPMG architects and relevant CVS SMEs.</a:t>
                      </a:r>
                    </a:p>
                  </a:txBody>
                  <a:tcPr marL="73152" marR="73152" anchor="ctr"/>
                </a:tc>
                <a:extLst>
                  <a:ext uri="{0D108BD9-81ED-4DB2-BD59-A6C34878D82A}">
                    <a16:rowId xmlns:a16="http://schemas.microsoft.com/office/drawing/2014/main" val="10003"/>
                  </a:ext>
                </a:extLst>
              </a:tr>
              <a:tr h="270000">
                <a:tc gridSpan="3">
                  <a:txBody>
                    <a:bodyPr/>
                    <a:lstStyle/>
                    <a:p>
                      <a:pPr marL="0" marR="0" indent="0" algn="l" defTabSz="457063" rtl="0" eaLnBrk="1" fontAlgn="ctr" latinLnBrk="0" hangingPunct="1">
                        <a:lnSpc>
                          <a:spcPct val="100000"/>
                        </a:lnSpc>
                        <a:spcBef>
                          <a:spcPts val="0"/>
                        </a:spcBef>
                        <a:spcAft>
                          <a:spcPts val="0"/>
                        </a:spcAft>
                        <a:buClrTx/>
                        <a:buSzTx/>
                        <a:buFontTx/>
                        <a:buNone/>
                        <a:tabLst/>
                        <a:defRPr/>
                      </a:pPr>
                      <a:r>
                        <a:rPr lang="en-US" sz="1100" b="1">
                          <a:solidFill>
                            <a:schemeClr val="bg1"/>
                          </a:solidFill>
                        </a:rPr>
                        <a:t>Month 2: November 2026 – Implementation, Validation &amp; Change Freeze Prep</a:t>
                      </a:r>
                    </a:p>
                  </a:txBody>
                  <a:tcPr marL="73152" marR="73152" anchor="ctr">
                    <a:solidFill>
                      <a:srgbClr val="0A4B8C"/>
                    </a:solidFill>
                  </a:tcPr>
                </a:tc>
                <a:tc hMerge="1">
                  <a:txBody>
                    <a:bodyPr/>
                    <a:lstStyle/>
                    <a:p>
                      <a:endParaRPr lang="en-US" sz="1000"/>
                    </a:p>
                  </a:txBody>
                  <a:tcPr marL="73152" marR="73152" anchor="ctr">
                    <a:solidFill>
                      <a:srgbClr val="0A4B8C"/>
                    </a:solidFill>
                  </a:tcPr>
                </a:tc>
                <a:tc hMerge="1">
                  <a:txBody>
                    <a:bodyPr/>
                    <a:lstStyle/>
                    <a:p>
                      <a:endParaRPr lang="en-US" sz="1000"/>
                    </a:p>
                  </a:txBody>
                  <a:tcPr marL="73152" marR="73152" anchor="ctr">
                    <a:solidFill>
                      <a:srgbClr val="0A4B8C"/>
                    </a:solidFill>
                  </a:tcPr>
                </a:tc>
                <a:extLst>
                  <a:ext uri="{0D108BD9-81ED-4DB2-BD59-A6C34878D82A}">
                    <a16:rowId xmlns:a16="http://schemas.microsoft.com/office/drawing/2014/main" val="10006"/>
                  </a:ext>
                </a:extLst>
              </a:tr>
              <a:tr h="400000">
                <a:tc>
                  <a:txBody>
                    <a:bodyPr/>
                    <a:lstStyle/>
                    <a:p>
                      <a:pPr>
                        <a:spcBef>
                          <a:spcPts val="0"/>
                        </a:spcBef>
                        <a:spcAft>
                          <a:spcPts val="0"/>
                        </a:spcAft>
                      </a:pPr>
                      <a:r>
                        <a:rPr lang="en-US" sz="1000" b="1"/>
                        <a:t>Bronze Pipeline Implementation &amp; Review</a:t>
                      </a:r>
                    </a:p>
                  </a:txBody>
                  <a:tcPr marL="73152" marR="73152" anchor="ctr"/>
                </a:tc>
                <a:tc>
                  <a:txBody>
                    <a:bodyPr/>
                    <a:lstStyle/>
                    <a:p>
                      <a:pPr>
                        <a:spcBef>
                          <a:spcPts val="0"/>
                        </a:spcBef>
                        <a:spcAft>
                          <a:spcPts val="0"/>
                        </a:spcAft>
                      </a:pPr>
                      <a:r>
                        <a:rPr lang="en-US" sz="1000"/>
                        <a:t>Weekly (Tuesdays)</a:t>
                      </a:r>
                    </a:p>
                  </a:txBody>
                  <a:tcPr marL="73152" marR="73152" anchor="ctr"/>
                </a:tc>
                <a:tc>
                  <a:txBody>
                    <a:bodyPr/>
                    <a:lstStyle/>
                    <a:p>
                      <a:pPr>
                        <a:spcBef>
                          <a:spcPts val="0"/>
                        </a:spcBef>
                        <a:spcAft>
                          <a:spcPts val="0"/>
                        </a:spcAft>
                      </a:pPr>
                      <a:r>
                        <a:rPr lang="en-US" sz="1000"/>
                        <a:t>Review progress on Auto Loader pipeline development, address technical blockers, and demonstrate completed work. Attendees: All Workstream B technical team members.</a:t>
                      </a:r>
                    </a:p>
                  </a:txBody>
                  <a:tcPr marL="73152" marR="73152" anchor="ctr"/>
                </a:tc>
                <a:extLst>
                  <a:ext uri="{0D108BD9-81ED-4DB2-BD59-A6C34878D82A}">
                    <a16:rowId xmlns:a16="http://schemas.microsoft.com/office/drawing/2014/main" val="10007"/>
                  </a:ext>
                </a:extLst>
              </a:tr>
              <a:tr h="400000">
                <a:tc>
                  <a:txBody>
                    <a:bodyPr/>
                    <a:lstStyle/>
                    <a:p>
                      <a:pPr>
                        <a:spcBef>
                          <a:spcPts val="0"/>
                        </a:spcBef>
                        <a:spcAft>
                          <a:spcPts val="0"/>
                        </a:spcAft>
                      </a:pPr>
                      <a:r>
                        <a:rPr lang="en-US" sz="1000" b="1"/>
                        <a:t>Change Freeze Critical Path Review</a:t>
                      </a:r>
                    </a:p>
                  </a:txBody>
                  <a:tcPr marL="73152" marR="73152" anchor="ctr"/>
                </a:tc>
                <a:tc>
                  <a:txBody>
                    <a:bodyPr/>
                    <a:lstStyle/>
                    <a:p>
                      <a:pPr>
                        <a:spcBef>
                          <a:spcPts val="0"/>
                        </a:spcBef>
                        <a:spcAft>
                          <a:spcPts val="0"/>
                        </a:spcAft>
                      </a:pPr>
                      <a:r>
                        <a:rPr lang="en-US" sz="1000"/>
                        <a:t>Nov 6 &amp; Nov 20</a:t>
                      </a:r>
                    </a:p>
                  </a:txBody>
                  <a:tcPr marL="73152" marR="73152" anchor="ctr"/>
                </a:tc>
                <a:tc>
                  <a:txBody>
                    <a:bodyPr/>
                    <a:lstStyle/>
                    <a:p>
                      <a:pPr>
                        <a:spcBef>
                          <a:spcPts val="0"/>
                        </a:spcBef>
                        <a:spcAft>
                          <a:spcPts val="0"/>
                        </a:spcAft>
                      </a:pPr>
                      <a:r>
                        <a:rPr lang="en-US" sz="1000"/>
                        <a:t>A dedicated meeting to track progress on all ingestion activities that must be completed before the December 1st change freeze, focusing on ADLS landing and network clearances. </a:t>
                      </a:r>
                      <a:r>
                        <a:rPr lang="en-US" sz="1000" b="1"/>
                        <a:t>Attendees</a:t>
                      </a:r>
                      <a:r>
                        <a:rPr lang="en-US" sz="1000"/>
                        <a:t>: All workstream leads.</a:t>
                      </a:r>
                    </a:p>
                  </a:txBody>
                  <a:tcPr marL="73152" marR="73152" anchor="ctr"/>
                </a:tc>
                <a:extLst>
                  <a:ext uri="{0D108BD9-81ED-4DB2-BD59-A6C34878D82A}">
                    <a16:rowId xmlns:a16="http://schemas.microsoft.com/office/drawing/2014/main" val="10008"/>
                  </a:ext>
                </a:extLst>
              </a:tr>
              <a:tr h="400000">
                <a:tc>
                  <a:txBody>
                    <a:bodyPr/>
                    <a:lstStyle/>
                    <a:p>
                      <a:pPr>
                        <a:spcBef>
                          <a:spcPts val="0"/>
                        </a:spcBef>
                        <a:spcAft>
                          <a:spcPts val="0"/>
                        </a:spcAft>
                      </a:pPr>
                      <a:r>
                        <a:rPr lang="en-US" sz="1000" b="1"/>
                        <a:t>Bronze-to-Silver Handoff Sync</a:t>
                      </a:r>
                    </a:p>
                  </a:txBody>
                  <a:tcPr marL="73152" marR="73152" anchor="ctr"/>
                </a:tc>
                <a:tc>
                  <a:txBody>
                    <a:bodyPr/>
                    <a:lstStyle/>
                    <a:p>
                      <a:pPr>
                        <a:spcBef>
                          <a:spcPts val="0"/>
                        </a:spcBef>
                        <a:spcAft>
                          <a:spcPts val="0"/>
                        </a:spcAft>
                      </a:pPr>
                      <a:r>
                        <a:rPr lang="en-US" sz="1000"/>
                        <a:t>Bi-Weekly (Fridays)</a:t>
                      </a:r>
                    </a:p>
                  </a:txBody>
                  <a:tcPr marL="73152" marR="73152" anchor="ctr"/>
                </a:tc>
                <a:tc>
                  <a:txBody>
                    <a:bodyPr/>
                    <a:lstStyle/>
                    <a:p>
                      <a:pPr>
                        <a:spcBef>
                          <a:spcPts val="0"/>
                        </a:spcBef>
                        <a:spcAft>
                          <a:spcPts val="0"/>
                        </a:spcAft>
                      </a:pPr>
                      <a:r>
                        <a:rPr lang="en-US" sz="1000"/>
                        <a:t>Coordinate with Workstream C to ensure the Bronze table outputs align perfectly with the requirements for the Silver core pipelines.</a:t>
                      </a:r>
                    </a:p>
                  </a:txBody>
                  <a:tcPr marL="73152" marR="73152" anchor="ct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4459190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50387E0-65DE-66CF-D3E8-806D4611C741}"/>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9B1EE01-F4BD-3E13-93F2-2D68EED880FD}"/>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5" name="thinkcell data - do not delete" hidden="1">
                        <a:extLst>
                          <a:ext uri="{FF2B5EF4-FFF2-40B4-BE49-F238E27FC236}">
                            <a16:creationId xmlns:a16="http://schemas.microsoft.com/office/drawing/2014/main" id="{B9B1EE01-F4BD-3E13-93F2-2D68EED880F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D9BF86E1-F2E8-28A3-F56C-4F4B58371F46}"/>
              </a:ext>
            </a:extLst>
          </p:cNvPr>
          <p:cNvSpPr>
            <a:spLocks noGrp="1"/>
          </p:cNvSpPr>
          <p:nvPr>
            <p:ph type="title"/>
          </p:nvPr>
        </p:nvSpPr>
        <p:spPr>
          <a:xfrm>
            <a:off x="557931" y="584200"/>
            <a:ext cx="6449044" cy="713232"/>
          </a:xfrm>
        </p:spPr>
        <p:txBody>
          <a:bodyPr vert="horz" rIns="0"/>
          <a:lstStyle/>
          <a:p>
            <a:r>
              <a:rPr lang="en-US"/>
              <a:t>Workstream C</a:t>
            </a:r>
          </a:p>
        </p:txBody>
      </p:sp>
    </p:spTree>
    <p:extLst>
      <p:ext uri="{BB962C8B-B14F-4D97-AF65-F5344CB8AC3E}">
        <p14:creationId xmlns:p14="http://schemas.microsoft.com/office/powerpoint/2010/main" val="14239156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BC5284D-B21C-229C-C5B1-428A4AD444FD}"/>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A7DD34BC-D101-C2D4-3590-EB652B606C41}"/>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5" name="thinkcell data - do not delete" hidden="1">
                        <a:extLst>
                          <a:ext uri="{FF2B5EF4-FFF2-40B4-BE49-F238E27FC236}">
                            <a16:creationId xmlns:a16="http://schemas.microsoft.com/office/drawing/2014/main" id="{A7DD34BC-D101-C2D4-3590-EB652B606C4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A76DFC37-9F57-39F7-FCE8-42D327C337C9}"/>
              </a:ext>
            </a:extLst>
          </p:cNvPr>
          <p:cNvSpPr>
            <a:spLocks noGrp="1"/>
          </p:cNvSpPr>
          <p:nvPr>
            <p:ph type="title"/>
          </p:nvPr>
        </p:nvSpPr>
        <p:spPr/>
        <p:txBody>
          <a:bodyPr vert="horz" rIns="0"/>
          <a:lstStyle/>
          <a:p>
            <a:r>
              <a:rPr lang="en-US"/>
              <a:t>Workstream C – Data Architecture and Pipeline Enablement (1/2)</a:t>
            </a:r>
            <a:br>
              <a:rPr lang="en-US"/>
            </a:br>
            <a:r>
              <a:rPr lang="en-US" sz="1600" b="0"/>
              <a:t>The factory – From the SOW and other planning documents</a:t>
            </a:r>
          </a:p>
        </p:txBody>
      </p:sp>
      <p:sp>
        <p:nvSpPr>
          <p:cNvPr id="17" name="Rectangle: Top Corners Rounded 16">
            <a:extLst>
              <a:ext uri="{FF2B5EF4-FFF2-40B4-BE49-F238E27FC236}">
                <a16:creationId xmlns:a16="http://schemas.microsoft.com/office/drawing/2014/main" id="{388980A6-4A35-B13F-B40A-6682DE2F39AA}"/>
              </a:ext>
            </a:extLst>
          </p:cNvPr>
          <p:cNvSpPr/>
          <p:nvPr/>
        </p:nvSpPr>
        <p:spPr bwMode="gray">
          <a:xfrm rot="5400000">
            <a:off x="-1682253" y="3070784"/>
            <a:ext cx="4682069" cy="1317568"/>
          </a:xfrm>
          <a:prstGeom prst="round2SameRect">
            <a:avLst>
              <a:gd name="adj1" fmla="val 9976"/>
              <a:gd name="adj2" fmla="val 0"/>
            </a:avLst>
          </a:prstGeom>
          <a:gradFill flip="none" rotWithShape="1">
            <a:gsLst>
              <a:gs pos="0">
                <a:srgbClr val="267AC0"/>
              </a:gs>
              <a:gs pos="100000">
                <a:srgbClr val="0A4B8C"/>
              </a:gs>
            </a:gsLst>
            <a:lin ang="54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sp>
        <p:nvSpPr>
          <p:cNvPr id="19" name="TextBox 18">
            <a:extLst>
              <a:ext uri="{FF2B5EF4-FFF2-40B4-BE49-F238E27FC236}">
                <a16:creationId xmlns:a16="http://schemas.microsoft.com/office/drawing/2014/main" id="{7F1FFCD6-21C1-51CA-2E2D-8077B90554A8}"/>
              </a:ext>
            </a:extLst>
          </p:cNvPr>
          <p:cNvSpPr txBox="1"/>
          <p:nvPr/>
        </p:nvSpPr>
        <p:spPr>
          <a:xfrm>
            <a:off x="6301525" y="1388532"/>
            <a:ext cx="740587"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rgbClr val="0B315E"/>
                </a:solidFill>
                <a:effectLst/>
                <a:uLnTx/>
                <a:uFillTx/>
                <a:latin typeface="CVS Health Sans"/>
                <a:ea typeface="+mn-ea"/>
                <a:cs typeface="+mn-cs"/>
              </a:rPr>
              <a:t>Milestone</a:t>
            </a:r>
          </a:p>
        </p:txBody>
      </p:sp>
      <p:sp>
        <p:nvSpPr>
          <p:cNvPr id="21" name="TextBox 20">
            <a:extLst>
              <a:ext uri="{FF2B5EF4-FFF2-40B4-BE49-F238E27FC236}">
                <a16:creationId xmlns:a16="http://schemas.microsoft.com/office/drawing/2014/main" id="{DC3A3C31-407C-65D7-B6CA-7ED3BEF6A98A}"/>
              </a:ext>
            </a:extLst>
          </p:cNvPr>
          <p:cNvSpPr txBox="1"/>
          <p:nvPr/>
        </p:nvSpPr>
        <p:spPr>
          <a:xfrm>
            <a:off x="543482" y="1490133"/>
            <a:ext cx="690958"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Scope</a:t>
            </a:r>
          </a:p>
        </p:txBody>
      </p:sp>
      <p:sp>
        <p:nvSpPr>
          <p:cNvPr id="22" name="TextBox 21">
            <a:extLst>
              <a:ext uri="{FF2B5EF4-FFF2-40B4-BE49-F238E27FC236}">
                <a16:creationId xmlns:a16="http://schemas.microsoft.com/office/drawing/2014/main" id="{94BE6149-D482-2C97-A68A-00140CCD7275}"/>
              </a:ext>
            </a:extLst>
          </p:cNvPr>
          <p:cNvSpPr txBox="1"/>
          <p:nvPr/>
        </p:nvSpPr>
        <p:spPr>
          <a:xfrm>
            <a:off x="1366590" y="1490133"/>
            <a:ext cx="4693922" cy="461665"/>
          </a:xfrm>
          <a:prstGeom prst="rect">
            <a:avLst/>
          </a:prstGeom>
          <a:noFill/>
        </p:spPr>
        <p:txBody>
          <a:bodyPr wrap="square" lIns="0" tIns="0" rIns="0" bIns="0">
            <a:spAutoFit/>
          </a:bodyPr>
          <a:lstStyle/>
          <a:p>
            <a:pPr algn="l"/>
            <a:r>
              <a:rPr lang="en-US" sz="1000">
                <a:solidFill>
                  <a:schemeClr val="tx2"/>
                </a:solidFill>
              </a:rPr>
              <a:t>Design and implement scalable Bronze, Silver, and Gold pipelines in Cribl and Databricks, including reusable templates and governed data access via </a:t>
            </a:r>
            <a:br>
              <a:rPr lang="en-US" sz="1000">
                <a:solidFill>
                  <a:schemeClr val="tx2"/>
                </a:solidFill>
              </a:rPr>
            </a:br>
            <a:r>
              <a:rPr lang="en-US" sz="1000">
                <a:solidFill>
                  <a:schemeClr val="tx2"/>
                </a:solidFill>
              </a:rPr>
              <a:t>Unity Catalog.</a:t>
            </a:r>
          </a:p>
        </p:txBody>
      </p:sp>
      <p:sp>
        <p:nvSpPr>
          <p:cNvPr id="23" name="TextBox 22">
            <a:extLst>
              <a:ext uri="{FF2B5EF4-FFF2-40B4-BE49-F238E27FC236}">
                <a16:creationId xmlns:a16="http://schemas.microsoft.com/office/drawing/2014/main" id="{B1F1BD47-C336-B5C8-27B2-2BF393C42201}"/>
              </a:ext>
            </a:extLst>
          </p:cNvPr>
          <p:cNvSpPr txBox="1"/>
          <p:nvPr/>
        </p:nvSpPr>
        <p:spPr>
          <a:xfrm>
            <a:off x="543482" y="2104882"/>
            <a:ext cx="721899"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Objective</a:t>
            </a:r>
          </a:p>
        </p:txBody>
      </p:sp>
      <p:sp>
        <p:nvSpPr>
          <p:cNvPr id="24" name="TextBox 23">
            <a:extLst>
              <a:ext uri="{FF2B5EF4-FFF2-40B4-BE49-F238E27FC236}">
                <a16:creationId xmlns:a16="http://schemas.microsoft.com/office/drawing/2014/main" id="{29A6C7FF-BB23-8BE5-72F4-30257E7951BA}"/>
              </a:ext>
            </a:extLst>
          </p:cNvPr>
          <p:cNvSpPr txBox="1"/>
          <p:nvPr/>
        </p:nvSpPr>
        <p:spPr>
          <a:xfrm>
            <a:off x="1366590" y="2104882"/>
            <a:ext cx="4575208" cy="461665"/>
          </a:xfrm>
          <a:prstGeom prst="rect">
            <a:avLst/>
          </a:prstGeom>
          <a:noFill/>
        </p:spPr>
        <p:txBody>
          <a:bodyPr wrap="square" lIns="0" tIns="0" rIns="0" bIns="0">
            <a:spAutoFit/>
          </a:bodyPr>
          <a:lstStyle/>
          <a:p>
            <a:pPr algn="l"/>
            <a:r>
              <a:rPr lang="en-US" sz="1000">
                <a:solidFill>
                  <a:schemeClr val="tx2"/>
                </a:solidFill>
              </a:rPr>
              <a:t>Enable Project 4 data movement and transformation by building scalable Bronze-to-Silver pipelines, governed data products and reusable </a:t>
            </a:r>
            <a:br>
              <a:rPr lang="en-US" sz="1000">
                <a:solidFill>
                  <a:schemeClr val="tx2"/>
                </a:solidFill>
              </a:rPr>
            </a:br>
            <a:r>
              <a:rPr lang="en-US" sz="1000">
                <a:solidFill>
                  <a:schemeClr val="tx2"/>
                </a:solidFill>
              </a:rPr>
              <a:t>Databricks patterns.</a:t>
            </a:r>
          </a:p>
        </p:txBody>
      </p:sp>
      <p:sp>
        <p:nvSpPr>
          <p:cNvPr id="25" name="TextBox 24">
            <a:extLst>
              <a:ext uri="{FF2B5EF4-FFF2-40B4-BE49-F238E27FC236}">
                <a16:creationId xmlns:a16="http://schemas.microsoft.com/office/drawing/2014/main" id="{A3899D68-BBFB-2AB2-2305-41F9E792835F}"/>
              </a:ext>
            </a:extLst>
          </p:cNvPr>
          <p:cNvSpPr txBox="1"/>
          <p:nvPr/>
        </p:nvSpPr>
        <p:spPr>
          <a:xfrm>
            <a:off x="543483" y="2714704"/>
            <a:ext cx="731982" cy="369332"/>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Key Activities</a:t>
            </a:r>
          </a:p>
        </p:txBody>
      </p:sp>
      <p:sp>
        <p:nvSpPr>
          <p:cNvPr id="28" name="TextBox 27">
            <a:extLst>
              <a:ext uri="{FF2B5EF4-FFF2-40B4-BE49-F238E27FC236}">
                <a16:creationId xmlns:a16="http://schemas.microsoft.com/office/drawing/2014/main" id="{F02245CD-517B-974E-F745-C2AAC67625A8}"/>
              </a:ext>
            </a:extLst>
          </p:cNvPr>
          <p:cNvSpPr txBox="1"/>
          <p:nvPr/>
        </p:nvSpPr>
        <p:spPr>
          <a:xfrm>
            <a:off x="1366590" y="2714704"/>
            <a:ext cx="4748460" cy="2885405"/>
          </a:xfrm>
          <a:prstGeom prst="rect">
            <a:avLst/>
          </a:prstGeom>
          <a:noFill/>
        </p:spPr>
        <p:txBody>
          <a:bodyPr wrap="square" lIns="0" tIns="0" rIns="0" bIns="0">
            <a:noAutofit/>
          </a:bodyPr>
          <a:lstStyle/>
          <a:p>
            <a:pPr marL="137160" lvl="1" indent="-137160">
              <a:spcAft>
                <a:spcPts val="300"/>
              </a:spcAft>
              <a:buFont typeface="Arial" panose="020B0604020202020204" pitchFamily="34" charset="0"/>
              <a:buChar char="•"/>
            </a:pPr>
            <a:r>
              <a:rPr lang="en-US" sz="1000" b="1" kern="1500">
                <a:solidFill>
                  <a:schemeClr val="tx2"/>
                </a:solidFill>
              </a:rPr>
              <a:t>Build &amp; Scale Pipelines: </a:t>
            </a:r>
            <a:r>
              <a:rPr lang="en-US" sz="1000" kern="1500">
                <a:solidFill>
                  <a:schemeClr val="tx2"/>
                </a:solidFill>
              </a:rPr>
              <a:t>Construct parameterized </a:t>
            </a:r>
            <a:r>
              <a:rPr lang="en-US" sz="1000" kern="1500" err="1">
                <a:solidFill>
                  <a:schemeClr val="tx2"/>
                </a:solidFill>
              </a:rPr>
              <a:t>PySpark</a:t>
            </a:r>
            <a:r>
              <a:rPr lang="en-US" sz="1000" kern="1500">
                <a:solidFill>
                  <a:schemeClr val="tx2"/>
                </a:solidFill>
              </a:rPr>
              <a:t>/SQL/DLT pipeline templates by source-type group; configure DLT tiering (continuous / triggered / batch) to balance SLA against compute cost; instantiate pipelines from Workstream B contracts and AI-generated definitions</a:t>
            </a:r>
          </a:p>
          <a:p>
            <a:pPr marL="137160" lvl="1" indent="-137160">
              <a:spcAft>
                <a:spcPts val="300"/>
              </a:spcAft>
              <a:buFont typeface="Arial" panose="020B0604020202020204" pitchFamily="34" charset="0"/>
              <a:buChar char="•"/>
            </a:pPr>
            <a:r>
              <a:rPr lang="en-US" sz="1000" b="1" kern="1500">
                <a:solidFill>
                  <a:schemeClr val="tx2"/>
                </a:solidFill>
              </a:rPr>
              <a:t>Implement Governance: </a:t>
            </a:r>
            <a:r>
              <a:rPr lang="en-US" sz="1000" kern="1500">
                <a:solidFill>
                  <a:schemeClr val="tx2"/>
                </a:solidFill>
              </a:rPr>
              <a:t>Enforce Security &amp; Compliance at Silver. Implement PHI/PII masking (compliance at Bronze); enforce data classification (RESTRICTED -&gt; INTERNAL) via Unity Catalog column-level tags; implement row-level security for multi-owner tables; build audit trail for HIPAA evidence</a:t>
            </a:r>
          </a:p>
          <a:p>
            <a:pPr marL="137160" lvl="1" indent="-137160">
              <a:spcAft>
                <a:spcPts val="300"/>
              </a:spcAft>
              <a:buFont typeface="Arial" panose="020B0604020202020204" pitchFamily="34" charset="0"/>
              <a:buChar char="•"/>
            </a:pPr>
            <a:r>
              <a:rPr lang="en-US" sz="1000" b="1" kern="1500">
                <a:solidFill>
                  <a:schemeClr val="tx2"/>
                </a:solidFill>
              </a:rPr>
              <a:t>Pattern Data Products:</a:t>
            </a:r>
            <a:r>
              <a:rPr lang="en-US" sz="1000" kern="1500">
                <a:solidFill>
                  <a:schemeClr val="tx2"/>
                </a:solidFill>
              </a:rPr>
              <a:t> Initiate Silver tables with known downstream consumers; apply Data Product metadata (e.g., purpose, owner, consumers, SLO, refresh cadence, relevant Splunk/SIEM meta data); publish in Unity Catalog with documentation and discoverability; remaining Silver tables are governed, retained, searchable but not promoted to Product status</a:t>
            </a:r>
          </a:p>
          <a:p>
            <a:pPr marL="137160" lvl="1" indent="-137160">
              <a:spcAft>
                <a:spcPts val="300"/>
              </a:spcAft>
              <a:buFont typeface="Arial" panose="020B0604020202020204" pitchFamily="34" charset="0"/>
              <a:buChar char="•"/>
            </a:pPr>
            <a:r>
              <a:rPr lang="en-US" sz="1000" b="1" kern="1500">
                <a:solidFill>
                  <a:schemeClr val="tx2"/>
                </a:solidFill>
              </a:rPr>
              <a:t>Enable Self-Service Analytics: </a:t>
            </a:r>
            <a:r>
              <a:rPr lang="en-US" sz="1000" kern="1500">
                <a:solidFill>
                  <a:schemeClr val="tx2"/>
                </a:solidFill>
              </a:rPr>
              <a:t>Define team-owned Gold workspaces with compute governance, chargeback alignment, and guardrails; provide initial best practices, templates, and Genie configuration for self-service analytics; convert priority SPL to SQL/</a:t>
            </a:r>
            <a:r>
              <a:rPr lang="en-US" sz="1000" kern="1500" err="1">
                <a:solidFill>
                  <a:schemeClr val="tx2"/>
                </a:solidFill>
              </a:rPr>
              <a:t>PySpark</a:t>
            </a:r>
            <a:r>
              <a:rPr lang="en-US" sz="1000" kern="1500">
                <a:solidFill>
                  <a:schemeClr val="tx2"/>
                </a:solidFill>
              </a:rPr>
              <a:t> (Claude-assisted) as starter content teams deploy into their own Gold space</a:t>
            </a:r>
          </a:p>
          <a:p>
            <a:pPr marL="137160" lvl="1" indent="-137160">
              <a:spcAft>
                <a:spcPts val="300"/>
              </a:spcAft>
              <a:buFont typeface="Arial" panose="020B0604020202020204" pitchFamily="34" charset="0"/>
              <a:buChar char="•"/>
            </a:pPr>
            <a:r>
              <a:rPr lang="en-US" sz="1000" i="1" kern="1500">
                <a:solidFill>
                  <a:srgbClr val="00787E"/>
                </a:solidFill>
              </a:rPr>
              <a:t>Discussion needed: How analytics are to be instantiated in Databricks.</a:t>
            </a:r>
          </a:p>
          <a:p>
            <a:pPr marL="0" lvl="1">
              <a:spcAft>
                <a:spcPts val="300"/>
              </a:spcAft>
            </a:pPr>
            <a:endParaRPr lang="en-US" sz="1000" kern="1500">
              <a:solidFill>
                <a:schemeClr val="tx2"/>
              </a:solidFill>
            </a:endParaRPr>
          </a:p>
        </p:txBody>
      </p:sp>
      <p:grpSp>
        <p:nvGrpSpPr>
          <p:cNvPr id="33" name="Group 32">
            <a:extLst>
              <a:ext uri="{FF2B5EF4-FFF2-40B4-BE49-F238E27FC236}">
                <a16:creationId xmlns:a16="http://schemas.microsoft.com/office/drawing/2014/main" id="{23617C9A-4873-35B2-06C5-57687376F88D}"/>
              </a:ext>
            </a:extLst>
          </p:cNvPr>
          <p:cNvGrpSpPr/>
          <p:nvPr/>
        </p:nvGrpSpPr>
        <p:grpSpPr>
          <a:xfrm>
            <a:off x="533400" y="2025877"/>
            <a:ext cx="5562600" cy="4926"/>
            <a:chOff x="533400" y="1886078"/>
            <a:chExt cx="5562600" cy="4926"/>
          </a:xfrm>
        </p:grpSpPr>
        <p:cxnSp>
          <p:nvCxnSpPr>
            <p:cNvPr id="34" name="Straight Connector 33">
              <a:extLst>
                <a:ext uri="{FF2B5EF4-FFF2-40B4-BE49-F238E27FC236}">
                  <a16:creationId xmlns:a16="http://schemas.microsoft.com/office/drawing/2014/main" id="{AA2BF7E0-32C5-0551-024D-BB221F288C55}"/>
                </a:ext>
              </a:extLst>
            </p:cNvPr>
            <p:cNvCxnSpPr/>
            <p:nvPr/>
          </p:nvCxnSpPr>
          <p:spPr>
            <a:xfrm>
              <a:off x="553507" y="1891004"/>
              <a:ext cx="5542493"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B0C998A-7CC1-1217-6D58-AB6E5CF83E30}"/>
                </a:ext>
              </a:extLst>
            </p:cNvPr>
            <p:cNvCxnSpPr>
              <a:cxnSpLocks/>
            </p:cNvCxnSpPr>
            <p:nvPr/>
          </p:nvCxnSpPr>
          <p:spPr>
            <a:xfrm>
              <a:off x="533400" y="1886078"/>
              <a:ext cx="784166"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1310C34A-8B2D-B842-8AAB-344134F28BE6}"/>
              </a:ext>
            </a:extLst>
          </p:cNvPr>
          <p:cNvGrpSpPr/>
          <p:nvPr/>
        </p:nvGrpSpPr>
        <p:grpSpPr>
          <a:xfrm>
            <a:off x="533400" y="2640626"/>
            <a:ext cx="5562600" cy="0"/>
            <a:chOff x="533400" y="2463561"/>
            <a:chExt cx="5562600" cy="0"/>
          </a:xfrm>
        </p:grpSpPr>
        <p:cxnSp>
          <p:nvCxnSpPr>
            <p:cNvPr id="37" name="Straight Connector 36">
              <a:extLst>
                <a:ext uri="{FF2B5EF4-FFF2-40B4-BE49-F238E27FC236}">
                  <a16:creationId xmlns:a16="http://schemas.microsoft.com/office/drawing/2014/main" id="{57BF5DC6-8DCB-5C2A-7251-9DF282910872}"/>
                </a:ext>
              </a:extLst>
            </p:cNvPr>
            <p:cNvCxnSpPr/>
            <p:nvPr/>
          </p:nvCxnSpPr>
          <p:spPr>
            <a:xfrm>
              <a:off x="553507" y="2463561"/>
              <a:ext cx="5542493"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0ACF3E5-2E23-2C4E-5997-49D370C80C24}"/>
                </a:ext>
              </a:extLst>
            </p:cNvPr>
            <p:cNvCxnSpPr>
              <a:cxnSpLocks/>
            </p:cNvCxnSpPr>
            <p:nvPr/>
          </p:nvCxnSpPr>
          <p:spPr>
            <a:xfrm>
              <a:off x="533400" y="2463561"/>
              <a:ext cx="784166"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sp>
        <p:nvSpPr>
          <p:cNvPr id="40" name="Rectangle: Rounded Corners 39">
            <a:extLst>
              <a:ext uri="{FF2B5EF4-FFF2-40B4-BE49-F238E27FC236}">
                <a16:creationId xmlns:a16="http://schemas.microsoft.com/office/drawing/2014/main" id="{B229CF89-0483-DB57-E802-EF2DF4D442F8}"/>
              </a:ext>
            </a:extLst>
          </p:cNvPr>
          <p:cNvSpPr/>
          <p:nvPr/>
        </p:nvSpPr>
        <p:spPr bwMode="gray">
          <a:xfrm>
            <a:off x="6296423" y="1672390"/>
            <a:ext cx="3030456" cy="1330238"/>
          </a:xfrm>
          <a:prstGeom prst="roundRect">
            <a:avLst>
              <a:gd name="adj" fmla="val 4322"/>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tIns="45720" rIns="0" bIns="45720" rtlCol="0" anchor="t" anchorCtr="0"/>
          <a:lstStyle/>
          <a:p>
            <a:pPr defTabSz="457063" fontAlgn="ctr">
              <a:defRPr/>
            </a:pPr>
            <a:r>
              <a:rPr lang="en-US" sz="800" b="1">
                <a:solidFill>
                  <a:srgbClr val="00A78E"/>
                </a:solidFill>
              </a:rPr>
              <a:t>Description: </a:t>
            </a:r>
            <a:r>
              <a:rPr lang="en-US" sz="800" kern="1500">
                <a:solidFill>
                  <a:schemeClr val="tx2"/>
                </a:solidFill>
              </a:rPr>
              <a:t>Silver Design &amp; Validation</a:t>
            </a:r>
          </a:p>
          <a:p>
            <a:pPr defTabSz="457063" fontAlgn="ctr">
              <a:defRPr/>
            </a:pPr>
            <a:r>
              <a:rPr lang="en-US" sz="800" b="1">
                <a:solidFill>
                  <a:srgbClr val="00A78E"/>
                </a:solidFill>
              </a:rPr>
              <a:t>Timing: </a:t>
            </a:r>
            <a:r>
              <a:rPr lang="en-US" sz="800" b="1">
                <a:solidFill>
                  <a:schemeClr val="tx2"/>
                </a:solidFill>
              </a:rPr>
              <a:t>Sep 2026 – Jan 2027</a:t>
            </a:r>
          </a:p>
          <a:p>
            <a:r>
              <a:rPr lang="en-US" sz="800" b="1">
                <a:solidFill>
                  <a:srgbClr val="00A78E"/>
                </a:solidFill>
              </a:rPr>
              <a:t>Deliverables: </a:t>
            </a:r>
          </a:p>
          <a:p>
            <a:pPr marL="91440" indent="-91440">
              <a:buFont typeface="Arial" panose="020B0604020202020204" pitchFamily="34" charset="0"/>
              <a:buChar char="•"/>
            </a:pPr>
            <a:r>
              <a:rPr lang="en-US" sz="800">
                <a:solidFill>
                  <a:schemeClr val="tx2"/>
                </a:solidFill>
              </a:rPr>
              <a:t>Data Architecture and Pipeline Design (DOC/PPT) summarizing activities performed.</a:t>
            </a:r>
          </a:p>
          <a:p>
            <a:pPr marL="91440" indent="-91440">
              <a:buFont typeface="Arial" panose="020B0604020202020204" pitchFamily="34" charset="0"/>
              <a:buChar char="•"/>
            </a:pPr>
            <a:r>
              <a:rPr lang="en-US" sz="800">
                <a:solidFill>
                  <a:schemeClr val="tx2"/>
                </a:solidFill>
              </a:rPr>
              <a:t>Reusable DLT/</a:t>
            </a:r>
            <a:r>
              <a:rPr lang="en-US" sz="800" err="1">
                <a:solidFill>
                  <a:schemeClr val="tx2"/>
                </a:solidFill>
              </a:rPr>
              <a:t>PySpark</a:t>
            </a:r>
            <a:r>
              <a:rPr lang="en-US" sz="800">
                <a:solidFill>
                  <a:schemeClr val="tx2"/>
                </a:solidFill>
              </a:rPr>
              <a:t> Template Library and Documentation (CODE/DOC).</a:t>
            </a:r>
          </a:p>
          <a:p>
            <a:pPr marL="91440" indent="-91440">
              <a:buFont typeface="Arial" panose="020B0604020202020204" pitchFamily="34" charset="0"/>
              <a:buChar char="•"/>
            </a:pPr>
            <a:r>
              <a:rPr lang="en-US" sz="800">
                <a:solidFill>
                  <a:schemeClr val="tx2"/>
                </a:solidFill>
              </a:rPr>
              <a:t>Enrichment Integration Design and Validation Evidence (DOC/XLS).</a:t>
            </a:r>
          </a:p>
          <a:p>
            <a:pPr marL="91440" indent="-91440">
              <a:buFont typeface="Arial" panose="020B0604020202020204" pitchFamily="34" charset="0"/>
              <a:buChar char="•"/>
            </a:pPr>
            <a:r>
              <a:rPr lang="en-US" sz="800">
                <a:solidFill>
                  <a:schemeClr val="tx2"/>
                </a:solidFill>
              </a:rPr>
              <a:t>Gold Workspace/Self-Service Analytics Design (DOC/PPT).</a:t>
            </a:r>
          </a:p>
        </p:txBody>
      </p:sp>
      <p:sp>
        <p:nvSpPr>
          <p:cNvPr id="41" name="Rectangle: Rounded Corners 40">
            <a:extLst>
              <a:ext uri="{FF2B5EF4-FFF2-40B4-BE49-F238E27FC236}">
                <a16:creationId xmlns:a16="http://schemas.microsoft.com/office/drawing/2014/main" id="{1CF2CECD-3D63-694C-00FD-FC67BBE62CD3}"/>
              </a:ext>
            </a:extLst>
          </p:cNvPr>
          <p:cNvSpPr/>
          <p:nvPr/>
        </p:nvSpPr>
        <p:spPr bwMode="gray">
          <a:xfrm>
            <a:off x="6296423" y="3054198"/>
            <a:ext cx="3030457" cy="1600873"/>
          </a:xfrm>
          <a:prstGeom prst="roundRect">
            <a:avLst>
              <a:gd name="adj" fmla="val 4322"/>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tIns="45720" rIns="0" bIns="45720" rtlCol="0" anchor="t" anchorCtr="0"/>
          <a:lstStyle/>
          <a:p>
            <a:pPr defTabSz="457063" fontAlgn="ctr">
              <a:defRPr/>
            </a:pPr>
            <a:r>
              <a:rPr lang="en-US" sz="800" b="1">
                <a:solidFill>
                  <a:srgbClr val="00A78E"/>
                </a:solidFill>
              </a:rPr>
              <a:t>Description: </a:t>
            </a:r>
            <a:r>
              <a:rPr lang="en-US" sz="800" kern="1500">
                <a:solidFill>
                  <a:schemeClr val="tx2"/>
                </a:solidFill>
              </a:rPr>
              <a:t>Tier 1 Rollout &amp; SLA</a:t>
            </a:r>
          </a:p>
          <a:p>
            <a:pPr defTabSz="457063" fontAlgn="ctr">
              <a:defRPr/>
            </a:pPr>
            <a:r>
              <a:rPr lang="en-US" sz="800" b="1">
                <a:solidFill>
                  <a:srgbClr val="00A78E"/>
                </a:solidFill>
              </a:rPr>
              <a:t>Timing: </a:t>
            </a:r>
            <a:r>
              <a:rPr lang="en-US" sz="800" b="1">
                <a:solidFill>
                  <a:schemeClr val="tx2"/>
                </a:solidFill>
              </a:rPr>
              <a:t>Dec 2026 – Apr 2027</a:t>
            </a:r>
          </a:p>
          <a:p>
            <a:r>
              <a:rPr lang="en-US" sz="800" b="1">
                <a:solidFill>
                  <a:srgbClr val="00A78E"/>
                </a:solidFill>
              </a:rPr>
              <a:t>Deliverables: </a:t>
            </a:r>
          </a:p>
          <a:p>
            <a:pPr marL="91440" indent="-91440">
              <a:buFont typeface="Arial" panose="020B0604020202020204" pitchFamily="34" charset="0"/>
              <a:buChar char="•"/>
            </a:pPr>
            <a:r>
              <a:rPr lang="en-US" sz="800">
                <a:solidFill>
                  <a:schemeClr val="tx2"/>
                </a:solidFill>
              </a:rPr>
              <a:t>Bronze-to-Silver Pipeline Inventory and Implementation Evidence (XLS/DOC) for Tier 1 </a:t>
            </a:r>
            <a:br>
              <a:rPr lang="en-US" sz="800">
                <a:solidFill>
                  <a:schemeClr val="tx2"/>
                </a:solidFill>
              </a:rPr>
            </a:br>
            <a:r>
              <a:rPr lang="en-US" sz="800">
                <a:solidFill>
                  <a:schemeClr val="tx2"/>
                </a:solidFill>
              </a:rPr>
              <a:t>source families.</a:t>
            </a:r>
          </a:p>
          <a:p>
            <a:pPr marL="91440" indent="-91440">
              <a:buFont typeface="Arial" panose="020B0604020202020204" pitchFamily="34" charset="0"/>
              <a:buChar char="•"/>
            </a:pPr>
            <a:r>
              <a:rPr lang="en-US" sz="800">
                <a:solidFill>
                  <a:schemeClr val="tx2"/>
                </a:solidFill>
              </a:rPr>
              <a:t>Silver Data Model and Data Product </a:t>
            </a:r>
            <a:br>
              <a:rPr lang="en-US" sz="800">
                <a:solidFill>
                  <a:schemeClr val="tx2"/>
                </a:solidFill>
              </a:rPr>
            </a:br>
            <a:r>
              <a:rPr lang="en-US" sz="800">
                <a:solidFill>
                  <a:schemeClr val="tx2"/>
                </a:solidFill>
              </a:rPr>
              <a:t>Catalog (DOC/XLS) for Tier 1 source families.</a:t>
            </a:r>
          </a:p>
          <a:p>
            <a:pPr marL="91440" indent="-91440">
              <a:buFont typeface="Arial" panose="020B0604020202020204" pitchFamily="34" charset="0"/>
              <a:buChar char="•"/>
            </a:pPr>
            <a:r>
              <a:rPr lang="en-US" sz="800">
                <a:solidFill>
                  <a:schemeClr val="tx2"/>
                </a:solidFill>
              </a:rPr>
              <a:t>Unity Catalog Governance Configuration Documentation (DOC) for Tier 1 source families.</a:t>
            </a:r>
          </a:p>
          <a:p>
            <a:pPr marL="91440" indent="-91440">
              <a:buFont typeface="Arial" panose="020B0604020202020204" pitchFamily="34" charset="0"/>
              <a:buChar char="•"/>
            </a:pPr>
            <a:r>
              <a:rPr lang="en-US" sz="800">
                <a:solidFill>
                  <a:schemeClr val="tx2"/>
                </a:solidFill>
              </a:rPr>
              <a:t>Pipeline Monitoring, SLO and Operational Runbooks (DOC) for Tier 1 operations.</a:t>
            </a:r>
          </a:p>
        </p:txBody>
      </p:sp>
      <p:sp>
        <p:nvSpPr>
          <p:cNvPr id="42" name="Rectangle: Rounded Corners 41">
            <a:extLst>
              <a:ext uri="{FF2B5EF4-FFF2-40B4-BE49-F238E27FC236}">
                <a16:creationId xmlns:a16="http://schemas.microsoft.com/office/drawing/2014/main" id="{5C9ECCEC-9061-4393-263A-8428802CFFB5}"/>
              </a:ext>
            </a:extLst>
          </p:cNvPr>
          <p:cNvSpPr/>
          <p:nvPr/>
        </p:nvSpPr>
        <p:spPr bwMode="gray">
          <a:xfrm>
            <a:off x="9387840" y="1672390"/>
            <a:ext cx="2277548" cy="2982682"/>
          </a:xfrm>
          <a:prstGeom prst="roundRect">
            <a:avLst>
              <a:gd name="adj" fmla="val 4322"/>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tIns="45720" rIns="0" bIns="45720" rtlCol="0" anchor="t" anchorCtr="0"/>
          <a:lstStyle/>
          <a:p>
            <a:pPr defTabSz="457063" fontAlgn="ctr">
              <a:defRPr/>
            </a:pPr>
            <a:r>
              <a:rPr lang="en-US" sz="800" b="1">
                <a:solidFill>
                  <a:srgbClr val="00A78E"/>
                </a:solidFill>
              </a:rPr>
              <a:t>Description: </a:t>
            </a:r>
            <a:r>
              <a:rPr lang="en-US" sz="800" kern="1500">
                <a:solidFill>
                  <a:schemeClr val="tx2"/>
                </a:solidFill>
              </a:rPr>
              <a:t>Tier 2 &amp; Hand-off </a:t>
            </a:r>
          </a:p>
          <a:p>
            <a:pPr defTabSz="457063" fontAlgn="ctr">
              <a:defRPr/>
            </a:pPr>
            <a:r>
              <a:rPr lang="en-US" sz="800" b="1">
                <a:solidFill>
                  <a:srgbClr val="00A78E"/>
                </a:solidFill>
              </a:rPr>
              <a:t>Timing: </a:t>
            </a:r>
            <a:r>
              <a:rPr lang="en-US" sz="800" b="1">
                <a:solidFill>
                  <a:schemeClr val="tx2"/>
                </a:solidFill>
              </a:rPr>
              <a:t>Mar 2027 – Jul 2027</a:t>
            </a:r>
          </a:p>
          <a:p>
            <a:r>
              <a:rPr lang="en-US" sz="800" b="1">
                <a:solidFill>
                  <a:srgbClr val="00A78E"/>
                </a:solidFill>
              </a:rPr>
              <a:t>Deliverables: </a:t>
            </a:r>
          </a:p>
          <a:p>
            <a:pPr marL="91440" indent="-91440">
              <a:buFont typeface="Arial" panose="020B0604020202020204" pitchFamily="34" charset="0"/>
              <a:buChar char="•"/>
            </a:pPr>
            <a:r>
              <a:rPr lang="en-US" sz="800">
                <a:solidFill>
                  <a:schemeClr val="tx2"/>
                </a:solidFill>
              </a:rPr>
              <a:t>Updated Bronze-to-Silver Pipeline Inventory and Implementation Evidence (XLS/DOC) including Tier 2 source families.</a:t>
            </a:r>
          </a:p>
          <a:p>
            <a:pPr marL="91440" indent="-91440">
              <a:buFont typeface="Arial" panose="020B0604020202020204" pitchFamily="34" charset="0"/>
              <a:buChar char="•"/>
            </a:pPr>
            <a:r>
              <a:rPr lang="en-US" sz="800">
                <a:solidFill>
                  <a:schemeClr val="tx2"/>
                </a:solidFill>
              </a:rPr>
              <a:t>Updated Silver Data Model and Data Product Catalog (DOC/XLS) including Tier 2 source families.</a:t>
            </a:r>
          </a:p>
          <a:p>
            <a:pPr marL="91440" indent="-91440">
              <a:buFont typeface="Arial" panose="020B0604020202020204" pitchFamily="34" charset="0"/>
              <a:buChar char="•"/>
            </a:pPr>
            <a:r>
              <a:rPr lang="en-US" sz="800">
                <a:solidFill>
                  <a:schemeClr val="tx2"/>
                </a:solidFill>
              </a:rPr>
              <a:t>Updated Unity Catalog Governance Configuration Documentation (DOC) including Tier 2 source families.</a:t>
            </a:r>
          </a:p>
          <a:p>
            <a:pPr marL="91440" indent="-91440">
              <a:buFont typeface="Arial" panose="020B0604020202020204" pitchFamily="34" charset="0"/>
              <a:buChar char="•"/>
            </a:pPr>
            <a:r>
              <a:rPr lang="en-US" sz="800">
                <a:solidFill>
                  <a:schemeClr val="tx2"/>
                </a:solidFill>
              </a:rPr>
              <a:t>Updated Pipeline Monitoring, SLO and Operational Runbooks (DOC) including Tier 2 operations.</a:t>
            </a:r>
          </a:p>
          <a:p>
            <a:pPr marL="91440" indent="-91440">
              <a:buFont typeface="Arial" panose="020B0604020202020204" pitchFamily="34" charset="0"/>
              <a:buChar char="•"/>
            </a:pPr>
            <a:r>
              <a:rPr lang="en-US" sz="800">
                <a:solidFill>
                  <a:schemeClr val="tx2"/>
                </a:solidFill>
              </a:rPr>
              <a:t>Finalized Operational Handoff </a:t>
            </a:r>
            <a:br>
              <a:rPr lang="en-US" sz="800">
                <a:solidFill>
                  <a:schemeClr val="tx2"/>
                </a:solidFill>
              </a:rPr>
            </a:br>
            <a:r>
              <a:rPr lang="en-US" sz="800">
                <a:solidFill>
                  <a:schemeClr val="tx2"/>
                </a:solidFill>
              </a:rPr>
              <a:t>and Knowledge Transfer </a:t>
            </a:r>
            <a:br>
              <a:rPr lang="en-US" sz="800">
                <a:solidFill>
                  <a:schemeClr val="tx2"/>
                </a:solidFill>
              </a:rPr>
            </a:br>
            <a:r>
              <a:rPr lang="en-US" sz="800">
                <a:solidFill>
                  <a:schemeClr val="tx2"/>
                </a:solidFill>
              </a:rPr>
              <a:t>Materials (PPT/DOC).</a:t>
            </a:r>
          </a:p>
        </p:txBody>
      </p:sp>
      <p:sp>
        <p:nvSpPr>
          <p:cNvPr id="43" name="TextBox 42">
            <a:extLst>
              <a:ext uri="{FF2B5EF4-FFF2-40B4-BE49-F238E27FC236}">
                <a16:creationId xmlns:a16="http://schemas.microsoft.com/office/drawing/2014/main" id="{C207DEF6-D51A-915A-517C-19147A180744}"/>
              </a:ext>
            </a:extLst>
          </p:cNvPr>
          <p:cNvSpPr txBox="1"/>
          <p:nvPr/>
        </p:nvSpPr>
        <p:spPr>
          <a:xfrm>
            <a:off x="11239500" y="1672389"/>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C.3</a:t>
            </a:r>
          </a:p>
        </p:txBody>
      </p:sp>
      <p:sp>
        <p:nvSpPr>
          <p:cNvPr id="44" name="TextBox 43">
            <a:extLst>
              <a:ext uri="{FF2B5EF4-FFF2-40B4-BE49-F238E27FC236}">
                <a16:creationId xmlns:a16="http://schemas.microsoft.com/office/drawing/2014/main" id="{716BE5C0-C30E-B44C-BA3D-18E720700FEE}"/>
              </a:ext>
            </a:extLst>
          </p:cNvPr>
          <p:cNvSpPr txBox="1"/>
          <p:nvPr/>
        </p:nvSpPr>
        <p:spPr>
          <a:xfrm>
            <a:off x="8881151" y="1672389"/>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C.1</a:t>
            </a:r>
          </a:p>
        </p:txBody>
      </p:sp>
      <p:sp>
        <p:nvSpPr>
          <p:cNvPr id="45" name="TextBox 44">
            <a:extLst>
              <a:ext uri="{FF2B5EF4-FFF2-40B4-BE49-F238E27FC236}">
                <a16:creationId xmlns:a16="http://schemas.microsoft.com/office/drawing/2014/main" id="{F9903A0E-F7C5-3419-BA2F-418C5DC86356}"/>
              </a:ext>
            </a:extLst>
          </p:cNvPr>
          <p:cNvSpPr txBox="1"/>
          <p:nvPr/>
        </p:nvSpPr>
        <p:spPr>
          <a:xfrm>
            <a:off x="8881151" y="3052779"/>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C.2</a:t>
            </a:r>
          </a:p>
        </p:txBody>
      </p:sp>
      <p:sp>
        <p:nvSpPr>
          <p:cNvPr id="48" name="Rectangle 47">
            <a:extLst>
              <a:ext uri="{FF2B5EF4-FFF2-40B4-BE49-F238E27FC236}">
                <a16:creationId xmlns:a16="http://schemas.microsoft.com/office/drawing/2014/main" id="{4C117AA5-1A98-28E7-D27D-DD4BF3241543}"/>
              </a:ext>
            </a:extLst>
          </p:cNvPr>
          <p:cNvSpPr/>
          <p:nvPr/>
        </p:nvSpPr>
        <p:spPr bwMode="gray">
          <a:xfrm>
            <a:off x="594360" y="6203122"/>
            <a:ext cx="10963656" cy="137160"/>
          </a:xfrm>
          <a:prstGeom prst="rect">
            <a:avLst/>
          </a:prstGeom>
          <a:noFill/>
          <a:ln>
            <a:noFill/>
            <a:miter lim="800000"/>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lstStyle/>
          <a:p>
            <a:r>
              <a:rPr lang="en-US" sz="800">
                <a:solidFill>
                  <a:schemeClr val="tx2"/>
                </a:solidFill>
              </a:rPr>
              <a:t>Source: CVS_Databricks_SOW_Draft_v5 JAS_CVS_REDLINE, CVS Databricks Staffing Model_V4.xlsx</a:t>
            </a:r>
          </a:p>
        </p:txBody>
      </p:sp>
    </p:spTree>
    <p:extLst>
      <p:ext uri="{BB962C8B-B14F-4D97-AF65-F5344CB8AC3E}">
        <p14:creationId xmlns:p14="http://schemas.microsoft.com/office/powerpoint/2010/main" val="20453273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49CC42E-9D47-C0A2-8BEE-C78EC9A0A941}"/>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E8AA02E-B971-42D8-1761-08C5B7F90131}"/>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4" name="thinkcell data - do not delete" hidden="1">
                        <a:extLst>
                          <a:ext uri="{FF2B5EF4-FFF2-40B4-BE49-F238E27FC236}">
                            <a16:creationId xmlns:a16="http://schemas.microsoft.com/office/drawing/2014/main" id="{1E8AA02E-B971-42D8-1761-08C5B7F901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C343BE61-9B5E-D325-EE1E-D49C7C6D72E5}"/>
              </a:ext>
            </a:extLst>
          </p:cNvPr>
          <p:cNvSpPr>
            <a:spLocks noGrp="1"/>
          </p:cNvSpPr>
          <p:nvPr>
            <p:ph type="title"/>
          </p:nvPr>
        </p:nvSpPr>
        <p:spPr/>
        <p:txBody>
          <a:bodyPr vert="horz" rIns="0"/>
          <a:lstStyle/>
          <a:p>
            <a:r>
              <a:rPr lang="en-US"/>
              <a:t>Workstream C – Data Architecture and Pipeline Enablement (2/2)</a:t>
            </a:r>
            <a:br>
              <a:rPr lang="en-US"/>
            </a:br>
            <a:r>
              <a:rPr lang="en-US" sz="1600" b="0"/>
              <a:t>The factory – Planning</a:t>
            </a:r>
          </a:p>
        </p:txBody>
      </p:sp>
      <p:sp>
        <p:nvSpPr>
          <p:cNvPr id="10" name="Rectangle 9">
            <a:extLst>
              <a:ext uri="{FF2B5EF4-FFF2-40B4-BE49-F238E27FC236}">
                <a16:creationId xmlns:a16="http://schemas.microsoft.com/office/drawing/2014/main" id="{A334ECE1-AC74-F53D-E574-06717B3F8509}"/>
              </a:ext>
            </a:extLst>
          </p:cNvPr>
          <p:cNvSpPr/>
          <p:nvPr/>
        </p:nvSpPr>
        <p:spPr bwMode="gray">
          <a:xfrm>
            <a:off x="10911840" y="0"/>
            <a:ext cx="1280160" cy="548640"/>
          </a:xfrm>
          <a:prstGeom prst="rect">
            <a:avLst/>
          </a:prstGeom>
          <a:solidFill>
            <a:srgbClr val="868686"/>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b="1">
                <a:solidFill>
                  <a:schemeClr val="bg1"/>
                </a:solidFill>
              </a:rPr>
              <a:t>Notional, to update</a:t>
            </a:r>
          </a:p>
        </p:txBody>
      </p:sp>
      <p:sp>
        <p:nvSpPr>
          <p:cNvPr id="5" name="Rectangle 4">
            <a:extLst>
              <a:ext uri="{FF2B5EF4-FFF2-40B4-BE49-F238E27FC236}">
                <a16:creationId xmlns:a16="http://schemas.microsoft.com/office/drawing/2014/main" id="{1E0F4058-9521-7BF6-741E-0231D1FA0D7B}"/>
              </a:ext>
            </a:extLst>
          </p:cNvPr>
          <p:cNvSpPr/>
          <p:nvPr/>
        </p:nvSpPr>
        <p:spPr bwMode="gray">
          <a:xfrm>
            <a:off x="589357" y="6202227"/>
            <a:ext cx="10963656" cy="137160"/>
          </a:xfrm>
          <a:prstGeom prst="rect">
            <a:avLst/>
          </a:prstGeom>
          <a:noFill/>
          <a:ln>
            <a:noFill/>
            <a:miter lim="800000"/>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lstStyle/>
          <a:p>
            <a:r>
              <a:rPr lang="en-US" sz="800">
                <a:solidFill>
                  <a:schemeClr val="tx1"/>
                </a:solidFill>
              </a:rPr>
              <a:t>Source: Current KPMG planning, subject to change</a:t>
            </a:r>
          </a:p>
        </p:txBody>
      </p:sp>
      <p:sp>
        <p:nvSpPr>
          <p:cNvPr id="7" name="Rectangle: Top Corners Rounded 6">
            <a:extLst>
              <a:ext uri="{FF2B5EF4-FFF2-40B4-BE49-F238E27FC236}">
                <a16:creationId xmlns:a16="http://schemas.microsoft.com/office/drawing/2014/main" id="{1521203C-8689-C0B4-8070-FC382334AFDB}"/>
              </a:ext>
            </a:extLst>
          </p:cNvPr>
          <p:cNvSpPr/>
          <p:nvPr/>
        </p:nvSpPr>
        <p:spPr bwMode="gray">
          <a:xfrm rot="5400000">
            <a:off x="-1524006" y="2912536"/>
            <a:ext cx="4682069" cy="1634065"/>
          </a:xfrm>
          <a:prstGeom prst="round2SameRect">
            <a:avLst>
              <a:gd name="adj1" fmla="val 9976"/>
              <a:gd name="adj2" fmla="val 0"/>
            </a:avLst>
          </a:prstGeom>
          <a:gradFill flip="none" rotWithShape="1">
            <a:gsLst>
              <a:gs pos="0">
                <a:srgbClr val="267AC0"/>
              </a:gs>
              <a:gs pos="100000">
                <a:srgbClr val="0A4B8C"/>
              </a:gs>
            </a:gsLst>
            <a:lin ang="54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graphicFrame>
        <p:nvGraphicFramePr>
          <p:cNvPr id="9" name="Content Placeholder 6">
            <a:extLst>
              <a:ext uri="{FF2B5EF4-FFF2-40B4-BE49-F238E27FC236}">
                <a16:creationId xmlns:a16="http://schemas.microsoft.com/office/drawing/2014/main" id="{A950392F-BB92-EB45-1BC1-DF1E8389D53E}"/>
              </a:ext>
            </a:extLst>
          </p:cNvPr>
          <p:cNvGraphicFramePr>
            <a:graphicFrameLocks/>
          </p:cNvGraphicFramePr>
          <p:nvPr>
            <p:extLst>
              <p:ext uri="{D42A27DB-BD31-4B8C-83A1-F6EECF244321}">
                <p14:modId xmlns:p14="http://schemas.microsoft.com/office/powerpoint/2010/main" val="4116321984"/>
              </p:ext>
            </p:extLst>
          </p:nvPr>
        </p:nvGraphicFramePr>
        <p:xfrm>
          <a:off x="538691" y="1509729"/>
          <a:ext cx="11133137" cy="2664261"/>
        </p:xfrm>
        <a:graphic>
          <a:graphicData uri="http://schemas.openxmlformats.org/drawingml/2006/table">
            <a:tbl>
              <a:tblPr firstRow="1" bandRow="1">
                <a:tableStyleId>{2D5ABB26-0587-4C30-8999-92F81FD0307C}</a:tableStyleId>
              </a:tblPr>
              <a:tblGrid>
                <a:gridCol w="1099371">
                  <a:extLst>
                    <a:ext uri="{9D8B030D-6E8A-4147-A177-3AD203B41FA5}">
                      <a16:colId xmlns:a16="http://schemas.microsoft.com/office/drawing/2014/main" val="1699332636"/>
                    </a:ext>
                  </a:extLst>
                </a:gridCol>
                <a:gridCol w="5016883">
                  <a:extLst>
                    <a:ext uri="{9D8B030D-6E8A-4147-A177-3AD203B41FA5}">
                      <a16:colId xmlns:a16="http://schemas.microsoft.com/office/drawing/2014/main" val="2684621038"/>
                    </a:ext>
                  </a:extLst>
                </a:gridCol>
                <a:gridCol w="5016883">
                  <a:extLst>
                    <a:ext uri="{9D8B030D-6E8A-4147-A177-3AD203B41FA5}">
                      <a16:colId xmlns:a16="http://schemas.microsoft.com/office/drawing/2014/main" val="4180029292"/>
                    </a:ext>
                  </a:extLst>
                </a:gridCol>
              </a:tblGrid>
              <a:tr h="793058">
                <a:tc>
                  <a:txBody>
                    <a:bodyPr/>
                    <a:lstStyle/>
                    <a:p>
                      <a:pPr>
                        <a:lnSpc>
                          <a:spcPct val="90000"/>
                        </a:lnSpc>
                      </a:pPr>
                      <a:r>
                        <a:rPr lang="en-US" sz="1050" b="1">
                          <a:solidFill>
                            <a:schemeClr val="bg1"/>
                          </a:solidFill>
                        </a:rPr>
                        <a:t>Key “Do Now” activities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Finalize Databricks Delta Live Tables (DLT) &amp; Workspace Architecture Design.</a:t>
                      </a:r>
                    </a:p>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Define PHI/PII Masking and Security Requirements.</a:t>
                      </a:r>
                    </a:p>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Draft Enrichment Access and Integration Specifications.</a:t>
                      </a:r>
                    </a:p>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Pre-populate the Reusable Code Template Catalog.</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extLst>
                  <a:ext uri="{0D108BD9-81ED-4DB2-BD59-A6C34878D82A}">
                    <a16:rowId xmlns:a16="http://schemas.microsoft.com/office/drawing/2014/main" val="3413144615"/>
                  </a:ext>
                </a:extLst>
              </a:tr>
              <a:tr h="793058">
                <a:tc>
                  <a:txBody>
                    <a:bodyPr/>
                    <a:lstStyle/>
                    <a:p>
                      <a:pPr>
                        <a:lnSpc>
                          <a:spcPct val="90000"/>
                        </a:lnSpc>
                      </a:pPr>
                      <a:r>
                        <a:rPr lang="en-US" sz="1050" b="1">
                          <a:solidFill>
                            <a:schemeClr val="bg1"/>
                          </a:solidFill>
                        </a:rPr>
                        <a:t>Upstream Prerequisites</a:t>
                      </a:r>
                    </a:p>
                    <a:p>
                      <a:pPr>
                        <a:lnSpc>
                          <a:spcPct val="90000"/>
                        </a:lnSpc>
                      </a:pPr>
                      <a:endParaRPr lang="en-US" sz="1050" b="1">
                        <a:solidFill>
                          <a:schemeClr val="bg1"/>
                        </a:solidFill>
                      </a:endParaRP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Approved Architecture &amp; Unity Catalog Taxonomy (Workstream A)</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121 Source Family Taxonomies &amp; Data Contracts (Workstream B1)</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Operational Ingestion Routes &amp; Bronze Tables (Workstream B2)</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Network Clearance &amp; Firewall Permissions (CVS Network Team)</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extLst>
                  <a:ext uri="{0D108BD9-81ED-4DB2-BD59-A6C34878D82A}">
                    <a16:rowId xmlns:a16="http://schemas.microsoft.com/office/drawing/2014/main" val="1457196652"/>
                  </a:ext>
                </a:extLst>
              </a:tr>
              <a:tr h="1078145">
                <a:tc>
                  <a:txBody>
                    <a:bodyPr/>
                    <a:lstStyle/>
                    <a:p>
                      <a:pPr>
                        <a:lnSpc>
                          <a:spcPct val="90000"/>
                        </a:lnSpc>
                      </a:pPr>
                      <a:r>
                        <a:rPr lang="en-US" sz="1050" b="1">
                          <a:solidFill>
                            <a:schemeClr val="bg1"/>
                          </a:solidFill>
                        </a:rPr>
                        <a:t>Downstream Workstream Hand-offs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D: Reusable PySpark and Spark SQL view abstractions mapped to conformed Silver tables</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D: Transformational mappings (e.g., Splunk accelerated data models translated into optimized, pre-summarized Silver and Gold tables)</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D: Fully integrated enrichment dimensions (CMDB, identity) allowing security analysts to build cross-domain queries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E: Handover of Spark SQL Cheat Sheets, workspace guides, and Databricks SQL notebook templates to support user onboarding</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E: Live telemetry metrics reflecting pipeline performance, query response times, and platform adoption statistics</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F: Reusable DLT code libraries, parameterized templates, pipeline failure recovery runbooks, and SLA/SLO monitoring dashboard templates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3949764"/>
                  </a:ext>
                </a:extLst>
              </a:tr>
            </a:tbl>
          </a:graphicData>
        </a:graphic>
      </p:graphicFrame>
      <p:graphicFrame>
        <p:nvGraphicFramePr>
          <p:cNvPr id="23" name="Content Placeholder 6">
            <a:extLst>
              <a:ext uri="{FF2B5EF4-FFF2-40B4-BE49-F238E27FC236}">
                <a16:creationId xmlns:a16="http://schemas.microsoft.com/office/drawing/2014/main" id="{18083E50-90C6-A3D7-35D2-00E95DC96127}"/>
              </a:ext>
            </a:extLst>
          </p:cNvPr>
          <p:cNvGraphicFramePr>
            <a:graphicFrameLocks/>
          </p:cNvGraphicFramePr>
          <p:nvPr>
            <p:extLst>
              <p:ext uri="{D42A27DB-BD31-4B8C-83A1-F6EECF244321}">
                <p14:modId xmlns:p14="http://schemas.microsoft.com/office/powerpoint/2010/main" val="2850655849"/>
              </p:ext>
            </p:extLst>
          </p:nvPr>
        </p:nvGraphicFramePr>
        <p:xfrm>
          <a:off x="545041" y="4178786"/>
          <a:ext cx="11142398" cy="1605280"/>
        </p:xfrm>
        <a:graphic>
          <a:graphicData uri="http://schemas.openxmlformats.org/drawingml/2006/table">
            <a:tbl>
              <a:tblPr firstRow="1" bandRow="1">
                <a:tableStyleId>{2D5ABB26-0587-4C30-8999-92F81FD0307C}</a:tableStyleId>
              </a:tblPr>
              <a:tblGrid>
                <a:gridCol w="1108868">
                  <a:extLst>
                    <a:ext uri="{9D8B030D-6E8A-4147-A177-3AD203B41FA5}">
                      <a16:colId xmlns:a16="http://schemas.microsoft.com/office/drawing/2014/main" val="2393725290"/>
                    </a:ext>
                  </a:extLst>
                </a:gridCol>
                <a:gridCol w="2006706">
                  <a:extLst>
                    <a:ext uri="{9D8B030D-6E8A-4147-A177-3AD203B41FA5}">
                      <a16:colId xmlns:a16="http://schemas.microsoft.com/office/drawing/2014/main" val="1699332636"/>
                    </a:ext>
                  </a:extLst>
                </a:gridCol>
                <a:gridCol w="2006706">
                  <a:extLst>
                    <a:ext uri="{9D8B030D-6E8A-4147-A177-3AD203B41FA5}">
                      <a16:colId xmlns:a16="http://schemas.microsoft.com/office/drawing/2014/main" val="2684621038"/>
                    </a:ext>
                  </a:extLst>
                </a:gridCol>
                <a:gridCol w="2006706">
                  <a:extLst>
                    <a:ext uri="{9D8B030D-6E8A-4147-A177-3AD203B41FA5}">
                      <a16:colId xmlns:a16="http://schemas.microsoft.com/office/drawing/2014/main" val="1078624516"/>
                    </a:ext>
                  </a:extLst>
                </a:gridCol>
                <a:gridCol w="2006706">
                  <a:extLst>
                    <a:ext uri="{9D8B030D-6E8A-4147-A177-3AD203B41FA5}">
                      <a16:colId xmlns:a16="http://schemas.microsoft.com/office/drawing/2014/main" val="1203515095"/>
                    </a:ext>
                  </a:extLst>
                </a:gridCol>
                <a:gridCol w="2006706">
                  <a:extLst>
                    <a:ext uri="{9D8B030D-6E8A-4147-A177-3AD203B41FA5}">
                      <a16:colId xmlns:a16="http://schemas.microsoft.com/office/drawing/2014/main" val="2879089484"/>
                    </a:ext>
                  </a:extLst>
                </a:gridCol>
              </a:tblGrid>
              <a:tr h="475476">
                <a:tc>
                  <a:txBody>
                    <a:bodyPr/>
                    <a:lstStyle/>
                    <a:p>
                      <a:r>
                        <a:rPr lang="en-US" sz="1050" b="1">
                          <a:solidFill>
                            <a:schemeClr val="bg1"/>
                          </a:solidFill>
                        </a:rPr>
                        <a:t>Epic</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457063" rtl="0" eaLnBrk="1" fontAlgn="ctr" latinLnBrk="0" hangingPunct="1"/>
                      <a:r>
                        <a:rPr lang="en-US" sz="1000" b="1" kern="1500" noProof="0">
                          <a:solidFill>
                            <a:srgbClr val="0A4B8C"/>
                          </a:solidFill>
                          <a:latin typeface="+mn-lt"/>
                          <a:ea typeface="+mn-ea"/>
                          <a:cs typeface="+mn-cs"/>
                        </a:rPr>
                        <a:t>Medallion Architecture Framework &amp; Reusable </a:t>
                      </a:r>
                      <a:br>
                        <a:rPr lang="en-US" sz="1000" b="1" kern="1500" noProof="0">
                          <a:solidFill>
                            <a:srgbClr val="0A4B8C"/>
                          </a:solidFill>
                          <a:latin typeface="+mn-lt"/>
                          <a:ea typeface="+mn-ea"/>
                          <a:cs typeface="+mn-cs"/>
                        </a:rPr>
                      </a:br>
                      <a:r>
                        <a:rPr lang="en-US" sz="1000" b="1" kern="1500" noProof="0">
                          <a:solidFill>
                            <a:srgbClr val="0A4B8C"/>
                          </a:solidFill>
                          <a:latin typeface="+mn-lt"/>
                          <a:ea typeface="+mn-ea"/>
                          <a:cs typeface="+mn-cs"/>
                        </a:rPr>
                        <a:t>DLT Templates</a:t>
                      </a:r>
                      <a:endParaRPr lang="en-US" sz="1000" b="1" kern="1500">
                        <a:solidFill>
                          <a:srgbClr val="0A4B8C"/>
                        </a:solidFill>
                        <a:latin typeface="+mn-lt"/>
                        <a:ea typeface="+mn-ea"/>
                        <a:cs typeface="+mn-cs"/>
                      </a:endParaRP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457063" rtl="0" eaLnBrk="1" fontAlgn="ctr" latinLnBrk="0" hangingPunct="1"/>
                      <a:r>
                        <a:rPr lang="en-US" sz="1000" b="1" kern="1500">
                          <a:solidFill>
                            <a:srgbClr val="0A4B8C"/>
                          </a:solidFill>
                          <a:latin typeface="+mn-lt"/>
                          <a:ea typeface="+mn-ea"/>
                          <a:cs typeface="+mn-cs"/>
                        </a:rPr>
                        <a:t>Data Quality, Security, &amp; Compliance Governance</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noProof="0">
                          <a:solidFill>
                            <a:srgbClr val="0A4B8C"/>
                          </a:solidFill>
                          <a:latin typeface="+mn-lt"/>
                          <a:ea typeface="+mn-ea"/>
                          <a:cs typeface="+mn-cs"/>
                        </a:rPr>
                        <a:t>Contextual Cross-Domain Enrichments</a:t>
                      </a:r>
                      <a:endParaRPr lang="en-US" sz="1000" b="1" kern="1500">
                        <a:solidFill>
                          <a:srgbClr val="0A4B8C"/>
                        </a:solidFill>
                        <a:latin typeface="+mn-lt"/>
                        <a:ea typeface="+mn-ea"/>
                        <a:cs typeface="+mn-cs"/>
                      </a:endParaRP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a:solidFill>
                            <a:srgbClr val="0A4B8C"/>
                          </a:solidFill>
                          <a:latin typeface="+mn-lt"/>
                          <a:ea typeface="+mn-ea"/>
                          <a:cs typeface="+mn-cs"/>
                        </a:rPr>
                        <a:t>Gold Analytics Products &amp; </a:t>
                      </a:r>
                      <a:br>
                        <a:rPr lang="en-US" sz="1000" b="1" kern="1500">
                          <a:solidFill>
                            <a:srgbClr val="0A4B8C"/>
                          </a:solidFill>
                          <a:latin typeface="+mn-lt"/>
                          <a:ea typeface="+mn-ea"/>
                          <a:cs typeface="+mn-cs"/>
                        </a:rPr>
                      </a:br>
                      <a:r>
                        <a:rPr lang="en-US" sz="1000" b="1" kern="1500">
                          <a:solidFill>
                            <a:srgbClr val="0A4B8C"/>
                          </a:solidFill>
                          <a:latin typeface="+mn-lt"/>
                          <a:ea typeface="+mn-ea"/>
                          <a:cs typeface="+mn-cs"/>
                        </a:rPr>
                        <a:t>Self-Service Enablement</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noProof="0">
                          <a:solidFill>
                            <a:srgbClr val="0A4B8C"/>
                          </a:solidFill>
                          <a:latin typeface="+mn-lt"/>
                          <a:ea typeface="+mn-ea"/>
                          <a:cs typeface="+mn-cs"/>
                        </a:rPr>
                        <a:t>Production Hardening, SLOs, &amp; BAU Operational Handoff</a:t>
                      </a:r>
                      <a:endParaRPr lang="en-US" sz="1000" b="1" kern="1500">
                        <a:solidFill>
                          <a:srgbClr val="0A4B8C"/>
                        </a:solidFill>
                        <a:latin typeface="+mn-lt"/>
                        <a:ea typeface="+mn-ea"/>
                        <a:cs typeface="+mn-cs"/>
                      </a:endParaRP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3144615"/>
                  </a:ext>
                </a:extLst>
              </a:tr>
              <a:tr h="892014">
                <a:tc>
                  <a:txBody>
                    <a:bodyPr/>
                    <a:lstStyle/>
                    <a:p>
                      <a:r>
                        <a:rPr lang="en-US" sz="1050" b="1">
                          <a:solidFill>
                            <a:schemeClr val="bg1"/>
                          </a:solidFill>
                        </a:rPr>
                        <a:t>Features</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1.1: Silver Domain and DLT Pipeline Standards Definition </a:t>
                      </a:r>
                    </a:p>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1.2: Reusable DLT Template Development </a:t>
                      </a:r>
                    </a:p>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1.3: Bronze-to-Silver Pipeline Ingestion Scales </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indent="-137160" algn="l" defTabSz="457063" rtl="0" eaLnBrk="1" fontAlgn="ctr" latinLnBrk="0" hangingPunct="1">
                        <a:spcAft>
                          <a:spcPts val="200"/>
                        </a:spcAft>
                        <a:buFont typeface="Arial" panose="020B0604020202020204" pitchFamily="34" charset="0"/>
                        <a:buChar char="•"/>
                      </a:pPr>
                      <a:r>
                        <a:rPr lang="en-US" sz="1000" b="0" kern="1500">
                          <a:solidFill>
                            <a:schemeClr val="tx2"/>
                          </a:solidFill>
                          <a:latin typeface="+mn-lt"/>
                          <a:ea typeface="+mn-ea"/>
                          <a:cs typeface="+mn-cs"/>
                        </a:rPr>
                        <a:t>2.1: PHI/PII Masking &amp; HIPAA Pipeline Safeguards </a:t>
                      </a:r>
                    </a:p>
                    <a:p>
                      <a:pPr marL="137160" indent="-137160" algn="l" defTabSz="457063" rtl="0" eaLnBrk="1" fontAlgn="ctr" latinLnBrk="0" hangingPunct="1">
                        <a:spcAft>
                          <a:spcPts val="200"/>
                        </a:spcAft>
                        <a:buFont typeface="Arial" panose="020B0604020202020204" pitchFamily="34" charset="0"/>
                        <a:buChar char="•"/>
                      </a:pPr>
                      <a:r>
                        <a:rPr lang="en-US" sz="1000" b="0" kern="1500">
                          <a:solidFill>
                            <a:schemeClr val="tx2"/>
                          </a:solidFill>
                          <a:latin typeface="+mn-lt"/>
                          <a:ea typeface="+mn-ea"/>
                          <a:cs typeface="+mn-cs"/>
                        </a:rPr>
                        <a:t>2.2: Unity Catalog Namespace &amp; Access Controls </a:t>
                      </a:r>
                    </a:p>
                    <a:p>
                      <a:pPr marL="137160" indent="-137160" algn="l" defTabSz="457063" rtl="0" eaLnBrk="1" fontAlgn="ctr" latinLnBrk="0" hangingPunct="1">
                        <a:spcAft>
                          <a:spcPts val="200"/>
                        </a:spcAft>
                        <a:buFont typeface="Arial" panose="020B0604020202020204" pitchFamily="34" charset="0"/>
                        <a:buChar char="•"/>
                      </a:pPr>
                      <a:r>
                        <a:rPr lang="en-US" sz="1000" b="0" kern="1500">
                          <a:solidFill>
                            <a:schemeClr val="tx2"/>
                          </a:solidFill>
                          <a:latin typeface="+mn-lt"/>
                          <a:ea typeface="+mn-ea"/>
                          <a:cs typeface="+mn-cs"/>
                        </a:rPr>
                        <a:t>2.3: Data Lineage &amp; Audit </a:t>
                      </a:r>
                      <a:br>
                        <a:rPr lang="en-US" sz="1000" b="0" kern="1500">
                          <a:solidFill>
                            <a:schemeClr val="tx2"/>
                          </a:solidFill>
                          <a:latin typeface="+mn-lt"/>
                          <a:ea typeface="+mn-ea"/>
                          <a:cs typeface="+mn-cs"/>
                        </a:rPr>
                      </a:br>
                      <a:r>
                        <a:rPr lang="en-US" sz="1000" b="0" kern="1500">
                          <a:solidFill>
                            <a:schemeClr val="tx2"/>
                          </a:solidFill>
                          <a:latin typeface="+mn-lt"/>
                          <a:ea typeface="+mn-ea"/>
                          <a:cs typeface="+mn-cs"/>
                        </a:rPr>
                        <a:t>Trail Instrumentation </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3.1: Enterprise CMDB &amp; IT Asset Integration </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3.2: Identity &amp; Location Context Feeds </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3.3: Threat Intelligence &amp; Vulnerability Enrichment </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4.1: Gold Data Product Curation </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4.2: Team-Owned Gold Workspace Allocation &amp; Chargeback </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4.3: Legacy Query and Detection-as-Code Translations </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5.1: Pipeline Optimization &amp; Freshness SLA Tuning </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 5.2: Monitoring, Runbooks, &amp; Alerting Setup </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 5.3: Reverse-Shadowing &amp; Operational Transition </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7196652"/>
                  </a:ext>
                </a:extLst>
              </a:tr>
            </a:tbl>
          </a:graphicData>
        </a:graphic>
      </p:graphicFrame>
      <p:grpSp>
        <p:nvGrpSpPr>
          <p:cNvPr id="26" name="Group 25">
            <a:extLst>
              <a:ext uri="{FF2B5EF4-FFF2-40B4-BE49-F238E27FC236}">
                <a16:creationId xmlns:a16="http://schemas.microsoft.com/office/drawing/2014/main" id="{0E0B5D35-FCAD-4D7F-5CCB-834D5B40EF15}"/>
              </a:ext>
            </a:extLst>
          </p:cNvPr>
          <p:cNvGrpSpPr/>
          <p:nvPr/>
        </p:nvGrpSpPr>
        <p:grpSpPr>
          <a:xfrm>
            <a:off x="545041" y="4710204"/>
            <a:ext cx="11125201" cy="999"/>
            <a:chOff x="531813" y="5259957"/>
            <a:chExt cx="11125201" cy="999"/>
          </a:xfrm>
        </p:grpSpPr>
        <p:cxnSp>
          <p:nvCxnSpPr>
            <p:cNvPr id="28" name="Straight Connector 27">
              <a:extLst>
                <a:ext uri="{FF2B5EF4-FFF2-40B4-BE49-F238E27FC236}">
                  <a16:creationId xmlns:a16="http://schemas.microsoft.com/office/drawing/2014/main" id="{7FB8B563-078B-0764-B09D-D0D568D9A32E}"/>
                </a:ext>
              </a:extLst>
            </p:cNvPr>
            <p:cNvCxnSpPr>
              <a:cxnSpLocks/>
            </p:cNvCxnSpPr>
            <p:nvPr/>
          </p:nvCxnSpPr>
          <p:spPr>
            <a:xfrm>
              <a:off x="553507" y="5260956"/>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1A97F24-15BF-1D46-C8F8-F006358748A8}"/>
                </a:ext>
              </a:extLst>
            </p:cNvPr>
            <p:cNvCxnSpPr>
              <a:cxnSpLocks/>
            </p:cNvCxnSpPr>
            <p:nvPr/>
          </p:nvCxnSpPr>
          <p:spPr>
            <a:xfrm>
              <a:off x="531813" y="5259957"/>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0" name="Group 29">
            <a:extLst>
              <a:ext uri="{FF2B5EF4-FFF2-40B4-BE49-F238E27FC236}">
                <a16:creationId xmlns:a16="http://schemas.microsoft.com/office/drawing/2014/main" id="{256BBEAE-E2E4-7B44-2C45-82A93FB47C8E}"/>
              </a:ext>
            </a:extLst>
          </p:cNvPr>
          <p:cNvGrpSpPr/>
          <p:nvPr/>
        </p:nvGrpSpPr>
        <p:grpSpPr>
          <a:xfrm>
            <a:off x="545041" y="3083719"/>
            <a:ext cx="11127580" cy="1695"/>
            <a:chOff x="529432" y="4264661"/>
            <a:chExt cx="11127580" cy="1695"/>
          </a:xfrm>
        </p:grpSpPr>
        <p:cxnSp>
          <p:nvCxnSpPr>
            <p:cNvPr id="31" name="Straight Connector 30">
              <a:extLst>
                <a:ext uri="{FF2B5EF4-FFF2-40B4-BE49-F238E27FC236}">
                  <a16:creationId xmlns:a16="http://schemas.microsoft.com/office/drawing/2014/main" id="{16DB90DD-EA92-DD72-7812-5A8D5934C284}"/>
                </a:ext>
              </a:extLst>
            </p:cNvPr>
            <p:cNvCxnSpPr>
              <a:cxnSpLocks/>
            </p:cNvCxnSpPr>
            <p:nvPr/>
          </p:nvCxnSpPr>
          <p:spPr>
            <a:xfrm>
              <a:off x="553505" y="4264661"/>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20255BB-F008-6C48-96C7-CBB9FC6FBDA6}"/>
                </a:ext>
              </a:extLst>
            </p:cNvPr>
            <p:cNvCxnSpPr>
              <a:cxnSpLocks/>
            </p:cNvCxnSpPr>
            <p:nvPr/>
          </p:nvCxnSpPr>
          <p:spPr>
            <a:xfrm>
              <a:off x="529432" y="4266356"/>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A78E2BA2-C35F-1E3A-2041-3FDF6E679349}"/>
              </a:ext>
            </a:extLst>
          </p:cNvPr>
          <p:cNvGrpSpPr/>
          <p:nvPr/>
        </p:nvGrpSpPr>
        <p:grpSpPr>
          <a:xfrm>
            <a:off x="545041" y="2286902"/>
            <a:ext cx="11125201" cy="0"/>
            <a:chOff x="531813" y="3716075"/>
            <a:chExt cx="11125201" cy="0"/>
          </a:xfrm>
        </p:grpSpPr>
        <p:cxnSp>
          <p:nvCxnSpPr>
            <p:cNvPr id="34" name="Straight Connector 33">
              <a:extLst>
                <a:ext uri="{FF2B5EF4-FFF2-40B4-BE49-F238E27FC236}">
                  <a16:creationId xmlns:a16="http://schemas.microsoft.com/office/drawing/2014/main" id="{A0D8923D-EAB1-5B37-47C8-5FCDD8B59D1A}"/>
                </a:ext>
              </a:extLst>
            </p:cNvPr>
            <p:cNvCxnSpPr>
              <a:cxnSpLocks/>
            </p:cNvCxnSpPr>
            <p:nvPr/>
          </p:nvCxnSpPr>
          <p:spPr>
            <a:xfrm>
              <a:off x="553507" y="3716075"/>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8ED9059-22AD-2DFB-0B98-8E3D6F3E5A81}"/>
                </a:ext>
              </a:extLst>
            </p:cNvPr>
            <p:cNvCxnSpPr>
              <a:cxnSpLocks/>
            </p:cNvCxnSpPr>
            <p:nvPr/>
          </p:nvCxnSpPr>
          <p:spPr>
            <a:xfrm>
              <a:off x="531813" y="3716075"/>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0E21FA9A-2164-DFBA-F962-1D7696C03565}"/>
              </a:ext>
            </a:extLst>
          </p:cNvPr>
          <p:cNvGrpSpPr/>
          <p:nvPr/>
        </p:nvGrpSpPr>
        <p:grpSpPr>
          <a:xfrm>
            <a:off x="545041" y="4192257"/>
            <a:ext cx="11125201" cy="1"/>
            <a:chOff x="531813" y="4848012"/>
            <a:chExt cx="11125201" cy="1"/>
          </a:xfrm>
        </p:grpSpPr>
        <p:cxnSp>
          <p:nvCxnSpPr>
            <p:cNvPr id="37" name="Straight Connector 36">
              <a:extLst>
                <a:ext uri="{FF2B5EF4-FFF2-40B4-BE49-F238E27FC236}">
                  <a16:creationId xmlns:a16="http://schemas.microsoft.com/office/drawing/2014/main" id="{DB794112-18B2-9F78-2A8B-B32C16D31692}"/>
                </a:ext>
              </a:extLst>
            </p:cNvPr>
            <p:cNvCxnSpPr>
              <a:cxnSpLocks/>
            </p:cNvCxnSpPr>
            <p:nvPr/>
          </p:nvCxnSpPr>
          <p:spPr>
            <a:xfrm>
              <a:off x="553507" y="4848013"/>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DA17388-052F-53AB-2650-88DC3DA9D5B2}"/>
                </a:ext>
              </a:extLst>
            </p:cNvPr>
            <p:cNvCxnSpPr>
              <a:cxnSpLocks/>
            </p:cNvCxnSpPr>
            <p:nvPr/>
          </p:nvCxnSpPr>
          <p:spPr>
            <a:xfrm>
              <a:off x="531813" y="4848012"/>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188746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vert="horz" rIns="0"/>
          <a:lstStyle/>
          <a:p>
            <a:r>
              <a:rPr lang="en-US"/>
              <a:t>Workstream C – Approach</a:t>
            </a:r>
            <a:br>
              <a:rPr lang="en-US"/>
            </a:br>
            <a:r>
              <a:rPr lang="en-US" sz="1600" b="0"/>
              <a:t>Building the Silver and Gold pipeline factory</a:t>
            </a:r>
            <a:endParaRPr lang="en-US" sz="1600"/>
          </a:p>
        </p:txBody>
      </p:sp>
      <p:sp>
        <p:nvSpPr>
          <p:cNvPr id="2" name="Content Placeholder 1"/>
          <p:cNvSpPr>
            <a:spLocks noGrp="1"/>
          </p:cNvSpPr>
          <p:nvPr>
            <p:ph idx="1"/>
          </p:nvPr>
        </p:nvSpPr>
        <p:spPr>
          <a:xfrm>
            <a:off x="587375" y="1494292"/>
            <a:ext cx="11028363" cy="700000"/>
          </a:xfrm>
        </p:spPr>
        <p:txBody>
          <a:bodyPr>
            <a:normAutofit/>
          </a:bodyPr>
          <a:lstStyle/>
          <a:p>
            <a:pPr>
              <a:spcBef>
                <a:spcPts val="0"/>
              </a:spcBef>
            </a:pPr>
            <a:r>
              <a:rPr lang="en-US" sz="1200" b="0"/>
              <a:t>Workstream C is the </a:t>
            </a:r>
            <a:r>
              <a:rPr lang="en-US" sz="1200" b="1"/>
              <a:t>core of the Medallion factory</a:t>
            </a:r>
            <a:r>
              <a:rPr lang="en-US" sz="1200" b="0"/>
              <a:t>, transforming raw Bronze data into enriched, governed, and analytics-ready data products in the Silver and Gold layers. Our approach focuses on building a scalable and reusable pipeline ecosystem.</a:t>
            </a:r>
          </a:p>
        </p:txBody>
      </p:sp>
      <p:sp>
        <p:nvSpPr>
          <p:cNvPr id="10" name="Phase Card 10"/>
          <p:cNvSpPr/>
          <p:nvPr/>
        </p:nvSpPr>
        <p:spPr bwMode="gray">
          <a:xfrm>
            <a:off x="587375" y="2260000"/>
            <a:ext cx="3474720" cy="3815436"/>
          </a:xfrm>
          <a:prstGeom prst="rect">
            <a:avLst/>
          </a:prstGeom>
          <a:solidFill>
            <a:schemeClr val="bg1">
              <a:lumMod val="95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lIns="137160" tIns="91440" rIns="137160" bIns="91440" rtlCol="0" anchor="t">
            <a:noAutofit/>
          </a:bodyPr>
          <a:lstStyle/>
          <a:p>
            <a:pPr algn="ctr">
              <a:spcBef>
                <a:spcPts val="0"/>
              </a:spcBef>
              <a:spcAft>
                <a:spcPts val="0"/>
              </a:spcAft>
            </a:pPr>
            <a:r>
              <a:rPr lang="en-US" sz="1600" b="1">
                <a:solidFill>
                  <a:schemeClr val="tx2"/>
                </a:solidFill>
              </a:rPr>
              <a:t>1. Foundation &amp; Templating</a:t>
            </a:r>
          </a:p>
          <a:p>
            <a:pPr>
              <a:spcBef>
                <a:spcPts val="1200"/>
              </a:spcBef>
              <a:spcAft>
                <a:spcPts val="300"/>
              </a:spcAft>
            </a:pPr>
            <a:r>
              <a:rPr lang="en-US" sz="1300" b="1">
                <a:solidFill>
                  <a:srgbClr val="0A4B8C"/>
                </a:solidFill>
              </a:rPr>
              <a:t>Key Activities</a:t>
            </a:r>
          </a:p>
          <a:p>
            <a:pPr marL="171450" indent="-171450">
              <a:spcBef>
                <a:spcPts val="0"/>
              </a:spcBef>
              <a:spcAft>
                <a:spcPts val="300"/>
              </a:spcAft>
              <a:buFont typeface="Arial" panose="020B0604020202020204" pitchFamily="34" charset="0"/>
              <a:buChar char="•"/>
            </a:pPr>
            <a:r>
              <a:rPr lang="en-US" sz="1200" b="0">
                <a:solidFill>
                  <a:schemeClr val="tx2"/>
                </a:solidFill>
              </a:rPr>
              <a:t>Silver Domain Modeling</a:t>
            </a:r>
          </a:p>
          <a:p>
            <a:pPr marL="171450" indent="-171450">
              <a:spcBef>
                <a:spcPts val="0"/>
              </a:spcBef>
              <a:spcAft>
                <a:spcPts val="300"/>
              </a:spcAft>
              <a:buFont typeface="Arial" panose="020B0604020202020204" pitchFamily="34" charset="0"/>
              <a:buChar char="•"/>
            </a:pPr>
            <a:r>
              <a:rPr lang="en-US" sz="1200" b="0">
                <a:solidFill>
                  <a:schemeClr val="tx2"/>
                </a:solidFill>
              </a:rPr>
              <a:t>Reusable DLT Pipeline Template Development</a:t>
            </a:r>
          </a:p>
          <a:p>
            <a:pPr marL="171450" indent="-171450">
              <a:spcBef>
                <a:spcPts val="0"/>
              </a:spcBef>
              <a:spcAft>
                <a:spcPts val="300"/>
              </a:spcAft>
              <a:buFont typeface="Arial" panose="020B0604020202020204" pitchFamily="34" charset="0"/>
              <a:buChar char="•"/>
            </a:pPr>
            <a:r>
              <a:rPr lang="en-US" sz="1200" b="0">
                <a:solidFill>
                  <a:schemeClr val="tx2"/>
                </a:solidFill>
              </a:rPr>
              <a:t>PHI/PII Masking Pattern Design</a:t>
            </a:r>
          </a:p>
          <a:p>
            <a:pPr>
              <a:spcBef>
                <a:spcPts val="1400"/>
              </a:spcBef>
              <a:spcAft>
                <a:spcPts val="300"/>
              </a:spcAft>
            </a:pPr>
            <a:r>
              <a:rPr lang="en-US" sz="1300" b="1">
                <a:solidFill>
                  <a:srgbClr val="0A4B8C"/>
                </a:solidFill>
              </a:rPr>
              <a:t>Description</a:t>
            </a:r>
          </a:p>
          <a:p>
            <a:pPr>
              <a:spcBef>
                <a:spcPts val="0"/>
              </a:spcBef>
              <a:spcAft>
                <a:spcPts val="0"/>
              </a:spcAft>
            </a:pPr>
            <a:r>
              <a:rPr lang="en-US" sz="1200" b="0">
                <a:solidFill>
                  <a:schemeClr val="tx2"/>
                </a:solidFill>
              </a:rPr>
              <a:t>We will establish the foundation by modeling 9 Silver domains aligned to engineering teams and developing 30-40 parameterized Delta Live Tables (DLT) templates. A key focus is creating a standardized, auditable pattern for masking PHI/PII data to enforce compliance at the Silver layer.</a:t>
            </a:r>
          </a:p>
        </p:txBody>
      </p:sp>
      <p:sp>
        <p:nvSpPr>
          <p:cNvPr id="11" name="Phase Card 11"/>
          <p:cNvSpPr/>
          <p:nvPr/>
        </p:nvSpPr>
        <p:spPr bwMode="gray">
          <a:xfrm>
            <a:off x="4364197" y="2260000"/>
            <a:ext cx="3474720" cy="3815436"/>
          </a:xfrm>
          <a:prstGeom prst="rect">
            <a:avLst/>
          </a:prstGeom>
          <a:solidFill>
            <a:schemeClr val="bg1">
              <a:lumMod val="95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lIns="137160" tIns="91440" rIns="137160" bIns="91440" rtlCol="0" anchor="t">
            <a:noAutofit/>
          </a:bodyPr>
          <a:lstStyle/>
          <a:p>
            <a:pPr algn="ctr">
              <a:spcBef>
                <a:spcPts val="0"/>
              </a:spcBef>
              <a:spcAft>
                <a:spcPts val="0"/>
              </a:spcAft>
            </a:pPr>
            <a:r>
              <a:rPr lang="en-US" sz="1600" b="1">
                <a:solidFill>
                  <a:schemeClr val="tx2"/>
                </a:solidFill>
              </a:rPr>
              <a:t>2. Pipeline Development &amp; Enrichment</a:t>
            </a:r>
          </a:p>
          <a:p>
            <a:pPr>
              <a:spcBef>
                <a:spcPts val="1200"/>
              </a:spcBef>
              <a:spcAft>
                <a:spcPts val="300"/>
              </a:spcAft>
            </a:pPr>
            <a:r>
              <a:rPr lang="en-US" sz="1300" b="1">
                <a:solidFill>
                  <a:srgbClr val="0A4B8C"/>
                </a:solidFill>
              </a:rPr>
              <a:t>Key Activities</a:t>
            </a:r>
          </a:p>
          <a:p>
            <a:pPr marL="171450" indent="-171450">
              <a:spcBef>
                <a:spcPts val="0"/>
              </a:spcBef>
              <a:spcAft>
                <a:spcPts val="300"/>
              </a:spcAft>
              <a:buFont typeface="Arial" panose="020B0604020202020204" pitchFamily="34" charset="0"/>
              <a:buChar char="•"/>
            </a:pPr>
            <a:r>
              <a:rPr lang="en-US" sz="1200" b="0">
                <a:solidFill>
                  <a:schemeClr val="tx2"/>
                </a:solidFill>
              </a:rPr>
              <a:t>Bronze-to-Silver Pipeline Implementation</a:t>
            </a:r>
          </a:p>
          <a:p>
            <a:pPr marL="171450" indent="-171450">
              <a:spcBef>
                <a:spcPts val="0"/>
              </a:spcBef>
              <a:spcAft>
                <a:spcPts val="300"/>
              </a:spcAft>
              <a:buFont typeface="Arial" panose="020B0604020202020204" pitchFamily="34" charset="0"/>
              <a:buChar char="•"/>
            </a:pPr>
            <a:r>
              <a:rPr lang="en-US" sz="1200" b="0">
                <a:solidFill>
                  <a:schemeClr val="tx2"/>
                </a:solidFill>
              </a:rPr>
              <a:t>Integration of Enrichment Sources (e.g., CMDB, Identity)</a:t>
            </a:r>
          </a:p>
          <a:p>
            <a:pPr marL="171450" indent="-171450">
              <a:spcBef>
                <a:spcPts val="0"/>
              </a:spcBef>
              <a:spcAft>
                <a:spcPts val="300"/>
              </a:spcAft>
              <a:buFont typeface="Arial" panose="020B0604020202020204" pitchFamily="34" charset="0"/>
              <a:buChar char="•"/>
            </a:pPr>
            <a:r>
              <a:rPr lang="en-US" sz="1200" b="0">
                <a:solidFill>
                  <a:schemeClr val="tx2"/>
                </a:solidFill>
              </a:rPr>
              <a:t>Data Quality (DQ) Rule Implementation</a:t>
            </a:r>
          </a:p>
          <a:p>
            <a:pPr>
              <a:spcBef>
                <a:spcPts val="1400"/>
              </a:spcBef>
              <a:spcAft>
                <a:spcPts val="300"/>
              </a:spcAft>
            </a:pPr>
            <a:r>
              <a:rPr lang="en-US" sz="1300" b="1">
                <a:solidFill>
                  <a:srgbClr val="0A4B8C"/>
                </a:solidFill>
              </a:rPr>
              <a:t>Description</a:t>
            </a:r>
          </a:p>
          <a:p>
            <a:pPr>
              <a:spcBef>
                <a:spcPts val="0"/>
              </a:spcBef>
              <a:spcAft>
                <a:spcPts val="0"/>
              </a:spcAft>
            </a:pPr>
            <a:r>
              <a:rPr lang="en-US" sz="1200" b="0">
                <a:solidFill>
                  <a:schemeClr val="tx2"/>
                </a:solidFill>
              </a:rPr>
              <a:t>Using the DLT templates, we will build and scale the ~1,000 pipelines that transform and load data from Bronze to Silver. We will integrate 8-10 critical enrichment sources to add business context and implement robust data quality checks within the pipelines.</a:t>
            </a:r>
          </a:p>
        </p:txBody>
      </p:sp>
      <p:sp>
        <p:nvSpPr>
          <p:cNvPr id="12" name="Phase Card 12"/>
          <p:cNvSpPr/>
          <p:nvPr/>
        </p:nvSpPr>
        <p:spPr bwMode="gray">
          <a:xfrm>
            <a:off x="8141018" y="2260000"/>
            <a:ext cx="3474720" cy="3815436"/>
          </a:xfrm>
          <a:prstGeom prst="rect">
            <a:avLst/>
          </a:prstGeom>
          <a:solidFill>
            <a:schemeClr val="bg1">
              <a:lumMod val="95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lIns="137160" tIns="91440" rIns="137160" bIns="91440" rtlCol="0" anchor="t">
            <a:noAutofit/>
          </a:bodyPr>
          <a:lstStyle/>
          <a:p>
            <a:pPr algn="ctr">
              <a:spcBef>
                <a:spcPts val="0"/>
              </a:spcBef>
              <a:spcAft>
                <a:spcPts val="0"/>
              </a:spcAft>
            </a:pPr>
            <a:r>
              <a:rPr lang="en-US" sz="1600" b="1">
                <a:solidFill>
                  <a:schemeClr val="tx2"/>
                </a:solidFill>
              </a:rPr>
              <a:t>3. Product Curation &amp; Enablement</a:t>
            </a:r>
          </a:p>
          <a:p>
            <a:pPr>
              <a:spcBef>
                <a:spcPts val="1200"/>
              </a:spcBef>
              <a:spcAft>
                <a:spcPts val="300"/>
              </a:spcAft>
            </a:pPr>
            <a:r>
              <a:rPr lang="en-US" sz="1300" b="1">
                <a:solidFill>
                  <a:srgbClr val="0A4B8C"/>
                </a:solidFill>
              </a:rPr>
              <a:t>Key Activities</a:t>
            </a:r>
          </a:p>
          <a:p>
            <a:pPr marL="171450" indent="-171450">
              <a:spcBef>
                <a:spcPts val="0"/>
              </a:spcBef>
              <a:spcAft>
                <a:spcPts val="300"/>
              </a:spcAft>
              <a:buFont typeface="Arial" panose="020B0604020202020204" pitchFamily="34" charset="0"/>
              <a:buChar char="•"/>
            </a:pPr>
            <a:r>
              <a:rPr lang="en-US" sz="1200" b="0">
                <a:solidFill>
                  <a:schemeClr val="tx2"/>
                </a:solidFill>
              </a:rPr>
              <a:t>Curation of ~12 Gold Data Products</a:t>
            </a:r>
          </a:p>
          <a:p>
            <a:pPr marL="171450" indent="-171450">
              <a:spcBef>
                <a:spcPts val="0"/>
              </a:spcBef>
              <a:spcAft>
                <a:spcPts val="300"/>
              </a:spcAft>
              <a:buFont typeface="Arial" panose="020B0604020202020204" pitchFamily="34" charset="0"/>
              <a:buChar char="•"/>
            </a:pPr>
            <a:r>
              <a:rPr lang="en-US" sz="1200" b="0">
                <a:solidFill>
                  <a:schemeClr val="tx2"/>
                </a:solidFill>
              </a:rPr>
              <a:t>Gold Workspace &amp; Self-Service Design</a:t>
            </a:r>
          </a:p>
          <a:p>
            <a:pPr marL="171450" indent="-171450">
              <a:spcBef>
                <a:spcPts val="0"/>
              </a:spcBef>
              <a:spcAft>
                <a:spcPts val="300"/>
              </a:spcAft>
              <a:buFont typeface="Arial" panose="020B0604020202020204" pitchFamily="34" charset="0"/>
              <a:buChar char="•"/>
            </a:pPr>
            <a:r>
              <a:rPr lang="en-US" sz="1200" b="0">
                <a:solidFill>
                  <a:schemeClr val="tx2"/>
                </a:solidFill>
              </a:rPr>
              <a:t>Operational Handoff of Pipelines</a:t>
            </a:r>
          </a:p>
          <a:p>
            <a:pPr>
              <a:spcBef>
                <a:spcPts val="1400"/>
              </a:spcBef>
              <a:spcAft>
                <a:spcPts val="300"/>
              </a:spcAft>
            </a:pPr>
            <a:r>
              <a:rPr lang="en-US" sz="1300" b="1">
                <a:solidFill>
                  <a:srgbClr val="0A4B8C"/>
                </a:solidFill>
              </a:rPr>
              <a:t>Description</a:t>
            </a:r>
          </a:p>
          <a:p>
            <a:pPr>
              <a:spcBef>
                <a:spcPts val="0"/>
              </a:spcBef>
              <a:spcAft>
                <a:spcPts val="0"/>
              </a:spcAft>
            </a:pPr>
            <a:r>
              <a:rPr lang="en-US" sz="1200" b="0">
                <a:solidFill>
                  <a:schemeClr val="tx2"/>
                </a:solidFill>
              </a:rPr>
              <a:t>In the final phase, we will curate high-value Silver datasets into ~12 business-oriented Gold data products. We will design the self-service Gold workspaces and provide operational runbooks and knowledge transfer for the new pipelines to the CVS BAU team.</a:t>
            </a:r>
          </a:p>
        </p:txBody>
      </p:sp>
      <p:cxnSp>
        <p:nvCxnSpPr>
          <p:cNvPr id="13" name="Straight Connector 13"/>
          <p:cNvCxnSpPr>
            <a:cxnSpLocks/>
          </p:cNvCxnSpPr>
          <p:nvPr/>
        </p:nvCxnSpPr>
        <p:spPr>
          <a:xfrm>
            <a:off x="4213146" y="2510000"/>
            <a:ext cx="0" cy="3315436"/>
          </a:xfrm>
          <a:prstGeom prst="line">
            <a:avLst/>
          </a:prstGeom>
          <a:ln w="12700" cmpd="sng">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Arrow: Chevron 14"/>
          <p:cNvSpPr/>
          <p:nvPr/>
        </p:nvSpPr>
        <p:spPr bwMode="gray">
          <a:xfrm>
            <a:off x="4075986" y="3984838"/>
            <a:ext cx="274320" cy="365760"/>
          </a:xfrm>
          <a:prstGeom prst="chevron">
            <a:avLst/>
          </a:prstGeom>
          <a:solidFill>
            <a:schemeClr val="tx2"/>
          </a:solidFill>
          <a:ln w="19050">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cxnSp>
        <p:nvCxnSpPr>
          <p:cNvPr id="15" name="Straight Connector 15"/>
          <p:cNvCxnSpPr>
            <a:cxnSpLocks/>
          </p:cNvCxnSpPr>
          <p:nvPr/>
        </p:nvCxnSpPr>
        <p:spPr>
          <a:xfrm>
            <a:off x="7989967" y="2510000"/>
            <a:ext cx="0" cy="3315436"/>
          </a:xfrm>
          <a:prstGeom prst="line">
            <a:avLst/>
          </a:prstGeom>
          <a:ln w="12700" cmpd="sng">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Arrow: Chevron 16"/>
          <p:cNvSpPr/>
          <p:nvPr/>
        </p:nvSpPr>
        <p:spPr bwMode="gray">
          <a:xfrm>
            <a:off x="7852807" y="3984838"/>
            <a:ext cx="274320" cy="365760"/>
          </a:xfrm>
          <a:prstGeom prst="chevron">
            <a:avLst/>
          </a:prstGeom>
          <a:solidFill>
            <a:schemeClr val="tx2"/>
          </a:solidFill>
          <a:ln w="19050">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vert="horz" rIns="0"/>
          <a:lstStyle/>
          <a:p>
            <a:r>
              <a:rPr lang="en-US"/>
              <a:t>Workstream C – Information Request List</a:t>
            </a:r>
            <a:br>
              <a:rPr lang="en-US"/>
            </a:br>
            <a:r>
              <a:rPr lang="en-US" sz="1600" b="0"/>
              <a:t>Requirements and contextual data the pipeline factory depends on</a:t>
            </a:r>
            <a:endParaRPr lang="en-US" sz="1600"/>
          </a:p>
        </p:txBody>
      </p:sp>
      <p:sp>
        <p:nvSpPr>
          <p:cNvPr id="2" name="Content Placeholder 1"/>
          <p:cNvSpPr>
            <a:spLocks noGrp="1"/>
          </p:cNvSpPr>
          <p:nvPr>
            <p:ph idx="1"/>
          </p:nvPr>
        </p:nvSpPr>
        <p:spPr>
          <a:xfrm>
            <a:off x="587375" y="1494292"/>
            <a:ext cx="11028363" cy="520000"/>
          </a:xfrm>
        </p:spPr>
        <p:txBody>
          <a:bodyPr>
            <a:normAutofit/>
          </a:bodyPr>
          <a:lstStyle/>
          <a:p>
            <a:pPr>
              <a:spcBef>
                <a:spcPts val="0"/>
              </a:spcBef>
            </a:pPr>
            <a:r>
              <a:rPr lang="en-US" sz="1200" b="0"/>
              <a:t>The success of the pipeline factory is directly dependent on </a:t>
            </a:r>
            <a:r>
              <a:rPr lang="en-US" sz="1200" b="1"/>
              <a:t>clear requirements and access to contextual data sources</a:t>
            </a:r>
            <a:r>
              <a:rPr lang="en-US" sz="1200" b="0"/>
              <a:t>.</a:t>
            </a:r>
          </a:p>
        </p:txBody>
      </p:sp>
      <p:graphicFrame>
        <p:nvGraphicFramePr>
          <p:cNvPr id="10" name="Information Request Table"/>
          <p:cNvGraphicFramePr>
            <a:graphicFrameLocks noGrp="1"/>
          </p:cNvGraphicFramePr>
          <p:nvPr/>
        </p:nvGraphicFramePr>
        <p:xfrm>
          <a:off x="587375" y="2080000"/>
          <a:ext cx="11028363" cy="3100000"/>
        </p:xfrm>
        <a:graphic>
          <a:graphicData uri="http://schemas.openxmlformats.org/drawingml/2006/table">
            <a:tbl>
              <a:tblPr firstRow="1" bandRow="1">
                <a:tableStyleId>{08FB837D-C827-4EFA-A057-4D05807E0F7C}</a:tableStyleId>
              </a:tblPr>
              <a:tblGrid>
                <a:gridCol w="2150000">
                  <a:extLst>
                    <a:ext uri="{9D8B030D-6E8A-4147-A177-3AD203B41FA5}">
                      <a16:colId xmlns:a16="http://schemas.microsoft.com/office/drawing/2014/main" val="20000"/>
                    </a:ext>
                  </a:extLst>
                </a:gridCol>
                <a:gridCol w="6728363">
                  <a:extLst>
                    <a:ext uri="{9D8B030D-6E8A-4147-A177-3AD203B41FA5}">
                      <a16:colId xmlns:a16="http://schemas.microsoft.com/office/drawing/2014/main" val="20001"/>
                    </a:ext>
                  </a:extLst>
                </a:gridCol>
                <a:gridCol w="2150000">
                  <a:extLst>
                    <a:ext uri="{9D8B030D-6E8A-4147-A177-3AD203B41FA5}">
                      <a16:colId xmlns:a16="http://schemas.microsoft.com/office/drawing/2014/main" val="20002"/>
                    </a:ext>
                  </a:extLst>
                </a:gridCol>
              </a:tblGrid>
              <a:tr h="300000">
                <a:tc>
                  <a:txBody>
                    <a:bodyPr/>
                    <a:lstStyle/>
                    <a:p>
                      <a:pPr>
                        <a:spcBef>
                          <a:spcPts val="0"/>
                        </a:spcBef>
                        <a:spcAft>
                          <a:spcPts val="0"/>
                        </a:spcAft>
                      </a:pPr>
                      <a:r>
                        <a:rPr lang="en-US" sz="1200"/>
                        <a:t>Category</a:t>
                      </a:r>
                    </a:p>
                  </a:txBody>
                  <a:tcPr marL="73152" marR="73152" anchor="ctr"/>
                </a:tc>
                <a:tc>
                  <a:txBody>
                    <a:bodyPr/>
                    <a:lstStyle/>
                    <a:p>
                      <a:pPr>
                        <a:spcBef>
                          <a:spcPts val="0"/>
                        </a:spcBef>
                        <a:spcAft>
                          <a:spcPts val="0"/>
                        </a:spcAft>
                      </a:pPr>
                      <a:r>
                        <a:rPr lang="en-US" sz="1200"/>
                        <a:t>Specific Request</a:t>
                      </a:r>
                    </a:p>
                  </a:txBody>
                  <a:tcPr marL="73152" marR="73152" anchor="ctr"/>
                </a:tc>
                <a:tc>
                  <a:txBody>
                    <a:bodyPr/>
                    <a:lstStyle/>
                    <a:p>
                      <a:pPr>
                        <a:spcBef>
                          <a:spcPts val="0"/>
                        </a:spcBef>
                        <a:spcAft>
                          <a:spcPts val="0"/>
                        </a:spcAft>
                      </a:pPr>
                      <a:r>
                        <a:rPr lang="en-US" sz="1200"/>
                        <a:t>Required From</a:t>
                      </a:r>
                    </a:p>
                  </a:txBody>
                  <a:tcPr marL="73152" marR="73152" anchor="ctr"/>
                </a:tc>
                <a:extLst>
                  <a:ext uri="{0D108BD9-81ED-4DB2-BD59-A6C34878D82A}">
                    <a16:rowId xmlns:a16="http://schemas.microsoft.com/office/drawing/2014/main" val="10000"/>
                  </a:ext>
                </a:extLst>
              </a:tr>
              <a:tr h="700000">
                <a:tc>
                  <a:txBody>
                    <a:bodyPr/>
                    <a:lstStyle/>
                    <a:p>
                      <a:pPr>
                        <a:spcBef>
                          <a:spcPts val="0"/>
                        </a:spcBef>
                        <a:spcAft>
                          <a:spcPts val="0"/>
                        </a:spcAft>
                      </a:pPr>
                      <a:r>
                        <a:rPr lang="en-US" sz="1100" b="1"/>
                        <a:t>1. Foundational Inputs</a:t>
                      </a:r>
                    </a:p>
                  </a:txBody>
                  <a:tcPr marL="73152" marR="73152" anchor="ctr"/>
                </a:tc>
                <a:tc>
                  <a:txBody>
                    <a:bodyPr/>
                    <a:lstStyle/>
                    <a:p>
                      <a:pPr marL="171450" indent="-171450">
                        <a:spcBef>
                          <a:spcPts val="0"/>
                        </a:spcBef>
                        <a:spcAft>
                          <a:spcPts val="200"/>
                        </a:spcAft>
                        <a:buFont typeface="Arial" panose="020B0604020202020204" pitchFamily="34" charset="0"/>
                        <a:buChar char="•"/>
                      </a:pPr>
                      <a:r>
                        <a:rPr lang="en-US" sz="1100" b="0"/>
                        <a:t>Physically landed and validated Bronze tables for all Tier 1 sources. </a:t>
                      </a:r>
                      <a:r>
                        <a:rPr lang="en-US" sz="1100" b="1"/>
                        <a:t>(Critical Blocker)</a:t>
                      </a:r>
                    </a:p>
                    <a:p>
                      <a:pPr marL="171450" indent="-171450">
                        <a:spcBef>
                          <a:spcPts val="0"/>
                        </a:spcBef>
                        <a:spcAft>
                          <a:spcPts val="200"/>
                        </a:spcAft>
                        <a:buFont typeface="Arial" panose="020B0604020202020204" pitchFamily="34" charset="0"/>
                        <a:buChar char="•"/>
                      </a:pPr>
                      <a:r>
                        <a:rPr lang="en-US" sz="1100" b="0"/>
                        <a:t>The finalized Silver domain model and Unity Catalog governance standards from Workstream A.</a:t>
                      </a:r>
                    </a:p>
                  </a:txBody>
                  <a:tcPr marL="73152" marR="73152" anchor="ctr"/>
                </a:tc>
                <a:tc>
                  <a:txBody>
                    <a:bodyPr/>
                    <a:lstStyle/>
                    <a:p>
                      <a:pPr>
                        <a:spcBef>
                          <a:spcPts val="0"/>
                        </a:spcBef>
                        <a:spcAft>
                          <a:spcPts val="0"/>
                        </a:spcAft>
                      </a:pPr>
                      <a:r>
                        <a:rPr lang="en-US" sz="1100"/>
                        <a:t>Workstream B &amp; A</a:t>
                      </a:r>
                    </a:p>
                  </a:txBody>
                  <a:tcPr marL="73152" marR="73152" anchor="ctr"/>
                </a:tc>
                <a:extLst>
                  <a:ext uri="{0D108BD9-81ED-4DB2-BD59-A6C34878D82A}">
                    <a16:rowId xmlns:a16="http://schemas.microsoft.com/office/drawing/2014/main" val="10001"/>
                  </a:ext>
                </a:extLst>
              </a:tr>
              <a:tr h="800000">
                <a:tc>
                  <a:txBody>
                    <a:bodyPr/>
                    <a:lstStyle/>
                    <a:p>
                      <a:pPr>
                        <a:spcBef>
                          <a:spcPts val="0"/>
                        </a:spcBef>
                        <a:spcAft>
                          <a:spcPts val="0"/>
                        </a:spcAft>
                      </a:pPr>
                      <a:r>
                        <a:rPr lang="en-US" sz="1100" b="1"/>
                        <a:t>2. Business &amp; Security Logic</a:t>
                      </a:r>
                    </a:p>
                  </a:txBody>
                  <a:tcPr marL="73152" marR="73152" anchor="ctr"/>
                </a:tc>
                <a:tc>
                  <a:txBody>
                    <a:bodyPr/>
                    <a:lstStyle/>
                    <a:p>
                      <a:pPr marL="171450" indent="-171450">
                        <a:spcBef>
                          <a:spcPts val="0"/>
                        </a:spcBef>
                        <a:spcAft>
                          <a:spcPts val="200"/>
                        </a:spcAft>
                        <a:buFont typeface="Arial" panose="020B0604020202020204" pitchFamily="34" charset="0"/>
                        <a:buChar char="•"/>
                      </a:pPr>
                      <a:r>
                        <a:rPr lang="en-US" sz="1100" b="0"/>
                        <a:t>Detailed PHI/PII data classification for each source family to drive masking requirements.</a:t>
                      </a:r>
                    </a:p>
                    <a:p>
                      <a:pPr marL="171450" indent="-171450">
                        <a:spcBef>
                          <a:spcPts val="0"/>
                        </a:spcBef>
                        <a:spcAft>
                          <a:spcPts val="200"/>
                        </a:spcAft>
                        <a:buFont typeface="Arial" panose="020B0604020202020204" pitchFamily="34" charset="0"/>
                        <a:buChar char="•"/>
                      </a:pPr>
                      <a:r>
                        <a:rPr lang="en-US" sz="1100" b="0"/>
                        <a:t>Business rules for data quality checks (e.g., valid values, nullability, format).</a:t>
                      </a:r>
                    </a:p>
                    <a:p>
                      <a:pPr marL="171450" indent="-171450">
                        <a:spcBef>
                          <a:spcPts val="0"/>
                        </a:spcBef>
                        <a:spcAft>
                          <a:spcPts val="200"/>
                        </a:spcAft>
                        <a:buFont typeface="Arial" panose="020B0604020202020204" pitchFamily="34" charset="0"/>
                        <a:buChar char="•"/>
                      </a:pPr>
                      <a:r>
                        <a:rPr lang="en-US" sz="1100" b="0"/>
                        <a:t>Consumer requirements and KPI logic for the 12 planned Gold data products.</a:t>
                      </a:r>
                    </a:p>
                  </a:txBody>
                  <a:tcPr marL="73152" marR="73152" anchor="ctr"/>
                </a:tc>
                <a:tc>
                  <a:txBody>
                    <a:bodyPr/>
                    <a:lstStyle/>
                    <a:p>
                      <a:pPr>
                        <a:spcBef>
                          <a:spcPts val="0"/>
                        </a:spcBef>
                        <a:spcAft>
                          <a:spcPts val="0"/>
                        </a:spcAft>
                      </a:pPr>
                      <a:r>
                        <a:rPr lang="en-US" sz="1100"/>
                        <a:t>Security, Compliance, and Business SMEs</a:t>
                      </a:r>
                    </a:p>
                  </a:txBody>
                  <a:tcPr marL="73152" marR="73152" anchor="ctr"/>
                </a:tc>
                <a:extLst>
                  <a:ext uri="{0D108BD9-81ED-4DB2-BD59-A6C34878D82A}">
                    <a16:rowId xmlns:a16="http://schemas.microsoft.com/office/drawing/2014/main" val="10002"/>
                  </a:ext>
                </a:extLst>
              </a:tr>
              <a:tr h="700000">
                <a:tc>
                  <a:txBody>
                    <a:bodyPr/>
                    <a:lstStyle/>
                    <a:p>
                      <a:pPr>
                        <a:spcBef>
                          <a:spcPts val="0"/>
                        </a:spcBef>
                        <a:spcAft>
                          <a:spcPts val="0"/>
                        </a:spcAft>
                      </a:pPr>
                      <a:r>
                        <a:rPr lang="en-US" sz="1100" b="1"/>
                        <a:t>3. Enrichment Data Sources</a:t>
                      </a:r>
                    </a:p>
                  </a:txBody>
                  <a:tcPr marL="73152" marR="73152" anchor="ctr"/>
                </a:tc>
                <a:tc>
                  <a:txBody>
                    <a:bodyPr/>
                    <a:lstStyle/>
                    <a:p>
                      <a:pPr marL="171450" indent="-171450">
                        <a:spcBef>
                          <a:spcPts val="0"/>
                        </a:spcBef>
                        <a:spcAft>
                          <a:spcPts val="200"/>
                        </a:spcAft>
                        <a:buFont typeface="Arial" panose="020B0604020202020204" pitchFamily="34" charset="0"/>
                        <a:buChar char="•"/>
                      </a:pPr>
                      <a:r>
                        <a:rPr lang="en-US" sz="1100" b="0"/>
                        <a:t>API endpoints, database credentials, and documentation for the 8-10 enrichment sources (e.g., Enterprise CMDB, Identity &amp; Location feeds, Threat Intelligence).</a:t>
                      </a:r>
                    </a:p>
                    <a:p>
                      <a:pPr marL="171450" indent="-171450">
                        <a:spcBef>
                          <a:spcPts val="0"/>
                        </a:spcBef>
                        <a:spcAft>
                          <a:spcPts val="200"/>
                        </a:spcAft>
                        <a:buFont typeface="Arial" panose="020B0604020202020204" pitchFamily="34" charset="0"/>
                        <a:buChar char="•"/>
                      </a:pPr>
                      <a:r>
                        <a:rPr lang="en-US" sz="1100" b="0"/>
                        <a:t>SMEs for each enrichment source to validate integration and data mappings.</a:t>
                      </a:r>
                    </a:p>
                  </a:txBody>
                  <a:tcPr marL="73152" marR="73152" anchor="ctr"/>
                </a:tc>
                <a:tc>
                  <a:txBody>
                    <a:bodyPr/>
                    <a:lstStyle/>
                    <a:p>
                      <a:pPr>
                        <a:spcBef>
                          <a:spcPts val="0"/>
                        </a:spcBef>
                        <a:spcAft>
                          <a:spcPts val="0"/>
                        </a:spcAft>
                      </a:pPr>
                      <a:r>
                        <a:rPr lang="en-US" sz="1100"/>
                        <a:t>Owners of Contextual Data Systems</a:t>
                      </a:r>
                    </a:p>
                  </a:txBody>
                  <a:tcPr marL="73152" marR="73152" anchor="ctr"/>
                </a:tc>
                <a:extLst>
                  <a:ext uri="{0D108BD9-81ED-4DB2-BD59-A6C34878D82A}">
                    <a16:rowId xmlns:a16="http://schemas.microsoft.com/office/drawing/2014/main" val="10003"/>
                  </a:ext>
                </a:extLst>
              </a:tr>
              <a:tr h="600000">
                <a:tc>
                  <a:txBody>
                    <a:bodyPr/>
                    <a:lstStyle/>
                    <a:p>
                      <a:pPr>
                        <a:spcBef>
                          <a:spcPts val="0"/>
                        </a:spcBef>
                        <a:spcAft>
                          <a:spcPts val="0"/>
                        </a:spcAft>
                      </a:pPr>
                      <a:r>
                        <a:rPr lang="en-US" sz="1100" b="1"/>
                        <a:t>4. Approvals &amp; Governance</a:t>
                      </a:r>
                    </a:p>
                  </a:txBody>
                  <a:tcPr marL="73152" marR="73152" anchor="ctr"/>
                </a:tc>
                <a:tc>
                  <a:txBody>
                    <a:bodyPr/>
                    <a:lstStyle/>
                    <a:p>
                      <a:pPr marL="171450" indent="-171450">
                        <a:spcBef>
                          <a:spcPts val="0"/>
                        </a:spcBef>
                        <a:spcAft>
                          <a:spcPts val="200"/>
                        </a:spcAft>
                        <a:buFont typeface="Arial" panose="020B0604020202020204" pitchFamily="34" charset="0"/>
                        <a:buChar char="•"/>
                      </a:pPr>
                      <a:r>
                        <a:rPr lang="en-US" sz="1100" b="0"/>
                        <a:t>Formal sign-off on the PHI masking patterns before implementation.</a:t>
                      </a:r>
                    </a:p>
                    <a:p>
                      <a:pPr marL="171450" indent="-171450">
                        <a:spcBef>
                          <a:spcPts val="0"/>
                        </a:spcBef>
                        <a:spcAft>
                          <a:spcPts val="200"/>
                        </a:spcAft>
                        <a:buFont typeface="Arial" panose="020B0604020202020204" pitchFamily="34" charset="0"/>
                        <a:buChar char="•"/>
                      </a:pPr>
                      <a:r>
                        <a:rPr lang="en-US" sz="1100" b="0"/>
                        <a:t>Acceptance and sign-off on the curated Gold data products by business stakeholders.</a:t>
                      </a:r>
                    </a:p>
                  </a:txBody>
                  <a:tcPr marL="73152" marR="73152" anchor="ctr"/>
                </a:tc>
                <a:tc>
                  <a:txBody>
                    <a:bodyPr/>
                    <a:lstStyle/>
                    <a:p>
                      <a:pPr>
                        <a:spcBef>
                          <a:spcPts val="0"/>
                        </a:spcBef>
                        <a:spcAft>
                          <a:spcPts val="0"/>
                        </a:spcAft>
                      </a:pPr>
                      <a:r>
                        <a:rPr lang="en-US" sz="1100"/>
                        <a:t>Security Review Board &amp; Business Owners</a:t>
                      </a:r>
                    </a:p>
                  </a:txBody>
                  <a:tcPr marL="73152" marR="73152"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vert="horz" rIns="0"/>
          <a:lstStyle/>
          <a:p>
            <a:r>
              <a:rPr lang="en-US"/>
              <a:t>Workstream C – Proposed Meetings</a:t>
            </a:r>
            <a:br>
              <a:rPr lang="en-US"/>
            </a:br>
            <a:r>
              <a:rPr lang="en-US" sz="1600" b="0"/>
              <a:t>Sprint-based cadence for continuous delivery</a:t>
            </a:r>
            <a:endParaRPr lang="en-US" sz="1600"/>
          </a:p>
        </p:txBody>
      </p:sp>
      <p:sp>
        <p:nvSpPr>
          <p:cNvPr id="2" name="Content Placeholder 1"/>
          <p:cNvSpPr>
            <a:spLocks noGrp="1"/>
          </p:cNvSpPr>
          <p:nvPr>
            <p:ph idx="1"/>
          </p:nvPr>
        </p:nvSpPr>
        <p:spPr>
          <a:xfrm>
            <a:off x="587375" y="1494292"/>
            <a:ext cx="11028363" cy="520000"/>
          </a:xfrm>
        </p:spPr>
        <p:txBody>
          <a:bodyPr>
            <a:normAutofit/>
          </a:bodyPr>
          <a:lstStyle/>
          <a:p>
            <a:pPr>
              <a:spcBef>
                <a:spcPts val="0"/>
              </a:spcBef>
            </a:pPr>
            <a:r>
              <a:rPr lang="en-US" sz="1200" b="0"/>
              <a:t>This meeting cadence supports an agile “sprint” based approach to pipeline development, ensuring continuous delivery and alignment.</a:t>
            </a:r>
          </a:p>
        </p:txBody>
      </p:sp>
      <p:graphicFrame>
        <p:nvGraphicFramePr>
          <p:cNvPr id="10" name="Proposed Meetings Table"/>
          <p:cNvGraphicFramePr>
            <a:graphicFrameLocks noGrp="1"/>
          </p:cNvGraphicFramePr>
          <p:nvPr/>
        </p:nvGraphicFramePr>
        <p:xfrm>
          <a:off x="587375" y="2080000"/>
          <a:ext cx="11028363" cy="3410080"/>
        </p:xfrm>
        <a:graphic>
          <a:graphicData uri="http://schemas.openxmlformats.org/drawingml/2006/table">
            <a:tbl>
              <a:tblPr firstRow="1" bandRow="1">
                <a:tableStyleId>{08FB837D-C827-4EFA-A057-4D05807E0F7C}</a:tableStyleId>
              </a:tblPr>
              <a:tblGrid>
                <a:gridCol w="3000000">
                  <a:extLst>
                    <a:ext uri="{9D8B030D-6E8A-4147-A177-3AD203B41FA5}">
                      <a16:colId xmlns:a16="http://schemas.microsoft.com/office/drawing/2014/main" val="20000"/>
                    </a:ext>
                  </a:extLst>
                </a:gridCol>
                <a:gridCol w="1400000">
                  <a:extLst>
                    <a:ext uri="{9D8B030D-6E8A-4147-A177-3AD203B41FA5}">
                      <a16:colId xmlns:a16="http://schemas.microsoft.com/office/drawing/2014/main" val="20001"/>
                    </a:ext>
                  </a:extLst>
                </a:gridCol>
                <a:gridCol w="6628363">
                  <a:extLst>
                    <a:ext uri="{9D8B030D-6E8A-4147-A177-3AD203B41FA5}">
                      <a16:colId xmlns:a16="http://schemas.microsoft.com/office/drawing/2014/main" val="20002"/>
                    </a:ext>
                  </a:extLst>
                </a:gridCol>
              </a:tblGrid>
              <a:tr h="330000">
                <a:tc>
                  <a:txBody>
                    <a:bodyPr/>
                    <a:lstStyle/>
                    <a:p>
                      <a:pPr>
                        <a:spcBef>
                          <a:spcPts val="0"/>
                        </a:spcBef>
                        <a:spcAft>
                          <a:spcPts val="0"/>
                        </a:spcAft>
                      </a:pPr>
                      <a:r>
                        <a:rPr lang="en-US" sz="1200"/>
                        <a:t>Meeting</a:t>
                      </a:r>
                    </a:p>
                  </a:txBody>
                  <a:tcPr marL="73152" marR="73152" anchor="ctr"/>
                </a:tc>
                <a:tc>
                  <a:txBody>
                    <a:bodyPr/>
                    <a:lstStyle/>
                    <a:p>
                      <a:pPr>
                        <a:spcBef>
                          <a:spcPts val="0"/>
                        </a:spcBef>
                        <a:spcAft>
                          <a:spcPts val="0"/>
                        </a:spcAft>
                      </a:pPr>
                      <a:r>
                        <a:rPr lang="en-US" sz="1200"/>
                        <a:t>Cadence</a:t>
                      </a:r>
                    </a:p>
                  </a:txBody>
                  <a:tcPr marL="73152" marR="73152" anchor="ctr"/>
                </a:tc>
                <a:tc>
                  <a:txBody>
                    <a:bodyPr/>
                    <a:lstStyle/>
                    <a:p>
                      <a:pPr>
                        <a:spcBef>
                          <a:spcPts val="0"/>
                        </a:spcBef>
                        <a:spcAft>
                          <a:spcPts val="0"/>
                        </a:spcAft>
                      </a:pPr>
                      <a:r>
                        <a:rPr lang="en-US" sz="1200"/>
                        <a:t>Purpose &amp; Key Attendees</a:t>
                      </a:r>
                    </a:p>
                  </a:txBody>
                  <a:tcPr marL="73152" marR="73152" anchor="ctr"/>
                </a:tc>
                <a:extLst>
                  <a:ext uri="{0D108BD9-81ED-4DB2-BD59-A6C34878D82A}">
                    <a16:rowId xmlns:a16="http://schemas.microsoft.com/office/drawing/2014/main" val="10000"/>
                  </a:ext>
                </a:extLst>
              </a:tr>
              <a:tr h="320000">
                <a:tc gridSpan="3">
                  <a:txBody>
                    <a:bodyPr/>
                    <a:lstStyle/>
                    <a:p>
                      <a:pPr>
                        <a:spcBef>
                          <a:spcPts val="0"/>
                        </a:spcBef>
                        <a:spcAft>
                          <a:spcPts val="0"/>
                        </a:spcAft>
                      </a:pPr>
                      <a:r>
                        <a:rPr lang="en-US" sz="1200" b="1">
                          <a:solidFill>
                            <a:schemeClr val="bg1"/>
                          </a:solidFill>
                        </a:rPr>
                        <a:t>Month 1: October 2026 – Design &amp; Templating</a:t>
                      </a:r>
                    </a:p>
                  </a:txBody>
                  <a:tcPr marL="73152" marR="73152" anchor="ctr">
                    <a:solidFill>
                      <a:srgbClr val="0A4B8C"/>
                    </a:solidFill>
                  </a:tcPr>
                </a:tc>
                <a:tc hMerge="1">
                  <a:txBody>
                    <a:bodyPr/>
                    <a:lstStyle/>
                    <a:p>
                      <a:endParaRPr lang="en-US" sz="1000"/>
                    </a:p>
                  </a:txBody>
                  <a:tcPr marL="73152" marR="73152" anchor="ctr">
                    <a:solidFill>
                      <a:srgbClr val="0A4B8C"/>
                    </a:solidFill>
                  </a:tcPr>
                </a:tc>
                <a:tc hMerge="1">
                  <a:txBody>
                    <a:bodyPr/>
                    <a:lstStyle/>
                    <a:p>
                      <a:endParaRPr lang="en-US" sz="1000"/>
                    </a:p>
                  </a:txBody>
                  <a:tcPr marL="73152" marR="73152" anchor="ctr">
                    <a:solidFill>
                      <a:srgbClr val="0A4B8C"/>
                    </a:solidFill>
                  </a:tcPr>
                </a:tc>
                <a:extLst>
                  <a:ext uri="{0D108BD9-81ED-4DB2-BD59-A6C34878D82A}">
                    <a16:rowId xmlns:a16="http://schemas.microsoft.com/office/drawing/2014/main" val="10001"/>
                  </a:ext>
                </a:extLst>
              </a:tr>
              <a:tr h="600000">
                <a:tc>
                  <a:txBody>
                    <a:bodyPr/>
                    <a:lstStyle/>
                    <a:p>
                      <a:pPr>
                        <a:spcBef>
                          <a:spcPts val="0"/>
                        </a:spcBef>
                        <a:spcAft>
                          <a:spcPts val="0"/>
                        </a:spcAft>
                      </a:pPr>
                      <a:r>
                        <a:rPr lang="en-US" sz="1200" b="1"/>
                        <a:t>DLT Template Design Workshop</a:t>
                      </a:r>
                    </a:p>
                  </a:txBody>
                  <a:tcPr marL="73152" marR="73152" anchor="ctr"/>
                </a:tc>
                <a:tc>
                  <a:txBody>
                    <a:bodyPr/>
                    <a:lstStyle/>
                    <a:p>
                      <a:pPr>
                        <a:spcBef>
                          <a:spcPts val="0"/>
                        </a:spcBef>
                        <a:spcAft>
                          <a:spcPts val="0"/>
                        </a:spcAft>
                      </a:pPr>
                      <a:r>
                        <a:rPr lang="en-US" sz="1200"/>
                        <a:t>Weekly</a:t>
                      </a:r>
                    </a:p>
                  </a:txBody>
                  <a:tcPr marL="73152" marR="73152" anchor="ctr"/>
                </a:tc>
                <a:tc>
                  <a:txBody>
                    <a:bodyPr/>
                    <a:lstStyle/>
                    <a:p>
                      <a:pPr>
                        <a:spcBef>
                          <a:spcPts val="0"/>
                        </a:spcBef>
                        <a:spcAft>
                          <a:spcPts val="0"/>
                        </a:spcAft>
                      </a:pPr>
                      <a:r>
                        <a:rPr lang="en-US" sz="1200"/>
                        <a:t>Whiteboarding and design sessions to build the reusable DLT pipeline templates. </a:t>
                      </a:r>
                      <a:r>
                        <a:rPr lang="en-US" sz="1200" b="1"/>
                        <a:t>Attendees: </a:t>
                      </a:r>
                      <a:r>
                        <a:rPr lang="en-US" sz="1200"/>
                        <a:t>KPMG and CVS Databricks engineers.</a:t>
                      </a:r>
                    </a:p>
                  </a:txBody>
                  <a:tcPr marL="73152" marR="73152" anchor="ctr"/>
                </a:tc>
                <a:extLst>
                  <a:ext uri="{0D108BD9-81ED-4DB2-BD59-A6C34878D82A}">
                    <a16:rowId xmlns:a16="http://schemas.microsoft.com/office/drawing/2014/main" val="10002"/>
                  </a:ext>
                </a:extLst>
              </a:tr>
              <a:tr h="600000">
                <a:tc>
                  <a:txBody>
                    <a:bodyPr/>
                    <a:lstStyle/>
                    <a:p>
                      <a:pPr>
                        <a:spcBef>
                          <a:spcPts val="0"/>
                        </a:spcBef>
                        <a:spcAft>
                          <a:spcPts val="0"/>
                        </a:spcAft>
                      </a:pPr>
                      <a:r>
                        <a:rPr lang="en-US" sz="1200" b="1"/>
                        <a:t>Data Enrichment &amp; Governance Sync</a:t>
                      </a:r>
                    </a:p>
                  </a:txBody>
                  <a:tcPr marL="73152" marR="73152" anchor="ctr"/>
                </a:tc>
                <a:tc>
                  <a:txBody>
                    <a:bodyPr/>
                    <a:lstStyle/>
                    <a:p>
                      <a:pPr>
                        <a:spcBef>
                          <a:spcPts val="0"/>
                        </a:spcBef>
                        <a:spcAft>
                          <a:spcPts val="0"/>
                        </a:spcAft>
                      </a:pPr>
                      <a:r>
                        <a:rPr lang="en-US" sz="1200"/>
                        <a:t>Bi-Weekly</a:t>
                      </a:r>
                    </a:p>
                  </a:txBody>
                  <a:tcPr marL="73152" marR="73152" anchor="ctr"/>
                </a:tc>
                <a:tc>
                  <a:txBody>
                    <a:bodyPr/>
                    <a:lstStyle/>
                    <a:p>
                      <a:pPr>
                        <a:spcBef>
                          <a:spcPts val="0"/>
                        </a:spcBef>
                        <a:spcAft>
                          <a:spcPts val="0"/>
                        </a:spcAft>
                      </a:pPr>
                      <a:r>
                        <a:rPr lang="en-US" sz="1200"/>
                        <a:t>Plan and track the integration of enrichment sources and the implementation of security controls. </a:t>
                      </a:r>
                      <a:r>
                        <a:rPr lang="en-US" sz="1200" b="1"/>
                        <a:t>Attendees: </a:t>
                      </a:r>
                      <a:r>
                        <a:rPr lang="en-US" sz="1200"/>
                        <a:t>Workstream C leads, Security SMEs, and owners of enrichment data sources.</a:t>
                      </a:r>
                    </a:p>
                  </a:txBody>
                  <a:tcPr marL="73152" marR="73152" anchor="ctr"/>
                </a:tc>
                <a:extLst>
                  <a:ext uri="{0D108BD9-81ED-4DB2-BD59-A6C34878D82A}">
                    <a16:rowId xmlns:a16="http://schemas.microsoft.com/office/drawing/2014/main" val="10003"/>
                  </a:ext>
                </a:extLst>
              </a:tr>
              <a:tr h="320000">
                <a:tc gridSpan="3">
                  <a:txBody>
                    <a:bodyPr/>
                    <a:lstStyle/>
                    <a:p>
                      <a:pPr>
                        <a:spcBef>
                          <a:spcPts val="0"/>
                        </a:spcBef>
                        <a:spcAft>
                          <a:spcPts val="0"/>
                        </a:spcAft>
                      </a:pPr>
                      <a:r>
                        <a:rPr lang="en-US" sz="1200" b="1">
                          <a:solidFill>
                            <a:schemeClr val="bg1"/>
                          </a:solidFill>
                        </a:rPr>
                        <a:t>Month 2: November 2026 – Pipeline Sprints &amp; Backlog Grooming</a:t>
                      </a:r>
                    </a:p>
                  </a:txBody>
                  <a:tcPr marL="73152" marR="73152" anchor="ctr">
                    <a:solidFill>
                      <a:srgbClr val="0A4B8C"/>
                    </a:solidFill>
                  </a:tcPr>
                </a:tc>
                <a:tc hMerge="1">
                  <a:txBody>
                    <a:bodyPr/>
                    <a:lstStyle/>
                    <a:p>
                      <a:endParaRPr lang="en-US" sz="1000"/>
                    </a:p>
                  </a:txBody>
                  <a:tcPr marL="73152" marR="73152" anchor="ctr">
                    <a:solidFill>
                      <a:srgbClr val="0A4B8C"/>
                    </a:solidFill>
                  </a:tcPr>
                </a:tc>
                <a:tc hMerge="1">
                  <a:txBody>
                    <a:bodyPr/>
                    <a:lstStyle/>
                    <a:p>
                      <a:endParaRPr lang="en-US" sz="1000"/>
                    </a:p>
                  </a:txBody>
                  <a:tcPr marL="73152" marR="73152" anchor="ctr">
                    <a:solidFill>
                      <a:srgbClr val="0A4B8C"/>
                    </a:solidFill>
                  </a:tcPr>
                </a:tc>
                <a:extLst>
                  <a:ext uri="{0D108BD9-81ED-4DB2-BD59-A6C34878D82A}">
                    <a16:rowId xmlns:a16="http://schemas.microsoft.com/office/drawing/2014/main" val="10004"/>
                  </a:ext>
                </a:extLst>
              </a:tr>
              <a:tr h="600000">
                <a:tc>
                  <a:txBody>
                    <a:bodyPr/>
                    <a:lstStyle/>
                    <a:p>
                      <a:pPr>
                        <a:spcBef>
                          <a:spcPts val="0"/>
                        </a:spcBef>
                        <a:spcAft>
                          <a:spcPts val="0"/>
                        </a:spcAft>
                      </a:pPr>
                      <a:r>
                        <a:rPr lang="en-US" sz="1200" b="1"/>
                        <a:t>Pipeline Sprint Planning &amp; Review</a:t>
                      </a:r>
                    </a:p>
                  </a:txBody>
                  <a:tcPr marL="73152" marR="73152" anchor="ctr"/>
                </a:tc>
                <a:tc>
                  <a:txBody>
                    <a:bodyPr/>
                    <a:lstStyle/>
                    <a:p>
                      <a:pPr>
                        <a:spcBef>
                          <a:spcPts val="0"/>
                        </a:spcBef>
                        <a:spcAft>
                          <a:spcPts val="0"/>
                        </a:spcAft>
                      </a:pPr>
                      <a:r>
                        <a:rPr lang="en-US" sz="1200"/>
                        <a:t>Bi-Weekly</a:t>
                      </a:r>
                    </a:p>
                  </a:txBody>
                  <a:tcPr marL="73152" marR="73152" anchor="ctr"/>
                </a:tc>
                <a:tc>
                  <a:txBody>
                    <a:bodyPr/>
                    <a:lstStyle/>
                    <a:p>
                      <a:pPr>
                        <a:spcBef>
                          <a:spcPts val="0"/>
                        </a:spcBef>
                        <a:spcAft>
                          <a:spcPts val="0"/>
                        </a:spcAft>
                      </a:pPr>
                      <a:r>
                        <a:rPr lang="en-US" sz="1200"/>
                        <a:t>Agile ceremonies to plan the work for the upcoming two-week sprint and review the pipelines completed in the previous one. </a:t>
                      </a:r>
                      <a:r>
                        <a:rPr lang="en-US" sz="1200" b="1"/>
                        <a:t>Attendees: </a:t>
                      </a:r>
                      <a:r>
                        <a:rPr lang="en-US" sz="1200"/>
                        <a:t>Workstream C delivery pods, project managers, and product owners.</a:t>
                      </a:r>
                    </a:p>
                  </a:txBody>
                  <a:tcPr marL="73152" marR="73152" anchor="ctr"/>
                </a:tc>
                <a:extLst>
                  <a:ext uri="{0D108BD9-81ED-4DB2-BD59-A6C34878D82A}">
                    <a16:rowId xmlns:a16="http://schemas.microsoft.com/office/drawing/2014/main" val="10005"/>
                  </a:ext>
                </a:extLst>
              </a:tr>
              <a:tr h="600000">
                <a:tc>
                  <a:txBody>
                    <a:bodyPr/>
                    <a:lstStyle/>
                    <a:p>
                      <a:pPr>
                        <a:spcBef>
                          <a:spcPts val="0"/>
                        </a:spcBef>
                        <a:spcAft>
                          <a:spcPts val="0"/>
                        </a:spcAft>
                      </a:pPr>
                      <a:r>
                        <a:rPr lang="en-US" sz="1200" b="1"/>
                        <a:t>Gold Product Design Session</a:t>
                      </a:r>
                    </a:p>
                  </a:txBody>
                  <a:tcPr marL="73152" marR="73152" anchor="ctr"/>
                </a:tc>
                <a:tc>
                  <a:txBody>
                    <a:bodyPr/>
                    <a:lstStyle/>
                    <a:p>
                      <a:pPr>
                        <a:spcBef>
                          <a:spcPts val="0"/>
                        </a:spcBef>
                        <a:spcAft>
                          <a:spcPts val="0"/>
                        </a:spcAft>
                      </a:pPr>
                      <a:r>
                        <a:rPr lang="en-US" sz="1200"/>
                        <a:t>Bi-Weekly</a:t>
                      </a:r>
                    </a:p>
                  </a:txBody>
                  <a:tcPr marL="73152" marR="73152" anchor="ctr"/>
                </a:tc>
                <a:tc>
                  <a:txBody>
                    <a:bodyPr/>
                    <a:lstStyle/>
                    <a:p>
                      <a:pPr>
                        <a:spcBef>
                          <a:spcPts val="0"/>
                        </a:spcBef>
                        <a:spcAft>
                          <a:spcPts val="0"/>
                        </a:spcAft>
                      </a:pPr>
                      <a:r>
                        <a:rPr lang="en-US" sz="1200"/>
                        <a:t>Define the requirements, schema, and KPI logic for the initial Gold data products. </a:t>
                      </a:r>
                      <a:r>
                        <a:rPr lang="en-US" sz="1200" b="1"/>
                        <a:t>Attendees: </a:t>
                      </a:r>
                      <a:r>
                        <a:rPr lang="en-US" sz="1200"/>
                        <a:t>Workstream C architects and business analytics stakeholders.</a:t>
                      </a:r>
                    </a:p>
                  </a:txBody>
                  <a:tcPr marL="73152" marR="73152"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8548992-0C86-BAF4-873F-76929D904377}"/>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BB37184-86BA-0EA3-0C4A-56068B8A7CAB}"/>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5" name="thinkcell data - do not delete" hidden="1">
                        <a:extLst>
                          <a:ext uri="{FF2B5EF4-FFF2-40B4-BE49-F238E27FC236}">
                            <a16:creationId xmlns:a16="http://schemas.microsoft.com/office/drawing/2014/main" id="{5BB37184-86BA-0EA3-0C4A-56068B8A7CA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726D3C2A-38CA-2289-7EBF-64073627CD96}"/>
              </a:ext>
            </a:extLst>
          </p:cNvPr>
          <p:cNvSpPr>
            <a:spLocks noGrp="1"/>
          </p:cNvSpPr>
          <p:nvPr>
            <p:ph type="title"/>
          </p:nvPr>
        </p:nvSpPr>
        <p:spPr>
          <a:xfrm>
            <a:off x="557931" y="584200"/>
            <a:ext cx="6449044" cy="713232"/>
          </a:xfrm>
        </p:spPr>
        <p:txBody>
          <a:bodyPr vert="horz" rIns="0"/>
          <a:lstStyle/>
          <a:p>
            <a:r>
              <a:rPr lang="en-US"/>
              <a:t>Workstream D</a:t>
            </a:r>
          </a:p>
        </p:txBody>
      </p:sp>
    </p:spTree>
    <p:extLst>
      <p:ext uri="{BB962C8B-B14F-4D97-AF65-F5344CB8AC3E}">
        <p14:creationId xmlns:p14="http://schemas.microsoft.com/office/powerpoint/2010/main" val="10928763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2FDE575-D12A-6D3C-7493-2BFD1E8054E6}"/>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34EBA91D-B8EC-2DA2-F3F3-0823467EEF06}"/>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5" name="thinkcell data - do not delete" hidden="1">
                        <a:extLst>
                          <a:ext uri="{FF2B5EF4-FFF2-40B4-BE49-F238E27FC236}">
                            <a16:creationId xmlns:a16="http://schemas.microsoft.com/office/drawing/2014/main" id="{34EBA91D-B8EC-2DA2-F3F3-0823467EEF0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56B30AEC-77F8-2096-B518-BF06B2D6D9F7}"/>
              </a:ext>
            </a:extLst>
          </p:cNvPr>
          <p:cNvSpPr>
            <a:spLocks noGrp="1"/>
          </p:cNvSpPr>
          <p:nvPr>
            <p:ph type="title"/>
          </p:nvPr>
        </p:nvSpPr>
        <p:spPr/>
        <p:txBody>
          <a:bodyPr vert="horz" rIns="0"/>
          <a:lstStyle/>
          <a:p>
            <a:r>
              <a:rPr lang="en-US" sz="2200"/>
              <a:t>Workstream D – Observability, Availability and Performance Monitoring Rationalization (1/2)</a:t>
            </a:r>
            <a:br>
              <a:rPr lang="en-US"/>
            </a:br>
            <a:r>
              <a:rPr lang="en-US" sz="1600" b="0"/>
              <a:t>Monitoring &amp; Analytics – From the SOW and other planning documents</a:t>
            </a:r>
          </a:p>
        </p:txBody>
      </p:sp>
      <p:sp>
        <p:nvSpPr>
          <p:cNvPr id="8" name="Rectangle: Top Corners Rounded 7">
            <a:extLst>
              <a:ext uri="{FF2B5EF4-FFF2-40B4-BE49-F238E27FC236}">
                <a16:creationId xmlns:a16="http://schemas.microsoft.com/office/drawing/2014/main" id="{4B2A4BB9-070E-3376-D2F0-38CC7AD48025}"/>
              </a:ext>
            </a:extLst>
          </p:cNvPr>
          <p:cNvSpPr/>
          <p:nvPr/>
        </p:nvSpPr>
        <p:spPr bwMode="gray">
          <a:xfrm rot="5400000">
            <a:off x="-1682253" y="3070784"/>
            <a:ext cx="4682069" cy="1317568"/>
          </a:xfrm>
          <a:prstGeom prst="round2SameRect">
            <a:avLst>
              <a:gd name="adj1" fmla="val 9976"/>
              <a:gd name="adj2" fmla="val 0"/>
            </a:avLst>
          </a:prstGeom>
          <a:gradFill flip="none" rotWithShape="1">
            <a:gsLst>
              <a:gs pos="0">
                <a:srgbClr val="267AC0"/>
              </a:gs>
              <a:gs pos="100000">
                <a:srgbClr val="0A4B8C"/>
              </a:gs>
            </a:gsLst>
            <a:lin ang="54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sp>
        <p:nvSpPr>
          <p:cNvPr id="9" name="TextBox 8">
            <a:extLst>
              <a:ext uri="{FF2B5EF4-FFF2-40B4-BE49-F238E27FC236}">
                <a16:creationId xmlns:a16="http://schemas.microsoft.com/office/drawing/2014/main" id="{05949485-AD09-D296-D928-B0960EA09477}"/>
              </a:ext>
            </a:extLst>
          </p:cNvPr>
          <p:cNvSpPr txBox="1"/>
          <p:nvPr/>
        </p:nvSpPr>
        <p:spPr>
          <a:xfrm>
            <a:off x="543482" y="1490133"/>
            <a:ext cx="690958"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Scope</a:t>
            </a:r>
          </a:p>
        </p:txBody>
      </p:sp>
      <p:sp>
        <p:nvSpPr>
          <p:cNvPr id="10" name="TextBox 9">
            <a:extLst>
              <a:ext uri="{FF2B5EF4-FFF2-40B4-BE49-F238E27FC236}">
                <a16:creationId xmlns:a16="http://schemas.microsoft.com/office/drawing/2014/main" id="{3B23B387-CD39-24B6-B1CF-AA68BA0BB818}"/>
              </a:ext>
            </a:extLst>
          </p:cNvPr>
          <p:cNvSpPr txBox="1"/>
          <p:nvPr/>
        </p:nvSpPr>
        <p:spPr>
          <a:xfrm>
            <a:off x="543482" y="2095123"/>
            <a:ext cx="721899"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Objective</a:t>
            </a:r>
          </a:p>
        </p:txBody>
      </p:sp>
      <p:sp>
        <p:nvSpPr>
          <p:cNvPr id="11" name="TextBox 10">
            <a:extLst>
              <a:ext uri="{FF2B5EF4-FFF2-40B4-BE49-F238E27FC236}">
                <a16:creationId xmlns:a16="http://schemas.microsoft.com/office/drawing/2014/main" id="{17B4F3EB-E56C-F96C-A144-51F9D3A3357E}"/>
              </a:ext>
            </a:extLst>
          </p:cNvPr>
          <p:cNvSpPr txBox="1"/>
          <p:nvPr/>
        </p:nvSpPr>
        <p:spPr>
          <a:xfrm>
            <a:off x="543483" y="2869750"/>
            <a:ext cx="731982" cy="369332"/>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Key Activities</a:t>
            </a:r>
          </a:p>
        </p:txBody>
      </p:sp>
      <p:grpSp>
        <p:nvGrpSpPr>
          <p:cNvPr id="15" name="Group 14">
            <a:extLst>
              <a:ext uri="{FF2B5EF4-FFF2-40B4-BE49-F238E27FC236}">
                <a16:creationId xmlns:a16="http://schemas.microsoft.com/office/drawing/2014/main" id="{54650522-B6A2-48D2-12DB-757927B8C691}"/>
              </a:ext>
            </a:extLst>
          </p:cNvPr>
          <p:cNvGrpSpPr/>
          <p:nvPr/>
        </p:nvGrpSpPr>
        <p:grpSpPr>
          <a:xfrm>
            <a:off x="1366590" y="1490133"/>
            <a:ext cx="4748460" cy="3495581"/>
            <a:chOff x="1366590" y="1490133"/>
            <a:chExt cx="4748460" cy="3495581"/>
          </a:xfrm>
        </p:grpSpPr>
        <p:sp>
          <p:nvSpPr>
            <p:cNvPr id="17" name="TextBox 16">
              <a:extLst>
                <a:ext uri="{FF2B5EF4-FFF2-40B4-BE49-F238E27FC236}">
                  <a16:creationId xmlns:a16="http://schemas.microsoft.com/office/drawing/2014/main" id="{04CCF068-220D-3F3C-FC71-80FDB33F98DD}"/>
                </a:ext>
              </a:extLst>
            </p:cNvPr>
            <p:cNvSpPr txBox="1"/>
            <p:nvPr/>
          </p:nvSpPr>
          <p:spPr>
            <a:xfrm>
              <a:off x="1366590" y="1490133"/>
              <a:ext cx="4693922" cy="461665"/>
            </a:xfrm>
            <a:prstGeom prst="rect">
              <a:avLst/>
            </a:prstGeom>
            <a:noFill/>
          </p:spPr>
          <p:txBody>
            <a:bodyPr wrap="square" lIns="0" tIns="0" rIns="0" bIns="0">
              <a:spAutoFit/>
            </a:bodyPr>
            <a:lstStyle/>
            <a:p>
              <a:r>
                <a:rPr lang="en-US" sz="1000">
                  <a:solidFill>
                    <a:schemeClr val="tx2"/>
                  </a:solidFill>
                </a:rPr>
                <a:t>Rationalize &amp; rebuild queries, dashboards, and alerts used to monitor various network, asset, identity and application patterns for migration to Databricks (SQL) from Splunk (SPL).</a:t>
              </a:r>
            </a:p>
          </p:txBody>
        </p:sp>
        <p:sp>
          <p:nvSpPr>
            <p:cNvPr id="25" name="TextBox 24">
              <a:extLst>
                <a:ext uri="{FF2B5EF4-FFF2-40B4-BE49-F238E27FC236}">
                  <a16:creationId xmlns:a16="http://schemas.microsoft.com/office/drawing/2014/main" id="{1F154FEE-D30E-52EE-8269-AE57A32C76AA}"/>
                </a:ext>
              </a:extLst>
            </p:cNvPr>
            <p:cNvSpPr txBox="1"/>
            <p:nvPr/>
          </p:nvSpPr>
          <p:spPr>
            <a:xfrm>
              <a:off x="1366590" y="2105460"/>
              <a:ext cx="4575208" cy="615553"/>
            </a:xfrm>
            <a:prstGeom prst="rect">
              <a:avLst/>
            </a:prstGeom>
            <a:noFill/>
          </p:spPr>
          <p:txBody>
            <a:bodyPr wrap="square" lIns="0" tIns="0" rIns="0" bIns="0">
              <a:spAutoFit/>
            </a:bodyPr>
            <a:lstStyle/>
            <a:p>
              <a:pPr algn="l"/>
              <a:r>
                <a:rPr lang="en-US" sz="1000">
                  <a:solidFill>
                    <a:schemeClr val="tx2"/>
                  </a:solidFill>
                </a:rPr>
                <a:t>Rationalize and migrate selected analytics from legacy analytics platform Enterprise, legacy analytics platform Core, and AIOps into Databricks, translating queries, accelerated data models, reports and dashboards and deploying them to production for selected stakeholders’ use.</a:t>
              </a:r>
            </a:p>
          </p:txBody>
        </p:sp>
        <p:sp>
          <p:nvSpPr>
            <p:cNvPr id="26" name="TextBox 25">
              <a:extLst>
                <a:ext uri="{FF2B5EF4-FFF2-40B4-BE49-F238E27FC236}">
                  <a16:creationId xmlns:a16="http://schemas.microsoft.com/office/drawing/2014/main" id="{954EC82B-9BE7-713F-13EB-95A9D5EE5FC1}"/>
                </a:ext>
              </a:extLst>
            </p:cNvPr>
            <p:cNvSpPr txBox="1"/>
            <p:nvPr/>
          </p:nvSpPr>
          <p:spPr>
            <a:xfrm>
              <a:off x="1366590" y="2869750"/>
              <a:ext cx="4748460" cy="2115964"/>
            </a:xfrm>
            <a:prstGeom prst="rect">
              <a:avLst/>
            </a:prstGeom>
            <a:noFill/>
          </p:spPr>
          <p:txBody>
            <a:bodyPr wrap="square" lIns="0" tIns="0" rIns="0" bIns="0">
              <a:spAutoFit/>
            </a:bodyPr>
            <a:lstStyle/>
            <a:p>
              <a:pPr marL="137160" lvl="1" indent="-137160">
                <a:spcAft>
                  <a:spcPts val="300"/>
                </a:spcAft>
                <a:buFont typeface="Arial" panose="020B0604020202020204" pitchFamily="34" charset="0"/>
                <a:buChar char="•"/>
              </a:pPr>
              <a:r>
                <a:rPr lang="en-US" sz="1000" b="1" kern="1500">
                  <a:solidFill>
                    <a:schemeClr val="tx2"/>
                  </a:solidFill>
                </a:rPr>
                <a:t>Inventory &amp; Rationalize: </a:t>
              </a:r>
              <a:r>
                <a:rPr lang="en-US" sz="1000" kern="1500">
                  <a:solidFill>
                    <a:schemeClr val="tx2"/>
                  </a:solidFill>
                </a:rPr>
                <a:t>Inventory all content including saved queries (custom/default, enabled/disabled), reports, stats tables, and confirm scoped quantities along with any business priorities or context</a:t>
              </a:r>
            </a:p>
            <a:p>
              <a:pPr marL="137160" lvl="1" indent="-137160">
                <a:spcAft>
                  <a:spcPts val="300"/>
                </a:spcAft>
                <a:buFont typeface="Arial" panose="020B0604020202020204" pitchFamily="34" charset="0"/>
                <a:buChar char="•"/>
              </a:pPr>
              <a:r>
                <a:rPr lang="en-US" sz="1000" b="1" kern="1500">
                  <a:solidFill>
                    <a:schemeClr val="tx2"/>
                  </a:solidFill>
                </a:rPr>
                <a:t>Dependency Mapping &amp; Prioritization: </a:t>
              </a:r>
              <a:r>
                <a:rPr lang="en-US" sz="1000" kern="1500">
                  <a:solidFill>
                    <a:schemeClr val="tx2"/>
                  </a:solidFill>
                </a:rPr>
                <a:t>De-duplicate, consolidate, and decompose items to enumerate input sources and dependencies. Coordinate dependencies with data set migration from Bronze to Silver and establish tranches of query migration work split amongst developer pods</a:t>
              </a:r>
            </a:p>
            <a:p>
              <a:pPr marL="137160" lvl="1" indent="-137160">
                <a:spcAft>
                  <a:spcPts val="300"/>
                </a:spcAft>
                <a:buFont typeface="Arial" panose="020B0604020202020204" pitchFamily="34" charset="0"/>
                <a:buChar char="•"/>
              </a:pPr>
              <a:r>
                <a:rPr lang="en-US" sz="1000" b="1" kern="1500">
                  <a:solidFill>
                    <a:schemeClr val="tx2"/>
                  </a:solidFill>
                </a:rPr>
                <a:t>Query Translation, Migration and Refactoring: </a:t>
              </a:r>
              <a:r>
                <a:rPr lang="en-US" sz="1000" kern="1500">
                  <a:solidFill>
                    <a:schemeClr val="tx2"/>
                  </a:solidFill>
                </a:rPr>
                <a:t>Migrate decided content from legacy analytics platform Enterprise to Databricks refactoring queries as-needed to accommodate new data schema within Databricks testing and validating functionality as we progress</a:t>
              </a:r>
            </a:p>
            <a:p>
              <a:pPr marL="137160" lvl="1" indent="-137160">
                <a:spcAft>
                  <a:spcPts val="300"/>
                </a:spcAft>
                <a:buFont typeface="Arial" panose="020B0604020202020204" pitchFamily="34" charset="0"/>
                <a:buChar char="•"/>
              </a:pPr>
              <a:r>
                <a:rPr lang="en-US" sz="1000" b="1" kern="1500">
                  <a:solidFill>
                    <a:schemeClr val="tx2"/>
                  </a:solidFill>
                </a:rPr>
                <a:t>Validation &amp; Handover: </a:t>
              </a:r>
              <a:r>
                <a:rPr lang="en-US" sz="1000" kern="1500">
                  <a:solidFill>
                    <a:schemeClr val="tx2"/>
                  </a:solidFill>
                </a:rPr>
                <a:t>Perform and workshops, produce documentation, provide final testing and receive stakeholders sign-off on migrated content</a:t>
              </a:r>
            </a:p>
          </p:txBody>
        </p:sp>
      </p:grpSp>
      <p:sp>
        <p:nvSpPr>
          <p:cNvPr id="31" name="TextBox 30">
            <a:extLst>
              <a:ext uri="{FF2B5EF4-FFF2-40B4-BE49-F238E27FC236}">
                <a16:creationId xmlns:a16="http://schemas.microsoft.com/office/drawing/2014/main" id="{1666C53D-CE5D-DFBD-DDDD-7D40A886A214}"/>
              </a:ext>
            </a:extLst>
          </p:cNvPr>
          <p:cNvSpPr txBox="1"/>
          <p:nvPr/>
        </p:nvSpPr>
        <p:spPr>
          <a:xfrm>
            <a:off x="6301525" y="1388532"/>
            <a:ext cx="740587"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rgbClr val="0B315E"/>
                </a:solidFill>
                <a:effectLst/>
                <a:uLnTx/>
                <a:uFillTx/>
                <a:latin typeface="CVS Health Sans"/>
                <a:ea typeface="+mn-ea"/>
                <a:cs typeface="+mn-cs"/>
              </a:rPr>
              <a:t>Milestone</a:t>
            </a:r>
          </a:p>
        </p:txBody>
      </p:sp>
      <p:grpSp>
        <p:nvGrpSpPr>
          <p:cNvPr id="32" name="Group 31">
            <a:extLst>
              <a:ext uri="{FF2B5EF4-FFF2-40B4-BE49-F238E27FC236}">
                <a16:creationId xmlns:a16="http://schemas.microsoft.com/office/drawing/2014/main" id="{9768C502-7405-9C0E-F5DD-4496519FD7A9}"/>
              </a:ext>
            </a:extLst>
          </p:cNvPr>
          <p:cNvGrpSpPr/>
          <p:nvPr/>
        </p:nvGrpSpPr>
        <p:grpSpPr>
          <a:xfrm>
            <a:off x="533400" y="2026166"/>
            <a:ext cx="5562600" cy="4926"/>
            <a:chOff x="533400" y="1886078"/>
            <a:chExt cx="5562600" cy="4926"/>
          </a:xfrm>
        </p:grpSpPr>
        <p:cxnSp>
          <p:nvCxnSpPr>
            <p:cNvPr id="33" name="Straight Connector 32">
              <a:extLst>
                <a:ext uri="{FF2B5EF4-FFF2-40B4-BE49-F238E27FC236}">
                  <a16:creationId xmlns:a16="http://schemas.microsoft.com/office/drawing/2014/main" id="{43BB1A46-0869-B7FF-7740-A9E389A6CCD6}"/>
                </a:ext>
              </a:extLst>
            </p:cNvPr>
            <p:cNvCxnSpPr/>
            <p:nvPr/>
          </p:nvCxnSpPr>
          <p:spPr>
            <a:xfrm>
              <a:off x="553507" y="1891004"/>
              <a:ext cx="5542493"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BFB919D-C8F7-DE6F-8819-AB44E6ACDE23}"/>
                </a:ext>
              </a:extLst>
            </p:cNvPr>
            <p:cNvCxnSpPr>
              <a:cxnSpLocks/>
            </p:cNvCxnSpPr>
            <p:nvPr/>
          </p:nvCxnSpPr>
          <p:spPr>
            <a:xfrm>
              <a:off x="533400" y="1886078"/>
              <a:ext cx="784166"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C4C7C10F-F46D-488A-3666-FD061547552A}"/>
              </a:ext>
            </a:extLst>
          </p:cNvPr>
          <p:cNvGrpSpPr/>
          <p:nvPr/>
        </p:nvGrpSpPr>
        <p:grpSpPr>
          <a:xfrm>
            <a:off x="533400" y="2795381"/>
            <a:ext cx="5562600" cy="0"/>
            <a:chOff x="533400" y="2463561"/>
            <a:chExt cx="5562600" cy="0"/>
          </a:xfrm>
        </p:grpSpPr>
        <p:cxnSp>
          <p:nvCxnSpPr>
            <p:cNvPr id="36" name="Straight Connector 35">
              <a:extLst>
                <a:ext uri="{FF2B5EF4-FFF2-40B4-BE49-F238E27FC236}">
                  <a16:creationId xmlns:a16="http://schemas.microsoft.com/office/drawing/2014/main" id="{90FE5977-29AB-0E15-EBA6-94AF97577880}"/>
                </a:ext>
              </a:extLst>
            </p:cNvPr>
            <p:cNvCxnSpPr/>
            <p:nvPr/>
          </p:nvCxnSpPr>
          <p:spPr>
            <a:xfrm>
              <a:off x="553507" y="2463561"/>
              <a:ext cx="5542493"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CD5E773-8D1A-DD2E-01EA-BED235219564}"/>
                </a:ext>
              </a:extLst>
            </p:cNvPr>
            <p:cNvCxnSpPr>
              <a:cxnSpLocks/>
            </p:cNvCxnSpPr>
            <p:nvPr/>
          </p:nvCxnSpPr>
          <p:spPr>
            <a:xfrm>
              <a:off x="533400" y="2463561"/>
              <a:ext cx="784166"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sp>
        <p:nvSpPr>
          <p:cNvPr id="40" name="Rectangle: Rounded Corners 39">
            <a:extLst>
              <a:ext uri="{FF2B5EF4-FFF2-40B4-BE49-F238E27FC236}">
                <a16:creationId xmlns:a16="http://schemas.microsoft.com/office/drawing/2014/main" id="{B4C17144-DF19-AC1F-729E-09601BC79F10}"/>
              </a:ext>
            </a:extLst>
          </p:cNvPr>
          <p:cNvSpPr/>
          <p:nvPr/>
        </p:nvSpPr>
        <p:spPr bwMode="gray">
          <a:xfrm>
            <a:off x="6286500" y="1672389"/>
            <a:ext cx="5370513" cy="779752"/>
          </a:xfrm>
          <a:prstGeom prst="roundRect">
            <a:avLst>
              <a:gd name="adj" fmla="val 4322"/>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tIns="0" rIns="0" bIns="0" rtlCol="0" anchor="t"/>
          <a:lstStyle/>
          <a:p>
            <a:pPr defTabSz="457063" fontAlgn="ctr">
              <a:defRPr/>
            </a:pPr>
            <a:r>
              <a:rPr lang="en-US" sz="800" b="1">
                <a:solidFill>
                  <a:srgbClr val="00A78E"/>
                </a:solidFill>
              </a:rPr>
              <a:t>Description: </a:t>
            </a:r>
            <a:r>
              <a:rPr lang="en-US" sz="800">
                <a:solidFill>
                  <a:schemeClr val="tx2"/>
                </a:solidFill>
              </a:rPr>
              <a:t>Rationalization &amp; Prioritization</a:t>
            </a:r>
          </a:p>
          <a:p>
            <a:pPr defTabSz="457063" fontAlgn="ctr">
              <a:defRPr/>
            </a:pPr>
            <a:r>
              <a:rPr lang="en-US" sz="800" b="1">
                <a:solidFill>
                  <a:srgbClr val="00A78E"/>
                </a:solidFill>
              </a:rPr>
              <a:t>Timing: </a:t>
            </a:r>
            <a:r>
              <a:rPr lang="en-US" sz="800" b="1">
                <a:solidFill>
                  <a:schemeClr val="tx2"/>
                </a:solidFill>
              </a:rPr>
              <a:t>Sep 2026 – Dec 2026</a:t>
            </a:r>
          </a:p>
          <a:p>
            <a:r>
              <a:rPr lang="en-US" sz="800" b="1">
                <a:solidFill>
                  <a:srgbClr val="00A78E"/>
                </a:solidFill>
              </a:rPr>
              <a:t>Deliverables: </a:t>
            </a:r>
          </a:p>
          <a:p>
            <a:pPr marL="91440" indent="-91440">
              <a:buFont typeface="Arial" panose="020B0604020202020204" pitchFamily="34" charset="0"/>
              <a:buChar char="•"/>
            </a:pPr>
            <a:r>
              <a:rPr lang="en-US" sz="800">
                <a:solidFill>
                  <a:schemeClr val="tx2"/>
                </a:solidFill>
              </a:rPr>
              <a:t>Legacy analytics platform Analytics Inventory and Ownership Matrix (XLS) summarizing activities performed.</a:t>
            </a:r>
          </a:p>
          <a:p>
            <a:pPr marL="91440" indent="-91440">
              <a:buFont typeface="Arial" panose="020B0604020202020204" pitchFamily="34" charset="0"/>
              <a:buChar char="•"/>
            </a:pPr>
            <a:r>
              <a:rPr lang="en-US" sz="800">
                <a:solidFill>
                  <a:schemeClr val="tx2"/>
                </a:solidFill>
              </a:rPr>
              <a:t>Rationalization and Prioritization Assessment (PPT/XLS)</a:t>
            </a:r>
          </a:p>
          <a:p>
            <a:pPr marL="91440" indent="-91440">
              <a:buFont typeface="Arial" panose="020B0604020202020204" pitchFamily="34" charset="0"/>
              <a:buChar char="•"/>
            </a:pPr>
            <a:r>
              <a:rPr lang="en-US" sz="800">
                <a:solidFill>
                  <a:schemeClr val="tx2"/>
                </a:solidFill>
              </a:rPr>
              <a:t>Query Conversion Tracker and Migration Backlog (XLS)</a:t>
            </a:r>
            <a:endParaRPr lang="en-US" sz="800"/>
          </a:p>
          <a:p>
            <a:pPr defTabSz="457063" fontAlgn="ctr">
              <a:defRPr/>
            </a:pPr>
            <a:endParaRPr lang="en-US" sz="1000" kern="1500">
              <a:solidFill>
                <a:srgbClr val="0B315E"/>
              </a:solidFill>
            </a:endParaRPr>
          </a:p>
        </p:txBody>
      </p:sp>
      <p:sp>
        <p:nvSpPr>
          <p:cNvPr id="42" name="TextBox 41">
            <a:extLst>
              <a:ext uri="{FF2B5EF4-FFF2-40B4-BE49-F238E27FC236}">
                <a16:creationId xmlns:a16="http://schemas.microsoft.com/office/drawing/2014/main" id="{E0A53B92-94E1-C2FD-A8AB-C0DD14B0E062}"/>
              </a:ext>
            </a:extLst>
          </p:cNvPr>
          <p:cNvSpPr txBox="1"/>
          <p:nvPr/>
        </p:nvSpPr>
        <p:spPr>
          <a:xfrm>
            <a:off x="11247120" y="1672389"/>
            <a:ext cx="352294"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D.1</a:t>
            </a:r>
          </a:p>
        </p:txBody>
      </p:sp>
      <p:grpSp>
        <p:nvGrpSpPr>
          <p:cNvPr id="48" name="Group 47">
            <a:extLst>
              <a:ext uri="{FF2B5EF4-FFF2-40B4-BE49-F238E27FC236}">
                <a16:creationId xmlns:a16="http://schemas.microsoft.com/office/drawing/2014/main" id="{AAC0ED33-38AA-18CC-FFA3-421A165BED55}"/>
              </a:ext>
            </a:extLst>
          </p:cNvPr>
          <p:cNvGrpSpPr/>
          <p:nvPr/>
        </p:nvGrpSpPr>
        <p:grpSpPr>
          <a:xfrm>
            <a:off x="6286500" y="2479445"/>
            <a:ext cx="5368427" cy="2494789"/>
            <a:chOff x="6286500" y="2499765"/>
            <a:chExt cx="5368427" cy="2494789"/>
          </a:xfrm>
        </p:grpSpPr>
        <p:sp>
          <p:nvSpPr>
            <p:cNvPr id="49" name="Rectangle: Rounded Corners 48">
              <a:extLst>
                <a:ext uri="{FF2B5EF4-FFF2-40B4-BE49-F238E27FC236}">
                  <a16:creationId xmlns:a16="http://schemas.microsoft.com/office/drawing/2014/main" id="{2E0D596D-5D09-5A18-AA65-5401B1B9F88F}"/>
                </a:ext>
              </a:extLst>
            </p:cNvPr>
            <p:cNvSpPr/>
            <p:nvPr/>
          </p:nvSpPr>
          <p:spPr bwMode="gray">
            <a:xfrm>
              <a:off x="6286500" y="2500696"/>
              <a:ext cx="1768755" cy="2493858"/>
            </a:xfrm>
            <a:prstGeom prst="roundRect">
              <a:avLst>
                <a:gd name="adj" fmla="val 4322"/>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tIns="0" rIns="0" bIns="0" rtlCol="0" anchor="t"/>
            <a:lstStyle/>
            <a:p>
              <a:pPr defTabSz="457063" fontAlgn="ctr">
                <a:defRPr/>
              </a:pPr>
              <a:r>
                <a:rPr lang="en-US" sz="800" b="1">
                  <a:solidFill>
                    <a:srgbClr val="00A78E"/>
                  </a:solidFill>
                </a:rPr>
                <a:t>Description: </a:t>
              </a:r>
              <a:r>
                <a:rPr lang="en-US" sz="800">
                  <a:solidFill>
                    <a:schemeClr val="tx2"/>
                  </a:solidFill>
                </a:rPr>
                <a:t>Tier 1 </a:t>
              </a:r>
              <a:br>
                <a:rPr lang="en-US" sz="800">
                  <a:solidFill>
                    <a:schemeClr val="tx2"/>
                  </a:solidFill>
                </a:rPr>
              </a:br>
              <a:r>
                <a:rPr lang="en-US" sz="800">
                  <a:solidFill>
                    <a:schemeClr val="tx2"/>
                  </a:solidFill>
                </a:rPr>
                <a:t>Analytics Translation, </a:t>
              </a:r>
              <a:br>
                <a:rPr lang="en-US" sz="800">
                  <a:solidFill>
                    <a:schemeClr val="tx2"/>
                  </a:solidFill>
                </a:rPr>
              </a:br>
              <a:r>
                <a:rPr lang="en-US" sz="800">
                  <a:solidFill>
                    <a:schemeClr val="tx2"/>
                  </a:solidFill>
                </a:rPr>
                <a:t>Migration, Validation &amp; Handover</a:t>
              </a:r>
            </a:p>
            <a:p>
              <a:pPr defTabSz="457063" fontAlgn="ctr">
                <a:defRPr/>
              </a:pPr>
              <a:r>
                <a:rPr lang="en-US" sz="800" b="1">
                  <a:solidFill>
                    <a:srgbClr val="00A78E"/>
                  </a:solidFill>
                </a:rPr>
                <a:t>Timing: </a:t>
              </a:r>
              <a:r>
                <a:rPr lang="en-US" sz="800" b="1">
                  <a:solidFill>
                    <a:schemeClr val="tx2"/>
                  </a:solidFill>
                </a:rPr>
                <a:t>Oct 2026 – Feb 2027</a:t>
              </a:r>
            </a:p>
            <a:p>
              <a:r>
                <a:rPr lang="en-US" sz="800" b="1">
                  <a:solidFill>
                    <a:srgbClr val="00A78E"/>
                  </a:solidFill>
                </a:rPr>
                <a:t>Deliverables: </a:t>
              </a:r>
            </a:p>
            <a:p>
              <a:pPr marL="91440" indent="-91440">
                <a:buFont typeface="Arial" panose="020B0604020202020204" pitchFamily="34" charset="0"/>
                <a:buChar char="•"/>
              </a:pPr>
              <a:r>
                <a:rPr lang="en-US" sz="800">
                  <a:solidFill>
                    <a:schemeClr val="tx2"/>
                  </a:solidFill>
                </a:rPr>
                <a:t>Converted Databricks SQL/ </a:t>
              </a:r>
              <a:r>
                <a:rPr lang="en-US" sz="800" err="1">
                  <a:solidFill>
                    <a:schemeClr val="tx2"/>
                  </a:solidFill>
                </a:rPr>
                <a:t>PySpark</a:t>
              </a:r>
              <a:r>
                <a:rPr lang="en-US" sz="800">
                  <a:solidFill>
                    <a:schemeClr val="tx2"/>
                  </a:solidFill>
                </a:rPr>
                <a:t> Assets (CODE/DBX) for Tier 1 analytics</a:t>
              </a:r>
            </a:p>
            <a:p>
              <a:pPr marL="91440" indent="-91440">
                <a:buFont typeface="Arial" panose="020B0604020202020204" pitchFamily="34" charset="0"/>
                <a:buChar char="•"/>
              </a:pPr>
              <a:r>
                <a:rPr lang="en-US" sz="800">
                  <a:solidFill>
                    <a:schemeClr val="tx2"/>
                  </a:solidFill>
                </a:rPr>
                <a:t>Migrated Dashboards, Reports and Alerts (DBX/DOC) for </a:t>
              </a:r>
              <a:br>
                <a:rPr lang="en-US" sz="800">
                  <a:solidFill>
                    <a:schemeClr val="tx2"/>
                  </a:solidFill>
                </a:rPr>
              </a:br>
              <a:r>
                <a:rPr lang="en-US" sz="800">
                  <a:solidFill>
                    <a:schemeClr val="tx2"/>
                  </a:solidFill>
                </a:rPr>
                <a:t>Tier 1 analytics</a:t>
              </a:r>
            </a:p>
            <a:p>
              <a:pPr marL="91440" indent="-91440">
                <a:buFont typeface="Arial" panose="020B0604020202020204" pitchFamily="34" charset="0"/>
                <a:buChar char="•"/>
              </a:pPr>
              <a:r>
                <a:rPr lang="en-US" sz="800">
                  <a:solidFill>
                    <a:schemeClr val="tx2"/>
                  </a:solidFill>
                </a:rPr>
                <a:t>Recreated Accelerated Data Model Outputs (DBX/DOC) for Tier 1 analytics</a:t>
              </a:r>
            </a:p>
            <a:p>
              <a:pPr marL="91440" indent="-91440">
                <a:buFont typeface="Arial" panose="020B0604020202020204" pitchFamily="34" charset="0"/>
                <a:buChar char="•"/>
              </a:pPr>
              <a:r>
                <a:rPr lang="en-US" sz="800">
                  <a:solidFill>
                    <a:schemeClr val="tx2"/>
                  </a:solidFill>
                </a:rPr>
                <a:t>Validation Results and Before/After Evidence (XLS/PPT) for Tier 1 analytics</a:t>
              </a:r>
            </a:p>
            <a:p>
              <a:pPr marL="91440" indent="-91440">
                <a:buFont typeface="Arial" panose="020B0604020202020204" pitchFamily="34" charset="0"/>
                <a:buChar char="•"/>
              </a:pPr>
              <a:r>
                <a:rPr lang="en-US" sz="800">
                  <a:solidFill>
                    <a:schemeClr val="tx2"/>
                  </a:solidFill>
                </a:rPr>
                <a:t>Migration and Handoff Documentation (DOC/PPT) for </a:t>
              </a:r>
              <a:br>
                <a:rPr lang="en-US" sz="800">
                  <a:solidFill>
                    <a:schemeClr val="tx2"/>
                  </a:solidFill>
                </a:rPr>
              </a:br>
              <a:r>
                <a:rPr lang="en-US" sz="800">
                  <a:solidFill>
                    <a:schemeClr val="tx2"/>
                  </a:solidFill>
                </a:rPr>
                <a:t>Tier 1 analytics</a:t>
              </a:r>
            </a:p>
          </p:txBody>
        </p:sp>
        <p:sp>
          <p:nvSpPr>
            <p:cNvPr id="50" name="Rectangle: Rounded Corners 49">
              <a:extLst>
                <a:ext uri="{FF2B5EF4-FFF2-40B4-BE49-F238E27FC236}">
                  <a16:creationId xmlns:a16="http://schemas.microsoft.com/office/drawing/2014/main" id="{DC3BFEA1-8891-D0A3-8363-04D417A2A62D}"/>
                </a:ext>
              </a:extLst>
            </p:cNvPr>
            <p:cNvSpPr/>
            <p:nvPr/>
          </p:nvSpPr>
          <p:spPr bwMode="gray">
            <a:xfrm>
              <a:off x="8081166" y="2500696"/>
              <a:ext cx="1768755" cy="2493858"/>
            </a:xfrm>
            <a:prstGeom prst="roundRect">
              <a:avLst>
                <a:gd name="adj" fmla="val 4322"/>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tIns="0" rIns="0" bIns="0" rtlCol="0" anchor="t"/>
            <a:lstStyle/>
            <a:p>
              <a:pPr defTabSz="457063" fontAlgn="ctr">
                <a:defRPr/>
              </a:pPr>
              <a:r>
                <a:rPr lang="en-US" sz="800" b="1">
                  <a:solidFill>
                    <a:srgbClr val="00A78E"/>
                  </a:solidFill>
                </a:rPr>
                <a:t>Description: </a:t>
              </a:r>
              <a:r>
                <a:rPr lang="en-US" sz="800">
                  <a:solidFill>
                    <a:schemeClr val="tx2"/>
                  </a:solidFill>
                </a:rPr>
                <a:t>Tier 2 </a:t>
              </a:r>
              <a:br>
                <a:rPr lang="en-US" sz="800">
                  <a:solidFill>
                    <a:schemeClr val="tx2"/>
                  </a:solidFill>
                </a:rPr>
              </a:br>
              <a:r>
                <a:rPr lang="en-US" sz="800">
                  <a:solidFill>
                    <a:schemeClr val="tx2"/>
                  </a:solidFill>
                </a:rPr>
                <a:t>Analytics Translation, </a:t>
              </a:r>
              <a:br>
                <a:rPr lang="en-US" sz="800">
                  <a:solidFill>
                    <a:schemeClr val="tx2"/>
                  </a:solidFill>
                </a:rPr>
              </a:br>
              <a:r>
                <a:rPr lang="en-US" sz="800">
                  <a:solidFill>
                    <a:schemeClr val="tx2"/>
                  </a:solidFill>
                </a:rPr>
                <a:t>Migration, Validation &amp; Handover</a:t>
              </a:r>
            </a:p>
            <a:p>
              <a:pPr defTabSz="457063" fontAlgn="ctr">
                <a:defRPr/>
              </a:pPr>
              <a:r>
                <a:rPr lang="en-US" sz="800" b="1">
                  <a:solidFill>
                    <a:srgbClr val="00A78E"/>
                  </a:solidFill>
                </a:rPr>
                <a:t>Timing: </a:t>
              </a:r>
              <a:r>
                <a:rPr lang="en-US" sz="800" b="1">
                  <a:solidFill>
                    <a:schemeClr val="tx2"/>
                  </a:solidFill>
                </a:rPr>
                <a:t>Jan 2027 – May 2027</a:t>
              </a:r>
            </a:p>
            <a:p>
              <a:r>
                <a:rPr lang="en-US" sz="800" b="1">
                  <a:solidFill>
                    <a:srgbClr val="00A78E"/>
                  </a:solidFill>
                </a:rPr>
                <a:t>Deliverables: </a:t>
              </a:r>
            </a:p>
            <a:p>
              <a:pPr marL="91440" indent="-91440">
                <a:buFont typeface="Arial" panose="020B0604020202020204" pitchFamily="34" charset="0"/>
                <a:buChar char="•"/>
              </a:pPr>
              <a:r>
                <a:rPr lang="en-US" sz="800">
                  <a:solidFill>
                    <a:schemeClr val="tx2"/>
                  </a:solidFill>
                </a:rPr>
                <a:t>Converted Databricks Converted Databricks SQL/ </a:t>
              </a:r>
              <a:r>
                <a:rPr lang="en-US" sz="800" err="1">
                  <a:solidFill>
                    <a:schemeClr val="tx2"/>
                  </a:solidFill>
                </a:rPr>
                <a:t>PySpark</a:t>
              </a:r>
              <a:r>
                <a:rPr lang="en-US" sz="800">
                  <a:solidFill>
                    <a:schemeClr val="tx2"/>
                  </a:solidFill>
                </a:rPr>
                <a:t> Assets (CODE/DBX) for Tier 2 analytics</a:t>
              </a:r>
            </a:p>
            <a:p>
              <a:pPr marL="91440" indent="-91440">
                <a:buFont typeface="Arial" panose="020B0604020202020204" pitchFamily="34" charset="0"/>
                <a:buChar char="•"/>
              </a:pPr>
              <a:r>
                <a:rPr lang="en-US" sz="800">
                  <a:solidFill>
                    <a:schemeClr val="tx2"/>
                  </a:solidFill>
                </a:rPr>
                <a:t>Migrated Dashboards, Reports and Alerts (DBX/DOC) for Tier 2 analytics</a:t>
              </a:r>
            </a:p>
            <a:p>
              <a:pPr marL="91440" indent="-91440">
                <a:buFont typeface="Arial" panose="020B0604020202020204" pitchFamily="34" charset="0"/>
                <a:buChar char="•"/>
              </a:pPr>
              <a:r>
                <a:rPr lang="en-US" sz="800">
                  <a:solidFill>
                    <a:schemeClr val="tx2"/>
                  </a:solidFill>
                </a:rPr>
                <a:t>Recreated Accelerated Data Model Outputs (DBX/DOC) for Tier 2 analytics</a:t>
              </a:r>
            </a:p>
            <a:p>
              <a:pPr marL="91440" indent="-91440">
                <a:buFont typeface="Arial" panose="020B0604020202020204" pitchFamily="34" charset="0"/>
                <a:buChar char="•"/>
              </a:pPr>
              <a:r>
                <a:rPr lang="en-US" sz="800">
                  <a:solidFill>
                    <a:schemeClr val="tx2"/>
                  </a:solidFill>
                </a:rPr>
                <a:t>Validation Results and Before/After Evidence (XLS/PPT) for Tier 2 analytics</a:t>
              </a:r>
            </a:p>
            <a:p>
              <a:pPr marL="91440" indent="-91440">
                <a:buFont typeface="Arial" panose="020B0604020202020204" pitchFamily="34" charset="0"/>
                <a:buChar char="•"/>
              </a:pPr>
              <a:r>
                <a:rPr lang="en-US" sz="800">
                  <a:solidFill>
                    <a:schemeClr val="tx2"/>
                  </a:solidFill>
                </a:rPr>
                <a:t>Migration and Handoff Documentation (DOC/PPT) for Tier 2 analytics</a:t>
              </a:r>
            </a:p>
          </p:txBody>
        </p:sp>
        <p:sp>
          <p:nvSpPr>
            <p:cNvPr id="51" name="Rectangle: Rounded Corners 50">
              <a:extLst>
                <a:ext uri="{FF2B5EF4-FFF2-40B4-BE49-F238E27FC236}">
                  <a16:creationId xmlns:a16="http://schemas.microsoft.com/office/drawing/2014/main" id="{553F88D6-4F67-DB26-4CF1-23ECC21EBF96}"/>
                </a:ext>
              </a:extLst>
            </p:cNvPr>
            <p:cNvSpPr/>
            <p:nvPr/>
          </p:nvSpPr>
          <p:spPr bwMode="gray">
            <a:xfrm>
              <a:off x="9886172" y="2500696"/>
              <a:ext cx="1768755" cy="2493858"/>
            </a:xfrm>
            <a:prstGeom prst="roundRect">
              <a:avLst>
                <a:gd name="adj" fmla="val 4322"/>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tIns="0" rIns="0" bIns="0" rtlCol="0" anchor="t"/>
            <a:lstStyle/>
            <a:p>
              <a:pPr defTabSz="457063" fontAlgn="ctr">
                <a:defRPr/>
              </a:pPr>
              <a:r>
                <a:rPr lang="en-US" sz="800" b="1">
                  <a:solidFill>
                    <a:srgbClr val="00A78E"/>
                  </a:solidFill>
                </a:rPr>
                <a:t>Description: </a:t>
              </a:r>
              <a:r>
                <a:rPr lang="en-US" sz="800">
                  <a:solidFill>
                    <a:schemeClr val="tx2"/>
                  </a:solidFill>
                </a:rPr>
                <a:t>Tier 3 </a:t>
              </a:r>
              <a:br>
                <a:rPr lang="en-US" sz="800">
                  <a:solidFill>
                    <a:schemeClr val="tx2"/>
                  </a:solidFill>
                </a:rPr>
              </a:br>
              <a:r>
                <a:rPr lang="en-US" sz="800">
                  <a:solidFill>
                    <a:schemeClr val="tx2"/>
                  </a:solidFill>
                </a:rPr>
                <a:t>Analytics Translation, </a:t>
              </a:r>
              <a:br>
                <a:rPr lang="en-US" sz="800">
                  <a:solidFill>
                    <a:schemeClr val="tx2"/>
                  </a:solidFill>
                </a:rPr>
              </a:br>
              <a:r>
                <a:rPr lang="en-US" sz="800">
                  <a:solidFill>
                    <a:schemeClr val="tx2"/>
                  </a:solidFill>
                </a:rPr>
                <a:t>Migration, Validation &amp; Handover</a:t>
              </a:r>
            </a:p>
            <a:p>
              <a:pPr defTabSz="457063" fontAlgn="ctr">
                <a:defRPr/>
              </a:pPr>
              <a:r>
                <a:rPr lang="en-US" sz="800" b="1">
                  <a:solidFill>
                    <a:srgbClr val="00A78E"/>
                  </a:solidFill>
                </a:rPr>
                <a:t>Timing: </a:t>
              </a:r>
              <a:r>
                <a:rPr lang="en-US" sz="800" b="1">
                  <a:solidFill>
                    <a:schemeClr val="tx2"/>
                  </a:solidFill>
                </a:rPr>
                <a:t>Apr 2027 – Aug 2027</a:t>
              </a:r>
              <a:endParaRPr lang="en-US" sz="700" b="1">
                <a:solidFill>
                  <a:schemeClr val="tx2"/>
                </a:solidFill>
              </a:endParaRPr>
            </a:p>
            <a:p>
              <a:r>
                <a:rPr lang="en-US" sz="800" b="1">
                  <a:solidFill>
                    <a:srgbClr val="00A78E"/>
                  </a:solidFill>
                </a:rPr>
                <a:t>Deliverables: </a:t>
              </a:r>
            </a:p>
            <a:p>
              <a:pPr marL="91440" indent="-91440">
                <a:buFont typeface="Arial" panose="020B0604020202020204" pitchFamily="34" charset="0"/>
                <a:buChar char="•"/>
              </a:pPr>
              <a:r>
                <a:rPr lang="en-US" sz="800">
                  <a:solidFill>
                    <a:schemeClr val="tx2"/>
                  </a:solidFill>
                </a:rPr>
                <a:t>Converted Databricks SQL/ </a:t>
              </a:r>
              <a:r>
                <a:rPr lang="en-US" sz="800" err="1">
                  <a:solidFill>
                    <a:schemeClr val="tx2"/>
                  </a:solidFill>
                </a:rPr>
                <a:t>PySpark</a:t>
              </a:r>
              <a:r>
                <a:rPr lang="en-US" sz="800">
                  <a:solidFill>
                    <a:schemeClr val="tx2"/>
                  </a:solidFill>
                </a:rPr>
                <a:t> Assets (CODE/DBX) for Tier 3 analytics</a:t>
              </a:r>
            </a:p>
            <a:p>
              <a:pPr marL="91440" indent="-91440">
                <a:buFont typeface="Arial" panose="020B0604020202020204" pitchFamily="34" charset="0"/>
                <a:buChar char="•"/>
              </a:pPr>
              <a:r>
                <a:rPr lang="en-US" sz="800">
                  <a:solidFill>
                    <a:schemeClr val="tx2"/>
                  </a:solidFill>
                </a:rPr>
                <a:t>Migrated Dashboards, Reports and Alerts (DBX/DOC) for Tier 3 analytics</a:t>
              </a:r>
            </a:p>
            <a:p>
              <a:pPr marL="91440" indent="-91440">
                <a:buFont typeface="Arial" panose="020B0604020202020204" pitchFamily="34" charset="0"/>
                <a:buChar char="•"/>
              </a:pPr>
              <a:r>
                <a:rPr lang="en-US" sz="800">
                  <a:solidFill>
                    <a:schemeClr val="tx2"/>
                  </a:solidFill>
                </a:rPr>
                <a:t>Recreated Accelerated Data Model Outputs (DBX/DOC) for Tier 3 analytics</a:t>
              </a:r>
            </a:p>
            <a:p>
              <a:pPr marL="91440" indent="-91440">
                <a:buFont typeface="Arial" panose="020B0604020202020204" pitchFamily="34" charset="0"/>
                <a:buChar char="•"/>
              </a:pPr>
              <a:r>
                <a:rPr lang="en-US" sz="800">
                  <a:solidFill>
                    <a:schemeClr val="tx2"/>
                  </a:solidFill>
                </a:rPr>
                <a:t>Validation Results and Before/After Evidence (XLS/PPT) for Tier 3 analytics</a:t>
              </a:r>
            </a:p>
            <a:p>
              <a:pPr marL="91440" indent="-91440">
                <a:buFont typeface="Arial" panose="020B0604020202020204" pitchFamily="34" charset="0"/>
                <a:buChar char="•"/>
              </a:pPr>
              <a:r>
                <a:rPr lang="en-US" sz="800">
                  <a:solidFill>
                    <a:schemeClr val="tx2"/>
                  </a:solidFill>
                </a:rPr>
                <a:t>Final Migration and Handoff Documentation (DOC/PPT)</a:t>
              </a:r>
            </a:p>
          </p:txBody>
        </p:sp>
        <p:sp>
          <p:nvSpPr>
            <p:cNvPr id="52" name="TextBox 51">
              <a:extLst>
                <a:ext uri="{FF2B5EF4-FFF2-40B4-BE49-F238E27FC236}">
                  <a16:creationId xmlns:a16="http://schemas.microsoft.com/office/drawing/2014/main" id="{84724F69-4240-FCDD-26B5-F514243CD4FA}"/>
                </a:ext>
              </a:extLst>
            </p:cNvPr>
            <p:cNvSpPr txBox="1"/>
            <p:nvPr/>
          </p:nvSpPr>
          <p:spPr>
            <a:xfrm>
              <a:off x="11247120" y="2499765"/>
              <a:ext cx="352294"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D.4</a:t>
              </a:r>
            </a:p>
          </p:txBody>
        </p:sp>
        <p:sp>
          <p:nvSpPr>
            <p:cNvPr id="53" name="TextBox 52">
              <a:extLst>
                <a:ext uri="{FF2B5EF4-FFF2-40B4-BE49-F238E27FC236}">
                  <a16:creationId xmlns:a16="http://schemas.microsoft.com/office/drawing/2014/main" id="{899194DD-7A67-D6F2-A469-BFBB8927F2CD}"/>
                </a:ext>
              </a:extLst>
            </p:cNvPr>
            <p:cNvSpPr txBox="1"/>
            <p:nvPr/>
          </p:nvSpPr>
          <p:spPr>
            <a:xfrm>
              <a:off x="9452568" y="2499765"/>
              <a:ext cx="352294"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D.3</a:t>
              </a:r>
            </a:p>
          </p:txBody>
        </p:sp>
        <p:sp>
          <p:nvSpPr>
            <p:cNvPr id="54" name="TextBox 53">
              <a:extLst>
                <a:ext uri="{FF2B5EF4-FFF2-40B4-BE49-F238E27FC236}">
                  <a16:creationId xmlns:a16="http://schemas.microsoft.com/office/drawing/2014/main" id="{CE47B95F-2DA0-64A2-7C90-DA049DF77BBA}"/>
                </a:ext>
              </a:extLst>
            </p:cNvPr>
            <p:cNvSpPr txBox="1"/>
            <p:nvPr/>
          </p:nvSpPr>
          <p:spPr>
            <a:xfrm>
              <a:off x="7644935" y="2499765"/>
              <a:ext cx="352294"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D.2</a:t>
              </a:r>
            </a:p>
          </p:txBody>
        </p:sp>
      </p:grpSp>
      <p:sp>
        <p:nvSpPr>
          <p:cNvPr id="57" name="Rectangle 56">
            <a:extLst>
              <a:ext uri="{FF2B5EF4-FFF2-40B4-BE49-F238E27FC236}">
                <a16:creationId xmlns:a16="http://schemas.microsoft.com/office/drawing/2014/main" id="{AC8E8237-1AA4-9D09-B4F9-BD44912699C0}"/>
              </a:ext>
            </a:extLst>
          </p:cNvPr>
          <p:cNvSpPr/>
          <p:nvPr/>
        </p:nvSpPr>
        <p:spPr bwMode="gray">
          <a:xfrm>
            <a:off x="594360" y="6203122"/>
            <a:ext cx="10963656" cy="137160"/>
          </a:xfrm>
          <a:prstGeom prst="rect">
            <a:avLst/>
          </a:prstGeom>
          <a:noFill/>
          <a:ln>
            <a:noFill/>
            <a:miter lim="800000"/>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lstStyle/>
          <a:p>
            <a:r>
              <a:rPr lang="en-US" sz="800">
                <a:solidFill>
                  <a:schemeClr val="tx2"/>
                </a:solidFill>
              </a:rPr>
              <a:t>Source: CVS_Databricks_SOW_Draft_v5 JAS_CVS_REDLINE, CVS Databricks Staffing Model_V4.xlsx</a:t>
            </a:r>
          </a:p>
        </p:txBody>
      </p:sp>
    </p:spTree>
    <p:extLst>
      <p:ext uri="{BB962C8B-B14F-4D97-AF65-F5344CB8AC3E}">
        <p14:creationId xmlns:p14="http://schemas.microsoft.com/office/powerpoint/2010/main" val="370988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8FE1B4D-A944-2EC7-612B-EED377CDA47D}"/>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DCB13B4-611F-8C61-A873-60CC5A278606}"/>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4" name="thinkcell data - do not delete" hidden="1">
                        <a:extLst>
                          <a:ext uri="{FF2B5EF4-FFF2-40B4-BE49-F238E27FC236}">
                            <a16:creationId xmlns:a16="http://schemas.microsoft.com/office/drawing/2014/main" id="{ADCB13B4-611F-8C61-A873-60CC5A27860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815343DB-5F43-ED52-3A92-6F3745B94718}"/>
              </a:ext>
            </a:extLst>
          </p:cNvPr>
          <p:cNvSpPr>
            <a:spLocks noGrp="1"/>
          </p:cNvSpPr>
          <p:nvPr>
            <p:ph type="title"/>
          </p:nvPr>
        </p:nvSpPr>
        <p:spPr/>
        <p:txBody>
          <a:bodyPr vert="horz" rIns="0"/>
          <a:lstStyle/>
          <a:p>
            <a:r>
              <a:rPr lang="en-US" sz="2200"/>
              <a:t>Workstream D – Observability, Availability and Performance Monitoring Rationalization (2/2)</a:t>
            </a:r>
            <a:br>
              <a:rPr lang="en-US"/>
            </a:br>
            <a:r>
              <a:rPr lang="en-US" sz="1600" b="0"/>
              <a:t>Monitoring &amp; Analytics – Planning</a:t>
            </a:r>
            <a:endParaRPr lang="en-US" sz="1600"/>
          </a:p>
        </p:txBody>
      </p:sp>
      <p:sp>
        <p:nvSpPr>
          <p:cNvPr id="10" name="Rectangle 9">
            <a:extLst>
              <a:ext uri="{FF2B5EF4-FFF2-40B4-BE49-F238E27FC236}">
                <a16:creationId xmlns:a16="http://schemas.microsoft.com/office/drawing/2014/main" id="{E088884C-4CC8-933F-609A-C5695843C380}"/>
              </a:ext>
            </a:extLst>
          </p:cNvPr>
          <p:cNvSpPr/>
          <p:nvPr/>
        </p:nvSpPr>
        <p:spPr bwMode="gray">
          <a:xfrm>
            <a:off x="10911840" y="0"/>
            <a:ext cx="1280160" cy="548640"/>
          </a:xfrm>
          <a:prstGeom prst="rect">
            <a:avLst/>
          </a:prstGeom>
          <a:solidFill>
            <a:srgbClr val="868686"/>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b="1">
                <a:solidFill>
                  <a:schemeClr val="bg1"/>
                </a:solidFill>
              </a:rPr>
              <a:t>Notional, to update</a:t>
            </a:r>
          </a:p>
        </p:txBody>
      </p:sp>
      <p:sp>
        <p:nvSpPr>
          <p:cNvPr id="5" name="Rectangle: Top Corners Rounded 4">
            <a:extLst>
              <a:ext uri="{FF2B5EF4-FFF2-40B4-BE49-F238E27FC236}">
                <a16:creationId xmlns:a16="http://schemas.microsoft.com/office/drawing/2014/main" id="{5E7D985E-367D-4E7F-F7ED-5B4A80FC5D3F}"/>
              </a:ext>
            </a:extLst>
          </p:cNvPr>
          <p:cNvSpPr/>
          <p:nvPr/>
        </p:nvSpPr>
        <p:spPr bwMode="gray">
          <a:xfrm rot="5400000">
            <a:off x="-1524006" y="2912536"/>
            <a:ext cx="4682069" cy="1634065"/>
          </a:xfrm>
          <a:prstGeom prst="round2SameRect">
            <a:avLst>
              <a:gd name="adj1" fmla="val 9976"/>
              <a:gd name="adj2" fmla="val 0"/>
            </a:avLst>
          </a:prstGeom>
          <a:gradFill flip="none" rotWithShape="1">
            <a:gsLst>
              <a:gs pos="0">
                <a:srgbClr val="267AC0"/>
              </a:gs>
              <a:gs pos="100000">
                <a:srgbClr val="0A4B8C"/>
              </a:gs>
            </a:gsLst>
            <a:lin ang="54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graphicFrame>
        <p:nvGraphicFramePr>
          <p:cNvPr id="6" name="Content Placeholder 6">
            <a:extLst>
              <a:ext uri="{FF2B5EF4-FFF2-40B4-BE49-F238E27FC236}">
                <a16:creationId xmlns:a16="http://schemas.microsoft.com/office/drawing/2014/main" id="{19BB5DE0-25EE-B38B-2712-B614FB4DFE08}"/>
              </a:ext>
            </a:extLst>
          </p:cNvPr>
          <p:cNvGraphicFramePr>
            <a:graphicFrameLocks/>
          </p:cNvGraphicFramePr>
          <p:nvPr>
            <p:extLst>
              <p:ext uri="{D42A27DB-BD31-4B8C-83A1-F6EECF244321}">
                <p14:modId xmlns:p14="http://schemas.microsoft.com/office/powerpoint/2010/main" val="804580984"/>
              </p:ext>
            </p:extLst>
          </p:nvPr>
        </p:nvGraphicFramePr>
        <p:xfrm>
          <a:off x="538691" y="1509729"/>
          <a:ext cx="11133137" cy="2114620"/>
        </p:xfrm>
        <a:graphic>
          <a:graphicData uri="http://schemas.openxmlformats.org/drawingml/2006/table">
            <a:tbl>
              <a:tblPr firstRow="1" bandRow="1">
                <a:tableStyleId>{2D5ABB26-0587-4C30-8999-92F81FD0307C}</a:tableStyleId>
              </a:tblPr>
              <a:tblGrid>
                <a:gridCol w="1099371">
                  <a:extLst>
                    <a:ext uri="{9D8B030D-6E8A-4147-A177-3AD203B41FA5}">
                      <a16:colId xmlns:a16="http://schemas.microsoft.com/office/drawing/2014/main" val="1699332636"/>
                    </a:ext>
                  </a:extLst>
                </a:gridCol>
                <a:gridCol w="5016883">
                  <a:extLst>
                    <a:ext uri="{9D8B030D-6E8A-4147-A177-3AD203B41FA5}">
                      <a16:colId xmlns:a16="http://schemas.microsoft.com/office/drawing/2014/main" val="2684621038"/>
                    </a:ext>
                  </a:extLst>
                </a:gridCol>
                <a:gridCol w="5016883">
                  <a:extLst>
                    <a:ext uri="{9D8B030D-6E8A-4147-A177-3AD203B41FA5}">
                      <a16:colId xmlns:a16="http://schemas.microsoft.com/office/drawing/2014/main" val="4180029292"/>
                    </a:ext>
                  </a:extLst>
                </a:gridCol>
              </a:tblGrid>
              <a:tr h="558401">
                <a:tc>
                  <a:txBody>
                    <a:bodyPr/>
                    <a:lstStyle/>
                    <a:p>
                      <a:pPr>
                        <a:lnSpc>
                          <a:spcPct val="90000"/>
                        </a:lnSpc>
                      </a:pPr>
                      <a:r>
                        <a:rPr lang="en-US" sz="1050" b="1">
                          <a:solidFill>
                            <a:schemeClr val="bg1"/>
                          </a:solidFill>
                        </a:rPr>
                        <a:t>Key “Do Now” activities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Convene Splunk Engineering Requirements Alignment:</a:t>
                      </a:r>
                    </a:p>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Execute </a:t>
                      </a:r>
                      <a:r>
                        <a:rPr lang="en-US" sz="1000" b="0" i="0" kern="1500" err="1">
                          <a:solidFill>
                            <a:schemeClr val="tx2"/>
                          </a:solidFill>
                          <a:latin typeface="+mn-lt"/>
                          <a:ea typeface="+mn-ea"/>
                          <a:cs typeface="+mn-cs"/>
                        </a:rPr>
                        <a:t>Transpiler</a:t>
                      </a:r>
                      <a:r>
                        <a:rPr lang="en-US" sz="1000" b="0" i="0" kern="1500">
                          <a:solidFill>
                            <a:schemeClr val="tx2"/>
                          </a:solidFill>
                          <a:latin typeface="+mn-lt"/>
                          <a:ea typeface="+mn-ea"/>
                          <a:cs typeface="+mn-cs"/>
                        </a:rPr>
                        <a:t> &amp; AI Conversion PoC</a:t>
                      </a:r>
                    </a:p>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Ingest &amp; Baseline Analytics Inventory</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Provisional VDI &amp; Environment Access Requests</a:t>
                      </a:r>
                    </a:p>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Draft Integrated Workstream D Agile WBS &amp; Pod Backlog</a:t>
                      </a:r>
                    </a:p>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Formalize Pre-Start Commercial &amp; Hour Tracking Guardrails</a:t>
                      </a:r>
                    </a:p>
                  </a:txBody>
                  <a:tcPr marL="45720" marR="45720">
                    <a:lnL>
                      <a:noFill/>
                    </a:lnL>
                  </a:tcPr>
                </a:tc>
                <a:extLst>
                  <a:ext uri="{0D108BD9-81ED-4DB2-BD59-A6C34878D82A}">
                    <a16:rowId xmlns:a16="http://schemas.microsoft.com/office/drawing/2014/main" val="3413144615"/>
                  </a:ext>
                </a:extLst>
              </a:tr>
              <a:tr h="959836">
                <a:tc>
                  <a:txBody>
                    <a:bodyPr/>
                    <a:lstStyle/>
                    <a:p>
                      <a:pPr>
                        <a:lnSpc>
                          <a:spcPct val="90000"/>
                        </a:lnSpc>
                      </a:pPr>
                      <a:r>
                        <a:rPr lang="en-US" sz="1050" b="1">
                          <a:solidFill>
                            <a:schemeClr val="bg1"/>
                          </a:solidFill>
                        </a:rPr>
                        <a:t>Upstream Prerequisites</a:t>
                      </a:r>
                    </a:p>
                    <a:p>
                      <a:pPr>
                        <a:lnSpc>
                          <a:spcPct val="90000"/>
                        </a:lnSpc>
                      </a:pPr>
                      <a:endParaRPr lang="en-US" sz="1050" b="1">
                        <a:solidFill>
                          <a:schemeClr val="bg1"/>
                        </a:solidFill>
                      </a:endParaRP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A: Unity Catalog Taxonomy &amp; Namespace Structures</a:t>
                      </a:r>
                    </a:p>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A: IAM Profiles &amp; Cluster Compute Policies</a:t>
                      </a:r>
                    </a:p>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A: Security, Threat Modeling, and PHI Masking Guidelines</a:t>
                      </a:r>
                    </a:p>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A: Isolated Non-Production Workspaces</a:t>
                      </a:r>
                    </a:p>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B1: 26 Approved Open Data Contract Standard (ODCS) Contracts</a:t>
                      </a:r>
                    </a:p>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B1: Canonical Metadata Dictionary</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B2: Validated Ingestion Pipelines (WF1–WF6)</a:t>
                      </a:r>
                    </a:p>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B2: Pre-Freeze Live Telemetry Flow</a:t>
                      </a:r>
                    </a:p>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C: Governed Silver Domain Tables (9 Domains): Critical Sequencing Blocker</a:t>
                      </a:r>
                    </a:p>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C: Column-Level PHI/PII Masking &amp; Row-Level Security (RLS)</a:t>
                      </a:r>
                    </a:p>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C:16 Recreated Common Information Model (CIM) Models</a:t>
                      </a:r>
                    </a:p>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C: Gold Workspace Isolation Models</a:t>
                      </a:r>
                    </a:p>
                  </a:txBody>
                  <a:tcPr marL="45720" marR="45720">
                    <a:lnL>
                      <a:noFill/>
                    </a:lnL>
                  </a:tcPr>
                </a:tc>
                <a:extLst>
                  <a:ext uri="{0D108BD9-81ED-4DB2-BD59-A6C34878D82A}">
                    <a16:rowId xmlns:a16="http://schemas.microsoft.com/office/drawing/2014/main" val="1457196652"/>
                  </a:ext>
                </a:extLst>
              </a:tr>
              <a:tr h="550379">
                <a:tc>
                  <a:txBody>
                    <a:bodyPr/>
                    <a:lstStyle/>
                    <a:p>
                      <a:pPr>
                        <a:lnSpc>
                          <a:spcPct val="90000"/>
                        </a:lnSpc>
                      </a:pPr>
                      <a:r>
                        <a:rPr lang="en-US" sz="1050" b="1">
                          <a:solidFill>
                            <a:schemeClr val="bg1"/>
                          </a:solidFill>
                        </a:rPr>
                        <a:t>Downstream Workstream Hand-offs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noProof="0">
                          <a:solidFill>
                            <a:schemeClr val="tx2"/>
                          </a:solidFill>
                          <a:latin typeface="+mn-lt"/>
                          <a:ea typeface="+mn-ea"/>
                          <a:cs typeface="+mn-cs"/>
                        </a:rPr>
                        <a:t>E: Validated Databricks SQL queries, interactive Lakeview dashboard templates, SPL-to-SQL cheat sheets, and starter notebook assets .</a:t>
                      </a:r>
                    </a:p>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noProof="0">
                          <a:solidFill>
                            <a:schemeClr val="tx2"/>
                          </a:solidFill>
                          <a:latin typeface="+mn-lt"/>
                          <a:ea typeface="+mn-ea"/>
                          <a:cs typeface="+mn-cs"/>
                        </a:rPr>
                        <a:t>F: Production Databricks Workflows, scheduled query jobs, alert configurations, query execution runbooks, failure triage decision trees, and performance </a:t>
                      </a:r>
                      <a:br>
                        <a:rPr lang="en-US" sz="1000" b="0" i="0" kern="1500" noProof="0">
                          <a:solidFill>
                            <a:schemeClr val="tx2"/>
                          </a:solidFill>
                          <a:latin typeface="+mn-lt"/>
                          <a:ea typeface="+mn-ea"/>
                          <a:cs typeface="+mn-cs"/>
                        </a:rPr>
                      </a:br>
                      <a:r>
                        <a:rPr lang="en-US" sz="1000" b="0" i="0" kern="1500" noProof="0">
                          <a:solidFill>
                            <a:schemeClr val="tx2"/>
                          </a:solidFill>
                          <a:latin typeface="+mn-lt"/>
                          <a:ea typeface="+mn-ea"/>
                          <a:cs typeface="+mn-cs"/>
                        </a:rPr>
                        <a:t>SLO baselines .</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endParaRPr lang="en-US" sz="1000" b="0" i="0" kern="1500" noProof="0">
                        <a:solidFill>
                          <a:schemeClr val="tx2"/>
                        </a:solidFill>
                        <a:latin typeface="+mn-lt"/>
                        <a:ea typeface="+mn-ea"/>
                        <a:cs typeface="+mn-cs"/>
                      </a:endParaRP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3949764"/>
                  </a:ext>
                </a:extLst>
              </a:tr>
            </a:tbl>
          </a:graphicData>
        </a:graphic>
      </p:graphicFrame>
      <p:graphicFrame>
        <p:nvGraphicFramePr>
          <p:cNvPr id="8" name="Content Placeholder 6">
            <a:extLst>
              <a:ext uri="{FF2B5EF4-FFF2-40B4-BE49-F238E27FC236}">
                <a16:creationId xmlns:a16="http://schemas.microsoft.com/office/drawing/2014/main" id="{A1E51720-1BC0-F128-D8EB-15FD09940C94}"/>
              </a:ext>
            </a:extLst>
          </p:cNvPr>
          <p:cNvGraphicFramePr>
            <a:graphicFrameLocks/>
          </p:cNvGraphicFramePr>
          <p:nvPr>
            <p:extLst>
              <p:ext uri="{D42A27DB-BD31-4B8C-83A1-F6EECF244321}">
                <p14:modId xmlns:p14="http://schemas.microsoft.com/office/powerpoint/2010/main" val="2962821811"/>
              </p:ext>
            </p:extLst>
          </p:nvPr>
        </p:nvGraphicFramePr>
        <p:xfrm>
          <a:off x="558270" y="3675078"/>
          <a:ext cx="11111972" cy="2320924"/>
        </p:xfrm>
        <a:graphic>
          <a:graphicData uri="http://schemas.openxmlformats.org/drawingml/2006/table">
            <a:tbl>
              <a:tblPr firstRow="1" bandRow="1">
                <a:tableStyleId>{2D5ABB26-0587-4C30-8999-92F81FD0307C}</a:tableStyleId>
              </a:tblPr>
              <a:tblGrid>
                <a:gridCol w="1105959">
                  <a:extLst>
                    <a:ext uri="{9D8B030D-6E8A-4147-A177-3AD203B41FA5}">
                      <a16:colId xmlns:a16="http://schemas.microsoft.com/office/drawing/2014/main" val="2393725290"/>
                    </a:ext>
                  </a:extLst>
                </a:gridCol>
                <a:gridCol w="2683592">
                  <a:extLst>
                    <a:ext uri="{9D8B030D-6E8A-4147-A177-3AD203B41FA5}">
                      <a16:colId xmlns:a16="http://schemas.microsoft.com/office/drawing/2014/main" val="1699332636"/>
                    </a:ext>
                  </a:extLst>
                </a:gridCol>
                <a:gridCol w="2440807">
                  <a:extLst>
                    <a:ext uri="{9D8B030D-6E8A-4147-A177-3AD203B41FA5}">
                      <a16:colId xmlns:a16="http://schemas.microsoft.com/office/drawing/2014/main" val="2684621038"/>
                    </a:ext>
                  </a:extLst>
                </a:gridCol>
                <a:gridCol w="2440807">
                  <a:extLst>
                    <a:ext uri="{9D8B030D-6E8A-4147-A177-3AD203B41FA5}">
                      <a16:colId xmlns:a16="http://schemas.microsoft.com/office/drawing/2014/main" val="1078624516"/>
                    </a:ext>
                  </a:extLst>
                </a:gridCol>
                <a:gridCol w="2440807">
                  <a:extLst>
                    <a:ext uri="{9D8B030D-6E8A-4147-A177-3AD203B41FA5}">
                      <a16:colId xmlns:a16="http://schemas.microsoft.com/office/drawing/2014/main" val="1203515095"/>
                    </a:ext>
                  </a:extLst>
                </a:gridCol>
              </a:tblGrid>
              <a:tr h="426084">
                <a:tc>
                  <a:txBody>
                    <a:bodyPr/>
                    <a:lstStyle/>
                    <a:p>
                      <a:r>
                        <a:rPr lang="en-US" sz="1050" b="1">
                          <a:solidFill>
                            <a:schemeClr val="bg1"/>
                          </a:solidFill>
                        </a:rPr>
                        <a:t>Epic</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457063" rtl="0" eaLnBrk="1" fontAlgn="ctr" latinLnBrk="0" hangingPunct="1"/>
                      <a:r>
                        <a:rPr lang="en-US" sz="1000" b="1" kern="1500" noProof="0">
                          <a:solidFill>
                            <a:srgbClr val="0A4B8C"/>
                          </a:solidFill>
                          <a:latin typeface="+mn-lt"/>
                          <a:ea typeface="+mn-ea"/>
                          <a:cs typeface="+mn-cs"/>
                        </a:rPr>
                        <a:t>Telemetry &amp; Query Rationalization, Inventory, and Prioritization</a:t>
                      </a:r>
                      <a:endParaRPr lang="en-US" sz="1000" b="1" kern="1500">
                        <a:solidFill>
                          <a:srgbClr val="0A4B8C"/>
                        </a:solidFill>
                        <a:latin typeface="+mn-lt"/>
                        <a:ea typeface="+mn-ea"/>
                        <a:cs typeface="+mn-cs"/>
                      </a:endParaRP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noProof="0">
                          <a:solidFill>
                            <a:srgbClr val="0A4B8C"/>
                          </a:solidFill>
                          <a:latin typeface="+mn-lt"/>
                          <a:ea typeface="+mn-ea"/>
                          <a:cs typeface="+mn-cs"/>
                        </a:rPr>
                        <a:t>Tier 1 Security Analytics &amp; Real-Time Threat Detection Migration</a:t>
                      </a:r>
                      <a:endParaRPr lang="en-US" sz="1000" b="1" kern="1500">
                        <a:solidFill>
                          <a:srgbClr val="0A4B8C"/>
                        </a:solidFill>
                        <a:latin typeface="+mn-lt"/>
                        <a:ea typeface="+mn-ea"/>
                        <a:cs typeface="+mn-cs"/>
                      </a:endParaRP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a:solidFill>
                            <a:srgbClr val="0A4B8C"/>
                          </a:solidFill>
                          <a:latin typeface="+mn-lt"/>
                          <a:ea typeface="+mn-ea"/>
                          <a:cs typeface="+mn-cs"/>
                        </a:rPr>
                        <a:t>Tier 2 Operational, Infrastructure &amp; Dashboard Modernization</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noProof="0">
                          <a:solidFill>
                            <a:srgbClr val="0A4B8C"/>
                          </a:solidFill>
                          <a:latin typeface="+mn-lt"/>
                          <a:ea typeface="+mn-ea"/>
                          <a:cs typeface="+mn-cs"/>
                        </a:rPr>
                        <a:t>Tier 3 Long-Tail Migration, Cutover Governance &amp; Hand-off</a:t>
                      </a:r>
                      <a:endParaRPr lang="en-US" sz="1000" b="1" kern="1500">
                        <a:solidFill>
                          <a:srgbClr val="0A4B8C"/>
                        </a:solidFill>
                        <a:latin typeface="+mn-lt"/>
                        <a:ea typeface="+mn-ea"/>
                        <a:cs typeface="+mn-cs"/>
                      </a:endParaRP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3144615"/>
                  </a:ext>
                </a:extLst>
              </a:tr>
              <a:tr h="892014">
                <a:tc>
                  <a:txBody>
                    <a:bodyPr/>
                    <a:lstStyle/>
                    <a:p>
                      <a:r>
                        <a:rPr lang="en-US" sz="1050" b="1">
                          <a:solidFill>
                            <a:schemeClr val="bg1"/>
                          </a:solidFill>
                        </a:rPr>
                        <a:t>Features</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1.1 - Comprehensive Analytics </a:t>
                      </a:r>
                      <a:br>
                        <a:rPr lang="en-US" sz="1000" b="0" kern="1500" noProof="0">
                          <a:solidFill>
                            <a:schemeClr val="tx2"/>
                          </a:solidFill>
                          <a:latin typeface="+mn-lt"/>
                          <a:ea typeface="+mn-ea"/>
                          <a:cs typeface="+mn-cs"/>
                        </a:rPr>
                      </a:br>
                      <a:r>
                        <a:rPr lang="en-US" sz="1000" b="0" kern="1500" noProof="0">
                          <a:solidFill>
                            <a:schemeClr val="tx2"/>
                          </a:solidFill>
                          <a:latin typeface="+mn-lt"/>
                          <a:ea typeface="+mn-ea"/>
                          <a:cs typeface="+mn-cs"/>
                        </a:rPr>
                        <a:t>Footprint Discovery</a:t>
                      </a:r>
                    </a:p>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1.2 - Query Dependency &amp; </a:t>
                      </a:r>
                      <a:br>
                        <a:rPr lang="en-US" sz="1000" b="0" kern="1500" noProof="0">
                          <a:solidFill>
                            <a:schemeClr val="tx2"/>
                          </a:solidFill>
                          <a:latin typeface="+mn-lt"/>
                          <a:ea typeface="+mn-ea"/>
                          <a:cs typeface="+mn-cs"/>
                        </a:rPr>
                      </a:br>
                      <a:r>
                        <a:rPr lang="en-US" sz="1000" b="0" kern="1500" noProof="0">
                          <a:solidFill>
                            <a:schemeClr val="tx2"/>
                          </a:solidFill>
                          <a:latin typeface="+mn-lt"/>
                          <a:ea typeface="+mn-ea"/>
                          <a:cs typeface="+mn-cs"/>
                        </a:rPr>
                        <a:t>Context Decomposition</a:t>
                      </a:r>
                    </a:p>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1.3 - Redundancy Analysis &amp; </a:t>
                      </a:r>
                      <a:br>
                        <a:rPr lang="en-US" sz="1000" b="0" kern="1500" noProof="0">
                          <a:solidFill>
                            <a:schemeClr val="tx2"/>
                          </a:solidFill>
                          <a:latin typeface="+mn-lt"/>
                          <a:ea typeface="+mn-ea"/>
                          <a:cs typeface="+mn-cs"/>
                        </a:rPr>
                      </a:br>
                      <a:r>
                        <a:rPr lang="en-US" sz="1000" b="0" kern="1500" noProof="0">
                          <a:solidFill>
                            <a:schemeClr val="tx2"/>
                          </a:solidFill>
                          <a:latin typeface="+mn-lt"/>
                          <a:ea typeface="+mn-ea"/>
                          <a:cs typeface="+mn-cs"/>
                        </a:rPr>
                        <a:t>Deprecation Pipeline</a:t>
                      </a:r>
                    </a:p>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1.4 - Line of Business (LOB) </a:t>
                      </a:r>
                      <a:br>
                        <a:rPr lang="en-US" sz="1000" b="0" kern="1500" noProof="0">
                          <a:solidFill>
                            <a:schemeClr val="tx2"/>
                          </a:solidFill>
                          <a:latin typeface="+mn-lt"/>
                          <a:ea typeface="+mn-ea"/>
                          <a:cs typeface="+mn-cs"/>
                        </a:rPr>
                      </a:br>
                      <a:r>
                        <a:rPr lang="en-US" sz="1000" b="0" kern="1500" noProof="0">
                          <a:solidFill>
                            <a:schemeClr val="tx2"/>
                          </a:solidFill>
                          <a:latin typeface="+mn-lt"/>
                          <a:ea typeface="+mn-ea"/>
                          <a:cs typeface="+mn-cs"/>
                        </a:rPr>
                        <a:t>Domain Clustering</a:t>
                      </a:r>
                    </a:p>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1.5 - Complexity Tiering &amp; </a:t>
                      </a:r>
                      <a:br>
                        <a:rPr lang="en-US" sz="1000" b="0" kern="1500" noProof="0">
                          <a:solidFill>
                            <a:schemeClr val="tx2"/>
                          </a:solidFill>
                          <a:latin typeface="+mn-lt"/>
                          <a:ea typeface="+mn-ea"/>
                          <a:cs typeface="+mn-cs"/>
                        </a:rPr>
                      </a:br>
                      <a:r>
                        <a:rPr lang="en-US" sz="1000" b="0" kern="1500" noProof="0">
                          <a:solidFill>
                            <a:schemeClr val="tx2"/>
                          </a:solidFill>
                          <a:latin typeface="+mn-lt"/>
                          <a:ea typeface="+mn-ea"/>
                          <a:cs typeface="+mn-cs"/>
                        </a:rPr>
                        <a:t>Workload Packaging</a:t>
                      </a:r>
                    </a:p>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1.6 - AI </a:t>
                      </a:r>
                      <a:r>
                        <a:rPr lang="en-US" sz="1000" b="0" kern="1500" noProof="0" err="1">
                          <a:solidFill>
                            <a:schemeClr val="tx2"/>
                          </a:solidFill>
                          <a:latin typeface="+mn-lt"/>
                          <a:ea typeface="+mn-ea"/>
                          <a:cs typeface="+mn-cs"/>
                        </a:rPr>
                        <a:t>Transpilation</a:t>
                      </a:r>
                      <a:r>
                        <a:rPr lang="en-US" sz="1000" b="0" kern="1500" noProof="0">
                          <a:solidFill>
                            <a:schemeClr val="tx2"/>
                          </a:solidFill>
                          <a:latin typeface="+mn-lt"/>
                          <a:ea typeface="+mn-ea"/>
                          <a:cs typeface="+mn-cs"/>
                        </a:rPr>
                        <a:t> Factory Setup</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2.1 - Priority Correlation </a:t>
                      </a:r>
                      <a:br>
                        <a:rPr lang="en-US" sz="1000" b="0" kern="1500" noProof="0">
                          <a:solidFill>
                            <a:schemeClr val="tx2"/>
                          </a:solidFill>
                          <a:latin typeface="+mn-lt"/>
                          <a:ea typeface="+mn-ea"/>
                          <a:cs typeface="+mn-cs"/>
                        </a:rPr>
                      </a:br>
                      <a:r>
                        <a:rPr lang="en-US" sz="1000" b="0" kern="1500" noProof="0">
                          <a:solidFill>
                            <a:schemeClr val="tx2"/>
                          </a:solidFill>
                          <a:latin typeface="+mn-lt"/>
                          <a:ea typeface="+mn-ea"/>
                          <a:cs typeface="+mn-cs"/>
                        </a:rPr>
                        <a:t>|Search Conversion</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2.2 - Stateful Risk-Based Alerting (RBA) Refactoring</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2.3 - Automated Dual-Platform </a:t>
                      </a:r>
                      <a:br>
                        <a:rPr lang="en-US" sz="1000" b="0" kern="1500" noProof="0">
                          <a:solidFill>
                            <a:schemeClr val="tx2"/>
                          </a:solidFill>
                          <a:latin typeface="+mn-lt"/>
                          <a:ea typeface="+mn-ea"/>
                          <a:cs typeface="+mn-cs"/>
                        </a:rPr>
                      </a:br>
                      <a:r>
                        <a:rPr lang="en-US" sz="1000" b="0" kern="1500" noProof="0">
                          <a:solidFill>
                            <a:schemeClr val="tx2"/>
                          </a:solidFill>
                          <a:latin typeface="+mn-lt"/>
                          <a:ea typeface="+mn-ea"/>
                          <a:cs typeface="+mn-cs"/>
                        </a:rPr>
                        <a:t>Parity Testing</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2.4 - Alert Notification &amp; SOAR Dispatch Integration</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2.5 - SOC UAT &amp; Milestone </a:t>
                      </a:r>
                      <a:br>
                        <a:rPr lang="en-US" sz="1000" b="0" kern="1500" noProof="0">
                          <a:solidFill>
                            <a:schemeClr val="tx2"/>
                          </a:solidFill>
                          <a:latin typeface="+mn-lt"/>
                          <a:ea typeface="+mn-ea"/>
                          <a:cs typeface="+mn-cs"/>
                        </a:rPr>
                      </a:br>
                      <a:r>
                        <a:rPr lang="en-US" sz="1000" b="0" kern="1500" noProof="0">
                          <a:solidFill>
                            <a:schemeClr val="tx2"/>
                          </a:solidFill>
                          <a:latin typeface="+mn-lt"/>
                          <a:ea typeface="+mn-ea"/>
                          <a:cs typeface="+mn-cs"/>
                        </a:rPr>
                        <a:t>D.2 Sign-off</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3.1 - Non-Correlation Alert &amp; Saved Search Translation</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3.2 - Accelerated Data Model </a:t>
                      </a:r>
                      <a:br>
                        <a:rPr lang="en-US" sz="1000" b="0" kern="1500">
                          <a:solidFill>
                            <a:schemeClr val="tx2"/>
                          </a:solidFill>
                          <a:latin typeface="+mn-lt"/>
                          <a:ea typeface="+mn-ea"/>
                          <a:cs typeface="+mn-cs"/>
                        </a:rPr>
                      </a:br>
                      <a:r>
                        <a:rPr lang="en-US" sz="1000" b="0" kern="1500">
                          <a:solidFill>
                            <a:schemeClr val="tx2"/>
                          </a:solidFill>
                          <a:latin typeface="+mn-lt"/>
                          <a:ea typeface="+mn-ea"/>
                          <a:cs typeface="+mn-cs"/>
                        </a:rPr>
                        <a:t>(ADM) Reconstruction</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3.3 - Enterprise Observability Dashboard Modernization</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3.4 - SQL Warehouse Tuning &amp; </a:t>
                      </a:r>
                      <a:br>
                        <a:rPr lang="en-US" sz="1000" b="0" kern="1500">
                          <a:solidFill>
                            <a:schemeClr val="tx2"/>
                          </a:solidFill>
                          <a:latin typeface="+mn-lt"/>
                          <a:ea typeface="+mn-ea"/>
                          <a:cs typeface="+mn-cs"/>
                        </a:rPr>
                      </a:br>
                      <a:r>
                        <a:rPr lang="en-US" sz="1000" b="0" kern="1500">
                          <a:solidFill>
                            <a:schemeClr val="tx2"/>
                          </a:solidFill>
                          <a:latin typeface="+mn-lt"/>
                          <a:ea typeface="+mn-ea"/>
                          <a:cs typeface="+mn-cs"/>
                        </a:rPr>
                        <a:t>FinOps Optimization</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3.5 - Infrastructure UAT &amp; </a:t>
                      </a:r>
                      <a:br>
                        <a:rPr lang="en-US" sz="1000" b="0" kern="1500">
                          <a:solidFill>
                            <a:schemeClr val="tx2"/>
                          </a:solidFill>
                          <a:latin typeface="+mn-lt"/>
                          <a:ea typeface="+mn-ea"/>
                          <a:cs typeface="+mn-cs"/>
                        </a:rPr>
                      </a:br>
                      <a:r>
                        <a:rPr lang="en-US" sz="1000" b="0" kern="1500">
                          <a:solidFill>
                            <a:schemeClr val="tx2"/>
                          </a:solidFill>
                          <a:latin typeface="+mn-lt"/>
                          <a:ea typeface="+mn-ea"/>
                          <a:cs typeface="+mn-cs"/>
                        </a:rPr>
                        <a:t>Milestone D.3 Acceptance</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4.1 - Long-Tail Query &amp; Ad-Hoc Report Conversion</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4.2 - Full-Scale Parallel-</a:t>
                      </a:r>
                      <a:br>
                        <a:rPr lang="en-US" sz="1000" b="0" kern="1500" noProof="0">
                          <a:solidFill>
                            <a:schemeClr val="tx2"/>
                          </a:solidFill>
                          <a:latin typeface="+mn-lt"/>
                          <a:ea typeface="+mn-ea"/>
                          <a:cs typeface="+mn-cs"/>
                        </a:rPr>
                      </a:br>
                      <a:r>
                        <a:rPr lang="en-US" sz="1000" b="0" kern="1500" noProof="0">
                          <a:solidFill>
                            <a:schemeClr val="tx2"/>
                          </a:solidFill>
                          <a:latin typeface="+mn-lt"/>
                          <a:ea typeface="+mn-ea"/>
                          <a:cs typeface="+mn-cs"/>
                        </a:rPr>
                        <a:t>Run Verification</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4.3 - Workstream E User Wave Enablement Handshake</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4.4 - Workstream F Hypercare &amp; Operational Runbook Hand-off</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4.5 - Legacy Search Head </a:t>
                      </a:r>
                      <a:br>
                        <a:rPr lang="en-US" sz="1000" b="0" kern="1500" noProof="0">
                          <a:solidFill>
                            <a:schemeClr val="tx2"/>
                          </a:solidFill>
                          <a:latin typeface="+mn-lt"/>
                          <a:ea typeface="+mn-ea"/>
                          <a:cs typeface="+mn-cs"/>
                        </a:rPr>
                      </a:br>
                      <a:r>
                        <a:rPr lang="en-US" sz="1000" b="0" kern="1500" noProof="0">
                          <a:solidFill>
                            <a:schemeClr val="tx2"/>
                          </a:solidFill>
                          <a:latin typeface="+mn-lt"/>
                          <a:ea typeface="+mn-ea"/>
                          <a:cs typeface="+mn-cs"/>
                        </a:rPr>
                        <a:t>Schedule Deactivation</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7196652"/>
                  </a:ext>
                </a:extLst>
              </a:tr>
            </a:tbl>
          </a:graphicData>
        </a:graphic>
      </p:graphicFrame>
      <p:grpSp>
        <p:nvGrpSpPr>
          <p:cNvPr id="16" name="Group 15">
            <a:extLst>
              <a:ext uri="{FF2B5EF4-FFF2-40B4-BE49-F238E27FC236}">
                <a16:creationId xmlns:a16="http://schemas.microsoft.com/office/drawing/2014/main" id="{4F1F7AE9-C89C-7B10-9F51-75F66ABF6247}"/>
              </a:ext>
            </a:extLst>
          </p:cNvPr>
          <p:cNvGrpSpPr/>
          <p:nvPr/>
        </p:nvGrpSpPr>
        <p:grpSpPr>
          <a:xfrm>
            <a:off x="538691" y="4088298"/>
            <a:ext cx="11125201" cy="999"/>
            <a:chOff x="531813" y="5259957"/>
            <a:chExt cx="11125201" cy="999"/>
          </a:xfrm>
        </p:grpSpPr>
        <p:cxnSp>
          <p:nvCxnSpPr>
            <p:cNvPr id="17" name="Straight Connector 16">
              <a:extLst>
                <a:ext uri="{FF2B5EF4-FFF2-40B4-BE49-F238E27FC236}">
                  <a16:creationId xmlns:a16="http://schemas.microsoft.com/office/drawing/2014/main" id="{1F82C979-26D0-AE35-4036-56EE59D9AAAE}"/>
                </a:ext>
              </a:extLst>
            </p:cNvPr>
            <p:cNvCxnSpPr>
              <a:cxnSpLocks/>
            </p:cNvCxnSpPr>
            <p:nvPr/>
          </p:nvCxnSpPr>
          <p:spPr>
            <a:xfrm>
              <a:off x="553507" y="5260956"/>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F107A06-37FA-237F-75A3-F025A108FF11}"/>
                </a:ext>
              </a:extLst>
            </p:cNvPr>
            <p:cNvCxnSpPr>
              <a:cxnSpLocks/>
            </p:cNvCxnSpPr>
            <p:nvPr/>
          </p:nvCxnSpPr>
          <p:spPr>
            <a:xfrm>
              <a:off x="531813" y="5259957"/>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B9CE1A98-F123-C312-16F1-25EC0098496B}"/>
              </a:ext>
            </a:extLst>
          </p:cNvPr>
          <p:cNvGrpSpPr/>
          <p:nvPr/>
        </p:nvGrpSpPr>
        <p:grpSpPr>
          <a:xfrm>
            <a:off x="549537" y="2058302"/>
            <a:ext cx="11125201" cy="0"/>
            <a:chOff x="531813" y="3716075"/>
            <a:chExt cx="11125201" cy="0"/>
          </a:xfrm>
        </p:grpSpPr>
        <p:cxnSp>
          <p:nvCxnSpPr>
            <p:cNvPr id="29" name="Straight Connector 28">
              <a:extLst>
                <a:ext uri="{FF2B5EF4-FFF2-40B4-BE49-F238E27FC236}">
                  <a16:creationId xmlns:a16="http://schemas.microsoft.com/office/drawing/2014/main" id="{133898F8-12CC-6301-CF5D-782A62C911E7}"/>
                </a:ext>
              </a:extLst>
            </p:cNvPr>
            <p:cNvCxnSpPr>
              <a:cxnSpLocks/>
            </p:cNvCxnSpPr>
            <p:nvPr/>
          </p:nvCxnSpPr>
          <p:spPr>
            <a:xfrm>
              <a:off x="553507" y="3716075"/>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1BB30B8-5590-A8E6-06F7-C06664513D9C}"/>
                </a:ext>
              </a:extLst>
            </p:cNvPr>
            <p:cNvCxnSpPr>
              <a:cxnSpLocks/>
            </p:cNvCxnSpPr>
            <p:nvPr/>
          </p:nvCxnSpPr>
          <p:spPr>
            <a:xfrm>
              <a:off x="531813" y="3716075"/>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1" name="Group 30">
            <a:extLst>
              <a:ext uri="{FF2B5EF4-FFF2-40B4-BE49-F238E27FC236}">
                <a16:creationId xmlns:a16="http://schemas.microsoft.com/office/drawing/2014/main" id="{2119A04F-F118-71F3-4324-9C69AAE4850B}"/>
              </a:ext>
            </a:extLst>
          </p:cNvPr>
          <p:cNvGrpSpPr/>
          <p:nvPr/>
        </p:nvGrpSpPr>
        <p:grpSpPr>
          <a:xfrm>
            <a:off x="545041" y="3649713"/>
            <a:ext cx="11125201" cy="1"/>
            <a:chOff x="531813" y="4848012"/>
            <a:chExt cx="11125201" cy="1"/>
          </a:xfrm>
        </p:grpSpPr>
        <p:cxnSp>
          <p:nvCxnSpPr>
            <p:cNvPr id="32" name="Straight Connector 31">
              <a:extLst>
                <a:ext uri="{FF2B5EF4-FFF2-40B4-BE49-F238E27FC236}">
                  <a16:creationId xmlns:a16="http://schemas.microsoft.com/office/drawing/2014/main" id="{00095606-7161-4AC9-EFC3-E5202C80D590}"/>
                </a:ext>
              </a:extLst>
            </p:cNvPr>
            <p:cNvCxnSpPr>
              <a:cxnSpLocks/>
            </p:cNvCxnSpPr>
            <p:nvPr/>
          </p:nvCxnSpPr>
          <p:spPr>
            <a:xfrm>
              <a:off x="553507" y="4848013"/>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F9C6A5D-618B-94A9-D2FA-A66EF7FD0E2F}"/>
                </a:ext>
              </a:extLst>
            </p:cNvPr>
            <p:cNvCxnSpPr>
              <a:cxnSpLocks/>
            </p:cNvCxnSpPr>
            <p:nvPr/>
          </p:nvCxnSpPr>
          <p:spPr>
            <a:xfrm>
              <a:off x="531813" y="4848012"/>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76D6080F-7F12-0079-BFA9-6E0E03C8D7F7}"/>
              </a:ext>
            </a:extLst>
          </p:cNvPr>
          <p:cNvGrpSpPr/>
          <p:nvPr/>
        </p:nvGrpSpPr>
        <p:grpSpPr>
          <a:xfrm>
            <a:off x="545041" y="3073300"/>
            <a:ext cx="11125201" cy="1"/>
            <a:chOff x="531813" y="4848012"/>
            <a:chExt cx="11125201" cy="1"/>
          </a:xfrm>
        </p:grpSpPr>
        <p:cxnSp>
          <p:nvCxnSpPr>
            <p:cNvPr id="35" name="Straight Connector 34">
              <a:extLst>
                <a:ext uri="{FF2B5EF4-FFF2-40B4-BE49-F238E27FC236}">
                  <a16:creationId xmlns:a16="http://schemas.microsoft.com/office/drawing/2014/main" id="{55F60C74-DBA2-E4CC-4F84-4BDC95233CE0}"/>
                </a:ext>
              </a:extLst>
            </p:cNvPr>
            <p:cNvCxnSpPr>
              <a:cxnSpLocks/>
            </p:cNvCxnSpPr>
            <p:nvPr/>
          </p:nvCxnSpPr>
          <p:spPr>
            <a:xfrm>
              <a:off x="553507" y="4848013"/>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5900428-7C8D-047E-45CD-FA5A91B55FF2}"/>
                </a:ext>
              </a:extLst>
            </p:cNvPr>
            <p:cNvCxnSpPr>
              <a:cxnSpLocks/>
            </p:cNvCxnSpPr>
            <p:nvPr/>
          </p:nvCxnSpPr>
          <p:spPr>
            <a:xfrm>
              <a:off x="531813" y="4848012"/>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sp>
        <p:nvSpPr>
          <p:cNvPr id="38" name="Rectangle 37">
            <a:extLst>
              <a:ext uri="{FF2B5EF4-FFF2-40B4-BE49-F238E27FC236}">
                <a16:creationId xmlns:a16="http://schemas.microsoft.com/office/drawing/2014/main" id="{7BB980FD-F957-C515-9AA3-4B90D5BFED5A}"/>
              </a:ext>
            </a:extLst>
          </p:cNvPr>
          <p:cNvSpPr/>
          <p:nvPr/>
        </p:nvSpPr>
        <p:spPr bwMode="gray">
          <a:xfrm>
            <a:off x="589357" y="6202227"/>
            <a:ext cx="10963656" cy="137160"/>
          </a:xfrm>
          <a:prstGeom prst="rect">
            <a:avLst/>
          </a:prstGeom>
          <a:noFill/>
          <a:ln>
            <a:noFill/>
            <a:miter lim="800000"/>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lstStyle/>
          <a:p>
            <a:r>
              <a:rPr lang="en-US" sz="800">
                <a:solidFill>
                  <a:schemeClr val="tx1"/>
                </a:solidFill>
              </a:rPr>
              <a:t>Source: Current KPMG planning, subject to change</a:t>
            </a:r>
          </a:p>
        </p:txBody>
      </p:sp>
    </p:spTree>
    <p:extLst>
      <p:ext uri="{BB962C8B-B14F-4D97-AF65-F5344CB8AC3E}">
        <p14:creationId xmlns:p14="http://schemas.microsoft.com/office/powerpoint/2010/main" val="26261164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vert="horz" rIns="0"/>
          <a:lstStyle/>
          <a:p>
            <a:r>
              <a:rPr lang="en-US"/>
              <a:t>Workstream D – Approach</a:t>
            </a:r>
            <a:br>
              <a:rPr lang="en-US"/>
            </a:br>
            <a:r>
              <a:rPr lang="en-US" sz="1600" b="0"/>
              <a:t>AI-assisted migration of legacy analytics to Databricks</a:t>
            </a:r>
            <a:endParaRPr lang="en-US" sz="1600"/>
          </a:p>
        </p:txBody>
      </p:sp>
      <p:sp>
        <p:nvSpPr>
          <p:cNvPr id="2" name="Content Placeholder 1"/>
          <p:cNvSpPr>
            <a:spLocks noGrp="1"/>
          </p:cNvSpPr>
          <p:nvPr>
            <p:ph idx="1"/>
          </p:nvPr>
        </p:nvSpPr>
        <p:spPr>
          <a:xfrm>
            <a:off x="587375" y="1494292"/>
            <a:ext cx="11028363" cy="700000"/>
          </a:xfrm>
        </p:spPr>
        <p:txBody>
          <a:bodyPr>
            <a:normAutofit/>
          </a:bodyPr>
          <a:lstStyle/>
          <a:p>
            <a:pPr>
              <a:spcBef>
                <a:spcPts val="0"/>
              </a:spcBef>
            </a:pPr>
            <a:r>
              <a:rPr lang="en-US" sz="1200" b="0"/>
              <a:t>Workstream D is a </a:t>
            </a:r>
            <a:r>
              <a:rPr lang="en-US" sz="1200" b="1"/>
              <a:t>modernization factory</a:t>
            </a:r>
            <a:r>
              <a:rPr lang="en-US" sz="1200" b="0"/>
              <a:t> focused on migrating high-value analytics from legacy platforms to Databricks. Our approach uses an AI-assisted process to manage the complexity of over 11,000 legacy objects, ensuring a smooth transition for users.</a:t>
            </a:r>
          </a:p>
        </p:txBody>
      </p:sp>
      <p:sp>
        <p:nvSpPr>
          <p:cNvPr id="10" name="Phase Card 10"/>
          <p:cNvSpPr/>
          <p:nvPr/>
        </p:nvSpPr>
        <p:spPr bwMode="gray">
          <a:xfrm>
            <a:off x="587375" y="2260000"/>
            <a:ext cx="3474720" cy="3815436"/>
          </a:xfrm>
          <a:prstGeom prst="rect">
            <a:avLst/>
          </a:prstGeom>
          <a:solidFill>
            <a:schemeClr val="bg1">
              <a:lumMod val="95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lIns="137160" tIns="91440" rIns="137160" bIns="91440" rtlCol="0" anchor="t">
            <a:noAutofit/>
          </a:bodyPr>
          <a:lstStyle/>
          <a:p>
            <a:pPr algn="ctr">
              <a:spcBef>
                <a:spcPts val="0"/>
              </a:spcBef>
              <a:spcAft>
                <a:spcPts val="0"/>
              </a:spcAft>
            </a:pPr>
            <a:r>
              <a:rPr lang="en-US" sz="1600" b="1">
                <a:solidFill>
                  <a:schemeClr val="tx2"/>
                </a:solidFill>
              </a:rPr>
              <a:t>1. Inventory &amp; Rationalize</a:t>
            </a:r>
          </a:p>
          <a:p>
            <a:pPr>
              <a:spcBef>
                <a:spcPts val="1200"/>
              </a:spcBef>
              <a:spcAft>
                <a:spcPts val="300"/>
              </a:spcAft>
            </a:pPr>
            <a:r>
              <a:rPr lang="en-US" sz="1300" b="1">
                <a:solidFill>
                  <a:srgbClr val="0A4B8C"/>
                </a:solidFill>
              </a:rPr>
              <a:t>Key Activities</a:t>
            </a:r>
          </a:p>
          <a:p>
            <a:pPr marL="171450" indent="-171450">
              <a:spcBef>
                <a:spcPts val="0"/>
              </a:spcBef>
              <a:spcAft>
                <a:spcPts val="300"/>
              </a:spcAft>
              <a:buFont typeface="Arial" panose="020B0604020202020204" pitchFamily="34" charset="0"/>
              <a:buChar char="•"/>
            </a:pPr>
            <a:r>
              <a:rPr lang="en-US" sz="1200" b="0">
                <a:solidFill>
                  <a:schemeClr val="tx2"/>
                </a:solidFill>
              </a:rPr>
              <a:t>Comprehensive Analytics Inventory</a:t>
            </a:r>
          </a:p>
          <a:p>
            <a:pPr marL="171450" indent="-171450">
              <a:spcBef>
                <a:spcPts val="0"/>
              </a:spcBef>
              <a:spcAft>
                <a:spcPts val="300"/>
              </a:spcAft>
              <a:buFont typeface="Arial" panose="020B0604020202020204" pitchFamily="34" charset="0"/>
              <a:buChar char="•"/>
            </a:pPr>
            <a:r>
              <a:rPr lang="en-US" sz="1200" b="0">
                <a:solidFill>
                  <a:schemeClr val="tx2"/>
                </a:solidFill>
              </a:rPr>
              <a:t>Query Dependency &amp; Complexity Analysis</a:t>
            </a:r>
          </a:p>
          <a:p>
            <a:pPr marL="171450" indent="-171450">
              <a:spcBef>
                <a:spcPts val="0"/>
              </a:spcBef>
              <a:spcAft>
                <a:spcPts val="300"/>
              </a:spcAft>
              <a:buFont typeface="Arial" panose="020B0604020202020204" pitchFamily="34" charset="0"/>
              <a:buChar char="•"/>
            </a:pPr>
            <a:r>
              <a:rPr lang="en-US" sz="1200" b="0">
                <a:solidFill>
                  <a:schemeClr val="tx2"/>
                </a:solidFill>
              </a:rPr>
              <a:t>Migration Backlog Prioritization</a:t>
            </a:r>
          </a:p>
          <a:p>
            <a:pPr>
              <a:spcBef>
                <a:spcPts val="1400"/>
              </a:spcBef>
              <a:spcAft>
                <a:spcPts val="300"/>
              </a:spcAft>
            </a:pPr>
            <a:r>
              <a:rPr lang="en-US" sz="1300" b="1">
                <a:solidFill>
                  <a:srgbClr val="0A4B8C"/>
                </a:solidFill>
              </a:rPr>
              <a:t>Description</a:t>
            </a:r>
          </a:p>
          <a:p>
            <a:pPr>
              <a:spcBef>
                <a:spcPts val="0"/>
              </a:spcBef>
              <a:spcAft>
                <a:spcPts val="0"/>
              </a:spcAft>
            </a:pPr>
            <a:r>
              <a:rPr lang="en-US" sz="1200" b="0">
                <a:solidFill>
                  <a:schemeClr val="tx2"/>
                </a:solidFill>
              </a:rPr>
              <a:t>We will inventory all 11,199 scoped objects (queries, dashboards, alerts) from Splunk and AIOps. Using automated analysis, we will map their dependencies, score their complexity (Low, Medium, High), and work with CVS stakeholders to create a prioritized, tiered migration backlog.</a:t>
            </a:r>
          </a:p>
        </p:txBody>
      </p:sp>
      <p:sp>
        <p:nvSpPr>
          <p:cNvPr id="11" name="Phase Card 11"/>
          <p:cNvSpPr/>
          <p:nvPr/>
        </p:nvSpPr>
        <p:spPr bwMode="gray">
          <a:xfrm>
            <a:off x="4364197" y="2260000"/>
            <a:ext cx="3474720" cy="3815436"/>
          </a:xfrm>
          <a:prstGeom prst="rect">
            <a:avLst/>
          </a:prstGeom>
          <a:solidFill>
            <a:schemeClr val="bg1">
              <a:lumMod val="95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lIns="137160" tIns="91440" rIns="137160" bIns="91440" rtlCol="0" anchor="t">
            <a:noAutofit/>
          </a:bodyPr>
          <a:lstStyle/>
          <a:p>
            <a:pPr algn="ctr">
              <a:spcBef>
                <a:spcPts val="0"/>
              </a:spcBef>
              <a:spcAft>
                <a:spcPts val="0"/>
              </a:spcAft>
            </a:pPr>
            <a:r>
              <a:rPr lang="en-US" sz="1600" b="1">
                <a:solidFill>
                  <a:schemeClr val="tx2"/>
                </a:solidFill>
              </a:rPr>
              <a:t>2. Translate &amp; Migrate</a:t>
            </a:r>
          </a:p>
          <a:p>
            <a:pPr>
              <a:spcBef>
                <a:spcPts val="1200"/>
              </a:spcBef>
              <a:spcAft>
                <a:spcPts val="300"/>
              </a:spcAft>
            </a:pPr>
            <a:r>
              <a:rPr lang="en-US" sz="1300" b="1">
                <a:solidFill>
                  <a:srgbClr val="0A4B8C"/>
                </a:solidFill>
              </a:rPr>
              <a:t>Key Activities</a:t>
            </a:r>
          </a:p>
          <a:p>
            <a:pPr marL="171450" indent="-171450">
              <a:spcBef>
                <a:spcPts val="0"/>
              </a:spcBef>
              <a:spcAft>
                <a:spcPts val="300"/>
              </a:spcAft>
              <a:buFont typeface="Arial" panose="020B0604020202020204" pitchFamily="34" charset="0"/>
              <a:buChar char="•"/>
            </a:pPr>
            <a:r>
              <a:rPr lang="en-US" sz="1200" b="0">
                <a:solidFill>
                  <a:schemeClr val="tx2"/>
                </a:solidFill>
              </a:rPr>
              <a:t>AI-Assisted SPL-to-SQL Transpilation</a:t>
            </a:r>
          </a:p>
          <a:p>
            <a:pPr marL="171450" indent="-171450">
              <a:spcBef>
                <a:spcPts val="0"/>
              </a:spcBef>
              <a:spcAft>
                <a:spcPts val="300"/>
              </a:spcAft>
              <a:buFont typeface="Arial" panose="020B0604020202020204" pitchFamily="34" charset="0"/>
              <a:buChar char="•"/>
            </a:pPr>
            <a:r>
              <a:rPr lang="en-US" sz="1200" b="0">
                <a:solidFill>
                  <a:schemeClr val="tx2"/>
                </a:solidFill>
              </a:rPr>
              <a:t>Manual Refactoring &amp; Optimization</a:t>
            </a:r>
          </a:p>
          <a:p>
            <a:pPr marL="171450" indent="-171450">
              <a:spcBef>
                <a:spcPts val="0"/>
              </a:spcBef>
              <a:spcAft>
                <a:spcPts val="300"/>
              </a:spcAft>
              <a:buFont typeface="Arial" panose="020B0604020202020204" pitchFamily="34" charset="0"/>
              <a:buChar char="•"/>
            </a:pPr>
            <a:r>
              <a:rPr lang="en-US" sz="1200" b="0">
                <a:solidFill>
                  <a:schemeClr val="tx2"/>
                </a:solidFill>
              </a:rPr>
              <a:t>Dashboard &amp; Alert Reconstruction</a:t>
            </a:r>
          </a:p>
          <a:p>
            <a:pPr>
              <a:spcBef>
                <a:spcPts val="1400"/>
              </a:spcBef>
              <a:spcAft>
                <a:spcPts val="300"/>
              </a:spcAft>
            </a:pPr>
            <a:r>
              <a:rPr lang="en-US" sz="1300" b="1">
                <a:solidFill>
                  <a:srgbClr val="0A4B8C"/>
                </a:solidFill>
              </a:rPr>
              <a:t>Description</a:t>
            </a:r>
          </a:p>
          <a:p>
            <a:pPr>
              <a:spcBef>
                <a:spcPts val="0"/>
              </a:spcBef>
              <a:spcAft>
                <a:spcPts val="0"/>
              </a:spcAft>
            </a:pPr>
            <a:r>
              <a:rPr lang="en-US" sz="1200" b="0">
                <a:solidFill>
                  <a:schemeClr val="tx2"/>
                </a:solidFill>
              </a:rPr>
              <a:t>The core of the migration involves using an AI-powered “transpilation factory” for the initial conversion of Splunk SPL to Databricks SQL. This is followed by manual refactoring by our engineers to optimize performance and align with the new Medallion architecture. Dashboards and alerts are then rebuilt in Databricks.</a:t>
            </a:r>
          </a:p>
        </p:txBody>
      </p:sp>
      <p:sp>
        <p:nvSpPr>
          <p:cNvPr id="12" name="Phase Card 12"/>
          <p:cNvSpPr/>
          <p:nvPr/>
        </p:nvSpPr>
        <p:spPr bwMode="gray">
          <a:xfrm>
            <a:off x="8141018" y="2260000"/>
            <a:ext cx="3474720" cy="3815436"/>
          </a:xfrm>
          <a:prstGeom prst="rect">
            <a:avLst/>
          </a:prstGeom>
          <a:solidFill>
            <a:schemeClr val="bg1">
              <a:lumMod val="95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lIns="137160" tIns="91440" rIns="137160" bIns="91440" rtlCol="0" anchor="t">
            <a:noAutofit/>
          </a:bodyPr>
          <a:lstStyle/>
          <a:p>
            <a:pPr algn="ctr">
              <a:spcBef>
                <a:spcPts val="0"/>
              </a:spcBef>
              <a:spcAft>
                <a:spcPts val="0"/>
              </a:spcAft>
            </a:pPr>
            <a:r>
              <a:rPr lang="en-US" sz="1600" b="1">
                <a:solidFill>
                  <a:schemeClr val="tx2"/>
                </a:solidFill>
              </a:rPr>
              <a:t>3. Validate &amp; Hand Over</a:t>
            </a:r>
          </a:p>
          <a:p>
            <a:pPr>
              <a:spcBef>
                <a:spcPts val="1200"/>
              </a:spcBef>
              <a:spcAft>
                <a:spcPts val="300"/>
              </a:spcAft>
            </a:pPr>
            <a:r>
              <a:rPr lang="en-US" sz="1300" b="1">
                <a:solidFill>
                  <a:srgbClr val="0A4B8C"/>
                </a:solidFill>
              </a:rPr>
              <a:t>Key Activities</a:t>
            </a:r>
          </a:p>
          <a:p>
            <a:pPr marL="171450" indent="-171450">
              <a:spcBef>
                <a:spcPts val="0"/>
              </a:spcBef>
              <a:spcAft>
                <a:spcPts val="300"/>
              </a:spcAft>
              <a:buFont typeface="Arial" panose="020B0604020202020204" pitchFamily="34" charset="0"/>
              <a:buChar char="•"/>
            </a:pPr>
            <a:r>
              <a:rPr lang="en-US" sz="1200" b="0">
                <a:solidFill>
                  <a:schemeClr val="tx2"/>
                </a:solidFill>
              </a:rPr>
              <a:t>Automated Dual-Platform Parity Testing</a:t>
            </a:r>
          </a:p>
          <a:p>
            <a:pPr marL="171450" indent="-171450">
              <a:spcBef>
                <a:spcPts val="0"/>
              </a:spcBef>
              <a:spcAft>
                <a:spcPts val="300"/>
              </a:spcAft>
              <a:buFont typeface="Arial" panose="020B0604020202020204" pitchFamily="34" charset="0"/>
              <a:buChar char="•"/>
            </a:pPr>
            <a:r>
              <a:rPr lang="en-US" sz="1200" b="0">
                <a:solidFill>
                  <a:schemeClr val="tx2"/>
                </a:solidFill>
              </a:rPr>
              <a:t>User Acceptance Testing (UAT) Workshops</a:t>
            </a:r>
          </a:p>
          <a:p>
            <a:pPr marL="171450" indent="-171450">
              <a:spcBef>
                <a:spcPts val="0"/>
              </a:spcBef>
              <a:spcAft>
                <a:spcPts val="300"/>
              </a:spcAft>
              <a:buFont typeface="Arial" panose="020B0604020202020204" pitchFamily="34" charset="0"/>
              <a:buChar char="•"/>
            </a:pPr>
            <a:r>
              <a:rPr lang="en-US" sz="1200" b="0">
                <a:solidFill>
                  <a:schemeClr val="tx2"/>
                </a:solidFill>
              </a:rPr>
              <a:t>Handoff to Change Management &amp; Ops</a:t>
            </a:r>
          </a:p>
          <a:p>
            <a:pPr>
              <a:spcBef>
                <a:spcPts val="1400"/>
              </a:spcBef>
              <a:spcAft>
                <a:spcPts val="300"/>
              </a:spcAft>
            </a:pPr>
            <a:r>
              <a:rPr lang="en-US" sz="1300" b="1">
                <a:solidFill>
                  <a:srgbClr val="0A4B8C"/>
                </a:solidFill>
              </a:rPr>
              <a:t>Description</a:t>
            </a:r>
          </a:p>
          <a:p>
            <a:pPr>
              <a:spcBef>
                <a:spcPts val="0"/>
              </a:spcBef>
              <a:spcAft>
                <a:spcPts val="0"/>
              </a:spcAft>
            </a:pPr>
            <a:r>
              <a:rPr lang="en-US" sz="1200" b="0">
                <a:solidFill>
                  <a:schemeClr val="tx2"/>
                </a:solidFill>
              </a:rPr>
              <a:t>We will perform automated validation to ensure the output of the new Databricks query matches the legacy Splunk query. We will then conduct UAT workshops with end-users for final sign-off before handing over the validated assets and runbooks to the Change Management (E) and Hypercare (F) teams.</a:t>
            </a:r>
          </a:p>
        </p:txBody>
      </p:sp>
      <p:cxnSp>
        <p:nvCxnSpPr>
          <p:cNvPr id="13" name="Straight Connector 13"/>
          <p:cNvCxnSpPr>
            <a:cxnSpLocks/>
          </p:cNvCxnSpPr>
          <p:nvPr/>
        </p:nvCxnSpPr>
        <p:spPr>
          <a:xfrm>
            <a:off x="4213146" y="2510000"/>
            <a:ext cx="0" cy="3315436"/>
          </a:xfrm>
          <a:prstGeom prst="line">
            <a:avLst/>
          </a:prstGeom>
          <a:ln w="12700" cmpd="sng">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Arrow: Chevron 14"/>
          <p:cNvSpPr/>
          <p:nvPr/>
        </p:nvSpPr>
        <p:spPr bwMode="gray">
          <a:xfrm>
            <a:off x="4075986" y="3984838"/>
            <a:ext cx="274320" cy="365760"/>
          </a:xfrm>
          <a:prstGeom prst="chevron">
            <a:avLst/>
          </a:prstGeom>
          <a:solidFill>
            <a:schemeClr val="tx2"/>
          </a:solidFill>
          <a:ln w="19050">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cxnSp>
        <p:nvCxnSpPr>
          <p:cNvPr id="15" name="Straight Connector 15"/>
          <p:cNvCxnSpPr>
            <a:cxnSpLocks/>
          </p:cNvCxnSpPr>
          <p:nvPr/>
        </p:nvCxnSpPr>
        <p:spPr>
          <a:xfrm>
            <a:off x="7989967" y="2510000"/>
            <a:ext cx="0" cy="3315436"/>
          </a:xfrm>
          <a:prstGeom prst="line">
            <a:avLst/>
          </a:prstGeom>
          <a:ln w="12700" cmpd="sng">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Arrow: Chevron 16"/>
          <p:cNvSpPr/>
          <p:nvPr/>
        </p:nvSpPr>
        <p:spPr bwMode="gray">
          <a:xfrm>
            <a:off x="7852807" y="3984838"/>
            <a:ext cx="274320" cy="365760"/>
          </a:xfrm>
          <a:prstGeom prst="chevron">
            <a:avLst/>
          </a:prstGeom>
          <a:solidFill>
            <a:schemeClr val="tx2"/>
          </a:solidFill>
          <a:ln w="19050">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vert="horz" rIns="0"/>
          <a:lstStyle/>
          <a:p>
            <a:r>
              <a:rPr lang="en-US"/>
              <a:t>Workstream D – Information Request List</a:t>
            </a:r>
            <a:br>
              <a:rPr lang="en-US"/>
            </a:br>
            <a:r>
              <a:rPr lang="en-US" sz="1600" b="0"/>
              <a:t>Data and access needed to rationalize and migrate legacy analytics</a:t>
            </a:r>
            <a:endParaRPr lang="en-US" sz="1600"/>
          </a:p>
        </p:txBody>
      </p:sp>
      <p:sp>
        <p:nvSpPr>
          <p:cNvPr id="2" name="Content Placeholder 1"/>
          <p:cNvSpPr>
            <a:spLocks noGrp="1"/>
          </p:cNvSpPr>
          <p:nvPr>
            <p:ph idx="1"/>
          </p:nvPr>
        </p:nvSpPr>
        <p:spPr>
          <a:xfrm>
            <a:off x="587375" y="1494292"/>
            <a:ext cx="11028363" cy="520000"/>
          </a:xfrm>
        </p:spPr>
        <p:txBody>
          <a:bodyPr>
            <a:normAutofit/>
          </a:bodyPr>
          <a:lstStyle/>
          <a:p>
            <a:pPr>
              <a:spcBef>
                <a:spcPts val="0"/>
              </a:spcBef>
            </a:pPr>
            <a:r>
              <a:rPr lang="en-US" sz="1200" b="0"/>
              <a:t>To effectively rationalize and migrate the vast library of legacy analytics, we need </a:t>
            </a:r>
            <a:r>
              <a:rPr lang="en-US" sz="1200" b="1"/>
              <a:t>comprehensive data and access</a:t>
            </a:r>
            <a:r>
              <a:rPr lang="en-US" sz="1200" b="0"/>
              <a:t> from the teams who manage and use these assets today.</a:t>
            </a:r>
          </a:p>
        </p:txBody>
      </p:sp>
      <p:graphicFrame>
        <p:nvGraphicFramePr>
          <p:cNvPr id="10" name="Information Request Table"/>
          <p:cNvGraphicFramePr>
            <a:graphicFrameLocks noGrp="1"/>
          </p:cNvGraphicFramePr>
          <p:nvPr/>
        </p:nvGraphicFramePr>
        <p:xfrm>
          <a:off x="587375" y="2080000"/>
          <a:ext cx="11028363" cy="3100000"/>
        </p:xfrm>
        <a:graphic>
          <a:graphicData uri="http://schemas.openxmlformats.org/drawingml/2006/table">
            <a:tbl>
              <a:tblPr firstRow="1" bandRow="1">
                <a:tableStyleId>{08FB837D-C827-4EFA-A057-4D05807E0F7C}</a:tableStyleId>
              </a:tblPr>
              <a:tblGrid>
                <a:gridCol w="2150000">
                  <a:extLst>
                    <a:ext uri="{9D8B030D-6E8A-4147-A177-3AD203B41FA5}">
                      <a16:colId xmlns:a16="http://schemas.microsoft.com/office/drawing/2014/main" val="20000"/>
                    </a:ext>
                  </a:extLst>
                </a:gridCol>
                <a:gridCol w="6728363">
                  <a:extLst>
                    <a:ext uri="{9D8B030D-6E8A-4147-A177-3AD203B41FA5}">
                      <a16:colId xmlns:a16="http://schemas.microsoft.com/office/drawing/2014/main" val="20001"/>
                    </a:ext>
                  </a:extLst>
                </a:gridCol>
                <a:gridCol w="2150000">
                  <a:extLst>
                    <a:ext uri="{9D8B030D-6E8A-4147-A177-3AD203B41FA5}">
                      <a16:colId xmlns:a16="http://schemas.microsoft.com/office/drawing/2014/main" val="20002"/>
                    </a:ext>
                  </a:extLst>
                </a:gridCol>
              </a:tblGrid>
              <a:tr h="300000">
                <a:tc>
                  <a:txBody>
                    <a:bodyPr/>
                    <a:lstStyle/>
                    <a:p>
                      <a:pPr>
                        <a:spcBef>
                          <a:spcPts val="0"/>
                        </a:spcBef>
                        <a:spcAft>
                          <a:spcPts val="0"/>
                        </a:spcAft>
                      </a:pPr>
                      <a:r>
                        <a:rPr lang="en-US" sz="1200"/>
                        <a:t>Category</a:t>
                      </a:r>
                    </a:p>
                  </a:txBody>
                  <a:tcPr marL="73152" marR="73152" anchor="ctr"/>
                </a:tc>
                <a:tc>
                  <a:txBody>
                    <a:bodyPr/>
                    <a:lstStyle/>
                    <a:p>
                      <a:pPr>
                        <a:spcBef>
                          <a:spcPts val="0"/>
                        </a:spcBef>
                        <a:spcAft>
                          <a:spcPts val="0"/>
                        </a:spcAft>
                      </a:pPr>
                      <a:r>
                        <a:rPr lang="en-US" sz="1200"/>
                        <a:t>Specific Request</a:t>
                      </a:r>
                    </a:p>
                  </a:txBody>
                  <a:tcPr marL="73152" marR="73152" anchor="ctr"/>
                </a:tc>
                <a:tc>
                  <a:txBody>
                    <a:bodyPr/>
                    <a:lstStyle/>
                    <a:p>
                      <a:pPr>
                        <a:spcBef>
                          <a:spcPts val="0"/>
                        </a:spcBef>
                        <a:spcAft>
                          <a:spcPts val="0"/>
                        </a:spcAft>
                      </a:pPr>
                      <a:r>
                        <a:rPr lang="en-US" sz="1200"/>
                        <a:t>Required From</a:t>
                      </a:r>
                    </a:p>
                  </a:txBody>
                  <a:tcPr marL="73152" marR="73152" anchor="ctr"/>
                </a:tc>
                <a:extLst>
                  <a:ext uri="{0D108BD9-81ED-4DB2-BD59-A6C34878D82A}">
                    <a16:rowId xmlns:a16="http://schemas.microsoft.com/office/drawing/2014/main" val="10000"/>
                  </a:ext>
                </a:extLst>
              </a:tr>
              <a:tr h="600000">
                <a:tc>
                  <a:txBody>
                    <a:bodyPr/>
                    <a:lstStyle/>
                    <a:p>
                      <a:pPr>
                        <a:spcBef>
                          <a:spcPts val="0"/>
                        </a:spcBef>
                        <a:spcAft>
                          <a:spcPts val="0"/>
                        </a:spcAft>
                      </a:pPr>
                      <a:r>
                        <a:rPr lang="en-US" sz="1100" b="1"/>
                        <a:t>1. Foundational Inputs</a:t>
                      </a:r>
                    </a:p>
                  </a:txBody>
                  <a:tcPr marL="73152" marR="73152" anchor="ctr"/>
                </a:tc>
                <a:tc>
                  <a:txBody>
                    <a:bodyPr/>
                    <a:lstStyle/>
                    <a:p>
                      <a:pPr marL="171450" indent="-171450">
                        <a:spcBef>
                          <a:spcPts val="0"/>
                        </a:spcBef>
                        <a:spcAft>
                          <a:spcPts val="200"/>
                        </a:spcAft>
                        <a:buFont typeface="Arial" panose="020B0604020202020204" pitchFamily="34" charset="0"/>
                        <a:buChar char="•"/>
                      </a:pPr>
                      <a:r>
                        <a:rPr lang="en-US" sz="1100" b="0"/>
                        <a:t>Governed and conformed Silver domain tables. </a:t>
                      </a:r>
                      <a:r>
                        <a:rPr lang="en-US" sz="1100" b="1"/>
                        <a:t>(Critical Blocker)</a:t>
                      </a:r>
                    </a:p>
                    <a:p>
                      <a:pPr marL="171450" indent="-171450">
                        <a:spcBef>
                          <a:spcPts val="0"/>
                        </a:spcBef>
                        <a:spcAft>
                          <a:spcPts val="200"/>
                        </a:spcAft>
                        <a:buFont typeface="Arial" panose="020B0604020202020204" pitchFamily="34" charset="0"/>
                        <a:buChar char="•"/>
                      </a:pPr>
                      <a:r>
                        <a:rPr lang="en-US" sz="1100" b="0"/>
                        <a:t>Confirmed SPL-to-SQL translation logic and query performance guidelines from Workstream A.</a:t>
                      </a:r>
                    </a:p>
                  </a:txBody>
                  <a:tcPr marL="73152" marR="73152" anchor="ctr"/>
                </a:tc>
                <a:tc>
                  <a:txBody>
                    <a:bodyPr/>
                    <a:lstStyle/>
                    <a:p>
                      <a:pPr>
                        <a:spcBef>
                          <a:spcPts val="0"/>
                        </a:spcBef>
                        <a:spcAft>
                          <a:spcPts val="0"/>
                        </a:spcAft>
                      </a:pPr>
                      <a:r>
                        <a:rPr lang="en-US" sz="1100"/>
                        <a:t>Workstream C &amp; A</a:t>
                      </a:r>
                    </a:p>
                  </a:txBody>
                  <a:tcPr marL="73152" marR="73152" anchor="ctr"/>
                </a:tc>
                <a:extLst>
                  <a:ext uri="{0D108BD9-81ED-4DB2-BD59-A6C34878D82A}">
                    <a16:rowId xmlns:a16="http://schemas.microsoft.com/office/drawing/2014/main" val="10001"/>
                  </a:ext>
                </a:extLst>
              </a:tr>
              <a:tr h="800000">
                <a:tc>
                  <a:txBody>
                    <a:bodyPr/>
                    <a:lstStyle/>
                    <a:p>
                      <a:pPr>
                        <a:spcBef>
                          <a:spcPts val="0"/>
                        </a:spcBef>
                        <a:spcAft>
                          <a:spcPts val="0"/>
                        </a:spcAft>
                      </a:pPr>
                      <a:r>
                        <a:rPr lang="en-US" sz="1100" b="1"/>
                        <a:t>2. Legacy Analytics Exports</a:t>
                      </a:r>
                    </a:p>
                  </a:txBody>
                  <a:tcPr marL="73152" marR="73152" anchor="ctr"/>
                </a:tc>
                <a:tc>
                  <a:txBody>
                    <a:bodyPr/>
                    <a:lstStyle/>
                    <a:p>
                      <a:pPr marL="171450" indent="-171450">
                        <a:spcBef>
                          <a:spcPts val="0"/>
                        </a:spcBef>
                        <a:spcAft>
                          <a:spcPts val="200"/>
                        </a:spcAft>
                        <a:buFont typeface="Arial" panose="020B0604020202020204" pitchFamily="34" charset="0"/>
                        <a:buChar char="•"/>
                      </a:pPr>
                      <a:r>
                        <a:rPr lang="en-US" sz="1100" b="0"/>
                        <a:t>Complete exports of all 11,199 in-scope objects from Splunk ES, Splunk Core, and AIOps.</a:t>
                      </a:r>
                    </a:p>
                    <a:p>
                      <a:pPr marL="171450" indent="-171450">
                        <a:spcBef>
                          <a:spcPts val="0"/>
                        </a:spcBef>
                        <a:spcAft>
                          <a:spcPts val="200"/>
                        </a:spcAft>
                        <a:buFont typeface="Arial" panose="020B0604020202020204" pitchFamily="34" charset="0"/>
                        <a:buChar char="•"/>
                      </a:pPr>
                      <a:r>
                        <a:rPr lang="en-US" sz="1100" b="0"/>
                        <a:t>Data on query/dashboard ownership, usage frequency, and last-run dates.</a:t>
                      </a:r>
                    </a:p>
                    <a:p>
                      <a:pPr marL="171450" indent="-171450">
                        <a:spcBef>
                          <a:spcPts val="0"/>
                        </a:spcBef>
                        <a:spcAft>
                          <a:spcPts val="200"/>
                        </a:spcAft>
                        <a:buFont typeface="Arial" panose="020B0604020202020204" pitchFamily="34" charset="0"/>
                        <a:buChar char="•"/>
                      </a:pPr>
                      <a:r>
                        <a:rPr lang="en-US" sz="1100" b="0"/>
                        <a:t>Documentation on any downstream systems that consume the output of these legacy analytics.</a:t>
                      </a:r>
                    </a:p>
                  </a:txBody>
                  <a:tcPr marL="73152" marR="73152" anchor="ctr"/>
                </a:tc>
                <a:tc>
                  <a:txBody>
                    <a:bodyPr/>
                    <a:lstStyle/>
                    <a:p>
                      <a:pPr>
                        <a:spcBef>
                          <a:spcPts val="0"/>
                        </a:spcBef>
                        <a:spcAft>
                          <a:spcPts val="0"/>
                        </a:spcAft>
                      </a:pPr>
                      <a:r>
                        <a:rPr lang="en-US" sz="1100"/>
                        <a:t>Splunk and AIOps Engineering Teams</a:t>
                      </a:r>
                    </a:p>
                  </a:txBody>
                  <a:tcPr marL="73152" marR="73152" anchor="ctr"/>
                </a:tc>
                <a:extLst>
                  <a:ext uri="{0D108BD9-81ED-4DB2-BD59-A6C34878D82A}">
                    <a16:rowId xmlns:a16="http://schemas.microsoft.com/office/drawing/2014/main" val="10002"/>
                  </a:ext>
                </a:extLst>
              </a:tr>
              <a:tr h="700000">
                <a:tc>
                  <a:txBody>
                    <a:bodyPr/>
                    <a:lstStyle/>
                    <a:p>
                      <a:pPr>
                        <a:spcBef>
                          <a:spcPts val="0"/>
                        </a:spcBef>
                        <a:spcAft>
                          <a:spcPts val="0"/>
                        </a:spcAft>
                      </a:pPr>
                      <a:r>
                        <a:rPr lang="en-US" sz="1100" b="1"/>
                        <a:t>3. Stakeholder &amp; User Input</a:t>
                      </a:r>
                    </a:p>
                  </a:txBody>
                  <a:tcPr marL="73152" marR="73152" anchor="ctr"/>
                </a:tc>
                <a:tc>
                  <a:txBody>
                    <a:bodyPr/>
                    <a:lstStyle/>
                    <a:p>
                      <a:pPr marL="171450" indent="-171450">
                        <a:spcBef>
                          <a:spcPts val="0"/>
                        </a:spcBef>
                        <a:spcAft>
                          <a:spcPts val="200"/>
                        </a:spcAft>
                        <a:buFont typeface="Arial" panose="020B0604020202020204" pitchFamily="34" charset="0"/>
                        <a:buChar char="•"/>
                      </a:pPr>
                      <a:r>
                        <a:rPr lang="en-US" sz="1100" b="0"/>
                        <a:t>A list of power users and SMEs from the SOC and Observability teams to assist in prioritization and validation.</a:t>
                      </a:r>
                    </a:p>
                    <a:p>
                      <a:pPr marL="171450" indent="-171450">
                        <a:spcBef>
                          <a:spcPts val="0"/>
                        </a:spcBef>
                        <a:spcAft>
                          <a:spcPts val="200"/>
                        </a:spcAft>
                        <a:buFont typeface="Arial" panose="020B0604020202020204" pitchFamily="34" charset="0"/>
                        <a:buChar char="•"/>
                      </a:pPr>
                      <a:r>
                        <a:rPr lang="en-US" sz="1100" b="0"/>
                        <a:t>A streamlined process for UAT and final sign-off on migrated analytics.</a:t>
                      </a:r>
                    </a:p>
                  </a:txBody>
                  <a:tcPr marL="73152" marR="73152" anchor="ctr"/>
                </a:tc>
                <a:tc>
                  <a:txBody>
                    <a:bodyPr/>
                    <a:lstStyle/>
                    <a:p>
                      <a:pPr>
                        <a:spcBef>
                          <a:spcPts val="0"/>
                        </a:spcBef>
                        <a:spcAft>
                          <a:spcPts val="0"/>
                        </a:spcAft>
                      </a:pPr>
                      <a:r>
                        <a:rPr lang="en-US" sz="1100"/>
                        <a:t>Business Analytics &amp; End-User Teams</a:t>
                      </a:r>
                    </a:p>
                  </a:txBody>
                  <a:tcPr marL="73152" marR="73152" anchor="ctr"/>
                </a:tc>
                <a:extLst>
                  <a:ext uri="{0D108BD9-81ED-4DB2-BD59-A6C34878D82A}">
                    <a16:rowId xmlns:a16="http://schemas.microsoft.com/office/drawing/2014/main" val="10003"/>
                  </a:ext>
                </a:extLst>
              </a:tr>
              <a:tr h="700000">
                <a:tc>
                  <a:txBody>
                    <a:bodyPr/>
                    <a:lstStyle/>
                    <a:p>
                      <a:pPr>
                        <a:spcBef>
                          <a:spcPts val="0"/>
                        </a:spcBef>
                        <a:spcAft>
                          <a:spcPts val="0"/>
                        </a:spcAft>
                      </a:pPr>
                      <a:r>
                        <a:rPr lang="en-US" sz="1100" b="1"/>
                        <a:t>4. Technical Environment Access</a:t>
                      </a:r>
                    </a:p>
                  </a:txBody>
                  <a:tcPr marL="73152" marR="73152" anchor="ctr"/>
                </a:tc>
                <a:tc>
                  <a:txBody>
                    <a:bodyPr/>
                    <a:lstStyle/>
                    <a:p>
                      <a:pPr marL="171450" indent="-171450">
                        <a:spcBef>
                          <a:spcPts val="0"/>
                        </a:spcBef>
                        <a:spcAft>
                          <a:spcPts val="200"/>
                        </a:spcAft>
                        <a:buFont typeface="Arial" panose="020B0604020202020204" pitchFamily="34" charset="0"/>
                        <a:buChar char="•"/>
                      </a:pPr>
                      <a:r>
                        <a:rPr lang="en-US" sz="1100" b="0"/>
                        <a:t>Dedicated, isolated non-production workspaces in Databricks for the migration team to conduct development and testing.</a:t>
                      </a:r>
                    </a:p>
                    <a:p>
                      <a:pPr marL="171450" indent="-171450">
                        <a:spcBef>
                          <a:spcPts val="0"/>
                        </a:spcBef>
                        <a:spcAft>
                          <a:spcPts val="200"/>
                        </a:spcAft>
                        <a:buFont typeface="Arial" panose="020B0604020202020204" pitchFamily="34" charset="0"/>
                        <a:buChar char="•"/>
                      </a:pPr>
                      <a:r>
                        <a:rPr lang="en-US" sz="1100" b="0"/>
                        <a:t>Access to the AI Transpilation Factory tooling and environments.</a:t>
                      </a:r>
                    </a:p>
                  </a:txBody>
                  <a:tcPr marL="73152" marR="73152" anchor="ctr"/>
                </a:tc>
                <a:tc>
                  <a:txBody>
                    <a:bodyPr/>
                    <a:lstStyle/>
                    <a:p>
                      <a:pPr>
                        <a:spcBef>
                          <a:spcPts val="0"/>
                        </a:spcBef>
                        <a:spcAft>
                          <a:spcPts val="0"/>
                        </a:spcAft>
                      </a:pPr>
                      <a:r>
                        <a:rPr lang="en-US" sz="1100"/>
                        <a:t>CVS Platform Team</a:t>
                      </a:r>
                    </a:p>
                  </a:txBody>
                  <a:tcPr marL="73152" marR="73152"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vert="horz" rIns="0"/>
          <a:lstStyle/>
          <a:p>
            <a:r>
              <a:rPr lang="en-US"/>
              <a:t>Workstream D – Proposed Meetings</a:t>
            </a:r>
            <a:br>
              <a:rPr lang="en-US"/>
            </a:br>
            <a:r>
              <a:rPr lang="en-US" sz="1600" b="0"/>
              <a:t>Cadence built around the tiered migration backlog</a:t>
            </a:r>
            <a:endParaRPr lang="en-US" sz="1600"/>
          </a:p>
        </p:txBody>
      </p:sp>
      <p:sp>
        <p:nvSpPr>
          <p:cNvPr id="2" name="Content Placeholder 1"/>
          <p:cNvSpPr>
            <a:spLocks noGrp="1"/>
          </p:cNvSpPr>
          <p:nvPr>
            <p:ph idx="1"/>
          </p:nvPr>
        </p:nvSpPr>
        <p:spPr>
          <a:xfrm>
            <a:off x="587375" y="1494292"/>
            <a:ext cx="11028363" cy="520000"/>
          </a:xfrm>
        </p:spPr>
        <p:txBody>
          <a:bodyPr>
            <a:normAutofit/>
          </a:bodyPr>
          <a:lstStyle/>
          <a:p>
            <a:pPr>
              <a:spcBef>
                <a:spcPts val="0"/>
              </a:spcBef>
            </a:pPr>
            <a:r>
              <a:rPr lang="en-US" sz="1200" b="0"/>
              <a:t>The meeting cadence for Workstream D is structured around a tiered migration backlog, ensuring a steady flow of delivery from rationalization through to user acceptance.</a:t>
            </a:r>
          </a:p>
        </p:txBody>
      </p:sp>
      <p:graphicFrame>
        <p:nvGraphicFramePr>
          <p:cNvPr id="10" name="Proposed Meetings Table"/>
          <p:cNvGraphicFramePr>
            <a:graphicFrameLocks noGrp="1"/>
          </p:cNvGraphicFramePr>
          <p:nvPr/>
        </p:nvGraphicFramePr>
        <p:xfrm>
          <a:off x="587375" y="2080000"/>
          <a:ext cx="11028363" cy="3370000"/>
        </p:xfrm>
        <a:graphic>
          <a:graphicData uri="http://schemas.openxmlformats.org/drawingml/2006/table">
            <a:tbl>
              <a:tblPr firstRow="1" bandRow="1">
                <a:tableStyleId>{08FB837D-C827-4EFA-A057-4D05807E0F7C}</a:tableStyleId>
              </a:tblPr>
              <a:tblGrid>
                <a:gridCol w="3000000">
                  <a:extLst>
                    <a:ext uri="{9D8B030D-6E8A-4147-A177-3AD203B41FA5}">
                      <a16:colId xmlns:a16="http://schemas.microsoft.com/office/drawing/2014/main" val="20000"/>
                    </a:ext>
                  </a:extLst>
                </a:gridCol>
                <a:gridCol w="1400000">
                  <a:extLst>
                    <a:ext uri="{9D8B030D-6E8A-4147-A177-3AD203B41FA5}">
                      <a16:colId xmlns:a16="http://schemas.microsoft.com/office/drawing/2014/main" val="20001"/>
                    </a:ext>
                  </a:extLst>
                </a:gridCol>
                <a:gridCol w="6628363">
                  <a:extLst>
                    <a:ext uri="{9D8B030D-6E8A-4147-A177-3AD203B41FA5}">
                      <a16:colId xmlns:a16="http://schemas.microsoft.com/office/drawing/2014/main" val="20002"/>
                    </a:ext>
                  </a:extLst>
                </a:gridCol>
              </a:tblGrid>
              <a:tr h="330000">
                <a:tc>
                  <a:txBody>
                    <a:bodyPr/>
                    <a:lstStyle/>
                    <a:p>
                      <a:pPr>
                        <a:spcBef>
                          <a:spcPts val="0"/>
                        </a:spcBef>
                        <a:spcAft>
                          <a:spcPts val="0"/>
                        </a:spcAft>
                      </a:pPr>
                      <a:r>
                        <a:rPr lang="en-US" sz="1200"/>
                        <a:t>Meeting</a:t>
                      </a:r>
                    </a:p>
                  </a:txBody>
                  <a:tcPr marL="73152" marR="73152" anchor="ctr"/>
                </a:tc>
                <a:tc>
                  <a:txBody>
                    <a:bodyPr/>
                    <a:lstStyle/>
                    <a:p>
                      <a:pPr>
                        <a:spcBef>
                          <a:spcPts val="0"/>
                        </a:spcBef>
                        <a:spcAft>
                          <a:spcPts val="0"/>
                        </a:spcAft>
                      </a:pPr>
                      <a:r>
                        <a:rPr lang="en-US" sz="1200"/>
                        <a:t>Cadence</a:t>
                      </a:r>
                    </a:p>
                  </a:txBody>
                  <a:tcPr marL="73152" marR="73152" anchor="ctr"/>
                </a:tc>
                <a:tc>
                  <a:txBody>
                    <a:bodyPr/>
                    <a:lstStyle/>
                    <a:p>
                      <a:pPr>
                        <a:spcBef>
                          <a:spcPts val="0"/>
                        </a:spcBef>
                        <a:spcAft>
                          <a:spcPts val="0"/>
                        </a:spcAft>
                      </a:pPr>
                      <a:r>
                        <a:rPr lang="en-US" sz="1200"/>
                        <a:t>Purpose &amp; Key Attendees</a:t>
                      </a:r>
                    </a:p>
                  </a:txBody>
                  <a:tcPr marL="73152" marR="73152" anchor="ctr"/>
                </a:tc>
                <a:extLst>
                  <a:ext uri="{0D108BD9-81ED-4DB2-BD59-A6C34878D82A}">
                    <a16:rowId xmlns:a16="http://schemas.microsoft.com/office/drawing/2014/main" val="10000"/>
                  </a:ext>
                </a:extLst>
              </a:tr>
              <a:tr h="320000">
                <a:tc gridSpan="3">
                  <a:txBody>
                    <a:bodyPr/>
                    <a:lstStyle/>
                    <a:p>
                      <a:pPr>
                        <a:spcBef>
                          <a:spcPts val="0"/>
                        </a:spcBef>
                        <a:spcAft>
                          <a:spcPts val="0"/>
                        </a:spcAft>
                      </a:pPr>
                      <a:r>
                        <a:rPr lang="en-US" sz="1200" b="1">
                          <a:solidFill>
                            <a:schemeClr val="bg1"/>
                          </a:solidFill>
                        </a:rPr>
                        <a:t>Month 1: October 2026 – Rationalization &amp; Tier 1 Planning</a:t>
                      </a:r>
                    </a:p>
                  </a:txBody>
                  <a:tcPr marL="73152" marR="73152" anchor="ctr">
                    <a:solidFill>
                      <a:srgbClr val="0A4B8C"/>
                    </a:solidFill>
                  </a:tcPr>
                </a:tc>
                <a:tc hMerge="1">
                  <a:txBody>
                    <a:bodyPr/>
                    <a:lstStyle/>
                    <a:p>
                      <a:endParaRPr lang="en-US" sz="1000"/>
                    </a:p>
                  </a:txBody>
                  <a:tcPr marL="73152" marR="73152" anchor="ctr">
                    <a:solidFill>
                      <a:srgbClr val="0A4B8C"/>
                    </a:solidFill>
                  </a:tcPr>
                </a:tc>
                <a:tc hMerge="1">
                  <a:txBody>
                    <a:bodyPr/>
                    <a:lstStyle/>
                    <a:p>
                      <a:endParaRPr lang="en-US" sz="1000"/>
                    </a:p>
                  </a:txBody>
                  <a:tcPr marL="73152" marR="73152" anchor="ctr">
                    <a:solidFill>
                      <a:srgbClr val="0A4B8C"/>
                    </a:solidFill>
                  </a:tcPr>
                </a:tc>
                <a:extLst>
                  <a:ext uri="{0D108BD9-81ED-4DB2-BD59-A6C34878D82A}">
                    <a16:rowId xmlns:a16="http://schemas.microsoft.com/office/drawing/2014/main" val="10001"/>
                  </a:ext>
                </a:extLst>
              </a:tr>
              <a:tr h="600000">
                <a:tc>
                  <a:txBody>
                    <a:bodyPr/>
                    <a:lstStyle/>
                    <a:p>
                      <a:pPr>
                        <a:spcBef>
                          <a:spcPts val="0"/>
                        </a:spcBef>
                        <a:spcAft>
                          <a:spcPts val="0"/>
                        </a:spcAft>
                      </a:pPr>
                      <a:r>
                        <a:rPr lang="en-US" sz="1200" b="1"/>
                        <a:t>Analytics Rationalization &amp; Prioritization Board</a:t>
                      </a:r>
                    </a:p>
                  </a:txBody>
                  <a:tcPr marL="73152" marR="73152" anchor="ctr"/>
                </a:tc>
                <a:tc>
                  <a:txBody>
                    <a:bodyPr/>
                    <a:lstStyle/>
                    <a:p>
                      <a:pPr>
                        <a:spcBef>
                          <a:spcPts val="0"/>
                        </a:spcBef>
                        <a:spcAft>
                          <a:spcPts val="0"/>
                        </a:spcAft>
                      </a:pPr>
                      <a:r>
                        <a:rPr lang="en-US" sz="1200"/>
                        <a:t>Weekly</a:t>
                      </a:r>
                    </a:p>
                  </a:txBody>
                  <a:tcPr marL="73152" marR="73152" anchor="ctr"/>
                </a:tc>
                <a:tc>
                  <a:txBody>
                    <a:bodyPr/>
                    <a:lstStyle/>
                    <a:p>
                      <a:pPr>
                        <a:spcBef>
                          <a:spcPts val="0"/>
                        </a:spcBef>
                        <a:spcAft>
                          <a:spcPts val="0"/>
                        </a:spcAft>
                      </a:pPr>
                      <a:r>
                        <a:rPr lang="en-US" sz="1200"/>
                        <a:t>Review analytics usage data and prioritize the migration backlog into Tiers 1, 2, and 3. </a:t>
                      </a:r>
                      <a:r>
                        <a:rPr lang="en-US" sz="1200" b="1"/>
                        <a:t>Attendees: </a:t>
                      </a:r>
                      <a:r>
                        <a:rPr lang="en-US" sz="1200"/>
                        <a:t>Workstream D leads and CVS SOC/Observability team leads.</a:t>
                      </a:r>
                    </a:p>
                  </a:txBody>
                  <a:tcPr marL="73152" marR="73152" anchor="ctr"/>
                </a:tc>
                <a:extLst>
                  <a:ext uri="{0D108BD9-81ED-4DB2-BD59-A6C34878D82A}">
                    <a16:rowId xmlns:a16="http://schemas.microsoft.com/office/drawing/2014/main" val="10002"/>
                  </a:ext>
                </a:extLst>
              </a:tr>
              <a:tr h="600000">
                <a:tc>
                  <a:txBody>
                    <a:bodyPr/>
                    <a:lstStyle/>
                    <a:p>
                      <a:pPr>
                        <a:spcBef>
                          <a:spcPts val="0"/>
                        </a:spcBef>
                        <a:spcAft>
                          <a:spcPts val="0"/>
                        </a:spcAft>
                      </a:pPr>
                      <a:r>
                        <a:rPr lang="en-US" sz="1200" b="1"/>
                        <a:t>AI Transpiler Factory Sync</a:t>
                      </a:r>
                    </a:p>
                  </a:txBody>
                  <a:tcPr marL="73152" marR="73152" anchor="ctr"/>
                </a:tc>
                <a:tc>
                  <a:txBody>
                    <a:bodyPr/>
                    <a:lstStyle/>
                    <a:p>
                      <a:pPr>
                        <a:spcBef>
                          <a:spcPts val="0"/>
                        </a:spcBef>
                        <a:spcAft>
                          <a:spcPts val="0"/>
                        </a:spcAft>
                      </a:pPr>
                      <a:r>
                        <a:rPr lang="en-US" sz="1200"/>
                        <a:t>Weekly</a:t>
                      </a:r>
                    </a:p>
                  </a:txBody>
                  <a:tcPr marL="73152" marR="73152" anchor="ctr"/>
                </a:tc>
                <a:tc>
                  <a:txBody>
                    <a:bodyPr/>
                    <a:lstStyle/>
                    <a:p>
                      <a:pPr>
                        <a:spcBef>
                          <a:spcPts val="0"/>
                        </a:spcBef>
                        <a:spcAft>
                          <a:spcPts val="0"/>
                        </a:spcAft>
                      </a:pPr>
                      <a:r>
                        <a:rPr lang="en-US" sz="1200"/>
                        <a:t>Technical sync to manage the AI-assisted conversion pipeline, review transpilation accuracy, and refine the process. </a:t>
                      </a:r>
                      <a:r>
                        <a:rPr lang="en-US" sz="1200" b="1"/>
                        <a:t>Attendees: </a:t>
                      </a:r>
                      <a:r>
                        <a:rPr lang="en-US" sz="1200"/>
                        <a:t>KPMG migration engineers.</a:t>
                      </a:r>
                    </a:p>
                  </a:txBody>
                  <a:tcPr marL="73152" marR="73152" anchor="ctr"/>
                </a:tc>
                <a:extLst>
                  <a:ext uri="{0D108BD9-81ED-4DB2-BD59-A6C34878D82A}">
                    <a16:rowId xmlns:a16="http://schemas.microsoft.com/office/drawing/2014/main" val="10003"/>
                  </a:ext>
                </a:extLst>
              </a:tr>
              <a:tr h="320000">
                <a:tc gridSpan="3">
                  <a:txBody>
                    <a:bodyPr/>
                    <a:lstStyle/>
                    <a:p>
                      <a:pPr>
                        <a:spcBef>
                          <a:spcPts val="0"/>
                        </a:spcBef>
                        <a:spcAft>
                          <a:spcPts val="0"/>
                        </a:spcAft>
                      </a:pPr>
                      <a:r>
                        <a:rPr lang="en-US" sz="1200" b="1">
                          <a:solidFill>
                            <a:schemeClr val="bg1"/>
                          </a:solidFill>
                        </a:rPr>
                        <a:t>Month 2: November 2026 – Tier 1 Migration &amp; Validation Sprints</a:t>
                      </a:r>
                    </a:p>
                  </a:txBody>
                  <a:tcPr marL="73152" marR="73152" anchor="ctr">
                    <a:solidFill>
                      <a:srgbClr val="0A4B8C"/>
                    </a:solidFill>
                  </a:tcPr>
                </a:tc>
                <a:tc hMerge="1">
                  <a:txBody>
                    <a:bodyPr/>
                    <a:lstStyle/>
                    <a:p>
                      <a:endParaRPr lang="en-US" sz="1000"/>
                    </a:p>
                  </a:txBody>
                  <a:tcPr marL="73152" marR="73152" anchor="ctr">
                    <a:solidFill>
                      <a:srgbClr val="0A4B8C"/>
                    </a:solidFill>
                  </a:tcPr>
                </a:tc>
                <a:tc hMerge="1">
                  <a:txBody>
                    <a:bodyPr/>
                    <a:lstStyle/>
                    <a:p>
                      <a:endParaRPr lang="en-US" sz="1000"/>
                    </a:p>
                  </a:txBody>
                  <a:tcPr marL="73152" marR="73152" anchor="ctr">
                    <a:solidFill>
                      <a:srgbClr val="0A4B8C"/>
                    </a:solidFill>
                  </a:tcPr>
                </a:tc>
                <a:extLst>
                  <a:ext uri="{0D108BD9-81ED-4DB2-BD59-A6C34878D82A}">
                    <a16:rowId xmlns:a16="http://schemas.microsoft.com/office/drawing/2014/main" val="10004"/>
                  </a:ext>
                </a:extLst>
              </a:tr>
              <a:tr h="600000">
                <a:tc>
                  <a:txBody>
                    <a:bodyPr/>
                    <a:lstStyle/>
                    <a:p>
                      <a:pPr>
                        <a:spcBef>
                          <a:spcPts val="0"/>
                        </a:spcBef>
                        <a:spcAft>
                          <a:spcPts val="0"/>
                        </a:spcAft>
                      </a:pPr>
                      <a:r>
                        <a:rPr lang="en-US" sz="1200" b="1"/>
                        <a:t>Migration Sprint Planning &amp; Review</a:t>
                      </a:r>
                    </a:p>
                  </a:txBody>
                  <a:tcPr marL="73152" marR="73152" anchor="ctr"/>
                </a:tc>
                <a:tc>
                  <a:txBody>
                    <a:bodyPr/>
                    <a:lstStyle/>
                    <a:p>
                      <a:pPr>
                        <a:spcBef>
                          <a:spcPts val="0"/>
                        </a:spcBef>
                        <a:spcAft>
                          <a:spcPts val="0"/>
                        </a:spcAft>
                      </a:pPr>
                      <a:r>
                        <a:rPr lang="en-US" sz="1200"/>
                        <a:t>Bi-Weekly</a:t>
                      </a:r>
                    </a:p>
                  </a:txBody>
                  <a:tcPr marL="73152" marR="73152" anchor="ctr"/>
                </a:tc>
                <a:tc>
                  <a:txBody>
                    <a:bodyPr/>
                    <a:lstStyle/>
                    <a:p>
                      <a:pPr>
                        <a:spcBef>
                          <a:spcPts val="0"/>
                        </a:spcBef>
                        <a:spcAft>
                          <a:spcPts val="0"/>
                        </a:spcAft>
                      </a:pPr>
                      <a:r>
                        <a:rPr lang="en-US" sz="1200"/>
                        <a:t>Agile ceremonies to plan the migration of a specific batch of queries/dashboards for the upcoming sprint. </a:t>
                      </a:r>
                      <a:r>
                        <a:rPr lang="en-US" sz="1200" b="1"/>
                        <a:t>Attendees: </a:t>
                      </a:r>
                      <a:r>
                        <a:rPr lang="en-US" sz="1200"/>
                        <a:t>Workstream D delivery pods.</a:t>
                      </a:r>
                    </a:p>
                  </a:txBody>
                  <a:tcPr marL="73152" marR="73152" anchor="ctr"/>
                </a:tc>
                <a:extLst>
                  <a:ext uri="{0D108BD9-81ED-4DB2-BD59-A6C34878D82A}">
                    <a16:rowId xmlns:a16="http://schemas.microsoft.com/office/drawing/2014/main" val="10005"/>
                  </a:ext>
                </a:extLst>
              </a:tr>
              <a:tr h="600000">
                <a:tc>
                  <a:txBody>
                    <a:bodyPr/>
                    <a:lstStyle/>
                    <a:p>
                      <a:pPr>
                        <a:spcBef>
                          <a:spcPts val="0"/>
                        </a:spcBef>
                        <a:spcAft>
                          <a:spcPts val="0"/>
                        </a:spcAft>
                      </a:pPr>
                      <a:r>
                        <a:rPr lang="en-US" sz="1200" b="1"/>
                        <a:t>User Acceptance Testing (UAT) Workshop</a:t>
                      </a:r>
                    </a:p>
                  </a:txBody>
                  <a:tcPr marL="73152" marR="73152" anchor="ctr"/>
                </a:tc>
                <a:tc>
                  <a:txBody>
                    <a:bodyPr/>
                    <a:lstStyle/>
                    <a:p>
                      <a:pPr>
                        <a:spcBef>
                          <a:spcPts val="0"/>
                        </a:spcBef>
                        <a:spcAft>
                          <a:spcPts val="0"/>
                        </a:spcAft>
                      </a:pPr>
                      <a:r>
                        <a:rPr lang="en-US" sz="1200"/>
                        <a:t>Bi-Weekly</a:t>
                      </a:r>
                    </a:p>
                  </a:txBody>
                  <a:tcPr marL="73152" marR="73152" anchor="ctr"/>
                </a:tc>
                <a:tc>
                  <a:txBody>
                    <a:bodyPr/>
                    <a:lstStyle/>
                    <a:p>
                      <a:pPr>
                        <a:spcBef>
                          <a:spcPts val="0"/>
                        </a:spcBef>
                        <a:spcAft>
                          <a:spcPts val="0"/>
                        </a:spcAft>
                      </a:pPr>
                      <a:r>
                        <a:rPr lang="en-US" sz="1200"/>
                        <a:t>Hands-on validation and sign-off sessions where end-users test the newly migrated dashboards and alerts in Databricks. </a:t>
                      </a:r>
                      <a:r>
                        <a:rPr lang="en-US" sz="1200" b="1"/>
                        <a:t>Attendees: </a:t>
                      </a:r>
                      <a:r>
                        <a:rPr lang="en-US" sz="1200"/>
                        <a:t>Workstream D engineers and nominated CVS power users.</a:t>
                      </a:r>
                    </a:p>
                  </a:txBody>
                  <a:tcPr marL="73152" marR="73152"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BAD4F46-FD01-DC9B-28B4-834AF0AF6EEA}"/>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3C8C338-128C-C8B6-058C-5808A9C50906}"/>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5" name="thinkcell data - do not delete" hidden="1">
                        <a:extLst>
                          <a:ext uri="{FF2B5EF4-FFF2-40B4-BE49-F238E27FC236}">
                            <a16:creationId xmlns:a16="http://schemas.microsoft.com/office/drawing/2014/main" id="{B3C8C338-128C-C8B6-058C-5808A9C5090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09835F8D-99E5-658D-2B1B-C530B4C6CF91}"/>
              </a:ext>
            </a:extLst>
          </p:cNvPr>
          <p:cNvSpPr>
            <a:spLocks noGrp="1"/>
          </p:cNvSpPr>
          <p:nvPr>
            <p:ph type="title"/>
          </p:nvPr>
        </p:nvSpPr>
        <p:spPr>
          <a:xfrm>
            <a:off x="557931" y="584200"/>
            <a:ext cx="6449044" cy="713232"/>
          </a:xfrm>
        </p:spPr>
        <p:txBody>
          <a:bodyPr vert="horz" rIns="0"/>
          <a:lstStyle/>
          <a:p>
            <a:r>
              <a:rPr lang="en-US"/>
              <a:t>Workstream 0</a:t>
            </a:r>
          </a:p>
        </p:txBody>
      </p:sp>
    </p:spTree>
    <p:extLst>
      <p:ext uri="{BB962C8B-B14F-4D97-AF65-F5344CB8AC3E}">
        <p14:creationId xmlns:p14="http://schemas.microsoft.com/office/powerpoint/2010/main" val="6203672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B7AC3E9-9449-D877-C5CE-774BE7BF0AD1}"/>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5" name="thinkcell data - do not delete" hidden="1">
                        <a:extLst>
                          <a:ext uri="{FF2B5EF4-FFF2-40B4-BE49-F238E27FC236}">
                            <a16:creationId xmlns:a16="http://schemas.microsoft.com/office/drawing/2014/main" id="{CB7AC3E9-9449-D877-C5CE-774BE7BF0AD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8AF5BF87-879E-F4C0-8228-522D92B8CE28}"/>
              </a:ext>
            </a:extLst>
          </p:cNvPr>
          <p:cNvSpPr>
            <a:spLocks noGrp="1"/>
          </p:cNvSpPr>
          <p:nvPr>
            <p:ph type="title"/>
          </p:nvPr>
        </p:nvSpPr>
        <p:spPr/>
        <p:txBody>
          <a:bodyPr vert="horz" rIns="0"/>
          <a:lstStyle/>
          <a:p>
            <a:r>
              <a:rPr lang="en-US"/>
              <a:t>Workstream 0 – Project Management Support (1/2)</a:t>
            </a:r>
            <a:br>
              <a:rPr lang="en-US"/>
            </a:br>
            <a:r>
              <a:rPr lang="en-US" sz="1600" b="0"/>
              <a:t>Project Management – From the SOW and other planning documents</a:t>
            </a:r>
          </a:p>
        </p:txBody>
      </p:sp>
      <p:sp>
        <p:nvSpPr>
          <p:cNvPr id="26" name="Rectangle 25">
            <a:extLst>
              <a:ext uri="{FF2B5EF4-FFF2-40B4-BE49-F238E27FC236}">
                <a16:creationId xmlns:a16="http://schemas.microsoft.com/office/drawing/2014/main" id="{06F21440-31F7-0FE6-F47D-1F84F4B727D1}"/>
              </a:ext>
            </a:extLst>
          </p:cNvPr>
          <p:cNvSpPr/>
          <p:nvPr/>
        </p:nvSpPr>
        <p:spPr bwMode="gray">
          <a:xfrm>
            <a:off x="589357" y="6202227"/>
            <a:ext cx="10963656" cy="137160"/>
          </a:xfrm>
          <a:prstGeom prst="rect">
            <a:avLst/>
          </a:prstGeom>
          <a:noFill/>
          <a:ln>
            <a:noFill/>
            <a:miter lim="800000"/>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lstStyle/>
          <a:p>
            <a:r>
              <a:rPr lang="en-US" sz="800">
                <a:solidFill>
                  <a:schemeClr val="tx2"/>
                </a:solidFill>
              </a:rPr>
              <a:t>Source: CVS_Databricks_SOW_Draft_v5 JAS_CVS_REDLINE, CVS Databricks Staffing Model_V4.xlsx</a:t>
            </a:r>
          </a:p>
        </p:txBody>
      </p:sp>
      <p:sp>
        <p:nvSpPr>
          <p:cNvPr id="2" name="TextBox 1">
            <a:extLst>
              <a:ext uri="{FF2B5EF4-FFF2-40B4-BE49-F238E27FC236}">
                <a16:creationId xmlns:a16="http://schemas.microsoft.com/office/drawing/2014/main" id="{5968AE0C-A635-87E7-CCF5-D52EBFB51DF3}"/>
              </a:ext>
            </a:extLst>
          </p:cNvPr>
          <p:cNvSpPr txBox="1"/>
          <p:nvPr/>
        </p:nvSpPr>
        <p:spPr>
          <a:xfrm>
            <a:off x="6301525" y="1463040"/>
            <a:ext cx="740587"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rgbClr val="0B315E"/>
                </a:solidFill>
                <a:effectLst/>
                <a:uLnTx/>
                <a:uFillTx/>
                <a:latin typeface="CVS Health Sans"/>
                <a:ea typeface="+mn-ea"/>
                <a:cs typeface="+mn-cs"/>
              </a:rPr>
              <a:t>Milestone</a:t>
            </a:r>
          </a:p>
        </p:txBody>
      </p:sp>
      <p:sp>
        <p:nvSpPr>
          <p:cNvPr id="6" name="Rectangle: Rounded Corners 5">
            <a:extLst>
              <a:ext uri="{FF2B5EF4-FFF2-40B4-BE49-F238E27FC236}">
                <a16:creationId xmlns:a16="http://schemas.microsoft.com/office/drawing/2014/main" id="{BF64ED74-5AFD-634C-29ED-F30458CBF11A}"/>
              </a:ext>
            </a:extLst>
          </p:cNvPr>
          <p:cNvSpPr/>
          <p:nvPr/>
        </p:nvSpPr>
        <p:spPr bwMode="gray">
          <a:xfrm>
            <a:off x="6296421" y="1645920"/>
            <a:ext cx="5360592" cy="1005840"/>
          </a:xfrm>
          <a:prstGeom prst="roundRect">
            <a:avLst>
              <a:gd name="adj" fmla="val 4322"/>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tIns="45720" rIns="45720" bIns="45720" rtlCol="0" anchor="ctr" anchorCtr="0">
            <a:noAutofit/>
          </a:bodyPr>
          <a:lstStyle/>
          <a:p>
            <a:pPr defTabSz="457063" fontAlgn="ctr">
              <a:defRPr/>
            </a:pPr>
            <a:r>
              <a:rPr lang="en-US" sz="1000" b="1">
                <a:solidFill>
                  <a:srgbClr val="00A78E"/>
                </a:solidFill>
              </a:rPr>
              <a:t>Description: </a:t>
            </a:r>
            <a:r>
              <a:rPr lang="en-US" sz="1000">
                <a:solidFill>
                  <a:schemeClr val="tx2"/>
                </a:solidFill>
              </a:rPr>
              <a:t>Project Plan &amp; Project Structure</a:t>
            </a:r>
          </a:p>
          <a:p>
            <a:pPr defTabSz="457063" fontAlgn="ctr">
              <a:defRPr/>
            </a:pPr>
            <a:r>
              <a:rPr lang="en-US" sz="1000" b="1">
                <a:solidFill>
                  <a:srgbClr val="00A78E"/>
                </a:solidFill>
              </a:rPr>
              <a:t>Timing:</a:t>
            </a:r>
            <a:endParaRPr lang="en-US" sz="700" b="1">
              <a:solidFill>
                <a:srgbClr val="00A78E"/>
              </a:solidFill>
            </a:endParaRPr>
          </a:p>
          <a:p>
            <a:pPr defTabSz="457063" fontAlgn="ctr">
              <a:defRPr/>
            </a:pPr>
            <a:endParaRPr lang="en-US" sz="700" b="1">
              <a:solidFill>
                <a:schemeClr val="tx2"/>
              </a:solidFill>
            </a:endParaRPr>
          </a:p>
          <a:p>
            <a:pPr defTabSz="457063" fontAlgn="ctr">
              <a:defRPr/>
            </a:pPr>
            <a:endParaRPr lang="en-US" sz="700" b="1">
              <a:solidFill>
                <a:schemeClr val="tx2"/>
              </a:solidFill>
            </a:endParaRPr>
          </a:p>
          <a:p>
            <a:r>
              <a:rPr lang="en-US" sz="1000" b="1">
                <a:solidFill>
                  <a:srgbClr val="00A78E"/>
                </a:solidFill>
              </a:rPr>
              <a:t>Deliverables: </a:t>
            </a:r>
          </a:p>
          <a:p>
            <a:pPr marL="91440" indent="-91440">
              <a:buFont typeface="Arial" panose="020B0604020202020204" pitchFamily="34" charset="0"/>
              <a:buChar char="•"/>
            </a:pPr>
            <a:r>
              <a:rPr lang="en-US" sz="1000">
                <a:solidFill>
                  <a:schemeClr val="tx2"/>
                </a:solidFill>
              </a:rPr>
              <a:t>Project Charter and Governance Framework (PPT/DOC)</a:t>
            </a:r>
          </a:p>
          <a:p>
            <a:pPr marL="91440" indent="-91440">
              <a:buFont typeface="Arial" panose="020B0604020202020204" pitchFamily="34" charset="0"/>
              <a:buChar char="•"/>
            </a:pPr>
            <a:r>
              <a:rPr lang="en-US" sz="1000">
                <a:solidFill>
                  <a:schemeClr val="tx2"/>
                </a:solidFill>
              </a:rPr>
              <a:t>Integrated Project Plan and Milestone Schedule (PPT/XLS)</a:t>
            </a:r>
          </a:p>
        </p:txBody>
      </p:sp>
      <p:sp>
        <p:nvSpPr>
          <p:cNvPr id="7" name="Rectangle: Rounded Corners 6">
            <a:extLst>
              <a:ext uri="{FF2B5EF4-FFF2-40B4-BE49-F238E27FC236}">
                <a16:creationId xmlns:a16="http://schemas.microsoft.com/office/drawing/2014/main" id="{99FA22C4-8B66-D47F-BB02-922B3B187CFC}"/>
              </a:ext>
            </a:extLst>
          </p:cNvPr>
          <p:cNvSpPr/>
          <p:nvPr/>
        </p:nvSpPr>
        <p:spPr bwMode="gray">
          <a:xfrm>
            <a:off x="6296421" y="2743200"/>
            <a:ext cx="5360592" cy="1371600"/>
          </a:xfrm>
          <a:prstGeom prst="roundRect">
            <a:avLst>
              <a:gd name="adj" fmla="val 6416"/>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tIns="45720" rIns="45720" bIns="45720" rtlCol="0" anchor="ctr" anchorCtr="0">
            <a:noAutofit/>
          </a:bodyPr>
          <a:lstStyle/>
          <a:p>
            <a:pPr defTabSz="457063" fontAlgn="ctr">
              <a:defRPr/>
            </a:pPr>
            <a:r>
              <a:rPr lang="en-US" sz="1000" b="1">
                <a:solidFill>
                  <a:srgbClr val="00A78E"/>
                </a:solidFill>
              </a:rPr>
              <a:t>Description: </a:t>
            </a:r>
            <a:r>
              <a:rPr lang="en-US" sz="1000">
                <a:solidFill>
                  <a:schemeClr val="tx2"/>
                </a:solidFill>
              </a:rPr>
              <a:t>Weekly Status Reporting (recurring)</a:t>
            </a:r>
          </a:p>
          <a:p>
            <a:pPr defTabSz="457063" fontAlgn="ctr">
              <a:defRPr/>
            </a:pPr>
            <a:r>
              <a:rPr lang="en-US" sz="1000" b="1">
                <a:solidFill>
                  <a:srgbClr val="00A78E"/>
                </a:solidFill>
              </a:rPr>
              <a:t>Timing:</a:t>
            </a:r>
            <a:endParaRPr lang="en-US" sz="700" b="1">
              <a:solidFill>
                <a:srgbClr val="00A78E"/>
              </a:solidFill>
            </a:endParaRPr>
          </a:p>
          <a:p>
            <a:pPr defTabSz="457063" fontAlgn="ctr">
              <a:defRPr/>
            </a:pPr>
            <a:endParaRPr lang="en-US" sz="700" b="1">
              <a:solidFill>
                <a:srgbClr val="00A78E"/>
              </a:solidFill>
            </a:endParaRPr>
          </a:p>
          <a:p>
            <a:pPr defTabSz="457063" fontAlgn="ctr">
              <a:defRPr/>
            </a:pPr>
            <a:endParaRPr lang="en-US" sz="700" b="1">
              <a:solidFill>
                <a:schemeClr val="tx2"/>
              </a:solidFill>
            </a:endParaRPr>
          </a:p>
          <a:p>
            <a:r>
              <a:rPr lang="en-US" sz="1000" b="1">
                <a:solidFill>
                  <a:srgbClr val="00A78E"/>
                </a:solidFill>
              </a:rPr>
              <a:t>Deliverables: </a:t>
            </a:r>
          </a:p>
          <a:p>
            <a:r>
              <a:rPr lang="en-US" sz="1000">
                <a:solidFill>
                  <a:schemeClr val="tx2"/>
                </a:solidFill>
              </a:rPr>
              <a:t>Recurring documents throughout the engagement:</a:t>
            </a:r>
          </a:p>
          <a:p>
            <a:pPr marL="91440" indent="-91440">
              <a:buFont typeface="Arial" panose="020B0604020202020204" pitchFamily="34" charset="0"/>
              <a:buChar char="•"/>
            </a:pPr>
            <a:r>
              <a:rPr lang="en-US" sz="1000">
                <a:solidFill>
                  <a:schemeClr val="tx2"/>
                </a:solidFill>
              </a:rPr>
              <a:t>Weekly Status Reports and Executive Steering Materials (PPT)</a:t>
            </a:r>
          </a:p>
          <a:p>
            <a:pPr marL="91440" indent="-91440">
              <a:buFont typeface="Arial" panose="020B0604020202020204" pitchFamily="34" charset="0"/>
              <a:buChar char="•"/>
            </a:pPr>
            <a:r>
              <a:rPr lang="en-US" sz="1000">
                <a:solidFill>
                  <a:schemeClr val="tx2"/>
                </a:solidFill>
              </a:rPr>
              <a:t>RAID Log and Decision Log (XLS)</a:t>
            </a:r>
          </a:p>
          <a:p>
            <a:pPr marL="91440" indent="-91440">
              <a:buFont typeface="Arial" panose="020B0604020202020204" pitchFamily="34" charset="0"/>
              <a:buChar char="•"/>
            </a:pPr>
            <a:r>
              <a:rPr lang="en-US" sz="1000">
                <a:solidFill>
                  <a:schemeClr val="tx2"/>
                </a:solidFill>
              </a:rPr>
              <a:t>KPI/Value Management Dashboard or tracker (PPT/XLS)</a:t>
            </a:r>
          </a:p>
        </p:txBody>
      </p:sp>
      <p:sp>
        <p:nvSpPr>
          <p:cNvPr id="8" name="TextBox 7">
            <a:extLst>
              <a:ext uri="{FF2B5EF4-FFF2-40B4-BE49-F238E27FC236}">
                <a16:creationId xmlns:a16="http://schemas.microsoft.com/office/drawing/2014/main" id="{5EB05243-FAE3-30A7-7C34-C511052AA530}"/>
              </a:ext>
            </a:extLst>
          </p:cNvPr>
          <p:cNvSpPr txBox="1"/>
          <p:nvPr/>
        </p:nvSpPr>
        <p:spPr>
          <a:xfrm>
            <a:off x="11155680" y="1645920"/>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0.1</a:t>
            </a:r>
          </a:p>
        </p:txBody>
      </p:sp>
      <p:sp>
        <p:nvSpPr>
          <p:cNvPr id="9" name="TextBox 8">
            <a:extLst>
              <a:ext uri="{FF2B5EF4-FFF2-40B4-BE49-F238E27FC236}">
                <a16:creationId xmlns:a16="http://schemas.microsoft.com/office/drawing/2014/main" id="{9A470943-7349-5B6C-6A76-ED13C0286A5D}"/>
              </a:ext>
            </a:extLst>
          </p:cNvPr>
          <p:cNvSpPr txBox="1"/>
          <p:nvPr/>
        </p:nvSpPr>
        <p:spPr>
          <a:xfrm>
            <a:off x="11155680" y="2743200"/>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0.2</a:t>
            </a:r>
          </a:p>
        </p:txBody>
      </p:sp>
      <p:sp>
        <p:nvSpPr>
          <p:cNvPr id="10" name="TextBox 9">
            <a:extLst>
              <a:ext uri="{FF2B5EF4-FFF2-40B4-BE49-F238E27FC236}">
                <a16:creationId xmlns:a16="http://schemas.microsoft.com/office/drawing/2014/main" id="{AD12E5BD-7A63-D779-602A-81E441949AD9}"/>
              </a:ext>
            </a:extLst>
          </p:cNvPr>
          <p:cNvSpPr txBox="1"/>
          <p:nvPr/>
        </p:nvSpPr>
        <p:spPr>
          <a:xfrm>
            <a:off x="1366590" y="1490133"/>
            <a:ext cx="4693922" cy="307777"/>
          </a:xfrm>
          <a:prstGeom prst="rect">
            <a:avLst/>
          </a:prstGeom>
          <a:noFill/>
        </p:spPr>
        <p:txBody>
          <a:bodyPr wrap="square" lIns="0" tIns="0" rIns="0" bIns="0">
            <a:spAutoFit/>
          </a:bodyPr>
          <a:lstStyle/>
          <a:p>
            <a:pPr algn="l"/>
            <a:r>
              <a:rPr lang="en-US" sz="1000">
                <a:solidFill>
                  <a:schemeClr val="tx2"/>
                </a:solidFill>
              </a:rPr>
              <a:t>Governance, delivery management, status reporting, RAID management and </a:t>
            </a:r>
            <a:br>
              <a:rPr lang="en-US" sz="1000">
                <a:solidFill>
                  <a:schemeClr val="tx2"/>
                </a:solidFill>
              </a:rPr>
            </a:br>
            <a:r>
              <a:rPr lang="en-US" sz="1000">
                <a:solidFill>
                  <a:schemeClr val="tx2"/>
                </a:solidFill>
              </a:rPr>
              <a:t>value management.</a:t>
            </a:r>
          </a:p>
        </p:txBody>
      </p:sp>
      <p:sp>
        <p:nvSpPr>
          <p:cNvPr id="12" name="TextBox 11">
            <a:extLst>
              <a:ext uri="{FF2B5EF4-FFF2-40B4-BE49-F238E27FC236}">
                <a16:creationId xmlns:a16="http://schemas.microsoft.com/office/drawing/2014/main" id="{BD85142F-4BBC-1A36-033C-0192350F2B14}"/>
              </a:ext>
            </a:extLst>
          </p:cNvPr>
          <p:cNvSpPr txBox="1"/>
          <p:nvPr/>
        </p:nvSpPr>
        <p:spPr>
          <a:xfrm>
            <a:off x="1366590" y="1968904"/>
            <a:ext cx="4575208" cy="461665"/>
          </a:xfrm>
          <a:prstGeom prst="rect">
            <a:avLst/>
          </a:prstGeom>
          <a:noFill/>
        </p:spPr>
        <p:txBody>
          <a:bodyPr wrap="square" lIns="0" tIns="0" rIns="0" bIns="0">
            <a:spAutoFit/>
          </a:bodyPr>
          <a:lstStyle/>
          <a:p>
            <a:pPr algn="l"/>
            <a:r>
              <a:rPr lang="en-US" sz="1000">
                <a:solidFill>
                  <a:schemeClr val="tx2"/>
                </a:solidFill>
              </a:rPr>
              <a:t>Support management delivery of the project against schedule, budget, and to the required quality standards through governance, integrated planning and </a:t>
            </a:r>
            <a:br>
              <a:rPr lang="en-US" sz="1000">
                <a:solidFill>
                  <a:schemeClr val="tx2"/>
                </a:solidFill>
              </a:rPr>
            </a:br>
            <a:r>
              <a:rPr lang="en-US" sz="1000">
                <a:solidFill>
                  <a:schemeClr val="tx2"/>
                </a:solidFill>
              </a:rPr>
              <a:t>stakeholder alignment.</a:t>
            </a:r>
          </a:p>
        </p:txBody>
      </p:sp>
      <p:sp>
        <p:nvSpPr>
          <p:cNvPr id="17" name="Rectangle: Top Corners Rounded 16">
            <a:extLst>
              <a:ext uri="{FF2B5EF4-FFF2-40B4-BE49-F238E27FC236}">
                <a16:creationId xmlns:a16="http://schemas.microsoft.com/office/drawing/2014/main" id="{51FAC356-55E0-5DB4-956F-FAC39185C178}"/>
              </a:ext>
            </a:extLst>
          </p:cNvPr>
          <p:cNvSpPr/>
          <p:nvPr/>
        </p:nvSpPr>
        <p:spPr bwMode="gray">
          <a:xfrm rot="5400000">
            <a:off x="-1682253" y="3070784"/>
            <a:ext cx="4682069" cy="1317568"/>
          </a:xfrm>
          <a:prstGeom prst="round2SameRect">
            <a:avLst>
              <a:gd name="adj1" fmla="val 9976"/>
              <a:gd name="adj2" fmla="val 0"/>
            </a:avLst>
          </a:prstGeom>
          <a:gradFill flip="none" rotWithShape="1">
            <a:gsLst>
              <a:gs pos="0">
                <a:srgbClr val="267AC0"/>
              </a:gs>
              <a:gs pos="100000">
                <a:srgbClr val="0A4B8C"/>
              </a:gs>
            </a:gsLst>
            <a:lin ang="54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sp>
        <p:nvSpPr>
          <p:cNvPr id="23" name="TextBox 22">
            <a:extLst>
              <a:ext uri="{FF2B5EF4-FFF2-40B4-BE49-F238E27FC236}">
                <a16:creationId xmlns:a16="http://schemas.microsoft.com/office/drawing/2014/main" id="{374D10D0-54A1-3855-9172-2A6C430D0011}"/>
              </a:ext>
            </a:extLst>
          </p:cNvPr>
          <p:cNvSpPr txBox="1"/>
          <p:nvPr/>
        </p:nvSpPr>
        <p:spPr>
          <a:xfrm>
            <a:off x="543482" y="1490133"/>
            <a:ext cx="690958"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Scope</a:t>
            </a:r>
          </a:p>
        </p:txBody>
      </p:sp>
      <p:sp>
        <p:nvSpPr>
          <p:cNvPr id="24" name="TextBox 23">
            <a:extLst>
              <a:ext uri="{FF2B5EF4-FFF2-40B4-BE49-F238E27FC236}">
                <a16:creationId xmlns:a16="http://schemas.microsoft.com/office/drawing/2014/main" id="{BCC1C449-15F4-3A63-D140-E585EE59752E}"/>
              </a:ext>
            </a:extLst>
          </p:cNvPr>
          <p:cNvSpPr txBox="1"/>
          <p:nvPr/>
        </p:nvSpPr>
        <p:spPr>
          <a:xfrm>
            <a:off x="543482" y="1968904"/>
            <a:ext cx="721899"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Objective</a:t>
            </a:r>
          </a:p>
        </p:txBody>
      </p:sp>
      <p:sp>
        <p:nvSpPr>
          <p:cNvPr id="25" name="TextBox 24">
            <a:extLst>
              <a:ext uri="{FF2B5EF4-FFF2-40B4-BE49-F238E27FC236}">
                <a16:creationId xmlns:a16="http://schemas.microsoft.com/office/drawing/2014/main" id="{63DEAF89-E695-5DAA-0128-9BAE57255DD7}"/>
              </a:ext>
            </a:extLst>
          </p:cNvPr>
          <p:cNvSpPr txBox="1"/>
          <p:nvPr/>
        </p:nvSpPr>
        <p:spPr>
          <a:xfrm>
            <a:off x="543483" y="2613258"/>
            <a:ext cx="731982" cy="369332"/>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Key Activities</a:t>
            </a:r>
          </a:p>
        </p:txBody>
      </p:sp>
      <p:sp>
        <p:nvSpPr>
          <p:cNvPr id="27" name="TextBox 26">
            <a:extLst>
              <a:ext uri="{FF2B5EF4-FFF2-40B4-BE49-F238E27FC236}">
                <a16:creationId xmlns:a16="http://schemas.microsoft.com/office/drawing/2014/main" id="{C9733034-A898-CC7C-7832-A47621FBA689}"/>
              </a:ext>
            </a:extLst>
          </p:cNvPr>
          <p:cNvSpPr txBox="1"/>
          <p:nvPr/>
        </p:nvSpPr>
        <p:spPr>
          <a:xfrm>
            <a:off x="1366590" y="2596637"/>
            <a:ext cx="4748460" cy="1846659"/>
          </a:xfrm>
          <a:prstGeom prst="rect">
            <a:avLst/>
          </a:prstGeom>
          <a:noFill/>
        </p:spPr>
        <p:txBody>
          <a:bodyPr wrap="square" lIns="0" tIns="0" rIns="0" bIns="0">
            <a:spAutoFit/>
          </a:bodyPr>
          <a:lstStyle/>
          <a:p>
            <a:pPr marL="137160" lvl="1" indent="-137160">
              <a:spcAft>
                <a:spcPts val="300"/>
              </a:spcAft>
              <a:buFont typeface="Arial" panose="020B0604020202020204" pitchFamily="34" charset="0"/>
              <a:buChar char="•"/>
            </a:pPr>
            <a:r>
              <a:rPr lang="en-US" sz="1000" b="1" kern="1500">
                <a:solidFill>
                  <a:schemeClr val="tx2"/>
                </a:solidFill>
              </a:rPr>
              <a:t>Establish Governance &amp; Reporting: </a:t>
            </a:r>
            <a:r>
              <a:rPr lang="en-US" sz="1000" kern="1500">
                <a:solidFill>
                  <a:schemeClr val="tx2"/>
                </a:solidFill>
              </a:rPr>
              <a:t>Define project roles and responsibilities, meeting cadences, and reporting templates to encourage clear communication and decision-making</a:t>
            </a:r>
          </a:p>
          <a:p>
            <a:pPr marL="137160" lvl="1" indent="-137160">
              <a:spcAft>
                <a:spcPts val="300"/>
              </a:spcAft>
              <a:buFont typeface="Arial" panose="020B0604020202020204" pitchFamily="34" charset="0"/>
              <a:buChar char="•"/>
            </a:pPr>
            <a:r>
              <a:rPr lang="en-US" sz="1000" b="1" kern="1500">
                <a:solidFill>
                  <a:schemeClr val="tx2"/>
                </a:solidFill>
              </a:rPr>
              <a:t>Manage Risks, Issues, and Dependencies</a:t>
            </a:r>
            <a:r>
              <a:rPr lang="en-US" sz="1000" kern="1500">
                <a:solidFill>
                  <a:schemeClr val="tx2"/>
                </a:solidFill>
              </a:rPr>
              <a:t>: Proactively identify, track, and mitigate project risks, issues, and inter-workstream dependencies to prevent delays</a:t>
            </a:r>
          </a:p>
          <a:p>
            <a:pPr marL="137160" lvl="1" indent="-137160">
              <a:spcAft>
                <a:spcPts val="300"/>
              </a:spcAft>
              <a:buFont typeface="Arial" panose="020B0604020202020204" pitchFamily="34" charset="0"/>
              <a:buChar char="•"/>
            </a:pPr>
            <a:r>
              <a:rPr lang="en-US" sz="1000" b="1" kern="1500">
                <a:solidFill>
                  <a:schemeClr val="tx2"/>
                </a:solidFill>
              </a:rPr>
              <a:t>Value Management: </a:t>
            </a:r>
            <a:r>
              <a:rPr lang="en-US" sz="1000" kern="1500">
                <a:solidFill>
                  <a:schemeClr val="tx2"/>
                </a:solidFill>
              </a:rPr>
              <a:t>Track CVS-specified key performance indicators (KPIs)/metrics and provide regular status reports to stakeholders. Metrics include Data Parity, and Query Conversion Rate</a:t>
            </a:r>
          </a:p>
          <a:p>
            <a:pPr marL="137160" lvl="1" indent="-137160">
              <a:spcAft>
                <a:spcPts val="300"/>
              </a:spcAft>
              <a:buFont typeface="Arial" panose="020B0604020202020204" pitchFamily="34" charset="0"/>
              <a:buChar char="•"/>
            </a:pPr>
            <a:r>
              <a:rPr lang="en-US" sz="1000" b="1" kern="1500">
                <a:solidFill>
                  <a:schemeClr val="tx2"/>
                </a:solidFill>
              </a:rPr>
              <a:t>Manage Stakeholder Communications:</a:t>
            </a:r>
            <a:r>
              <a:rPr lang="en-US" sz="1000" kern="1500">
                <a:solidFill>
                  <a:schemeClr val="tx2"/>
                </a:solidFill>
              </a:rPr>
              <a:t> Develop and execute a communications plan to assist CVS keep all stakeholders informed of project progress, decisions, and impacts.</a:t>
            </a:r>
          </a:p>
          <a:p>
            <a:pPr marL="137160" lvl="1" indent="-137160">
              <a:spcAft>
                <a:spcPts val="300"/>
              </a:spcAft>
              <a:buFont typeface="Arial" panose="020B0604020202020204" pitchFamily="34" charset="0"/>
              <a:buChar char="•"/>
            </a:pPr>
            <a:r>
              <a:rPr lang="en-US" sz="1000" b="1" kern="1500">
                <a:solidFill>
                  <a:schemeClr val="tx2"/>
                </a:solidFill>
              </a:rPr>
              <a:t>Kickoff Workshop: </a:t>
            </a:r>
            <a:r>
              <a:rPr lang="en-US" sz="1000" kern="1500">
                <a:solidFill>
                  <a:schemeClr val="tx2"/>
                </a:solidFill>
              </a:rPr>
              <a:t>Align stakeholders on scope, objectives, and delivery plan</a:t>
            </a:r>
            <a:endParaRPr lang="en-US" sz="1000">
              <a:solidFill>
                <a:schemeClr val="tx2"/>
              </a:solidFill>
            </a:endParaRPr>
          </a:p>
        </p:txBody>
      </p:sp>
      <p:grpSp>
        <p:nvGrpSpPr>
          <p:cNvPr id="28" name="Group 27">
            <a:extLst>
              <a:ext uri="{FF2B5EF4-FFF2-40B4-BE49-F238E27FC236}">
                <a16:creationId xmlns:a16="http://schemas.microsoft.com/office/drawing/2014/main" id="{45F6F8D0-8926-F6AF-8F34-852610CFD759}"/>
              </a:ext>
            </a:extLst>
          </p:cNvPr>
          <p:cNvGrpSpPr/>
          <p:nvPr/>
        </p:nvGrpSpPr>
        <p:grpSpPr>
          <a:xfrm>
            <a:off x="533400" y="1880944"/>
            <a:ext cx="5562600" cy="4926"/>
            <a:chOff x="533400" y="1886078"/>
            <a:chExt cx="5562600" cy="4926"/>
          </a:xfrm>
        </p:grpSpPr>
        <p:cxnSp>
          <p:nvCxnSpPr>
            <p:cNvPr id="30" name="Straight Connector 29">
              <a:extLst>
                <a:ext uri="{FF2B5EF4-FFF2-40B4-BE49-F238E27FC236}">
                  <a16:creationId xmlns:a16="http://schemas.microsoft.com/office/drawing/2014/main" id="{8A991F52-CDFC-E271-4CEF-F01CAD64855F}"/>
                </a:ext>
              </a:extLst>
            </p:cNvPr>
            <p:cNvCxnSpPr/>
            <p:nvPr/>
          </p:nvCxnSpPr>
          <p:spPr>
            <a:xfrm>
              <a:off x="553507" y="1891004"/>
              <a:ext cx="5542493"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4D11DC3-1D83-A80A-A77D-B90258812049}"/>
                </a:ext>
              </a:extLst>
            </p:cNvPr>
            <p:cNvCxnSpPr>
              <a:cxnSpLocks/>
            </p:cNvCxnSpPr>
            <p:nvPr/>
          </p:nvCxnSpPr>
          <p:spPr>
            <a:xfrm>
              <a:off x="533400" y="1886078"/>
              <a:ext cx="784166"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682B0914-0BA7-48F7-E4B8-AEBBA771A618}"/>
              </a:ext>
            </a:extLst>
          </p:cNvPr>
          <p:cNvGrpSpPr/>
          <p:nvPr/>
        </p:nvGrpSpPr>
        <p:grpSpPr>
          <a:xfrm>
            <a:off x="533400" y="2513603"/>
            <a:ext cx="5562600" cy="0"/>
            <a:chOff x="533400" y="2463561"/>
            <a:chExt cx="5562600" cy="0"/>
          </a:xfrm>
        </p:grpSpPr>
        <p:cxnSp>
          <p:nvCxnSpPr>
            <p:cNvPr id="33" name="Straight Connector 32">
              <a:extLst>
                <a:ext uri="{FF2B5EF4-FFF2-40B4-BE49-F238E27FC236}">
                  <a16:creationId xmlns:a16="http://schemas.microsoft.com/office/drawing/2014/main" id="{15599C82-5574-C742-6C21-0C284F25486B}"/>
                </a:ext>
              </a:extLst>
            </p:cNvPr>
            <p:cNvCxnSpPr/>
            <p:nvPr/>
          </p:nvCxnSpPr>
          <p:spPr>
            <a:xfrm>
              <a:off x="553507" y="2463561"/>
              <a:ext cx="5542493"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4E22E6B-2349-81DF-CEE3-3B27F0572342}"/>
                </a:ext>
              </a:extLst>
            </p:cNvPr>
            <p:cNvCxnSpPr>
              <a:cxnSpLocks/>
            </p:cNvCxnSpPr>
            <p:nvPr/>
          </p:nvCxnSpPr>
          <p:spPr>
            <a:xfrm>
              <a:off x="533400" y="2463561"/>
              <a:ext cx="784166"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aphicFrame>
        <p:nvGraphicFramePr>
          <p:cNvPr id="11" name="Table 10">
            <a:extLst>
              <a:ext uri="{FF2B5EF4-FFF2-40B4-BE49-F238E27FC236}">
                <a16:creationId xmlns:a16="http://schemas.microsoft.com/office/drawing/2014/main" id="{B9FD8B3D-4EB3-EC2D-638E-300D9546E4A9}"/>
              </a:ext>
            </a:extLst>
          </p:cNvPr>
          <p:cNvGraphicFramePr>
            <a:graphicFrameLocks noGrp="1"/>
          </p:cNvGraphicFramePr>
          <p:nvPr>
            <p:extLst>
              <p:ext uri="{D42A27DB-BD31-4B8C-83A1-F6EECF244321}">
                <p14:modId xmlns:p14="http://schemas.microsoft.com/office/powerpoint/2010/main" val="4180232833"/>
              </p:ext>
            </p:extLst>
          </p:nvPr>
        </p:nvGraphicFramePr>
        <p:xfrm>
          <a:off x="6358764" y="1992224"/>
          <a:ext cx="5235902" cy="182880"/>
        </p:xfrm>
        <a:graphic>
          <a:graphicData uri="http://schemas.openxmlformats.org/drawingml/2006/table">
            <a:tbl>
              <a:tblPr firstRow="1" bandRow="1">
                <a:tableStyleId>{5C22544A-7EE6-4342-B048-85BDC9FD1C3A}</a:tableStyleId>
              </a:tblPr>
              <a:tblGrid>
                <a:gridCol w="373993">
                  <a:extLst>
                    <a:ext uri="{9D8B030D-6E8A-4147-A177-3AD203B41FA5}">
                      <a16:colId xmlns:a16="http://schemas.microsoft.com/office/drawing/2014/main" val="4234389670"/>
                    </a:ext>
                  </a:extLst>
                </a:gridCol>
                <a:gridCol w="373993">
                  <a:extLst>
                    <a:ext uri="{9D8B030D-6E8A-4147-A177-3AD203B41FA5}">
                      <a16:colId xmlns:a16="http://schemas.microsoft.com/office/drawing/2014/main" val="2872415959"/>
                    </a:ext>
                  </a:extLst>
                </a:gridCol>
                <a:gridCol w="373993">
                  <a:extLst>
                    <a:ext uri="{9D8B030D-6E8A-4147-A177-3AD203B41FA5}">
                      <a16:colId xmlns:a16="http://schemas.microsoft.com/office/drawing/2014/main" val="2224089828"/>
                    </a:ext>
                  </a:extLst>
                </a:gridCol>
                <a:gridCol w="373993">
                  <a:extLst>
                    <a:ext uri="{9D8B030D-6E8A-4147-A177-3AD203B41FA5}">
                      <a16:colId xmlns:a16="http://schemas.microsoft.com/office/drawing/2014/main" val="3195761835"/>
                    </a:ext>
                  </a:extLst>
                </a:gridCol>
                <a:gridCol w="373993">
                  <a:extLst>
                    <a:ext uri="{9D8B030D-6E8A-4147-A177-3AD203B41FA5}">
                      <a16:colId xmlns:a16="http://schemas.microsoft.com/office/drawing/2014/main" val="1412581894"/>
                    </a:ext>
                  </a:extLst>
                </a:gridCol>
                <a:gridCol w="373993">
                  <a:extLst>
                    <a:ext uri="{9D8B030D-6E8A-4147-A177-3AD203B41FA5}">
                      <a16:colId xmlns:a16="http://schemas.microsoft.com/office/drawing/2014/main" val="2093679262"/>
                    </a:ext>
                  </a:extLst>
                </a:gridCol>
                <a:gridCol w="373993">
                  <a:extLst>
                    <a:ext uri="{9D8B030D-6E8A-4147-A177-3AD203B41FA5}">
                      <a16:colId xmlns:a16="http://schemas.microsoft.com/office/drawing/2014/main" val="4172650658"/>
                    </a:ext>
                  </a:extLst>
                </a:gridCol>
                <a:gridCol w="373993">
                  <a:extLst>
                    <a:ext uri="{9D8B030D-6E8A-4147-A177-3AD203B41FA5}">
                      <a16:colId xmlns:a16="http://schemas.microsoft.com/office/drawing/2014/main" val="4085553167"/>
                    </a:ext>
                  </a:extLst>
                </a:gridCol>
                <a:gridCol w="373993">
                  <a:extLst>
                    <a:ext uri="{9D8B030D-6E8A-4147-A177-3AD203B41FA5}">
                      <a16:colId xmlns:a16="http://schemas.microsoft.com/office/drawing/2014/main" val="3035667041"/>
                    </a:ext>
                  </a:extLst>
                </a:gridCol>
                <a:gridCol w="373993">
                  <a:extLst>
                    <a:ext uri="{9D8B030D-6E8A-4147-A177-3AD203B41FA5}">
                      <a16:colId xmlns:a16="http://schemas.microsoft.com/office/drawing/2014/main" val="1382053115"/>
                    </a:ext>
                  </a:extLst>
                </a:gridCol>
                <a:gridCol w="373993">
                  <a:extLst>
                    <a:ext uri="{9D8B030D-6E8A-4147-A177-3AD203B41FA5}">
                      <a16:colId xmlns:a16="http://schemas.microsoft.com/office/drawing/2014/main" val="243945664"/>
                    </a:ext>
                  </a:extLst>
                </a:gridCol>
                <a:gridCol w="373993">
                  <a:extLst>
                    <a:ext uri="{9D8B030D-6E8A-4147-A177-3AD203B41FA5}">
                      <a16:colId xmlns:a16="http://schemas.microsoft.com/office/drawing/2014/main" val="4035638086"/>
                    </a:ext>
                  </a:extLst>
                </a:gridCol>
                <a:gridCol w="373993">
                  <a:extLst>
                    <a:ext uri="{9D8B030D-6E8A-4147-A177-3AD203B41FA5}">
                      <a16:colId xmlns:a16="http://schemas.microsoft.com/office/drawing/2014/main" val="340677872"/>
                    </a:ext>
                  </a:extLst>
                </a:gridCol>
                <a:gridCol w="373993">
                  <a:extLst>
                    <a:ext uri="{9D8B030D-6E8A-4147-A177-3AD203B41FA5}">
                      <a16:colId xmlns:a16="http://schemas.microsoft.com/office/drawing/2014/main" val="2567119461"/>
                    </a:ext>
                  </a:extLst>
                </a:gridCol>
              </a:tblGrid>
              <a:tr h="182880">
                <a:tc>
                  <a:txBody>
                    <a:bodyPr/>
                    <a:lstStyle/>
                    <a:p>
                      <a:pPr algn="ctr"/>
                      <a:r>
                        <a:rPr lang="en-US" sz="900"/>
                        <a:t>Sep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Oct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Nov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Dec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Jan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Feb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Mar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Apr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May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Jul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Aug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Sep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Oct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extLst>
                  <a:ext uri="{0D108BD9-81ED-4DB2-BD59-A6C34878D82A}">
                    <a16:rowId xmlns:a16="http://schemas.microsoft.com/office/drawing/2014/main" val="3394829782"/>
                  </a:ext>
                </a:extLst>
              </a:tr>
            </a:tbl>
          </a:graphicData>
        </a:graphic>
      </p:graphicFrame>
      <p:graphicFrame>
        <p:nvGraphicFramePr>
          <p:cNvPr id="14" name="Table 13">
            <a:extLst>
              <a:ext uri="{FF2B5EF4-FFF2-40B4-BE49-F238E27FC236}">
                <a16:creationId xmlns:a16="http://schemas.microsoft.com/office/drawing/2014/main" id="{9A96EFB7-5D78-04D7-F85E-D6399E2FB8A3}"/>
              </a:ext>
            </a:extLst>
          </p:cNvPr>
          <p:cNvGraphicFramePr>
            <a:graphicFrameLocks noGrp="1"/>
          </p:cNvGraphicFramePr>
          <p:nvPr>
            <p:extLst>
              <p:ext uri="{D42A27DB-BD31-4B8C-83A1-F6EECF244321}">
                <p14:modId xmlns:p14="http://schemas.microsoft.com/office/powerpoint/2010/main" val="1541655190"/>
              </p:ext>
            </p:extLst>
          </p:nvPr>
        </p:nvGraphicFramePr>
        <p:xfrm>
          <a:off x="6358764" y="3109116"/>
          <a:ext cx="5235902" cy="182880"/>
        </p:xfrm>
        <a:graphic>
          <a:graphicData uri="http://schemas.openxmlformats.org/drawingml/2006/table">
            <a:tbl>
              <a:tblPr firstRow="1" bandRow="1">
                <a:tableStyleId>{5C22544A-7EE6-4342-B048-85BDC9FD1C3A}</a:tableStyleId>
              </a:tblPr>
              <a:tblGrid>
                <a:gridCol w="373993">
                  <a:extLst>
                    <a:ext uri="{9D8B030D-6E8A-4147-A177-3AD203B41FA5}">
                      <a16:colId xmlns:a16="http://schemas.microsoft.com/office/drawing/2014/main" val="4234389670"/>
                    </a:ext>
                  </a:extLst>
                </a:gridCol>
                <a:gridCol w="373993">
                  <a:extLst>
                    <a:ext uri="{9D8B030D-6E8A-4147-A177-3AD203B41FA5}">
                      <a16:colId xmlns:a16="http://schemas.microsoft.com/office/drawing/2014/main" val="2872415959"/>
                    </a:ext>
                  </a:extLst>
                </a:gridCol>
                <a:gridCol w="373993">
                  <a:extLst>
                    <a:ext uri="{9D8B030D-6E8A-4147-A177-3AD203B41FA5}">
                      <a16:colId xmlns:a16="http://schemas.microsoft.com/office/drawing/2014/main" val="2224089828"/>
                    </a:ext>
                  </a:extLst>
                </a:gridCol>
                <a:gridCol w="373993">
                  <a:extLst>
                    <a:ext uri="{9D8B030D-6E8A-4147-A177-3AD203B41FA5}">
                      <a16:colId xmlns:a16="http://schemas.microsoft.com/office/drawing/2014/main" val="3195761835"/>
                    </a:ext>
                  </a:extLst>
                </a:gridCol>
                <a:gridCol w="373993">
                  <a:extLst>
                    <a:ext uri="{9D8B030D-6E8A-4147-A177-3AD203B41FA5}">
                      <a16:colId xmlns:a16="http://schemas.microsoft.com/office/drawing/2014/main" val="1412581894"/>
                    </a:ext>
                  </a:extLst>
                </a:gridCol>
                <a:gridCol w="373993">
                  <a:extLst>
                    <a:ext uri="{9D8B030D-6E8A-4147-A177-3AD203B41FA5}">
                      <a16:colId xmlns:a16="http://schemas.microsoft.com/office/drawing/2014/main" val="2093679262"/>
                    </a:ext>
                  </a:extLst>
                </a:gridCol>
                <a:gridCol w="373993">
                  <a:extLst>
                    <a:ext uri="{9D8B030D-6E8A-4147-A177-3AD203B41FA5}">
                      <a16:colId xmlns:a16="http://schemas.microsoft.com/office/drawing/2014/main" val="4172650658"/>
                    </a:ext>
                  </a:extLst>
                </a:gridCol>
                <a:gridCol w="373993">
                  <a:extLst>
                    <a:ext uri="{9D8B030D-6E8A-4147-A177-3AD203B41FA5}">
                      <a16:colId xmlns:a16="http://schemas.microsoft.com/office/drawing/2014/main" val="4085553167"/>
                    </a:ext>
                  </a:extLst>
                </a:gridCol>
                <a:gridCol w="373993">
                  <a:extLst>
                    <a:ext uri="{9D8B030D-6E8A-4147-A177-3AD203B41FA5}">
                      <a16:colId xmlns:a16="http://schemas.microsoft.com/office/drawing/2014/main" val="3035667041"/>
                    </a:ext>
                  </a:extLst>
                </a:gridCol>
                <a:gridCol w="373993">
                  <a:extLst>
                    <a:ext uri="{9D8B030D-6E8A-4147-A177-3AD203B41FA5}">
                      <a16:colId xmlns:a16="http://schemas.microsoft.com/office/drawing/2014/main" val="1382053115"/>
                    </a:ext>
                  </a:extLst>
                </a:gridCol>
                <a:gridCol w="373993">
                  <a:extLst>
                    <a:ext uri="{9D8B030D-6E8A-4147-A177-3AD203B41FA5}">
                      <a16:colId xmlns:a16="http://schemas.microsoft.com/office/drawing/2014/main" val="243945664"/>
                    </a:ext>
                  </a:extLst>
                </a:gridCol>
                <a:gridCol w="373993">
                  <a:extLst>
                    <a:ext uri="{9D8B030D-6E8A-4147-A177-3AD203B41FA5}">
                      <a16:colId xmlns:a16="http://schemas.microsoft.com/office/drawing/2014/main" val="4035638086"/>
                    </a:ext>
                  </a:extLst>
                </a:gridCol>
                <a:gridCol w="373993">
                  <a:extLst>
                    <a:ext uri="{9D8B030D-6E8A-4147-A177-3AD203B41FA5}">
                      <a16:colId xmlns:a16="http://schemas.microsoft.com/office/drawing/2014/main" val="340677872"/>
                    </a:ext>
                  </a:extLst>
                </a:gridCol>
                <a:gridCol w="373993">
                  <a:extLst>
                    <a:ext uri="{9D8B030D-6E8A-4147-A177-3AD203B41FA5}">
                      <a16:colId xmlns:a16="http://schemas.microsoft.com/office/drawing/2014/main" val="1857822"/>
                    </a:ext>
                  </a:extLst>
                </a:gridCol>
              </a:tblGrid>
              <a:tr h="182880">
                <a:tc>
                  <a:txBody>
                    <a:bodyPr/>
                    <a:lstStyle/>
                    <a:p>
                      <a:pPr algn="ctr"/>
                      <a:r>
                        <a:rPr lang="en-US" sz="900"/>
                        <a:t>Sep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Oct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Nov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Dec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Jan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Feb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Mar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Apr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May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Jun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Jul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Aug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Sep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Oct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extLst>
                  <a:ext uri="{0D108BD9-81ED-4DB2-BD59-A6C34878D82A}">
                    <a16:rowId xmlns:a16="http://schemas.microsoft.com/office/drawing/2014/main" val="3394829782"/>
                  </a:ext>
                </a:extLst>
              </a:tr>
            </a:tbl>
          </a:graphicData>
        </a:graphic>
      </p:graphicFrame>
    </p:spTree>
    <p:extLst>
      <p:ext uri="{BB962C8B-B14F-4D97-AF65-F5344CB8AC3E}">
        <p14:creationId xmlns:p14="http://schemas.microsoft.com/office/powerpoint/2010/main" val="10257032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8056B7F-0ED7-3E84-2AC3-6EEE64426AB3}"/>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A11F24D6-F335-2777-D14F-F0C756488D0C}"/>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5" name="thinkcell data - do not delete" hidden="1">
                        <a:extLst>
                          <a:ext uri="{FF2B5EF4-FFF2-40B4-BE49-F238E27FC236}">
                            <a16:creationId xmlns:a16="http://schemas.microsoft.com/office/drawing/2014/main" id="{A11F24D6-F335-2777-D14F-F0C756488D0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EC7B1B46-7309-E086-E306-4D3CC03FB200}"/>
              </a:ext>
            </a:extLst>
          </p:cNvPr>
          <p:cNvSpPr>
            <a:spLocks noGrp="1"/>
          </p:cNvSpPr>
          <p:nvPr>
            <p:ph type="title"/>
          </p:nvPr>
        </p:nvSpPr>
        <p:spPr/>
        <p:txBody>
          <a:bodyPr vert="horz" rIns="0"/>
          <a:lstStyle/>
          <a:p>
            <a:r>
              <a:rPr lang="en-US"/>
              <a:t>Workstream 0 – Project Management Support (2/2)</a:t>
            </a:r>
            <a:br>
              <a:rPr lang="en-US"/>
            </a:br>
            <a:r>
              <a:rPr lang="en-US" sz="1600" b="0"/>
              <a:t>Project Management – Planning </a:t>
            </a:r>
          </a:p>
        </p:txBody>
      </p:sp>
      <p:sp>
        <p:nvSpPr>
          <p:cNvPr id="10" name="Rectangle: Top Corners Rounded 9">
            <a:extLst>
              <a:ext uri="{FF2B5EF4-FFF2-40B4-BE49-F238E27FC236}">
                <a16:creationId xmlns:a16="http://schemas.microsoft.com/office/drawing/2014/main" id="{63E4F443-6CC2-C60C-5295-C3812186CEAC}"/>
              </a:ext>
            </a:extLst>
          </p:cNvPr>
          <p:cNvSpPr/>
          <p:nvPr/>
        </p:nvSpPr>
        <p:spPr bwMode="gray">
          <a:xfrm rot="5400000">
            <a:off x="-1524006" y="2912536"/>
            <a:ext cx="4682069" cy="1634065"/>
          </a:xfrm>
          <a:prstGeom prst="round2SameRect">
            <a:avLst>
              <a:gd name="adj1" fmla="val 9976"/>
              <a:gd name="adj2" fmla="val 0"/>
            </a:avLst>
          </a:prstGeom>
          <a:gradFill flip="none" rotWithShape="1">
            <a:gsLst>
              <a:gs pos="0">
                <a:srgbClr val="267AC0"/>
              </a:gs>
              <a:gs pos="100000">
                <a:srgbClr val="0A4B8C"/>
              </a:gs>
            </a:gsLst>
            <a:lin ang="54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graphicFrame>
        <p:nvGraphicFramePr>
          <p:cNvPr id="13" name="Content Placeholder 6">
            <a:extLst>
              <a:ext uri="{FF2B5EF4-FFF2-40B4-BE49-F238E27FC236}">
                <a16:creationId xmlns:a16="http://schemas.microsoft.com/office/drawing/2014/main" id="{BD761163-F05A-148F-73DA-1C25B64464CF}"/>
              </a:ext>
            </a:extLst>
          </p:cNvPr>
          <p:cNvGraphicFramePr>
            <a:graphicFrameLocks/>
          </p:cNvGraphicFramePr>
          <p:nvPr>
            <p:extLst>
              <p:ext uri="{D42A27DB-BD31-4B8C-83A1-F6EECF244321}">
                <p14:modId xmlns:p14="http://schemas.microsoft.com/office/powerpoint/2010/main" val="3802794173"/>
              </p:ext>
            </p:extLst>
          </p:nvPr>
        </p:nvGraphicFramePr>
        <p:xfrm>
          <a:off x="538691" y="1491463"/>
          <a:ext cx="11133137" cy="2941320"/>
        </p:xfrm>
        <a:graphic>
          <a:graphicData uri="http://schemas.openxmlformats.org/drawingml/2006/table">
            <a:tbl>
              <a:tblPr firstRow="1" bandRow="1">
                <a:tableStyleId>{2D5ABB26-0587-4C30-8999-92F81FD0307C}</a:tableStyleId>
              </a:tblPr>
              <a:tblGrid>
                <a:gridCol w="1099371">
                  <a:extLst>
                    <a:ext uri="{9D8B030D-6E8A-4147-A177-3AD203B41FA5}">
                      <a16:colId xmlns:a16="http://schemas.microsoft.com/office/drawing/2014/main" val="1699332636"/>
                    </a:ext>
                  </a:extLst>
                </a:gridCol>
                <a:gridCol w="10033766">
                  <a:extLst>
                    <a:ext uri="{9D8B030D-6E8A-4147-A177-3AD203B41FA5}">
                      <a16:colId xmlns:a16="http://schemas.microsoft.com/office/drawing/2014/main" val="2684621038"/>
                    </a:ext>
                  </a:extLst>
                </a:gridCol>
              </a:tblGrid>
              <a:tr h="1619988">
                <a:tc>
                  <a:txBody>
                    <a:bodyPr/>
                    <a:lstStyle/>
                    <a:p>
                      <a:pPr>
                        <a:lnSpc>
                          <a:spcPct val="90000"/>
                        </a:lnSpc>
                      </a:pPr>
                      <a:r>
                        <a:rPr lang="en-US" sz="1050" b="1">
                          <a:solidFill>
                            <a:schemeClr val="bg1"/>
                          </a:solidFill>
                        </a:rPr>
                        <a:t>Key “Do Now” activities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nSpc>
                          <a:spcPct val="100000"/>
                        </a:lnSpc>
                        <a:spcAft>
                          <a:spcPts val="200"/>
                        </a:spcAft>
                        <a:buClr>
                          <a:schemeClr val="tx2"/>
                        </a:buClr>
                        <a:buFont typeface="CVS Health Sans" panose="020B0504020202020204" pitchFamily="34" charset="0"/>
                        <a:buChar char="•"/>
                      </a:pPr>
                      <a:r>
                        <a:rPr lang="en-US" sz="1000" b="1" i="0">
                          <a:solidFill>
                            <a:schemeClr val="tx2"/>
                          </a:solidFill>
                        </a:rPr>
                        <a:t>Establish Governance Rhythms &amp; Communication Plans: </a:t>
                      </a:r>
                      <a:r>
                        <a:rPr lang="en-US" sz="1000" i="0">
                          <a:solidFill>
                            <a:schemeClr val="tx2"/>
                          </a:solidFill>
                        </a:rPr>
                        <a:t>Draft the initial Project Charter and Governance Framework . This includes outlining meeting cadences, reporting templates, and defining project roles and responsibilities to ensure clear communication and decision-making on Day 1</a:t>
                      </a:r>
                    </a:p>
                    <a:p>
                      <a:pPr marL="137160" indent="-137160">
                        <a:lnSpc>
                          <a:spcPct val="100000"/>
                        </a:lnSpc>
                        <a:spcAft>
                          <a:spcPts val="200"/>
                        </a:spcAft>
                        <a:buClr>
                          <a:schemeClr val="tx2"/>
                        </a:buClr>
                        <a:buFont typeface="CVS Health Sans" panose="020B0504020202020204" pitchFamily="34" charset="0"/>
                        <a:buChar char="•"/>
                      </a:pPr>
                      <a:r>
                        <a:rPr lang="en-US" sz="1000" b="1" i="0">
                          <a:solidFill>
                            <a:schemeClr val="tx2"/>
                          </a:solidFill>
                        </a:rPr>
                        <a:t>Reconcile Project Plans: </a:t>
                      </a:r>
                      <a:r>
                        <a:rPr lang="en-US" sz="1000" i="0">
                          <a:solidFill>
                            <a:schemeClr val="tx2"/>
                          </a:solidFill>
                        </a:rPr>
                        <a:t>Resolve the current planning misalignment between Peter's plan and the KPMG plan for the bronze-layer workstream</a:t>
                      </a:r>
                    </a:p>
                    <a:p>
                      <a:pPr marL="137160" indent="-137160">
                        <a:lnSpc>
                          <a:spcPct val="100000"/>
                        </a:lnSpc>
                        <a:spcAft>
                          <a:spcPts val="200"/>
                        </a:spcAft>
                        <a:buClr>
                          <a:schemeClr val="tx2"/>
                        </a:buClr>
                        <a:buFont typeface="CVS Health Sans" panose="020B0504020202020204" pitchFamily="34" charset="0"/>
                        <a:buChar char="•"/>
                      </a:pPr>
                      <a:r>
                        <a:rPr lang="en-US" sz="1000" b="1" i="0">
                          <a:solidFill>
                            <a:schemeClr val="tx2"/>
                          </a:solidFill>
                        </a:rPr>
                        <a:t>Set Up Risk, Issue, and Dependency Tracking: </a:t>
                      </a:r>
                      <a:r>
                        <a:rPr lang="en-US" sz="1000" i="0">
                          <a:solidFill>
                            <a:schemeClr val="tx2"/>
                          </a:solidFill>
                        </a:rPr>
                        <a:t>Create the initial RAID (Risks, Issues, Assumptions, and Dependencies) Log and Decision Log . This involves mapping cross-workstream dependencies, such as tracking Azure networking approvals, CVS security clearings, and pod delivery velocities</a:t>
                      </a:r>
                    </a:p>
                    <a:p>
                      <a:pPr marL="137160" indent="-137160">
                        <a:lnSpc>
                          <a:spcPct val="100000"/>
                        </a:lnSpc>
                        <a:spcAft>
                          <a:spcPts val="200"/>
                        </a:spcAft>
                        <a:buClr>
                          <a:schemeClr val="tx2"/>
                        </a:buClr>
                        <a:buFont typeface="CVS Health Sans" panose="020B0504020202020204" pitchFamily="34" charset="0"/>
                        <a:buChar char="•"/>
                      </a:pPr>
                      <a:r>
                        <a:rPr lang="en-US" sz="1000" b="1" i="0">
                          <a:solidFill>
                            <a:schemeClr val="tx2"/>
                          </a:solidFill>
                        </a:rPr>
                        <a:t>Coordinate the Microsoft ECIF Funding Path: </a:t>
                      </a:r>
                      <a:r>
                        <a:rPr lang="en-US" sz="1000" i="0">
                          <a:solidFill>
                            <a:schemeClr val="tx2"/>
                          </a:solidFill>
                        </a:rPr>
                        <a:t>Align on the three-party commercial milestones and coordinate the upcoming planning session/funding discussions with Microsoft and CVS procurement stakeholders</a:t>
                      </a:r>
                    </a:p>
                    <a:p>
                      <a:pPr marL="137160" indent="-137160">
                        <a:lnSpc>
                          <a:spcPct val="100000"/>
                        </a:lnSpc>
                        <a:spcAft>
                          <a:spcPts val="200"/>
                        </a:spcAft>
                        <a:buClr>
                          <a:schemeClr val="tx2"/>
                        </a:buClr>
                        <a:buFont typeface="CVS Health Sans" panose="020B0504020202020204" pitchFamily="34" charset="0"/>
                        <a:buChar char="•"/>
                      </a:pPr>
                      <a:r>
                        <a:rPr lang="en-US" sz="1000" b="1" i="0">
                          <a:solidFill>
                            <a:schemeClr val="tx2"/>
                          </a:solidFill>
                        </a:rPr>
                        <a:t>Confirm Resource Allocation &amp; Staffing Readiness: </a:t>
                      </a:r>
                      <a:r>
                        <a:rPr lang="en-US" sz="1000" i="0">
                          <a:solidFill>
                            <a:schemeClr val="tx2"/>
                          </a:solidFill>
                        </a:rPr>
                        <a:t>Finalize the staffing plan with resource management for onshore/offshore roles to prevent pre-allocated team members from being reassigned due to SOW delays</a:t>
                      </a:r>
                    </a:p>
                    <a:p>
                      <a:pPr marL="137160" indent="-137160">
                        <a:lnSpc>
                          <a:spcPct val="100000"/>
                        </a:lnSpc>
                        <a:spcAft>
                          <a:spcPts val="200"/>
                        </a:spcAft>
                        <a:buClr>
                          <a:schemeClr val="tx2"/>
                        </a:buClr>
                        <a:buFont typeface="CVS Health Sans" panose="020B0504020202020204" pitchFamily="34" charset="0"/>
                        <a:buChar char="•"/>
                      </a:pPr>
                      <a:r>
                        <a:rPr lang="en-US" sz="1000" b="1" i="0">
                          <a:solidFill>
                            <a:schemeClr val="tx2"/>
                          </a:solidFill>
                        </a:rPr>
                        <a:t>Prepare Team Onboarding Infrastructure: </a:t>
                      </a:r>
                      <a:r>
                        <a:rPr lang="en-US" sz="1000" i="0">
                          <a:solidFill>
                            <a:schemeClr val="tx2"/>
                          </a:solidFill>
                        </a:rPr>
                        <a:t>Initiate the creation of a centralized onboarding kit or knowledge repository to quickly ramp up incoming delivery pods once the SOW is finalized </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3144615"/>
                  </a:ext>
                </a:extLst>
              </a:tr>
              <a:tr h="581441">
                <a:tc>
                  <a:txBody>
                    <a:bodyPr/>
                    <a:lstStyle/>
                    <a:p>
                      <a:pPr>
                        <a:lnSpc>
                          <a:spcPct val="90000"/>
                        </a:lnSpc>
                      </a:pPr>
                      <a:r>
                        <a:rPr lang="en-US" sz="1050" b="1">
                          <a:solidFill>
                            <a:schemeClr val="bg1"/>
                          </a:solidFill>
                        </a:rPr>
                        <a:t>Upstream Prerequisites</a:t>
                      </a:r>
                    </a:p>
                    <a:p>
                      <a:pPr>
                        <a:lnSpc>
                          <a:spcPct val="90000"/>
                        </a:lnSpc>
                      </a:pPr>
                      <a:endParaRPr lang="en-US" sz="1050" b="1">
                        <a:solidFill>
                          <a:schemeClr val="bg1"/>
                        </a:solidFill>
                      </a:endParaRP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1" i="0">
                          <a:solidFill>
                            <a:schemeClr val="tx2"/>
                          </a:solidFill>
                        </a:rPr>
                        <a:t>Commercial Authorization</a:t>
                      </a:r>
                      <a:r>
                        <a:rPr lang="en-US" sz="1000" i="0">
                          <a:solidFill>
                            <a:schemeClr val="tx2"/>
                          </a:solidFill>
                        </a:rPr>
                        <a:t>: Formal execution of the tri-party agreement / SOW and Microsoft ECIF/ESIF funding sign-off</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1" i="0">
                          <a:solidFill>
                            <a:schemeClr val="tx2"/>
                          </a:solidFill>
                        </a:rPr>
                        <a:t>Architecture Assessment: </a:t>
                      </a:r>
                      <a:r>
                        <a:rPr lang="en-US" sz="1000" i="0">
                          <a:solidFill>
                            <a:schemeClr val="tx2"/>
                          </a:solidFill>
                        </a:rPr>
                        <a:t>Lovelytics current-state assessment findings (via Amit Gonsalves) to resolve baseline infrastructure and IAM gaps</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1" i="0">
                          <a:solidFill>
                            <a:schemeClr val="tx2"/>
                          </a:solidFill>
                        </a:rPr>
                        <a:t>CVS Technical Inputs: </a:t>
                      </a:r>
                      <a:r>
                        <a:rPr lang="en-US" sz="1000" i="0">
                          <a:solidFill>
                            <a:schemeClr val="tx2"/>
                          </a:solidFill>
                        </a:rPr>
                        <a:t>Adam Plotzker’s architecture spreadsheet and stakeholder approval of the 26-table ODCS standard</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7196652"/>
                  </a:ext>
                </a:extLst>
              </a:tr>
              <a:tr h="581441">
                <a:tc>
                  <a:txBody>
                    <a:bodyPr/>
                    <a:lstStyle/>
                    <a:p>
                      <a:pPr>
                        <a:lnSpc>
                          <a:spcPct val="90000"/>
                        </a:lnSpc>
                      </a:pPr>
                      <a:r>
                        <a:rPr lang="en-US" sz="1050" b="1">
                          <a:solidFill>
                            <a:schemeClr val="bg1"/>
                          </a:solidFill>
                        </a:rPr>
                        <a:t>Downstream Workstream Hand-offs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1" i="0">
                          <a:solidFill>
                            <a:schemeClr val="tx2"/>
                          </a:solidFill>
                        </a:rPr>
                        <a:t>To Technical Pods (WS-B/C/D): </a:t>
                      </a:r>
                      <a:r>
                        <a:rPr lang="en-US" sz="1000" i="0">
                          <a:solidFill>
                            <a:schemeClr val="tx2"/>
                          </a:solidFill>
                        </a:rPr>
                        <a:t>Sprint work packages, prioritized backlogs, unblocked environmental credentials, and cross-workstream coordination</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1" i="0">
                          <a:solidFill>
                            <a:schemeClr val="tx2"/>
                          </a:solidFill>
                        </a:rPr>
                        <a:t>To Executive Sponsors (CVS/Microsoft): </a:t>
                      </a:r>
                      <a:r>
                        <a:rPr lang="en-US" sz="1000" i="0">
                          <a:solidFill>
                            <a:schemeClr val="tx2"/>
                          </a:solidFill>
                        </a:rPr>
                        <a:t>Bi-weekly executive progress dashboards, budget burn reporting, and milestone acceptance packages</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1" i="0">
                          <a:solidFill>
                            <a:schemeClr val="tx2"/>
                          </a:solidFill>
                        </a:rPr>
                        <a:t>To Hypercare &amp; Operations (WS-F): </a:t>
                      </a:r>
                      <a:r>
                        <a:rPr lang="en-US" sz="1000" i="0">
                          <a:solidFill>
                            <a:schemeClr val="tx2"/>
                          </a:solidFill>
                        </a:rPr>
                        <a:t>Baselined operational runbooks, resolved defect logs, and formal governance transition artifacts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3949764"/>
                  </a:ext>
                </a:extLst>
              </a:tr>
            </a:tbl>
          </a:graphicData>
        </a:graphic>
      </p:graphicFrame>
      <p:graphicFrame>
        <p:nvGraphicFramePr>
          <p:cNvPr id="14" name="Content Placeholder 6">
            <a:extLst>
              <a:ext uri="{FF2B5EF4-FFF2-40B4-BE49-F238E27FC236}">
                <a16:creationId xmlns:a16="http://schemas.microsoft.com/office/drawing/2014/main" id="{7883524F-6E7F-2686-BB29-E3A4EE5AD058}"/>
              </a:ext>
            </a:extLst>
          </p:cNvPr>
          <p:cNvGraphicFramePr>
            <a:graphicFrameLocks/>
          </p:cNvGraphicFramePr>
          <p:nvPr>
            <p:extLst>
              <p:ext uri="{D42A27DB-BD31-4B8C-83A1-F6EECF244321}">
                <p14:modId xmlns:p14="http://schemas.microsoft.com/office/powerpoint/2010/main" val="2081662511"/>
              </p:ext>
            </p:extLst>
          </p:nvPr>
        </p:nvGraphicFramePr>
        <p:xfrm>
          <a:off x="529432" y="4660900"/>
          <a:ext cx="11127580" cy="1409700"/>
        </p:xfrm>
        <a:graphic>
          <a:graphicData uri="http://schemas.openxmlformats.org/drawingml/2006/table">
            <a:tbl>
              <a:tblPr firstRow="1" bandRow="1">
                <a:tableStyleId>{2D5ABB26-0587-4C30-8999-92F81FD0307C}</a:tableStyleId>
              </a:tblPr>
              <a:tblGrid>
                <a:gridCol w="1120644">
                  <a:extLst>
                    <a:ext uri="{9D8B030D-6E8A-4147-A177-3AD203B41FA5}">
                      <a16:colId xmlns:a16="http://schemas.microsoft.com/office/drawing/2014/main" val="2393725290"/>
                    </a:ext>
                  </a:extLst>
                </a:gridCol>
                <a:gridCol w="2501734">
                  <a:extLst>
                    <a:ext uri="{9D8B030D-6E8A-4147-A177-3AD203B41FA5}">
                      <a16:colId xmlns:a16="http://schemas.microsoft.com/office/drawing/2014/main" val="1699332636"/>
                    </a:ext>
                  </a:extLst>
                </a:gridCol>
                <a:gridCol w="2501734">
                  <a:extLst>
                    <a:ext uri="{9D8B030D-6E8A-4147-A177-3AD203B41FA5}">
                      <a16:colId xmlns:a16="http://schemas.microsoft.com/office/drawing/2014/main" val="2684621038"/>
                    </a:ext>
                  </a:extLst>
                </a:gridCol>
                <a:gridCol w="2501734">
                  <a:extLst>
                    <a:ext uri="{9D8B030D-6E8A-4147-A177-3AD203B41FA5}">
                      <a16:colId xmlns:a16="http://schemas.microsoft.com/office/drawing/2014/main" val="1078624516"/>
                    </a:ext>
                  </a:extLst>
                </a:gridCol>
                <a:gridCol w="2501734">
                  <a:extLst>
                    <a:ext uri="{9D8B030D-6E8A-4147-A177-3AD203B41FA5}">
                      <a16:colId xmlns:a16="http://schemas.microsoft.com/office/drawing/2014/main" val="713383717"/>
                    </a:ext>
                  </a:extLst>
                </a:gridCol>
              </a:tblGrid>
              <a:tr h="517686">
                <a:tc>
                  <a:txBody>
                    <a:bodyPr/>
                    <a:lstStyle/>
                    <a:p>
                      <a:r>
                        <a:rPr lang="en-US" sz="1050" b="1">
                          <a:solidFill>
                            <a:schemeClr val="bg1"/>
                          </a:solidFill>
                        </a:rPr>
                        <a:t>Epic</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457063" rtl="0" eaLnBrk="1" fontAlgn="ctr" latinLnBrk="0" hangingPunct="1"/>
                      <a:r>
                        <a:rPr lang="en-US" sz="1000" b="1" kern="1500" noProof="0">
                          <a:solidFill>
                            <a:srgbClr val="0A4B8C"/>
                          </a:solidFill>
                          <a:latin typeface="+mn-lt"/>
                          <a:ea typeface="+mn-ea"/>
                          <a:cs typeface="+mn-cs"/>
                        </a:rPr>
                        <a:t>PMO Governance, Reporting &amp; Steering Cadence</a:t>
                      </a:r>
                      <a:endParaRPr lang="en-US" sz="1000" b="1" kern="1500">
                        <a:solidFill>
                          <a:srgbClr val="0A4B8C"/>
                        </a:solidFill>
                        <a:latin typeface="+mn-lt"/>
                        <a:ea typeface="+mn-ea"/>
                        <a:cs typeface="+mn-cs"/>
                      </a:endParaRP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457063" rtl="0" eaLnBrk="1" fontAlgn="ctr" latinLnBrk="0" hangingPunct="1"/>
                      <a:r>
                        <a:rPr lang="en-US" sz="1000" b="1" kern="1500">
                          <a:solidFill>
                            <a:srgbClr val="0A4B8C"/>
                          </a:solidFill>
                          <a:latin typeface="+mn-lt"/>
                          <a:ea typeface="+mn-ea"/>
                          <a:cs typeface="+mn-cs"/>
                        </a:rPr>
                        <a:t>Integrated RAID &amp; </a:t>
                      </a:r>
                      <a:br>
                        <a:rPr lang="en-US" sz="1000" b="1" kern="1500">
                          <a:solidFill>
                            <a:srgbClr val="0A4B8C"/>
                          </a:solidFill>
                          <a:latin typeface="+mn-lt"/>
                          <a:ea typeface="+mn-ea"/>
                          <a:cs typeface="+mn-cs"/>
                        </a:rPr>
                      </a:br>
                      <a:r>
                        <a:rPr lang="en-US" sz="1000" b="1" kern="1500">
                          <a:solidFill>
                            <a:srgbClr val="0A4B8C"/>
                          </a:solidFill>
                          <a:latin typeface="+mn-lt"/>
                          <a:ea typeface="+mn-ea"/>
                          <a:cs typeface="+mn-cs"/>
                        </a:rPr>
                        <a:t>Financial Governance</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noProof="0">
                          <a:solidFill>
                            <a:srgbClr val="0A4B8C"/>
                          </a:solidFill>
                          <a:latin typeface="+mn-lt"/>
                          <a:ea typeface="+mn-ea"/>
                          <a:cs typeface="+mn-cs"/>
                        </a:rPr>
                        <a:t>Welcome Season &amp; Change </a:t>
                      </a:r>
                      <a:br>
                        <a:rPr lang="en-US" sz="1000" b="1" kern="1500" noProof="0">
                          <a:solidFill>
                            <a:srgbClr val="0A4B8C"/>
                          </a:solidFill>
                          <a:latin typeface="+mn-lt"/>
                          <a:ea typeface="+mn-ea"/>
                          <a:cs typeface="+mn-cs"/>
                        </a:rPr>
                      </a:br>
                      <a:r>
                        <a:rPr lang="en-US" sz="1000" b="1" kern="1500" noProof="0">
                          <a:solidFill>
                            <a:srgbClr val="0A4B8C"/>
                          </a:solidFill>
                          <a:latin typeface="+mn-lt"/>
                          <a:ea typeface="+mn-ea"/>
                          <a:cs typeface="+mn-cs"/>
                        </a:rPr>
                        <a:t>Freeze Governance</a:t>
                      </a:r>
                      <a:endParaRPr lang="en-US" sz="1000" b="1" kern="1500">
                        <a:solidFill>
                          <a:srgbClr val="0A4B8C"/>
                        </a:solidFill>
                        <a:latin typeface="+mn-lt"/>
                        <a:ea typeface="+mn-ea"/>
                        <a:cs typeface="+mn-cs"/>
                      </a:endParaRP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noProof="0">
                          <a:solidFill>
                            <a:srgbClr val="0A4B8C"/>
                          </a:solidFill>
                          <a:latin typeface="+mn-lt"/>
                          <a:ea typeface="+mn-ea"/>
                          <a:cs typeface="+mn-cs"/>
                        </a:rPr>
                        <a:t>Agile Tooling &amp; Jira </a:t>
                      </a:r>
                      <a:br>
                        <a:rPr lang="en-US" sz="1000" b="1" kern="1500" noProof="0">
                          <a:solidFill>
                            <a:srgbClr val="0A4B8C"/>
                          </a:solidFill>
                          <a:latin typeface="+mn-lt"/>
                          <a:ea typeface="+mn-ea"/>
                          <a:cs typeface="+mn-cs"/>
                        </a:rPr>
                      </a:br>
                      <a:r>
                        <a:rPr lang="en-US" sz="1000" b="1" kern="1500" noProof="0">
                          <a:solidFill>
                            <a:srgbClr val="0A4B8C"/>
                          </a:solidFill>
                          <a:latin typeface="+mn-lt"/>
                          <a:ea typeface="+mn-ea"/>
                          <a:cs typeface="+mn-cs"/>
                        </a:rPr>
                        <a:t>WBS Ingestion</a:t>
                      </a:r>
                      <a:endParaRPr lang="en-US" sz="1000" b="1" kern="1500">
                        <a:solidFill>
                          <a:srgbClr val="0A4B8C"/>
                        </a:solidFill>
                        <a:latin typeface="+mn-lt"/>
                        <a:ea typeface="+mn-ea"/>
                        <a:cs typeface="+mn-cs"/>
                      </a:endParaRP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3144615"/>
                  </a:ext>
                </a:extLst>
              </a:tr>
              <a:tr h="892014">
                <a:tc>
                  <a:txBody>
                    <a:bodyPr/>
                    <a:lstStyle/>
                    <a:p>
                      <a:r>
                        <a:rPr lang="en-US" sz="1050" b="1">
                          <a:solidFill>
                            <a:schemeClr val="bg1"/>
                          </a:solidFill>
                        </a:rPr>
                        <a:t>Features</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spcAft>
                          <a:spcPts val="200"/>
                        </a:spcAft>
                        <a:buFont typeface="Arial" panose="020B0604020202020204" pitchFamily="34" charset="0"/>
                        <a:buChar char="•"/>
                      </a:pPr>
                      <a:r>
                        <a:rPr lang="en-US" sz="1000" b="0">
                          <a:solidFill>
                            <a:schemeClr val="tx2"/>
                          </a:solidFill>
                        </a:rPr>
                        <a:t>1.1: Executive Steering &amp; Tactical Cadence Execution</a:t>
                      </a:r>
                    </a:p>
                    <a:p>
                      <a:pPr marL="137160" indent="-137160">
                        <a:spcAft>
                          <a:spcPts val="200"/>
                        </a:spcAft>
                        <a:buFont typeface="Arial" panose="020B0604020202020204" pitchFamily="34" charset="0"/>
                        <a:buChar char="•"/>
                      </a:pPr>
                      <a:r>
                        <a:rPr lang="en-US" sz="1000" b="0">
                          <a:solidFill>
                            <a:schemeClr val="tx2"/>
                          </a:solidFill>
                        </a:rPr>
                        <a:t>1.2: Microsoft ECIF Co-Funding &amp; </a:t>
                      </a:r>
                      <a:br>
                        <a:rPr lang="en-US" sz="1000" b="0">
                          <a:solidFill>
                            <a:schemeClr val="tx2"/>
                          </a:solidFill>
                        </a:rPr>
                      </a:br>
                      <a:r>
                        <a:rPr lang="en-US" sz="1000" b="0">
                          <a:solidFill>
                            <a:schemeClr val="tx2"/>
                          </a:solidFill>
                        </a:rPr>
                        <a:t>Milestone Management</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indent="-137160">
                        <a:spcAft>
                          <a:spcPts val="200"/>
                        </a:spcAft>
                        <a:buFont typeface="Arial" panose="020B0604020202020204" pitchFamily="34" charset="0"/>
                        <a:buChar char="•"/>
                      </a:pPr>
                      <a:r>
                        <a:rPr lang="en-US" sz="1000" b="0">
                          <a:solidFill>
                            <a:schemeClr val="tx2"/>
                          </a:solidFill>
                        </a:rPr>
                        <a:t>2.1: Multi-Workstream Dependency &amp; RAID </a:t>
                      </a:r>
                      <a:br>
                        <a:rPr lang="en-US" sz="1000" b="0">
                          <a:solidFill>
                            <a:schemeClr val="tx2"/>
                          </a:solidFill>
                        </a:rPr>
                      </a:br>
                      <a:r>
                        <a:rPr lang="en-US" sz="1000" b="0">
                          <a:solidFill>
                            <a:schemeClr val="tx2"/>
                          </a:solidFill>
                        </a:rPr>
                        <a:t>Framework Integration</a:t>
                      </a:r>
                    </a:p>
                    <a:p>
                      <a:pPr marL="137160" indent="-137160">
                        <a:spcAft>
                          <a:spcPts val="200"/>
                        </a:spcAft>
                        <a:buFont typeface="Arial" panose="020B0604020202020204" pitchFamily="34" charset="0"/>
                        <a:buChar char="•"/>
                      </a:pPr>
                      <a:r>
                        <a:rPr lang="en-US" sz="1000" b="0">
                          <a:solidFill>
                            <a:schemeClr val="tx2"/>
                          </a:solidFill>
                        </a:rPr>
                        <a:t>2.2: Resource Staffing &amp; Blended Rate </a:t>
                      </a:r>
                      <a:br>
                        <a:rPr lang="en-US" sz="1000" b="0">
                          <a:solidFill>
                            <a:schemeClr val="tx2"/>
                          </a:solidFill>
                        </a:rPr>
                      </a:br>
                      <a:r>
                        <a:rPr lang="en-US" sz="1000" b="0">
                          <a:solidFill>
                            <a:schemeClr val="tx2"/>
                          </a:solidFill>
                        </a:rPr>
                        <a:t>Financial Tracking</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1500" cap="none" spc="0" normalizeH="0" baseline="0" noProof="0">
                          <a:ln>
                            <a:noFill/>
                          </a:ln>
                          <a:solidFill>
                            <a:schemeClr val="tx2"/>
                          </a:solidFill>
                          <a:effectLst/>
                          <a:uLnTx/>
                          <a:uFillTx/>
                          <a:latin typeface="+mn-lt"/>
                          <a:ea typeface="+mn-ea"/>
                          <a:cs typeface="+mn-cs"/>
                        </a:rPr>
                        <a:t>3.1: Change Freeze Operational Playbook &amp; Sandbox Boundaries</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1500" cap="none" spc="0" normalizeH="0" baseline="0" noProof="0">
                          <a:ln>
                            <a:noFill/>
                          </a:ln>
                          <a:solidFill>
                            <a:schemeClr val="tx2"/>
                          </a:solidFill>
                          <a:effectLst/>
                          <a:uLnTx/>
                          <a:uFillTx/>
                          <a:latin typeface="+mn-lt"/>
                          <a:ea typeface="+mn-ea"/>
                          <a:cs typeface="+mn-cs"/>
                        </a:rPr>
                        <a:t>3.2: Foundational Day 1 Review Gate Q1/Q2</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indent="-137160">
                        <a:spcAft>
                          <a:spcPts val="200"/>
                        </a:spcAft>
                        <a:buFont typeface="Arial" panose="020B0604020202020204" pitchFamily="34" charset="0"/>
                        <a:buChar char="•"/>
                      </a:pPr>
                      <a:r>
                        <a:rPr lang="en-US" sz="1000" b="0">
                          <a:solidFill>
                            <a:schemeClr val="tx2"/>
                          </a:solidFill>
                        </a:rPr>
                        <a:t>4.1: Jira WBS &amp; Epic-to-Task Taxonomy Construction</a:t>
                      </a:r>
                    </a:p>
                    <a:p>
                      <a:pPr marL="137160" indent="-137160">
                        <a:spcAft>
                          <a:spcPts val="200"/>
                        </a:spcAft>
                        <a:buFont typeface="Arial" panose="020B0604020202020204" pitchFamily="34" charset="0"/>
                        <a:buChar char="•"/>
                      </a:pPr>
                      <a:r>
                        <a:rPr lang="en-US" sz="1000" b="0">
                          <a:solidFill>
                            <a:schemeClr val="tx2"/>
                          </a:solidFill>
                        </a:rPr>
                        <a:t>4.2: Multi-Tier Modernization Priority Matrix</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7196652"/>
                  </a:ext>
                </a:extLst>
              </a:tr>
            </a:tbl>
          </a:graphicData>
        </a:graphic>
      </p:graphicFrame>
      <p:grpSp>
        <p:nvGrpSpPr>
          <p:cNvPr id="15" name="Group 14">
            <a:extLst>
              <a:ext uri="{FF2B5EF4-FFF2-40B4-BE49-F238E27FC236}">
                <a16:creationId xmlns:a16="http://schemas.microsoft.com/office/drawing/2014/main" id="{44A7CDB7-92A3-FFC6-3C99-A5467C81EB77}"/>
              </a:ext>
            </a:extLst>
          </p:cNvPr>
          <p:cNvGrpSpPr/>
          <p:nvPr/>
        </p:nvGrpSpPr>
        <p:grpSpPr>
          <a:xfrm>
            <a:off x="538691" y="3191142"/>
            <a:ext cx="11125201" cy="0"/>
            <a:chOff x="531813" y="3716075"/>
            <a:chExt cx="11125201" cy="0"/>
          </a:xfrm>
        </p:grpSpPr>
        <p:cxnSp>
          <p:nvCxnSpPr>
            <p:cNvPr id="16" name="Straight Connector 15">
              <a:extLst>
                <a:ext uri="{FF2B5EF4-FFF2-40B4-BE49-F238E27FC236}">
                  <a16:creationId xmlns:a16="http://schemas.microsoft.com/office/drawing/2014/main" id="{C6953DCF-E9B8-49E7-5C54-ADE7DD36FBF5}"/>
                </a:ext>
              </a:extLst>
            </p:cNvPr>
            <p:cNvCxnSpPr>
              <a:cxnSpLocks/>
            </p:cNvCxnSpPr>
            <p:nvPr/>
          </p:nvCxnSpPr>
          <p:spPr>
            <a:xfrm>
              <a:off x="553507" y="3716075"/>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1D05BBC-57EC-67A5-D708-62D34BFDF33F}"/>
                </a:ext>
              </a:extLst>
            </p:cNvPr>
            <p:cNvCxnSpPr>
              <a:cxnSpLocks/>
            </p:cNvCxnSpPr>
            <p:nvPr/>
          </p:nvCxnSpPr>
          <p:spPr>
            <a:xfrm>
              <a:off x="531813" y="3716075"/>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C373DC99-2FEB-196F-671F-9B8EA9ACE9FD}"/>
              </a:ext>
            </a:extLst>
          </p:cNvPr>
          <p:cNvGrpSpPr/>
          <p:nvPr/>
        </p:nvGrpSpPr>
        <p:grpSpPr>
          <a:xfrm>
            <a:off x="557473" y="5158100"/>
            <a:ext cx="11125201" cy="999"/>
            <a:chOff x="531813" y="5259957"/>
            <a:chExt cx="11125201" cy="999"/>
          </a:xfrm>
        </p:grpSpPr>
        <p:cxnSp>
          <p:nvCxnSpPr>
            <p:cNvPr id="19" name="Straight Connector 18">
              <a:extLst>
                <a:ext uri="{FF2B5EF4-FFF2-40B4-BE49-F238E27FC236}">
                  <a16:creationId xmlns:a16="http://schemas.microsoft.com/office/drawing/2014/main" id="{03CC3F22-A5AC-136F-F6FD-004EB20FA16F}"/>
                </a:ext>
              </a:extLst>
            </p:cNvPr>
            <p:cNvCxnSpPr>
              <a:cxnSpLocks/>
            </p:cNvCxnSpPr>
            <p:nvPr/>
          </p:nvCxnSpPr>
          <p:spPr>
            <a:xfrm>
              <a:off x="553507" y="5260956"/>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FFB86B4-2548-773B-ABB1-A85A8666BE41}"/>
                </a:ext>
              </a:extLst>
            </p:cNvPr>
            <p:cNvCxnSpPr>
              <a:cxnSpLocks/>
            </p:cNvCxnSpPr>
            <p:nvPr/>
          </p:nvCxnSpPr>
          <p:spPr>
            <a:xfrm>
              <a:off x="531813" y="5259957"/>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6D27E17A-3ECD-1425-87AA-0E7669D58669}"/>
              </a:ext>
            </a:extLst>
          </p:cNvPr>
          <p:cNvGrpSpPr/>
          <p:nvPr/>
        </p:nvGrpSpPr>
        <p:grpSpPr>
          <a:xfrm>
            <a:off x="542658" y="4632173"/>
            <a:ext cx="11125201" cy="1"/>
            <a:chOff x="531813" y="4848012"/>
            <a:chExt cx="11125201" cy="1"/>
          </a:xfrm>
        </p:grpSpPr>
        <p:cxnSp>
          <p:nvCxnSpPr>
            <p:cNvPr id="22" name="Straight Connector 21">
              <a:extLst>
                <a:ext uri="{FF2B5EF4-FFF2-40B4-BE49-F238E27FC236}">
                  <a16:creationId xmlns:a16="http://schemas.microsoft.com/office/drawing/2014/main" id="{7F47EEEC-AEDB-4023-1B7B-B4F353BEC990}"/>
                </a:ext>
              </a:extLst>
            </p:cNvPr>
            <p:cNvCxnSpPr>
              <a:cxnSpLocks/>
            </p:cNvCxnSpPr>
            <p:nvPr/>
          </p:nvCxnSpPr>
          <p:spPr>
            <a:xfrm>
              <a:off x="553507" y="4848013"/>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C53E6EA-1A36-9EA0-71E6-A57BA6626AD3}"/>
                </a:ext>
              </a:extLst>
            </p:cNvPr>
            <p:cNvCxnSpPr>
              <a:cxnSpLocks/>
            </p:cNvCxnSpPr>
            <p:nvPr/>
          </p:nvCxnSpPr>
          <p:spPr>
            <a:xfrm>
              <a:off x="531813" y="4848012"/>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BE643A49-67A9-CEE0-46F0-95E826E88F0E}"/>
              </a:ext>
            </a:extLst>
          </p:cNvPr>
          <p:cNvGrpSpPr/>
          <p:nvPr/>
        </p:nvGrpSpPr>
        <p:grpSpPr>
          <a:xfrm>
            <a:off x="544248" y="3788499"/>
            <a:ext cx="11127580" cy="1695"/>
            <a:chOff x="529432" y="4264661"/>
            <a:chExt cx="11127580" cy="1695"/>
          </a:xfrm>
        </p:grpSpPr>
        <p:cxnSp>
          <p:nvCxnSpPr>
            <p:cNvPr id="26" name="Straight Connector 25">
              <a:extLst>
                <a:ext uri="{FF2B5EF4-FFF2-40B4-BE49-F238E27FC236}">
                  <a16:creationId xmlns:a16="http://schemas.microsoft.com/office/drawing/2014/main" id="{B7259F88-CB21-86C1-C0AF-11D950F2C061}"/>
                </a:ext>
              </a:extLst>
            </p:cNvPr>
            <p:cNvCxnSpPr>
              <a:cxnSpLocks/>
            </p:cNvCxnSpPr>
            <p:nvPr/>
          </p:nvCxnSpPr>
          <p:spPr>
            <a:xfrm>
              <a:off x="553505" y="4264661"/>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95D3FBF-D747-8E9F-0620-2276CAFD939B}"/>
                </a:ext>
              </a:extLst>
            </p:cNvPr>
            <p:cNvCxnSpPr>
              <a:cxnSpLocks/>
            </p:cNvCxnSpPr>
            <p:nvPr/>
          </p:nvCxnSpPr>
          <p:spPr>
            <a:xfrm>
              <a:off x="529432" y="4266356"/>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sp>
        <p:nvSpPr>
          <p:cNvPr id="33" name="Rectangle 32">
            <a:extLst>
              <a:ext uri="{FF2B5EF4-FFF2-40B4-BE49-F238E27FC236}">
                <a16:creationId xmlns:a16="http://schemas.microsoft.com/office/drawing/2014/main" id="{0EB099D9-EEA9-21F3-BE72-368C3625AEC2}"/>
              </a:ext>
            </a:extLst>
          </p:cNvPr>
          <p:cNvSpPr/>
          <p:nvPr/>
        </p:nvSpPr>
        <p:spPr bwMode="gray">
          <a:xfrm>
            <a:off x="589357" y="6202227"/>
            <a:ext cx="10963656" cy="137160"/>
          </a:xfrm>
          <a:prstGeom prst="rect">
            <a:avLst/>
          </a:prstGeom>
          <a:noFill/>
          <a:ln>
            <a:noFill/>
            <a:miter lim="800000"/>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lstStyle/>
          <a:p>
            <a:r>
              <a:rPr lang="en-US" sz="800">
                <a:solidFill>
                  <a:schemeClr val="tx1"/>
                </a:solidFill>
              </a:rPr>
              <a:t>Source: Current KPMG planning, subject to change</a:t>
            </a:r>
          </a:p>
        </p:txBody>
      </p:sp>
    </p:spTree>
    <p:extLst>
      <p:ext uri="{BB962C8B-B14F-4D97-AF65-F5344CB8AC3E}">
        <p14:creationId xmlns:p14="http://schemas.microsoft.com/office/powerpoint/2010/main" val="35699462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4B01D04-EE46-9456-A19B-271788D4FF31}"/>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917831C-76EC-6F6A-DD0F-F3F6798E5821}"/>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5" name="thinkcell data - do not delete" hidden="1">
                        <a:extLst>
                          <a:ext uri="{FF2B5EF4-FFF2-40B4-BE49-F238E27FC236}">
                            <a16:creationId xmlns:a16="http://schemas.microsoft.com/office/drawing/2014/main" id="{4917831C-76EC-6F6A-DD0F-F3F6798E58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1A0711BA-29EE-5514-1EF4-06F46F388005}"/>
              </a:ext>
            </a:extLst>
          </p:cNvPr>
          <p:cNvSpPr>
            <a:spLocks noGrp="1"/>
          </p:cNvSpPr>
          <p:nvPr>
            <p:ph type="title"/>
          </p:nvPr>
        </p:nvSpPr>
        <p:spPr>
          <a:xfrm>
            <a:off x="557931" y="584200"/>
            <a:ext cx="6449044" cy="713232"/>
          </a:xfrm>
        </p:spPr>
        <p:txBody>
          <a:bodyPr vert="horz" rIns="0"/>
          <a:lstStyle/>
          <a:p>
            <a:r>
              <a:rPr lang="en-US"/>
              <a:t>Workstream E</a:t>
            </a:r>
          </a:p>
        </p:txBody>
      </p:sp>
    </p:spTree>
    <p:extLst>
      <p:ext uri="{BB962C8B-B14F-4D97-AF65-F5344CB8AC3E}">
        <p14:creationId xmlns:p14="http://schemas.microsoft.com/office/powerpoint/2010/main" val="3809049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D5ABF7A-0A55-1554-4D2A-7BDA989096D5}"/>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DEA45649-26A1-2A91-A10C-38EA4E82EE53}"/>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5" name="thinkcell data - do not delete" hidden="1">
                        <a:extLst>
                          <a:ext uri="{FF2B5EF4-FFF2-40B4-BE49-F238E27FC236}">
                            <a16:creationId xmlns:a16="http://schemas.microsoft.com/office/drawing/2014/main" id="{DEA45649-26A1-2A91-A10C-38EA4E82EE5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1555246D-8497-CC41-9888-FDF77BAF7512}"/>
              </a:ext>
            </a:extLst>
          </p:cNvPr>
          <p:cNvSpPr>
            <a:spLocks noGrp="1"/>
          </p:cNvSpPr>
          <p:nvPr>
            <p:ph type="title"/>
          </p:nvPr>
        </p:nvSpPr>
        <p:spPr/>
        <p:txBody>
          <a:bodyPr vert="horz" rIns="0"/>
          <a:lstStyle/>
          <a:p>
            <a:r>
              <a:rPr lang="en-US"/>
              <a:t>Workstream E – Organizational Change and Adoption (1/2)</a:t>
            </a:r>
            <a:br>
              <a:rPr lang="en-US"/>
            </a:br>
            <a:r>
              <a:rPr lang="en-US" sz="1600" b="0"/>
              <a:t>Change management – From the SOW and other planning documents</a:t>
            </a:r>
          </a:p>
        </p:txBody>
      </p:sp>
      <p:sp>
        <p:nvSpPr>
          <p:cNvPr id="8" name="Rectangle: Top Corners Rounded 7">
            <a:extLst>
              <a:ext uri="{FF2B5EF4-FFF2-40B4-BE49-F238E27FC236}">
                <a16:creationId xmlns:a16="http://schemas.microsoft.com/office/drawing/2014/main" id="{277D75A9-5DB1-FD04-61EA-3074E44BD8C9}"/>
              </a:ext>
            </a:extLst>
          </p:cNvPr>
          <p:cNvSpPr/>
          <p:nvPr/>
        </p:nvSpPr>
        <p:spPr bwMode="gray">
          <a:xfrm rot="5400000">
            <a:off x="-1682253" y="3070784"/>
            <a:ext cx="4682069" cy="1317568"/>
          </a:xfrm>
          <a:prstGeom prst="round2SameRect">
            <a:avLst>
              <a:gd name="adj1" fmla="val 9976"/>
              <a:gd name="adj2" fmla="val 0"/>
            </a:avLst>
          </a:prstGeom>
          <a:gradFill flip="none" rotWithShape="1">
            <a:gsLst>
              <a:gs pos="0">
                <a:srgbClr val="267AC0"/>
              </a:gs>
              <a:gs pos="100000">
                <a:srgbClr val="0A4B8C"/>
              </a:gs>
            </a:gsLst>
            <a:lin ang="54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sp>
        <p:nvSpPr>
          <p:cNvPr id="9" name="TextBox 8">
            <a:extLst>
              <a:ext uri="{FF2B5EF4-FFF2-40B4-BE49-F238E27FC236}">
                <a16:creationId xmlns:a16="http://schemas.microsoft.com/office/drawing/2014/main" id="{E9D91AF1-2B1B-0197-22D7-B9D25B33B575}"/>
              </a:ext>
            </a:extLst>
          </p:cNvPr>
          <p:cNvSpPr txBox="1"/>
          <p:nvPr/>
        </p:nvSpPr>
        <p:spPr>
          <a:xfrm>
            <a:off x="543482" y="1490133"/>
            <a:ext cx="690958"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Scope</a:t>
            </a:r>
          </a:p>
        </p:txBody>
      </p:sp>
      <p:sp>
        <p:nvSpPr>
          <p:cNvPr id="10" name="TextBox 9">
            <a:extLst>
              <a:ext uri="{FF2B5EF4-FFF2-40B4-BE49-F238E27FC236}">
                <a16:creationId xmlns:a16="http://schemas.microsoft.com/office/drawing/2014/main" id="{3F3CC36B-71CE-4280-131A-11DB52EE602D}"/>
              </a:ext>
            </a:extLst>
          </p:cNvPr>
          <p:cNvSpPr txBox="1"/>
          <p:nvPr/>
        </p:nvSpPr>
        <p:spPr>
          <a:xfrm>
            <a:off x="1366590" y="1490133"/>
            <a:ext cx="4693922" cy="769441"/>
          </a:xfrm>
          <a:prstGeom prst="rect">
            <a:avLst/>
          </a:prstGeom>
          <a:noFill/>
        </p:spPr>
        <p:txBody>
          <a:bodyPr wrap="square" lIns="0" tIns="0" rIns="0" bIns="0">
            <a:spAutoFit/>
          </a:bodyPr>
          <a:lstStyle/>
          <a:p>
            <a:r>
              <a:rPr lang="en-US" sz="1000">
                <a:solidFill>
                  <a:schemeClr val="tx2"/>
                </a:solidFill>
              </a:rPr>
              <a:t>Support adoption of Databricks platform through stakeholder alignment, training, communication planning, and a structured migration playbook.  Provide Operational process documentation and runbooks to enable the CVS Health Operations team to effectively manage and maintain the environment based on the architecture and processes as designed.</a:t>
            </a:r>
          </a:p>
        </p:txBody>
      </p:sp>
      <p:sp>
        <p:nvSpPr>
          <p:cNvPr id="11" name="TextBox 10">
            <a:extLst>
              <a:ext uri="{FF2B5EF4-FFF2-40B4-BE49-F238E27FC236}">
                <a16:creationId xmlns:a16="http://schemas.microsoft.com/office/drawing/2014/main" id="{1EC97F43-EA3C-A9E3-43CD-A10EBBDF5B72}"/>
              </a:ext>
            </a:extLst>
          </p:cNvPr>
          <p:cNvSpPr txBox="1"/>
          <p:nvPr/>
        </p:nvSpPr>
        <p:spPr>
          <a:xfrm>
            <a:off x="543482" y="2418100"/>
            <a:ext cx="721899"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Objective</a:t>
            </a:r>
          </a:p>
        </p:txBody>
      </p:sp>
      <p:sp>
        <p:nvSpPr>
          <p:cNvPr id="12" name="TextBox 11">
            <a:extLst>
              <a:ext uri="{FF2B5EF4-FFF2-40B4-BE49-F238E27FC236}">
                <a16:creationId xmlns:a16="http://schemas.microsoft.com/office/drawing/2014/main" id="{95073E1C-9969-25EA-9C1A-E230524288D0}"/>
              </a:ext>
            </a:extLst>
          </p:cNvPr>
          <p:cNvSpPr txBox="1"/>
          <p:nvPr/>
        </p:nvSpPr>
        <p:spPr>
          <a:xfrm>
            <a:off x="1366590" y="2418100"/>
            <a:ext cx="4575208" cy="461665"/>
          </a:xfrm>
          <a:prstGeom prst="rect">
            <a:avLst/>
          </a:prstGeom>
          <a:noFill/>
        </p:spPr>
        <p:txBody>
          <a:bodyPr wrap="square" lIns="0" tIns="0" rIns="0" bIns="0">
            <a:spAutoFit/>
          </a:bodyPr>
          <a:lstStyle/>
          <a:p>
            <a:pPr algn="l"/>
            <a:r>
              <a:rPr lang="en-US" sz="1000">
                <a:solidFill>
                  <a:schemeClr val="tx2"/>
                </a:solidFill>
              </a:rPr>
              <a:t>Enable the successful migration and adoption of Databricks for CVS users by preparing stakeholders, training Power Users, establishing support networks to drive adoption.</a:t>
            </a:r>
          </a:p>
        </p:txBody>
      </p:sp>
      <p:sp>
        <p:nvSpPr>
          <p:cNvPr id="13" name="TextBox 12">
            <a:extLst>
              <a:ext uri="{FF2B5EF4-FFF2-40B4-BE49-F238E27FC236}">
                <a16:creationId xmlns:a16="http://schemas.microsoft.com/office/drawing/2014/main" id="{9DE39EC3-EB6A-D36C-ECD2-A79BAED4C485}"/>
              </a:ext>
            </a:extLst>
          </p:cNvPr>
          <p:cNvSpPr txBox="1"/>
          <p:nvPr/>
        </p:nvSpPr>
        <p:spPr>
          <a:xfrm>
            <a:off x="543483" y="3033366"/>
            <a:ext cx="731982" cy="369332"/>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Key Activities</a:t>
            </a:r>
          </a:p>
        </p:txBody>
      </p:sp>
      <p:sp>
        <p:nvSpPr>
          <p:cNvPr id="14" name="TextBox 13">
            <a:extLst>
              <a:ext uri="{FF2B5EF4-FFF2-40B4-BE49-F238E27FC236}">
                <a16:creationId xmlns:a16="http://schemas.microsoft.com/office/drawing/2014/main" id="{FCF8C373-419C-5DAE-CC02-B92998814886}"/>
              </a:ext>
            </a:extLst>
          </p:cNvPr>
          <p:cNvSpPr txBox="1"/>
          <p:nvPr/>
        </p:nvSpPr>
        <p:spPr>
          <a:xfrm>
            <a:off x="1366590" y="3033366"/>
            <a:ext cx="4748460" cy="2192908"/>
          </a:xfrm>
          <a:prstGeom prst="rect">
            <a:avLst/>
          </a:prstGeom>
          <a:noFill/>
        </p:spPr>
        <p:txBody>
          <a:bodyPr wrap="square" lIns="0" tIns="0" rIns="0" bIns="0">
            <a:spAutoFit/>
          </a:bodyPr>
          <a:lstStyle/>
          <a:p>
            <a:pPr marL="137160" lvl="1" indent="-137160">
              <a:spcAft>
                <a:spcPts val="300"/>
              </a:spcAft>
              <a:buFont typeface="Arial" panose="020B0604020202020204" pitchFamily="34" charset="0"/>
              <a:buChar char="•"/>
            </a:pPr>
            <a:r>
              <a:rPr lang="en-US" sz="1000" b="1" kern="1500">
                <a:solidFill>
                  <a:schemeClr val="tx2"/>
                </a:solidFill>
              </a:rPr>
              <a:t>Align Strategy &amp; Personas: </a:t>
            </a:r>
            <a:r>
              <a:rPr lang="en-US" sz="1000" kern="1500">
                <a:solidFill>
                  <a:schemeClr val="tx2"/>
                </a:solidFill>
              </a:rPr>
              <a:t>Map existing legacy analytics platform use cases (SPL, dashboards) to Databricks SQL &amp; Notebooks. Segment prioritized users into targeted personas (e.g., Novice, Security Ops, Data Scientist)</a:t>
            </a:r>
          </a:p>
          <a:p>
            <a:pPr marL="137160" lvl="1" indent="-137160">
              <a:spcAft>
                <a:spcPts val="300"/>
              </a:spcAft>
              <a:buFont typeface="Arial" panose="020B0604020202020204" pitchFamily="34" charset="0"/>
              <a:buChar char="•"/>
            </a:pPr>
            <a:r>
              <a:rPr lang="en-US" sz="1000" b="1" kern="1500">
                <a:solidFill>
                  <a:schemeClr val="tx2"/>
                </a:solidFill>
              </a:rPr>
              <a:t>Targeted Communications: </a:t>
            </a:r>
            <a:r>
              <a:rPr lang="en-US" sz="1000" kern="1500">
                <a:solidFill>
                  <a:schemeClr val="tx2"/>
                </a:solidFill>
              </a:rPr>
              <a:t>Assist CVS launch persona-specific "What's in it for me?" campaigns (highlighting faster queries, ML capabilities). Showcase pilot success stories of complex Splunk-to-Databricks migrations</a:t>
            </a:r>
          </a:p>
          <a:p>
            <a:pPr marL="137160" lvl="1" indent="-137160">
              <a:spcAft>
                <a:spcPts val="300"/>
              </a:spcAft>
              <a:buFont typeface="Arial" panose="020B0604020202020204" pitchFamily="34" charset="0"/>
              <a:buChar char="•"/>
            </a:pPr>
            <a:r>
              <a:rPr lang="en-US" sz="1000" b="1" kern="1500">
                <a:solidFill>
                  <a:schemeClr val="tx2"/>
                </a:solidFill>
              </a:rPr>
              <a:t>“Train the Power User” model: </a:t>
            </a:r>
            <a:r>
              <a:rPr lang="en-US" sz="1000" kern="1500">
                <a:solidFill>
                  <a:schemeClr val="tx2"/>
                </a:solidFill>
              </a:rPr>
              <a:t>Provide trainings to identified “Power Users” so they are enabled to teach courses to their colleagues and drive adoption</a:t>
            </a:r>
          </a:p>
          <a:p>
            <a:pPr marL="137160" lvl="1" indent="-137160">
              <a:spcAft>
                <a:spcPts val="300"/>
              </a:spcAft>
              <a:buFont typeface="Arial" panose="020B0604020202020204" pitchFamily="34" charset="0"/>
              <a:buChar char="•"/>
            </a:pPr>
            <a:r>
              <a:rPr lang="en-US" sz="1000" b="1" kern="1500">
                <a:solidFill>
                  <a:schemeClr val="tx2"/>
                </a:solidFill>
              </a:rPr>
              <a:t>Center of Excellence (</a:t>
            </a:r>
            <a:r>
              <a:rPr lang="en-US" sz="1000" b="1" kern="1500" err="1">
                <a:solidFill>
                  <a:schemeClr val="tx2"/>
                </a:solidFill>
              </a:rPr>
              <a:t>CoE</a:t>
            </a:r>
            <a:r>
              <a:rPr lang="en-US" sz="1000" b="1" kern="1500">
                <a:solidFill>
                  <a:schemeClr val="tx2"/>
                </a:solidFill>
              </a:rPr>
              <a:t>): </a:t>
            </a:r>
            <a:r>
              <a:rPr lang="en-US" sz="1000" kern="1500">
                <a:solidFill>
                  <a:schemeClr val="tx2"/>
                </a:solidFill>
              </a:rPr>
              <a:t>Establish a central hub for ongoing support, training curriculum, office hours, and leading-practice repositories</a:t>
            </a:r>
          </a:p>
          <a:p>
            <a:pPr marL="137160" lvl="1" indent="-137160">
              <a:spcAft>
                <a:spcPts val="300"/>
              </a:spcAft>
              <a:buFont typeface="Arial" panose="020B0604020202020204" pitchFamily="34" charset="0"/>
              <a:buChar char="•"/>
            </a:pPr>
            <a:r>
              <a:rPr lang="en-US" sz="1000" b="1" kern="1500">
                <a:solidFill>
                  <a:schemeClr val="tx2"/>
                </a:solidFill>
              </a:rPr>
              <a:t>Adoption Planning: </a:t>
            </a:r>
            <a:r>
              <a:rPr lang="en-US" sz="1000" kern="1500">
                <a:solidFill>
                  <a:schemeClr val="tx2"/>
                </a:solidFill>
              </a:rPr>
              <a:t>Design adoption plan to enable Power Users to support the progressive transition of user base from Splunk to Databricks including cutover plan</a:t>
            </a:r>
          </a:p>
          <a:p>
            <a:pPr marL="137160" lvl="1" indent="-137160">
              <a:spcAft>
                <a:spcPts val="300"/>
              </a:spcAft>
              <a:buFont typeface="Arial" panose="020B0604020202020204" pitchFamily="34" charset="0"/>
              <a:buChar char="•"/>
            </a:pPr>
            <a:r>
              <a:rPr lang="en-US" sz="1000" i="1" kern="1500">
                <a:solidFill>
                  <a:srgbClr val="487A10"/>
                </a:solidFill>
              </a:rPr>
              <a:t>Organizational Change Management scope discussion needed </a:t>
            </a:r>
          </a:p>
        </p:txBody>
      </p:sp>
      <p:sp>
        <p:nvSpPr>
          <p:cNvPr id="15" name="TextBox 14">
            <a:extLst>
              <a:ext uri="{FF2B5EF4-FFF2-40B4-BE49-F238E27FC236}">
                <a16:creationId xmlns:a16="http://schemas.microsoft.com/office/drawing/2014/main" id="{406F6BC2-4751-A1FC-A882-433AACD88891}"/>
              </a:ext>
            </a:extLst>
          </p:cNvPr>
          <p:cNvSpPr txBox="1"/>
          <p:nvPr/>
        </p:nvSpPr>
        <p:spPr>
          <a:xfrm>
            <a:off x="6301525" y="1388532"/>
            <a:ext cx="740587"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rgbClr val="0B315E"/>
                </a:solidFill>
                <a:effectLst/>
                <a:uLnTx/>
                <a:uFillTx/>
                <a:latin typeface="CVS Health Sans"/>
                <a:ea typeface="+mn-ea"/>
                <a:cs typeface="+mn-cs"/>
              </a:rPr>
              <a:t>Milestone</a:t>
            </a:r>
          </a:p>
        </p:txBody>
      </p:sp>
      <p:grpSp>
        <p:nvGrpSpPr>
          <p:cNvPr id="16" name="Group 15">
            <a:extLst>
              <a:ext uri="{FF2B5EF4-FFF2-40B4-BE49-F238E27FC236}">
                <a16:creationId xmlns:a16="http://schemas.microsoft.com/office/drawing/2014/main" id="{2C8174C3-A622-1C48-27AC-78648D5C5DC1}"/>
              </a:ext>
            </a:extLst>
          </p:cNvPr>
          <p:cNvGrpSpPr/>
          <p:nvPr/>
        </p:nvGrpSpPr>
        <p:grpSpPr>
          <a:xfrm>
            <a:off x="533400" y="2336374"/>
            <a:ext cx="5562600" cy="4926"/>
            <a:chOff x="533400" y="1886078"/>
            <a:chExt cx="5562600" cy="4926"/>
          </a:xfrm>
        </p:grpSpPr>
        <p:cxnSp>
          <p:nvCxnSpPr>
            <p:cNvPr id="17" name="Straight Connector 16">
              <a:extLst>
                <a:ext uri="{FF2B5EF4-FFF2-40B4-BE49-F238E27FC236}">
                  <a16:creationId xmlns:a16="http://schemas.microsoft.com/office/drawing/2014/main" id="{48D3A94D-E652-E874-7B2A-508802E19376}"/>
                </a:ext>
              </a:extLst>
            </p:cNvPr>
            <p:cNvCxnSpPr/>
            <p:nvPr/>
          </p:nvCxnSpPr>
          <p:spPr>
            <a:xfrm>
              <a:off x="553507" y="1891004"/>
              <a:ext cx="5542493"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9AB1984-63B9-A39F-84D6-8D29A8534EA4}"/>
                </a:ext>
              </a:extLst>
            </p:cNvPr>
            <p:cNvCxnSpPr>
              <a:cxnSpLocks/>
            </p:cNvCxnSpPr>
            <p:nvPr/>
          </p:nvCxnSpPr>
          <p:spPr>
            <a:xfrm>
              <a:off x="533400" y="1886078"/>
              <a:ext cx="784166"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AB020119-62B1-D701-481B-8BDE1337F190}"/>
              </a:ext>
            </a:extLst>
          </p:cNvPr>
          <p:cNvGrpSpPr/>
          <p:nvPr/>
        </p:nvGrpSpPr>
        <p:grpSpPr>
          <a:xfrm>
            <a:off x="533400" y="2956565"/>
            <a:ext cx="5562600" cy="0"/>
            <a:chOff x="533400" y="2627177"/>
            <a:chExt cx="5562600" cy="0"/>
          </a:xfrm>
        </p:grpSpPr>
        <p:cxnSp>
          <p:nvCxnSpPr>
            <p:cNvPr id="20" name="Straight Connector 19">
              <a:extLst>
                <a:ext uri="{FF2B5EF4-FFF2-40B4-BE49-F238E27FC236}">
                  <a16:creationId xmlns:a16="http://schemas.microsoft.com/office/drawing/2014/main" id="{EB99B504-60E4-2999-287C-0B54F629DBB9}"/>
                </a:ext>
              </a:extLst>
            </p:cNvPr>
            <p:cNvCxnSpPr/>
            <p:nvPr/>
          </p:nvCxnSpPr>
          <p:spPr>
            <a:xfrm>
              <a:off x="553507" y="2627177"/>
              <a:ext cx="5542493"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40D3C7A-877F-76EC-9ECF-D5826EE848A3}"/>
                </a:ext>
              </a:extLst>
            </p:cNvPr>
            <p:cNvCxnSpPr>
              <a:cxnSpLocks/>
            </p:cNvCxnSpPr>
            <p:nvPr/>
          </p:nvCxnSpPr>
          <p:spPr>
            <a:xfrm>
              <a:off x="533400" y="2627177"/>
              <a:ext cx="784166"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4BF5676F-C636-06BB-BE37-91F78874F9C2}"/>
              </a:ext>
            </a:extLst>
          </p:cNvPr>
          <p:cNvGrpSpPr/>
          <p:nvPr/>
        </p:nvGrpSpPr>
        <p:grpSpPr>
          <a:xfrm>
            <a:off x="6296423" y="1672389"/>
            <a:ext cx="5360780" cy="1566693"/>
            <a:chOff x="6296423" y="1672389"/>
            <a:chExt cx="5360780" cy="1566693"/>
          </a:xfrm>
        </p:grpSpPr>
        <p:sp>
          <p:nvSpPr>
            <p:cNvPr id="23" name="Rectangle: Rounded Corners 22">
              <a:extLst>
                <a:ext uri="{FF2B5EF4-FFF2-40B4-BE49-F238E27FC236}">
                  <a16:creationId xmlns:a16="http://schemas.microsoft.com/office/drawing/2014/main" id="{A00C91AC-09A8-CFBB-9D01-17B660FA89E7}"/>
                </a:ext>
              </a:extLst>
            </p:cNvPr>
            <p:cNvSpPr/>
            <p:nvPr/>
          </p:nvSpPr>
          <p:spPr bwMode="gray">
            <a:xfrm>
              <a:off x="6296423" y="1672389"/>
              <a:ext cx="2648475" cy="1566693"/>
            </a:xfrm>
            <a:prstGeom prst="roundRect">
              <a:avLst>
                <a:gd name="adj" fmla="val 2810"/>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rIns="45720" rtlCol="0" anchor="t"/>
            <a:lstStyle/>
            <a:p>
              <a:pPr defTabSz="457063" fontAlgn="ctr">
                <a:defRPr/>
              </a:pPr>
              <a:r>
                <a:rPr lang="en-US" sz="800" b="1">
                  <a:solidFill>
                    <a:srgbClr val="00A78E"/>
                  </a:solidFill>
                </a:rPr>
                <a:t>Description: </a:t>
              </a:r>
              <a:r>
                <a:rPr lang="en-US" sz="800">
                  <a:solidFill>
                    <a:schemeClr val="tx2"/>
                  </a:solidFill>
                </a:rPr>
                <a:t>Communication Plan </a:t>
              </a:r>
            </a:p>
            <a:p>
              <a:pPr defTabSz="457063" fontAlgn="ctr">
                <a:defRPr/>
              </a:pPr>
              <a:r>
                <a:rPr lang="en-US" sz="800" b="1">
                  <a:solidFill>
                    <a:srgbClr val="00A78E"/>
                  </a:solidFill>
                </a:rPr>
                <a:t>Timing: </a:t>
              </a:r>
              <a:r>
                <a:rPr lang="en-US" sz="800" b="1">
                  <a:solidFill>
                    <a:schemeClr val="tx2"/>
                  </a:solidFill>
                </a:rPr>
                <a:t>Sep 2026 – Dec 2026</a:t>
              </a:r>
            </a:p>
            <a:p>
              <a:r>
                <a:rPr lang="en-US" sz="800" b="1">
                  <a:solidFill>
                    <a:srgbClr val="00A78E"/>
                  </a:solidFill>
                </a:rPr>
                <a:t>Deliverables: </a:t>
              </a:r>
            </a:p>
            <a:p>
              <a:pPr marL="91440" indent="-91440">
                <a:buFont typeface="Arial" panose="020B0604020202020204" pitchFamily="34" charset="0"/>
                <a:buChar char="•"/>
              </a:pPr>
              <a:r>
                <a:rPr lang="en-US" sz="800">
                  <a:solidFill>
                    <a:schemeClr val="tx2"/>
                  </a:solidFill>
                </a:rPr>
                <a:t>Organizational Impact Assessment (PPT) summarizing activities performed</a:t>
              </a:r>
            </a:p>
            <a:p>
              <a:pPr marL="91440" indent="-91440">
                <a:buFont typeface="Arial" panose="020B0604020202020204" pitchFamily="34" charset="0"/>
                <a:buChar char="•"/>
              </a:pPr>
              <a:r>
                <a:rPr lang="en-US" sz="800">
                  <a:solidFill>
                    <a:schemeClr val="tx2"/>
                  </a:solidFill>
                </a:rPr>
                <a:t>Stakeholder and Persona Analysis (XLS/PPT)</a:t>
              </a:r>
            </a:p>
            <a:p>
              <a:pPr marL="91440" indent="-91440">
                <a:buFont typeface="Arial" panose="020B0604020202020204" pitchFamily="34" charset="0"/>
                <a:buChar char="•"/>
              </a:pPr>
              <a:r>
                <a:rPr lang="en-US" sz="800">
                  <a:solidFill>
                    <a:schemeClr val="tx2"/>
                  </a:solidFill>
                </a:rPr>
                <a:t>Change Strategy and Rollout Blueprint (PPT)</a:t>
              </a:r>
            </a:p>
            <a:p>
              <a:pPr marL="91440" indent="-91440">
                <a:buFont typeface="Arial" panose="020B0604020202020204" pitchFamily="34" charset="0"/>
                <a:buChar char="•"/>
              </a:pPr>
              <a:r>
                <a:rPr lang="en-US" sz="800">
                  <a:solidFill>
                    <a:schemeClr val="tx2"/>
                  </a:solidFill>
                </a:rPr>
                <a:t>Communications Plan and Draft Communications Content (XLS/DOC/PPT)</a:t>
              </a:r>
            </a:p>
            <a:p>
              <a:pPr marL="91440" indent="-91440">
                <a:buFont typeface="Arial" panose="020B0604020202020204" pitchFamily="34" charset="0"/>
                <a:buChar char="•"/>
              </a:pPr>
              <a:r>
                <a:rPr lang="en-US" sz="800">
                  <a:solidFill>
                    <a:schemeClr val="tx2"/>
                  </a:solidFill>
                </a:rPr>
                <a:t>Learning Strategy and Training Materials (PPT/DOC)</a:t>
              </a:r>
            </a:p>
          </p:txBody>
        </p:sp>
        <p:sp>
          <p:nvSpPr>
            <p:cNvPr id="24" name="Rectangle: Rounded Corners 23">
              <a:extLst>
                <a:ext uri="{FF2B5EF4-FFF2-40B4-BE49-F238E27FC236}">
                  <a16:creationId xmlns:a16="http://schemas.microsoft.com/office/drawing/2014/main" id="{736CB316-87BF-3D55-E6DB-2F13DF8281F7}"/>
                </a:ext>
              </a:extLst>
            </p:cNvPr>
            <p:cNvSpPr/>
            <p:nvPr/>
          </p:nvSpPr>
          <p:spPr bwMode="gray">
            <a:xfrm>
              <a:off x="9008728" y="1672389"/>
              <a:ext cx="2648475" cy="1566693"/>
            </a:xfrm>
            <a:prstGeom prst="roundRect">
              <a:avLst>
                <a:gd name="adj" fmla="val 2594"/>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rIns="45720" rtlCol="0" anchor="t"/>
            <a:lstStyle/>
            <a:p>
              <a:pPr defTabSz="457063" fontAlgn="ctr">
                <a:defRPr/>
              </a:pPr>
              <a:r>
                <a:rPr lang="en-US" sz="800" b="1">
                  <a:solidFill>
                    <a:srgbClr val="00A78E"/>
                  </a:solidFill>
                </a:rPr>
                <a:t>Description: </a:t>
              </a:r>
              <a:r>
                <a:rPr lang="en-US" sz="800">
                  <a:solidFill>
                    <a:schemeClr val="tx2"/>
                  </a:solidFill>
                </a:rPr>
                <a:t>Tier 1 Power User Migration</a:t>
              </a:r>
            </a:p>
            <a:p>
              <a:pPr defTabSz="457063" fontAlgn="ctr">
                <a:defRPr/>
              </a:pPr>
              <a:r>
                <a:rPr lang="en-US" sz="800" b="1">
                  <a:solidFill>
                    <a:srgbClr val="00A78E"/>
                  </a:solidFill>
                </a:rPr>
                <a:t>Timing: </a:t>
              </a:r>
              <a:r>
                <a:rPr lang="en-US" sz="800" b="1">
                  <a:solidFill>
                    <a:schemeClr val="tx2"/>
                  </a:solidFill>
                </a:rPr>
                <a:t>Oct 2026 – May 2027</a:t>
              </a:r>
            </a:p>
            <a:p>
              <a:r>
                <a:rPr lang="en-US" sz="800" b="1">
                  <a:solidFill>
                    <a:srgbClr val="00A78E"/>
                  </a:solidFill>
                </a:rPr>
                <a:t>Deliverables: </a:t>
              </a:r>
            </a:p>
            <a:p>
              <a:pPr marL="91440" indent="-91440">
                <a:buFont typeface="Arial" panose="020B0604020202020204" pitchFamily="34" charset="0"/>
                <a:buChar char="•"/>
              </a:pPr>
              <a:r>
                <a:rPr lang="en-US" sz="800">
                  <a:solidFill>
                    <a:schemeClr val="tx2"/>
                  </a:solidFill>
                </a:rPr>
                <a:t>Legacy analytics platform-to-Databricks Cheat Sheets and Notebook Templates (DOC/DBX) for Tier 1 use cases</a:t>
              </a:r>
            </a:p>
            <a:p>
              <a:pPr marL="91440" indent="-91440">
                <a:buFont typeface="Arial" panose="020B0604020202020204" pitchFamily="34" charset="0"/>
                <a:buChar char="•"/>
              </a:pPr>
              <a:r>
                <a:rPr lang="en-US" sz="800">
                  <a:solidFill>
                    <a:schemeClr val="tx2"/>
                  </a:solidFill>
                </a:rPr>
                <a:t>Databricks Power User Program Materials (PPT/DOC) for Tier 1 users</a:t>
              </a:r>
            </a:p>
          </p:txBody>
        </p:sp>
      </p:grpSp>
      <p:grpSp>
        <p:nvGrpSpPr>
          <p:cNvPr id="25" name="Group 24">
            <a:extLst>
              <a:ext uri="{FF2B5EF4-FFF2-40B4-BE49-F238E27FC236}">
                <a16:creationId xmlns:a16="http://schemas.microsoft.com/office/drawing/2014/main" id="{56669A85-3F23-BA97-99FE-962B59B2C667}"/>
              </a:ext>
            </a:extLst>
          </p:cNvPr>
          <p:cNvGrpSpPr/>
          <p:nvPr/>
        </p:nvGrpSpPr>
        <p:grpSpPr>
          <a:xfrm>
            <a:off x="6296421" y="3338339"/>
            <a:ext cx="5360782" cy="1469653"/>
            <a:chOff x="6296421" y="3225587"/>
            <a:chExt cx="5360782" cy="1469653"/>
          </a:xfrm>
        </p:grpSpPr>
        <p:sp>
          <p:nvSpPr>
            <p:cNvPr id="26" name="Rectangle: Rounded Corners 25">
              <a:extLst>
                <a:ext uri="{FF2B5EF4-FFF2-40B4-BE49-F238E27FC236}">
                  <a16:creationId xmlns:a16="http://schemas.microsoft.com/office/drawing/2014/main" id="{1DB73481-2FEB-815B-FC42-517C4FA8AF8E}"/>
                </a:ext>
              </a:extLst>
            </p:cNvPr>
            <p:cNvSpPr/>
            <p:nvPr/>
          </p:nvSpPr>
          <p:spPr bwMode="gray">
            <a:xfrm>
              <a:off x="6296421" y="3225587"/>
              <a:ext cx="2648475" cy="1469653"/>
            </a:xfrm>
            <a:prstGeom prst="roundRect">
              <a:avLst>
                <a:gd name="adj" fmla="val 3026"/>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rIns="45720" rtlCol="0" anchor="t"/>
            <a:lstStyle/>
            <a:p>
              <a:pPr defTabSz="457063" fontAlgn="ctr">
                <a:defRPr/>
              </a:pPr>
              <a:r>
                <a:rPr lang="en-US" sz="800" b="1">
                  <a:solidFill>
                    <a:srgbClr val="00A78E"/>
                  </a:solidFill>
                </a:rPr>
                <a:t>Description: </a:t>
              </a:r>
              <a:r>
                <a:rPr lang="en-US" sz="800">
                  <a:solidFill>
                    <a:schemeClr val="tx2"/>
                  </a:solidFill>
                </a:rPr>
                <a:t>Tier 2 Power User Migration</a:t>
              </a:r>
            </a:p>
            <a:p>
              <a:pPr defTabSz="457063" fontAlgn="ctr">
                <a:defRPr/>
              </a:pPr>
              <a:r>
                <a:rPr lang="en-US" sz="800" b="1">
                  <a:solidFill>
                    <a:srgbClr val="00A78E"/>
                  </a:solidFill>
                </a:rPr>
                <a:t>Timing: </a:t>
              </a:r>
              <a:r>
                <a:rPr lang="en-US" sz="800" b="1">
                  <a:solidFill>
                    <a:schemeClr val="tx2"/>
                  </a:solidFill>
                </a:rPr>
                <a:t>Mar 2027 – Jul 2027</a:t>
              </a:r>
            </a:p>
            <a:p>
              <a:r>
                <a:rPr lang="en-US" sz="800" b="1">
                  <a:solidFill>
                    <a:srgbClr val="00A78E"/>
                  </a:solidFill>
                </a:rPr>
                <a:t>Deliverables: </a:t>
              </a:r>
            </a:p>
            <a:p>
              <a:pPr marL="91440" indent="-91440">
                <a:buFont typeface="Arial" panose="020B0604020202020204" pitchFamily="34" charset="0"/>
                <a:buChar char="•"/>
              </a:pPr>
              <a:r>
                <a:rPr lang="en-US" sz="800">
                  <a:solidFill>
                    <a:schemeClr val="tx2"/>
                  </a:solidFill>
                </a:rPr>
                <a:t>Legacy analytics platform-to-Databricks Cheat Sheets and Notebook Templates (DOC/DBX) for Tier 2 use cases</a:t>
              </a:r>
            </a:p>
            <a:p>
              <a:pPr marL="91440" indent="-91440">
                <a:buFont typeface="Arial" panose="020B0604020202020204" pitchFamily="34" charset="0"/>
                <a:buChar char="•"/>
              </a:pPr>
              <a:r>
                <a:rPr lang="en-US" sz="800">
                  <a:solidFill>
                    <a:schemeClr val="tx2"/>
                  </a:solidFill>
                </a:rPr>
                <a:t>Databricks Power User Program Materials (PPT/DOC) for Tier 2 users</a:t>
              </a:r>
            </a:p>
          </p:txBody>
        </p:sp>
        <p:sp>
          <p:nvSpPr>
            <p:cNvPr id="27" name="Rectangle: Rounded Corners 26">
              <a:extLst>
                <a:ext uri="{FF2B5EF4-FFF2-40B4-BE49-F238E27FC236}">
                  <a16:creationId xmlns:a16="http://schemas.microsoft.com/office/drawing/2014/main" id="{941454FE-C5CA-FF83-CA26-A01F4C8C42EB}"/>
                </a:ext>
              </a:extLst>
            </p:cNvPr>
            <p:cNvSpPr/>
            <p:nvPr/>
          </p:nvSpPr>
          <p:spPr bwMode="gray">
            <a:xfrm>
              <a:off x="9008728" y="3225587"/>
              <a:ext cx="2648475" cy="1469653"/>
            </a:xfrm>
            <a:prstGeom prst="roundRect">
              <a:avLst>
                <a:gd name="adj" fmla="val 3242"/>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rIns="45720" rtlCol="0" anchor="t"/>
            <a:lstStyle/>
            <a:p>
              <a:pPr defTabSz="457063" fontAlgn="ctr">
                <a:defRPr/>
              </a:pPr>
              <a:r>
                <a:rPr lang="en-US" sz="800" b="1">
                  <a:solidFill>
                    <a:srgbClr val="00A78E"/>
                  </a:solidFill>
                </a:rPr>
                <a:t>Description: </a:t>
              </a:r>
              <a:r>
                <a:rPr lang="en-US" sz="800">
                  <a:solidFill>
                    <a:schemeClr val="tx2"/>
                  </a:solidFill>
                </a:rPr>
                <a:t>Tier 3 Power User Migration</a:t>
              </a:r>
            </a:p>
            <a:p>
              <a:pPr defTabSz="457063" fontAlgn="ctr">
                <a:defRPr/>
              </a:pPr>
              <a:r>
                <a:rPr lang="en-US" sz="800" b="1">
                  <a:solidFill>
                    <a:srgbClr val="00A78E"/>
                  </a:solidFill>
                </a:rPr>
                <a:t>Timing: </a:t>
              </a:r>
              <a:r>
                <a:rPr lang="en-US" sz="800" b="1">
                  <a:solidFill>
                    <a:schemeClr val="tx2"/>
                  </a:solidFill>
                </a:rPr>
                <a:t>May 2027 – Oct 2027</a:t>
              </a:r>
            </a:p>
            <a:p>
              <a:r>
                <a:rPr lang="en-US" sz="800" b="1">
                  <a:solidFill>
                    <a:srgbClr val="00A78E"/>
                  </a:solidFill>
                </a:rPr>
                <a:t>Deliverables: </a:t>
              </a:r>
            </a:p>
            <a:p>
              <a:pPr marL="91440" indent="-91440">
                <a:buFont typeface="Arial" panose="020B0604020202020204" pitchFamily="34" charset="0"/>
                <a:buChar char="•"/>
              </a:pPr>
              <a:r>
                <a:rPr lang="en-US" sz="800">
                  <a:solidFill>
                    <a:schemeClr val="tx2"/>
                  </a:solidFill>
                </a:rPr>
                <a:t>Legacy analytics platform-to-Databricks Cheat Sheets and Notebook Templates (DOC/DBX) for Tier 3 use cases</a:t>
              </a:r>
            </a:p>
            <a:p>
              <a:pPr marL="91440" indent="-91440">
                <a:buFont typeface="Arial" panose="020B0604020202020204" pitchFamily="34" charset="0"/>
                <a:buChar char="•"/>
              </a:pPr>
              <a:r>
                <a:rPr lang="en-US" sz="800">
                  <a:solidFill>
                    <a:schemeClr val="tx2"/>
                  </a:solidFill>
                </a:rPr>
                <a:t>Databricks Power User Program Materials (PPT/DOC) for Tier 3 users</a:t>
              </a:r>
            </a:p>
            <a:p>
              <a:pPr marL="91440" indent="-91440">
                <a:buFont typeface="Arial" panose="020B0604020202020204" pitchFamily="34" charset="0"/>
                <a:buChar char="•"/>
              </a:pPr>
              <a:r>
                <a:rPr lang="en-US" sz="800" err="1">
                  <a:solidFill>
                    <a:schemeClr val="tx2"/>
                  </a:solidFill>
                </a:rPr>
                <a:t>CoE</a:t>
              </a:r>
              <a:r>
                <a:rPr lang="en-US" sz="800">
                  <a:solidFill>
                    <a:schemeClr val="tx2"/>
                  </a:solidFill>
                </a:rPr>
                <a:t> Operating Model and Adoption Plan (PPT/XLS)</a:t>
              </a:r>
            </a:p>
          </p:txBody>
        </p:sp>
      </p:grpSp>
      <p:sp>
        <p:nvSpPr>
          <p:cNvPr id="29" name="TextBox 28">
            <a:extLst>
              <a:ext uri="{FF2B5EF4-FFF2-40B4-BE49-F238E27FC236}">
                <a16:creationId xmlns:a16="http://schemas.microsoft.com/office/drawing/2014/main" id="{52FB290F-31E9-C791-3749-256F22675302}"/>
              </a:ext>
            </a:extLst>
          </p:cNvPr>
          <p:cNvSpPr txBox="1"/>
          <p:nvPr/>
        </p:nvSpPr>
        <p:spPr>
          <a:xfrm>
            <a:off x="11239500" y="1672389"/>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E.2</a:t>
            </a:r>
          </a:p>
        </p:txBody>
      </p:sp>
      <p:sp>
        <p:nvSpPr>
          <p:cNvPr id="30" name="TextBox 29">
            <a:extLst>
              <a:ext uri="{FF2B5EF4-FFF2-40B4-BE49-F238E27FC236}">
                <a16:creationId xmlns:a16="http://schemas.microsoft.com/office/drawing/2014/main" id="{0E384BD3-9871-800E-7447-18376CDE0A14}"/>
              </a:ext>
            </a:extLst>
          </p:cNvPr>
          <p:cNvSpPr txBox="1"/>
          <p:nvPr/>
        </p:nvSpPr>
        <p:spPr>
          <a:xfrm>
            <a:off x="11239500" y="3332549"/>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E.4</a:t>
            </a:r>
          </a:p>
        </p:txBody>
      </p:sp>
      <p:sp>
        <p:nvSpPr>
          <p:cNvPr id="31" name="TextBox 30">
            <a:extLst>
              <a:ext uri="{FF2B5EF4-FFF2-40B4-BE49-F238E27FC236}">
                <a16:creationId xmlns:a16="http://schemas.microsoft.com/office/drawing/2014/main" id="{71932726-4760-C05B-5B9D-460D59CF23CE}"/>
              </a:ext>
            </a:extLst>
          </p:cNvPr>
          <p:cNvSpPr txBox="1"/>
          <p:nvPr/>
        </p:nvSpPr>
        <p:spPr>
          <a:xfrm>
            <a:off x="8529378" y="1672389"/>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E.1</a:t>
            </a:r>
          </a:p>
        </p:txBody>
      </p:sp>
      <p:sp>
        <p:nvSpPr>
          <p:cNvPr id="32" name="TextBox 31">
            <a:extLst>
              <a:ext uri="{FF2B5EF4-FFF2-40B4-BE49-F238E27FC236}">
                <a16:creationId xmlns:a16="http://schemas.microsoft.com/office/drawing/2014/main" id="{66053E02-A2D1-FE77-9D62-AD02CEF260EB}"/>
              </a:ext>
            </a:extLst>
          </p:cNvPr>
          <p:cNvSpPr txBox="1"/>
          <p:nvPr/>
        </p:nvSpPr>
        <p:spPr>
          <a:xfrm>
            <a:off x="8529378" y="3332549"/>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E.3</a:t>
            </a:r>
          </a:p>
        </p:txBody>
      </p:sp>
      <p:sp>
        <p:nvSpPr>
          <p:cNvPr id="34" name="Rectangle 33">
            <a:extLst>
              <a:ext uri="{FF2B5EF4-FFF2-40B4-BE49-F238E27FC236}">
                <a16:creationId xmlns:a16="http://schemas.microsoft.com/office/drawing/2014/main" id="{D3686BA1-6715-98CB-4273-4A1312E4B6E7}"/>
              </a:ext>
            </a:extLst>
          </p:cNvPr>
          <p:cNvSpPr/>
          <p:nvPr/>
        </p:nvSpPr>
        <p:spPr bwMode="gray">
          <a:xfrm>
            <a:off x="594360" y="6203122"/>
            <a:ext cx="10963656" cy="137160"/>
          </a:xfrm>
          <a:prstGeom prst="rect">
            <a:avLst/>
          </a:prstGeom>
          <a:noFill/>
          <a:ln>
            <a:noFill/>
            <a:miter lim="800000"/>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lstStyle/>
          <a:p>
            <a:r>
              <a:rPr lang="en-US" sz="800">
                <a:solidFill>
                  <a:schemeClr val="tx2"/>
                </a:solidFill>
              </a:rPr>
              <a:t>Source: CVS_Databricks_SOW_Draft_v5 JAS_CVS_REDLINE, CVS Databricks Staffing Model_V4.xlsx</a:t>
            </a:r>
          </a:p>
        </p:txBody>
      </p:sp>
    </p:spTree>
    <p:extLst>
      <p:ext uri="{BB962C8B-B14F-4D97-AF65-F5344CB8AC3E}">
        <p14:creationId xmlns:p14="http://schemas.microsoft.com/office/powerpoint/2010/main" val="4867211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66C97A7-11B4-4AF1-D7A8-FDBF7E40E19A}"/>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2ECF6D6C-E3B3-36E1-8D2B-797152A139F5}"/>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4" name="thinkcell data - do not delete" hidden="1">
                        <a:extLst>
                          <a:ext uri="{FF2B5EF4-FFF2-40B4-BE49-F238E27FC236}">
                            <a16:creationId xmlns:a16="http://schemas.microsoft.com/office/drawing/2014/main" id="{2ECF6D6C-E3B3-36E1-8D2B-797152A139F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55F4D73E-D157-0D95-4915-423C1790136A}"/>
              </a:ext>
            </a:extLst>
          </p:cNvPr>
          <p:cNvSpPr>
            <a:spLocks noGrp="1"/>
          </p:cNvSpPr>
          <p:nvPr>
            <p:ph type="title"/>
          </p:nvPr>
        </p:nvSpPr>
        <p:spPr/>
        <p:txBody>
          <a:bodyPr vert="horz" rIns="0"/>
          <a:lstStyle/>
          <a:p>
            <a:r>
              <a:rPr lang="en-US"/>
              <a:t>Workstream E – Organizational Change and Adoption (2/2)</a:t>
            </a:r>
            <a:br>
              <a:rPr lang="en-US"/>
            </a:br>
            <a:r>
              <a:rPr lang="en-US" sz="1600" b="0"/>
              <a:t>Change management – Planning</a:t>
            </a:r>
          </a:p>
        </p:txBody>
      </p:sp>
      <p:sp>
        <p:nvSpPr>
          <p:cNvPr id="10" name="Rectangle 9">
            <a:extLst>
              <a:ext uri="{FF2B5EF4-FFF2-40B4-BE49-F238E27FC236}">
                <a16:creationId xmlns:a16="http://schemas.microsoft.com/office/drawing/2014/main" id="{DBE531DC-DD27-8519-7249-735EBAD98873}"/>
              </a:ext>
            </a:extLst>
          </p:cNvPr>
          <p:cNvSpPr/>
          <p:nvPr/>
        </p:nvSpPr>
        <p:spPr bwMode="gray">
          <a:xfrm>
            <a:off x="10911840" y="0"/>
            <a:ext cx="1280160" cy="548640"/>
          </a:xfrm>
          <a:prstGeom prst="rect">
            <a:avLst/>
          </a:prstGeom>
          <a:solidFill>
            <a:srgbClr val="868686"/>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b="1">
                <a:solidFill>
                  <a:schemeClr val="bg1"/>
                </a:solidFill>
              </a:rPr>
              <a:t>Notional, to update</a:t>
            </a:r>
          </a:p>
        </p:txBody>
      </p:sp>
      <p:sp>
        <p:nvSpPr>
          <p:cNvPr id="25" name="Rectangle 24">
            <a:extLst>
              <a:ext uri="{FF2B5EF4-FFF2-40B4-BE49-F238E27FC236}">
                <a16:creationId xmlns:a16="http://schemas.microsoft.com/office/drawing/2014/main" id="{AC3D7E95-89DB-B080-859F-2C3C039257F2}"/>
              </a:ext>
            </a:extLst>
          </p:cNvPr>
          <p:cNvSpPr/>
          <p:nvPr/>
        </p:nvSpPr>
        <p:spPr bwMode="gray">
          <a:xfrm>
            <a:off x="589357" y="6202227"/>
            <a:ext cx="10963656" cy="137160"/>
          </a:xfrm>
          <a:prstGeom prst="rect">
            <a:avLst/>
          </a:prstGeom>
          <a:noFill/>
          <a:ln>
            <a:noFill/>
            <a:miter lim="800000"/>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lstStyle/>
          <a:p>
            <a:r>
              <a:rPr lang="en-US" sz="800">
                <a:solidFill>
                  <a:schemeClr val="tx1"/>
                </a:solidFill>
              </a:rPr>
              <a:t>Source: Current KPMG planning, subject to change</a:t>
            </a:r>
          </a:p>
        </p:txBody>
      </p:sp>
      <p:sp>
        <p:nvSpPr>
          <p:cNvPr id="26" name="Rectangle: Top Corners Rounded 25">
            <a:extLst>
              <a:ext uri="{FF2B5EF4-FFF2-40B4-BE49-F238E27FC236}">
                <a16:creationId xmlns:a16="http://schemas.microsoft.com/office/drawing/2014/main" id="{B8D1D2C1-085D-28FD-3F44-95A392E9731D}"/>
              </a:ext>
            </a:extLst>
          </p:cNvPr>
          <p:cNvSpPr/>
          <p:nvPr/>
        </p:nvSpPr>
        <p:spPr bwMode="gray">
          <a:xfrm rot="5400000">
            <a:off x="-1524006" y="2912536"/>
            <a:ext cx="4682069" cy="1634065"/>
          </a:xfrm>
          <a:prstGeom prst="round2SameRect">
            <a:avLst>
              <a:gd name="adj1" fmla="val 9976"/>
              <a:gd name="adj2" fmla="val 0"/>
            </a:avLst>
          </a:prstGeom>
          <a:gradFill flip="none" rotWithShape="1">
            <a:gsLst>
              <a:gs pos="0">
                <a:srgbClr val="267AC0"/>
              </a:gs>
              <a:gs pos="100000">
                <a:srgbClr val="0A4B8C"/>
              </a:gs>
            </a:gsLst>
            <a:lin ang="54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graphicFrame>
        <p:nvGraphicFramePr>
          <p:cNvPr id="27" name="Content Placeholder 6">
            <a:extLst>
              <a:ext uri="{FF2B5EF4-FFF2-40B4-BE49-F238E27FC236}">
                <a16:creationId xmlns:a16="http://schemas.microsoft.com/office/drawing/2014/main" id="{751EF21E-8437-B560-0712-DC141CCF85C1}"/>
              </a:ext>
            </a:extLst>
          </p:cNvPr>
          <p:cNvGraphicFramePr>
            <a:graphicFrameLocks/>
          </p:cNvGraphicFramePr>
          <p:nvPr>
            <p:extLst>
              <p:ext uri="{D42A27DB-BD31-4B8C-83A1-F6EECF244321}">
                <p14:modId xmlns:p14="http://schemas.microsoft.com/office/powerpoint/2010/main" val="2263243508"/>
              </p:ext>
            </p:extLst>
          </p:nvPr>
        </p:nvGraphicFramePr>
        <p:xfrm>
          <a:off x="538691" y="1509730"/>
          <a:ext cx="11133137" cy="2611120"/>
        </p:xfrm>
        <a:graphic>
          <a:graphicData uri="http://schemas.openxmlformats.org/drawingml/2006/table">
            <a:tbl>
              <a:tblPr firstRow="1" bandRow="1">
                <a:tableStyleId>{2D5ABB26-0587-4C30-8999-92F81FD0307C}</a:tableStyleId>
              </a:tblPr>
              <a:tblGrid>
                <a:gridCol w="1099371">
                  <a:extLst>
                    <a:ext uri="{9D8B030D-6E8A-4147-A177-3AD203B41FA5}">
                      <a16:colId xmlns:a16="http://schemas.microsoft.com/office/drawing/2014/main" val="1699332636"/>
                    </a:ext>
                  </a:extLst>
                </a:gridCol>
                <a:gridCol w="10033766">
                  <a:extLst>
                    <a:ext uri="{9D8B030D-6E8A-4147-A177-3AD203B41FA5}">
                      <a16:colId xmlns:a16="http://schemas.microsoft.com/office/drawing/2014/main" val="2684621038"/>
                    </a:ext>
                  </a:extLst>
                </a:gridCol>
              </a:tblGrid>
              <a:tr h="588439">
                <a:tc>
                  <a:txBody>
                    <a:bodyPr/>
                    <a:lstStyle/>
                    <a:p>
                      <a:pPr>
                        <a:lnSpc>
                          <a:spcPct val="90000"/>
                        </a:lnSpc>
                      </a:pPr>
                      <a:r>
                        <a:rPr lang="en-US" sz="1050" b="1">
                          <a:solidFill>
                            <a:schemeClr val="bg1"/>
                          </a:solidFill>
                        </a:rPr>
                        <a:t>Key “Do Now” activities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Establish Master Project Structure</a:t>
                      </a:r>
                    </a:p>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Formulate Staffing &amp; Onboarding Requests</a:t>
                      </a:r>
                    </a:p>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Identify Target User Groups &amp; Channels</a:t>
                      </a:r>
                    </a:p>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Outline Training Approach Strategy</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3144615"/>
                  </a:ext>
                </a:extLst>
              </a:tr>
              <a:tr h="655190">
                <a:tc>
                  <a:txBody>
                    <a:bodyPr/>
                    <a:lstStyle/>
                    <a:p>
                      <a:pPr>
                        <a:lnSpc>
                          <a:spcPct val="90000"/>
                        </a:lnSpc>
                      </a:pPr>
                      <a:r>
                        <a:rPr lang="en-US" sz="1050" b="1">
                          <a:solidFill>
                            <a:schemeClr val="bg1"/>
                          </a:solidFill>
                        </a:rPr>
                        <a:t>Upstream Prerequisites</a:t>
                      </a:r>
                    </a:p>
                    <a:p>
                      <a:pPr>
                        <a:lnSpc>
                          <a:spcPct val="90000"/>
                        </a:lnSpc>
                      </a:pPr>
                      <a:endParaRPr lang="en-US" sz="1050" b="1">
                        <a:solidFill>
                          <a:schemeClr val="bg1"/>
                        </a:solidFill>
                      </a:endParaRP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Living Pilot &amp; Workspace Assets (from A): Architecture validation outcomes, role-to-Unity-Catalog access mapping frameworks, and reference schemas to structure the landing content.</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Query Performance Guidelines (from D): Confirmed Splunk and AIOps scope boundaries and translation logic to write accurate training guides</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User Nomination Lock: Delivery from CVS of nominated Power Users (minimum of 5 from each functional business unit) with dedicated, pre-cleared calendar time for training</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endParaRPr lang="en-US" sz="1000" b="0" i="0">
                        <a:solidFill>
                          <a:schemeClr val="tx2"/>
                        </a:solidFill>
                      </a:endParaRP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7196652"/>
                  </a:ext>
                </a:extLst>
              </a:tr>
              <a:tr h="434340">
                <a:tc>
                  <a:txBody>
                    <a:bodyPr/>
                    <a:lstStyle/>
                    <a:p>
                      <a:pPr>
                        <a:lnSpc>
                          <a:spcPct val="90000"/>
                        </a:lnSpc>
                      </a:pPr>
                      <a:r>
                        <a:rPr lang="en-US" sz="1050" b="1">
                          <a:solidFill>
                            <a:schemeClr val="bg1"/>
                          </a:solidFill>
                        </a:rPr>
                        <a:t>Downstream Workstream Hand-offs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To Workstream 0 (PMO): Weekly adoption telemetry, training completion metrics, change strategy updates, and risk/issue tracking (especially regarding resource constraints or user resistance)</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To Workstream C (Pipeline Enablement): Business requirements gathered from user persona analysis to build targeted Gold/self-service workspace environments and configure Databricks Genie</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To Workstream F (Hypercare): Hand-off of the trained "Databricks Champions" network to act as first-line floor support during cutover, along with a validated </a:t>
                      </a:r>
                      <a:r>
                        <a:rPr lang="en-US" sz="1000" b="0" i="0" err="1">
                          <a:solidFill>
                            <a:schemeClr val="tx2"/>
                          </a:solidFill>
                        </a:rPr>
                        <a:t>CoE</a:t>
                      </a:r>
                      <a:r>
                        <a:rPr lang="en-US" sz="1000" b="0" i="0">
                          <a:solidFill>
                            <a:schemeClr val="tx2"/>
                          </a:solidFill>
                        </a:rPr>
                        <a:t> (Center of Excellence) operating model</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3949764"/>
                  </a:ext>
                </a:extLst>
              </a:tr>
            </a:tbl>
          </a:graphicData>
        </a:graphic>
      </p:graphicFrame>
      <p:graphicFrame>
        <p:nvGraphicFramePr>
          <p:cNvPr id="28" name="Content Placeholder 6">
            <a:extLst>
              <a:ext uri="{FF2B5EF4-FFF2-40B4-BE49-F238E27FC236}">
                <a16:creationId xmlns:a16="http://schemas.microsoft.com/office/drawing/2014/main" id="{42C4910B-19C8-F85C-9C25-4CD3F8647B0E}"/>
              </a:ext>
            </a:extLst>
          </p:cNvPr>
          <p:cNvGraphicFramePr>
            <a:graphicFrameLocks/>
          </p:cNvGraphicFramePr>
          <p:nvPr>
            <p:extLst>
              <p:ext uri="{D42A27DB-BD31-4B8C-83A1-F6EECF244321}">
                <p14:modId xmlns:p14="http://schemas.microsoft.com/office/powerpoint/2010/main" val="537332065"/>
              </p:ext>
            </p:extLst>
          </p:nvPr>
        </p:nvGraphicFramePr>
        <p:xfrm>
          <a:off x="540940" y="4230249"/>
          <a:ext cx="11142396" cy="1367490"/>
        </p:xfrm>
        <a:graphic>
          <a:graphicData uri="http://schemas.openxmlformats.org/drawingml/2006/table">
            <a:tbl>
              <a:tblPr firstRow="1" bandRow="1">
                <a:tableStyleId>{2D5ABB26-0587-4C30-8999-92F81FD0307C}</a:tableStyleId>
              </a:tblPr>
              <a:tblGrid>
                <a:gridCol w="1108868">
                  <a:extLst>
                    <a:ext uri="{9D8B030D-6E8A-4147-A177-3AD203B41FA5}">
                      <a16:colId xmlns:a16="http://schemas.microsoft.com/office/drawing/2014/main" val="2393725290"/>
                    </a:ext>
                  </a:extLst>
                </a:gridCol>
                <a:gridCol w="2508382">
                  <a:extLst>
                    <a:ext uri="{9D8B030D-6E8A-4147-A177-3AD203B41FA5}">
                      <a16:colId xmlns:a16="http://schemas.microsoft.com/office/drawing/2014/main" val="1699332636"/>
                    </a:ext>
                  </a:extLst>
                </a:gridCol>
                <a:gridCol w="2508382">
                  <a:extLst>
                    <a:ext uri="{9D8B030D-6E8A-4147-A177-3AD203B41FA5}">
                      <a16:colId xmlns:a16="http://schemas.microsoft.com/office/drawing/2014/main" val="2684621038"/>
                    </a:ext>
                  </a:extLst>
                </a:gridCol>
                <a:gridCol w="2508382">
                  <a:extLst>
                    <a:ext uri="{9D8B030D-6E8A-4147-A177-3AD203B41FA5}">
                      <a16:colId xmlns:a16="http://schemas.microsoft.com/office/drawing/2014/main" val="1078624516"/>
                    </a:ext>
                  </a:extLst>
                </a:gridCol>
                <a:gridCol w="2508382">
                  <a:extLst>
                    <a:ext uri="{9D8B030D-6E8A-4147-A177-3AD203B41FA5}">
                      <a16:colId xmlns:a16="http://schemas.microsoft.com/office/drawing/2014/main" val="1203515095"/>
                    </a:ext>
                  </a:extLst>
                </a:gridCol>
              </a:tblGrid>
              <a:tr h="475476">
                <a:tc>
                  <a:txBody>
                    <a:bodyPr/>
                    <a:lstStyle/>
                    <a:p>
                      <a:r>
                        <a:rPr lang="en-US" sz="1050" b="1">
                          <a:solidFill>
                            <a:schemeClr val="bg1"/>
                          </a:solidFill>
                        </a:rPr>
                        <a:t>Epic</a:t>
                      </a:r>
                    </a:p>
                  </a:txBody>
                  <a:tcPr marL="18288" marR="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457063" rtl="0" eaLnBrk="1" fontAlgn="ctr" latinLnBrk="0" hangingPunct="1"/>
                      <a:r>
                        <a:rPr lang="en-US" sz="1000" b="1" kern="1500" noProof="0">
                          <a:solidFill>
                            <a:srgbClr val="0A4B8C"/>
                          </a:solidFill>
                          <a:latin typeface="+mn-lt"/>
                          <a:ea typeface="+mn-ea"/>
                          <a:cs typeface="+mn-cs"/>
                        </a:rPr>
                        <a:t>Strategy, Alignment &amp; </a:t>
                      </a:r>
                      <a:br>
                        <a:rPr lang="en-US" sz="1000" b="1" kern="1500" noProof="0">
                          <a:solidFill>
                            <a:srgbClr val="0A4B8C"/>
                          </a:solidFill>
                          <a:latin typeface="+mn-lt"/>
                          <a:ea typeface="+mn-ea"/>
                          <a:cs typeface="+mn-cs"/>
                        </a:rPr>
                      </a:br>
                      <a:r>
                        <a:rPr lang="en-US" sz="1000" b="1" kern="1500" noProof="0">
                          <a:solidFill>
                            <a:srgbClr val="0A4B8C"/>
                          </a:solidFill>
                          <a:latin typeface="+mn-lt"/>
                          <a:ea typeface="+mn-ea"/>
                          <a:cs typeface="+mn-cs"/>
                        </a:rPr>
                        <a:t>Impact Assessment</a:t>
                      </a:r>
                      <a:endParaRPr lang="en-US" sz="1000" b="1" kern="1500">
                        <a:solidFill>
                          <a:srgbClr val="0A4B8C"/>
                        </a:solidFill>
                        <a:latin typeface="+mn-lt"/>
                        <a:ea typeface="+mn-ea"/>
                        <a:cs typeface="+mn-cs"/>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noProof="0">
                          <a:solidFill>
                            <a:srgbClr val="0A4B8C"/>
                          </a:solidFill>
                          <a:latin typeface="+mn-lt"/>
                          <a:ea typeface="+mn-ea"/>
                          <a:cs typeface="+mn-cs"/>
                        </a:rPr>
                        <a:t>Communications </a:t>
                      </a:r>
                      <a:br>
                        <a:rPr lang="en-US" sz="1000" b="1" kern="1500" noProof="0">
                          <a:solidFill>
                            <a:srgbClr val="0A4B8C"/>
                          </a:solidFill>
                          <a:latin typeface="+mn-lt"/>
                          <a:ea typeface="+mn-ea"/>
                          <a:cs typeface="+mn-cs"/>
                        </a:rPr>
                      </a:br>
                      <a:r>
                        <a:rPr lang="en-US" sz="1000" b="1" kern="1500" noProof="0">
                          <a:solidFill>
                            <a:srgbClr val="0A4B8C"/>
                          </a:solidFill>
                          <a:latin typeface="+mn-lt"/>
                          <a:ea typeface="+mn-ea"/>
                          <a:cs typeface="+mn-cs"/>
                        </a:rPr>
                        <a:t>&amp; Campaigns</a:t>
                      </a: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a:solidFill>
                            <a:srgbClr val="0A4B8C"/>
                          </a:solidFill>
                          <a:latin typeface="+mn-lt"/>
                          <a:ea typeface="+mn-ea"/>
                          <a:cs typeface="+mn-cs"/>
                        </a:rPr>
                        <a:t>Power User Enablement &amp; </a:t>
                      </a:r>
                      <a:br>
                        <a:rPr lang="en-US" sz="1000" b="1" kern="1500">
                          <a:solidFill>
                            <a:srgbClr val="0A4B8C"/>
                          </a:solidFill>
                          <a:latin typeface="+mn-lt"/>
                          <a:ea typeface="+mn-ea"/>
                          <a:cs typeface="+mn-cs"/>
                        </a:rPr>
                      </a:br>
                      <a:r>
                        <a:rPr lang="en-US" sz="1000" b="1" kern="1500">
                          <a:solidFill>
                            <a:srgbClr val="0A4B8C"/>
                          </a:solidFill>
                          <a:latin typeface="+mn-lt"/>
                          <a:ea typeface="+mn-ea"/>
                          <a:cs typeface="+mn-cs"/>
                        </a:rPr>
                        <a:t>Champions Program</a:t>
                      </a: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noProof="0">
                          <a:solidFill>
                            <a:srgbClr val="0A4B8C"/>
                          </a:solidFill>
                          <a:latin typeface="+mn-lt"/>
                          <a:ea typeface="+mn-ea"/>
                          <a:cs typeface="+mn-cs"/>
                        </a:rPr>
                        <a:t>Scale Adoption, Support, and Center </a:t>
                      </a:r>
                      <a:br>
                        <a:rPr lang="en-US" sz="1000" b="1" kern="1500" noProof="0">
                          <a:solidFill>
                            <a:srgbClr val="0A4B8C"/>
                          </a:solidFill>
                          <a:latin typeface="+mn-lt"/>
                          <a:ea typeface="+mn-ea"/>
                          <a:cs typeface="+mn-cs"/>
                        </a:rPr>
                      </a:br>
                      <a:r>
                        <a:rPr lang="en-US" sz="1000" b="1" kern="1500" noProof="0">
                          <a:solidFill>
                            <a:srgbClr val="0A4B8C"/>
                          </a:solidFill>
                          <a:latin typeface="+mn-lt"/>
                          <a:ea typeface="+mn-ea"/>
                          <a:cs typeface="+mn-cs"/>
                        </a:rPr>
                        <a:t>of Excellence</a:t>
                      </a:r>
                      <a:endParaRPr lang="en-US" sz="1000" b="1" kern="1500">
                        <a:solidFill>
                          <a:srgbClr val="0A4B8C"/>
                        </a:solidFill>
                        <a:latin typeface="+mn-lt"/>
                        <a:ea typeface="+mn-ea"/>
                        <a:cs typeface="+mn-cs"/>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3144615"/>
                  </a:ext>
                </a:extLst>
              </a:tr>
              <a:tr h="892014">
                <a:tc>
                  <a:txBody>
                    <a:bodyPr/>
                    <a:lstStyle/>
                    <a:p>
                      <a:r>
                        <a:rPr lang="en-US" sz="1050" b="1">
                          <a:solidFill>
                            <a:schemeClr val="bg1"/>
                          </a:solidFill>
                        </a:rPr>
                        <a:t>Features</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1.1: Persona Mapping</a:t>
                      </a:r>
                    </a:p>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1.2: Organizational Impact &amp; Stakeholder Analysis</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2.1: Target Communication Strategy</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2.2: Launch Campaign</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3.1: "Train the Trainer" Program</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3.2: Legacy-to-Databricks </a:t>
                      </a:r>
                      <a:br>
                        <a:rPr lang="en-US" sz="1000" b="0" kern="1500">
                          <a:solidFill>
                            <a:schemeClr val="tx2"/>
                          </a:solidFill>
                          <a:latin typeface="+mn-lt"/>
                          <a:ea typeface="+mn-ea"/>
                          <a:cs typeface="+mn-cs"/>
                        </a:rPr>
                      </a:br>
                      <a:r>
                        <a:rPr lang="en-US" sz="1000" b="0" kern="1500">
                          <a:solidFill>
                            <a:schemeClr val="tx2"/>
                          </a:solidFill>
                          <a:latin typeface="+mn-lt"/>
                          <a:ea typeface="+mn-ea"/>
                          <a:cs typeface="+mn-cs"/>
                        </a:rPr>
                        <a:t>Translation Aids</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4.1: Establish Center of </a:t>
                      </a:r>
                      <a:br>
                        <a:rPr lang="en-US" sz="1000" b="0" kern="1500" noProof="0">
                          <a:solidFill>
                            <a:schemeClr val="tx2"/>
                          </a:solidFill>
                          <a:latin typeface="+mn-lt"/>
                          <a:ea typeface="+mn-ea"/>
                          <a:cs typeface="+mn-cs"/>
                        </a:rPr>
                      </a:br>
                      <a:r>
                        <a:rPr lang="en-US" sz="1000" b="0" kern="1500" noProof="0">
                          <a:solidFill>
                            <a:schemeClr val="tx2"/>
                          </a:solidFill>
                          <a:latin typeface="+mn-lt"/>
                          <a:ea typeface="+mn-ea"/>
                          <a:cs typeface="+mn-cs"/>
                        </a:rPr>
                        <a:t>Excellence (</a:t>
                      </a:r>
                      <a:r>
                        <a:rPr lang="en-US" sz="1000" b="0" kern="1500" noProof="0" err="1">
                          <a:solidFill>
                            <a:schemeClr val="tx2"/>
                          </a:solidFill>
                          <a:latin typeface="+mn-lt"/>
                          <a:ea typeface="+mn-ea"/>
                          <a:cs typeface="+mn-cs"/>
                        </a:rPr>
                        <a:t>CoE</a:t>
                      </a:r>
                      <a:r>
                        <a:rPr lang="en-US" sz="1000" b="0" kern="1500" noProof="0">
                          <a:solidFill>
                            <a:schemeClr val="tx2"/>
                          </a:solidFill>
                          <a:latin typeface="+mn-lt"/>
                          <a:ea typeface="+mn-ea"/>
                          <a:cs typeface="+mn-cs"/>
                        </a:rPr>
                        <a:t>)</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4.2: End-User Rollout &amp; Support</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7196652"/>
                  </a:ext>
                </a:extLst>
              </a:tr>
            </a:tbl>
          </a:graphicData>
        </a:graphic>
      </p:graphicFrame>
      <p:grpSp>
        <p:nvGrpSpPr>
          <p:cNvPr id="29" name="Group 28">
            <a:extLst>
              <a:ext uri="{FF2B5EF4-FFF2-40B4-BE49-F238E27FC236}">
                <a16:creationId xmlns:a16="http://schemas.microsoft.com/office/drawing/2014/main" id="{2204AD56-4182-8ED9-C0EF-85AC39E4E6D1}"/>
              </a:ext>
            </a:extLst>
          </p:cNvPr>
          <p:cNvGrpSpPr/>
          <p:nvPr/>
        </p:nvGrpSpPr>
        <p:grpSpPr>
          <a:xfrm>
            <a:off x="538691" y="4239049"/>
            <a:ext cx="11125201" cy="999"/>
            <a:chOff x="531813" y="5259957"/>
            <a:chExt cx="11125201" cy="999"/>
          </a:xfrm>
        </p:grpSpPr>
        <p:cxnSp>
          <p:nvCxnSpPr>
            <p:cNvPr id="30" name="Straight Connector 29">
              <a:extLst>
                <a:ext uri="{FF2B5EF4-FFF2-40B4-BE49-F238E27FC236}">
                  <a16:creationId xmlns:a16="http://schemas.microsoft.com/office/drawing/2014/main" id="{6E58C94A-AA99-08B3-2852-6F61E25DF4C9}"/>
                </a:ext>
              </a:extLst>
            </p:cNvPr>
            <p:cNvCxnSpPr>
              <a:cxnSpLocks/>
            </p:cNvCxnSpPr>
            <p:nvPr/>
          </p:nvCxnSpPr>
          <p:spPr>
            <a:xfrm>
              <a:off x="553507" y="5260956"/>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375F310-88E8-D939-5E87-4C4C93D8C04A}"/>
                </a:ext>
              </a:extLst>
            </p:cNvPr>
            <p:cNvCxnSpPr>
              <a:cxnSpLocks/>
            </p:cNvCxnSpPr>
            <p:nvPr/>
          </p:nvCxnSpPr>
          <p:spPr>
            <a:xfrm>
              <a:off x="531813" y="5259957"/>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51794CC0-F239-69CA-9BB5-8883897F24AC}"/>
              </a:ext>
            </a:extLst>
          </p:cNvPr>
          <p:cNvGrpSpPr/>
          <p:nvPr/>
        </p:nvGrpSpPr>
        <p:grpSpPr>
          <a:xfrm>
            <a:off x="532210" y="3035443"/>
            <a:ext cx="11127580" cy="1695"/>
            <a:chOff x="529432" y="4264661"/>
            <a:chExt cx="11127580" cy="1695"/>
          </a:xfrm>
        </p:grpSpPr>
        <p:cxnSp>
          <p:nvCxnSpPr>
            <p:cNvPr id="33" name="Straight Connector 32">
              <a:extLst>
                <a:ext uri="{FF2B5EF4-FFF2-40B4-BE49-F238E27FC236}">
                  <a16:creationId xmlns:a16="http://schemas.microsoft.com/office/drawing/2014/main" id="{1DD24770-C55D-58B3-C8E5-1FC49FE337B5}"/>
                </a:ext>
              </a:extLst>
            </p:cNvPr>
            <p:cNvCxnSpPr>
              <a:cxnSpLocks/>
            </p:cNvCxnSpPr>
            <p:nvPr/>
          </p:nvCxnSpPr>
          <p:spPr>
            <a:xfrm>
              <a:off x="553505" y="4264661"/>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CCC8C18-AA65-E92D-ED87-12004AAF06CE}"/>
                </a:ext>
              </a:extLst>
            </p:cNvPr>
            <p:cNvCxnSpPr>
              <a:cxnSpLocks/>
            </p:cNvCxnSpPr>
            <p:nvPr/>
          </p:nvCxnSpPr>
          <p:spPr>
            <a:xfrm>
              <a:off x="529432" y="4266356"/>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DEE466EE-C7D7-A15C-2DFD-81887B963E62}"/>
              </a:ext>
            </a:extLst>
          </p:cNvPr>
          <p:cNvGrpSpPr/>
          <p:nvPr/>
        </p:nvGrpSpPr>
        <p:grpSpPr>
          <a:xfrm>
            <a:off x="549537" y="2286902"/>
            <a:ext cx="11125201" cy="0"/>
            <a:chOff x="531813" y="3716075"/>
            <a:chExt cx="11125201" cy="0"/>
          </a:xfrm>
        </p:grpSpPr>
        <p:cxnSp>
          <p:nvCxnSpPr>
            <p:cNvPr id="36" name="Straight Connector 35">
              <a:extLst>
                <a:ext uri="{FF2B5EF4-FFF2-40B4-BE49-F238E27FC236}">
                  <a16:creationId xmlns:a16="http://schemas.microsoft.com/office/drawing/2014/main" id="{BD434327-79FF-A54C-8AEA-F0C565372183}"/>
                </a:ext>
              </a:extLst>
            </p:cNvPr>
            <p:cNvCxnSpPr>
              <a:cxnSpLocks/>
            </p:cNvCxnSpPr>
            <p:nvPr/>
          </p:nvCxnSpPr>
          <p:spPr>
            <a:xfrm>
              <a:off x="553507" y="3716075"/>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B8FB2A5-3DAA-299A-9D54-7E47260B78E8}"/>
                </a:ext>
              </a:extLst>
            </p:cNvPr>
            <p:cNvCxnSpPr>
              <a:cxnSpLocks/>
            </p:cNvCxnSpPr>
            <p:nvPr/>
          </p:nvCxnSpPr>
          <p:spPr>
            <a:xfrm>
              <a:off x="531813" y="3716075"/>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A963F25B-D387-FD3A-02AD-4249BFCF443A}"/>
              </a:ext>
            </a:extLst>
          </p:cNvPr>
          <p:cNvGrpSpPr/>
          <p:nvPr/>
        </p:nvGrpSpPr>
        <p:grpSpPr>
          <a:xfrm>
            <a:off x="538691" y="4704870"/>
            <a:ext cx="11125201" cy="1"/>
            <a:chOff x="531813" y="4848012"/>
            <a:chExt cx="11125201" cy="1"/>
          </a:xfrm>
        </p:grpSpPr>
        <p:cxnSp>
          <p:nvCxnSpPr>
            <p:cNvPr id="39" name="Straight Connector 38">
              <a:extLst>
                <a:ext uri="{FF2B5EF4-FFF2-40B4-BE49-F238E27FC236}">
                  <a16:creationId xmlns:a16="http://schemas.microsoft.com/office/drawing/2014/main" id="{ECBA3D7C-5F41-8B77-0F76-543F5A1E96A9}"/>
                </a:ext>
              </a:extLst>
            </p:cNvPr>
            <p:cNvCxnSpPr>
              <a:cxnSpLocks/>
            </p:cNvCxnSpPr>
            <p:nvPr/>
          </p:nvCxnSpPr>
          <p:spPr>
            <a:xfrm>
              <a:off x="553507" y="4848013"/>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6F23553-D938-832F-EA78-81FCA48D80DA}"/>
                </a:ext>
              </a:extLst>
            </p:cNvPr>
            <p:cNvCxnSpPr>
              <a:cxnSpLocks/>
            </p:cNvCxnSpPr>
            <p:nvPr/>
          </p:nvCxnSpPr>
          <p:spPr>
            <a:xfrm>
              <a:off x="531813" y="4848012"/>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313837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6D001F6-6C6D-2144-163F-B3097CC89370}"/>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69F76553-216E-DBB7-F822-542DE70446FB}"/>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5" name="thinkcell data - do not delete" hidden="1">
                        <a:extLst>
                          <a:ext uri="{FF2B5EF4-FFF2-40B4-BE49-F238E27FC236}">
                            <a16:creationId xmlns:a16="http://schemas.microsoft.com/office/drawing/2014/main" id="{69F76553-216E-DBB7-F822-542DE70446F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B3CC48F1-11FD-B16A-4752-5479925572DE}"/>
              </a:ext>
            </a:extLst>
          </p:cNvPr>
          <p:cNvSpPr>
            <a:spLocks noGrp="1"/>
          </p:cNvSpPr>
          <p:nvPr>
            <p:ph type="title"/>
          </p:nvPr>
        </p:nvSpPr>
        <p:spPr>
          <a:xfrm>
            <a:off x="557931" y="584200"/>
            <a:ext cx="6449044" cy="713232"/>
          </a:xfrm>
        </p:spPr>
        <p:txBody>
          <a:bodyPr vert="horz" rIns="0"/>
          <a:lstStyle/>
          <a:p>
            <a:r>
              <a:rPr lang="en-US"/>
              <a:t>Workstream F</a:t>
            </a:r>
          </a:p>
        </p:txBody>
      </p:sp>
    </p:spTree>
    <p:extLst>
      <p:ext uri="{BB962C8B-B14F-4D97-AF65-F5344CB8AC3E}">
        <p14:creationId xmlns:p14="http://schemas.microsoft.com/office/powerpoint/2010/main" val="33326045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ABC614D-B150-625F-E8B5-790CFD8FB868}"/>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D22D0857-EC9B-7752-D16B-886269047A4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5" name="thinkcell data - do not delete" hidden="1">
                        <a:extLst>
                          <a:ext uri="{FF2B5EF4-FFF2-40B4-BE49-F238E27FC236}">
                            <a16:creationId xmlns:a16="http://schemas.microsoft.com/office/drawing/2014/main" id="{D22D0857-EC9B-7752-D16B-886269047A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0AE6466B-7438-69A9-ED55-48B9BA1B67BD}"/>
              </a:ext>
            </a:extLst>
          </p:cNvPr>
          <p:cNvSpPr>
            <a:spLocks noGrp="1"/>
          </p:cNvSpPr>
          <p:nvPr>
            <p:ph type="title"/>
          </p:nvPr>
        </p:nvSpPr>
        <p:spPr/>
        <p:txBody>
          <a:bodyPr vert="horz" rIns="0"/>
          <a:lstStyle/>
          <a:p>
            <a:r>
              <a:rPr lang="en-US"/>
              <a:t>Workstream F – Hypercare and Operational Handoff (1/2)</a:t>
            </a:r>
            <a:br>
              <a:rPr lang="en-US"/>
            </a:br>
            <a:r>
              <a:rPr lang="en-US" sz="1600" b="0"/>
              <a:t>Transition – From the SOW and other planning documents</a:t>
            </a:r>
          </a:p>
        </p:txBody>
      </p:sp>
      <p:sp>
        <p:nvSpPr>
          <p:cNvPr id="4" name="Rectangle 3">
            <a:extLst>
              <a:ext uri="{FF2B5EF4-FFF2-40B4-BE49-F238E27FC236}">
                <a16:creationId xmlns:a16="http://schemas.microsoft.com/office/drawing/2014/main" id="{B302BFFA-EC08-51F4-B8BB-7D80E7DB5353}"/>
              </a:ext>
            </a:extLst>
          </p:cNvPr>
          <p:cNvSpPr/>
          <p:nvPr/>
        </p:nvSpPr>
        <p:spPr bwMode="gray">
          <a:xfrm>
            <a:off x="594360" y="6203122"/>
            <a:ext cx="10963656" cy="137160"/>
          </a:xfrm>
          <a:prstGeom prst="rect">
            <a:avLst/>
          </a:prstGeom>
          <a:noFill/>
          <a:ln>
            <a:noFill/>
            <a:miter lim="800000"/>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lstStyle/>
          <a:p>
            <a:r>
              <a:rPr lang="en-US" sz="800">
                <a:solidFill>
                  <a:schemeClr val="tx2"/>
                </a:solidFill>
              </a:rPr>
              <a:t>Source: CVS_Databricks_SOW_Draft_v5 JAS_CVS_REDLINE, CVS Databricks Staffing Model_V4.xlsx</a:t>
            </a:r>
          </a:p>
        </p:txBody>
      </p:sp>
      <p:sp>
        <p:nvSpPr>
          <p:cNvPr id="33" name="Rectangle: Top Corners Rounded 32">
            <a:extLst>
              <a:ext uri="{FF2B5EF4-FFF2-40B4-BE49-F238E27FC236}">
                <a16:creationId xmlns:a16="http://schemas.microsoft.com/office/drawing/2014/main" id="{7127F356-6AC0-AD4B-1C7C-AB93667C8C35}"/>
              </a:ext>
            </a:extLst>
          </p:cNvPr>
          <p:cNvSpPr/>
          <p:nvPr/>
        </p:nvSpPr>
        <p:spPr bwMode="gray">
          <a:xfrm rot="5400000">
            <a:off x="-1682253" y="3070784"/>
            <a:ext cx="4682069" cy="1317568"/>
          </a:xfrm>
          <a:prstGeom prst="round2SameRect">
            <a:avLst>
              <a:gd name="adj1" fmla="val 9976"/>
              <a:gd name="adj2" fmla="val 0"/>
            </a:avLst>
          </a:prstGeom>
          <a:gradFill flip="none" rotWithShape="1">
            <a:gsLst>
              <a:gs pos="0">
                <a:srgbClr val="267AC0"/>
              </a:gs>
              <a:gs pos="100000">
                <a:srgbClr val="0A4B8C"/>
              </a:gs>
            </a:gsLst>
            <a:lin ang="54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sp>
        <p:nvSpPr>
          <p:cNvPr id="37" name="Rectangle: Rounded Corners 36">
            <a:extLst>
              <a:ext uri="{FF2B5EF4-FFF2-40B4-BE49-F238E27FC236}">
                <a16:creationId xmlns:a16="http://schemas.microsoft.com/office/drawing/2014/main" id="{5B604079-7848-004A-B053-EC3A25748D97}"/>
              </a:ext>
            </a:extLst>
          </p:cNvPr>
          <p:cNvSpPr/>
          <p:nvPr/>
        </p:nvSpPr>
        <p:spPr bwMode="gray">
          <a:xfrm>
            <a:off x="6301525" y="1645920"/>
            <a:ext cx="5360592" cy="1280160"/>
          </a:xfrm>
          <a:prstGeom prst="roundRect">
            <a:avLst>
              <a:gd name="adj" fmla="val 6009"/>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tIns="45720" rIns="0" bIns="45720" rtlCol="0" anchor="ctr" anchorCtr="0"/>
          <a:lstStyle/>
          <a:p>
            <a:pPr defTabSz="457063" fontAlgn="ctr">
              <a:defRPr/>
            </a:pPr>
            <a:r>
              <a:rPr lang="en-US" sz="1000" b="1">
                <a:solidFill>
                  <a:srgbClr val="00A78E"/>
                </a:solidFill>
              </a:rPr>
              <a:t>Description: </a:t>
            </a:r>
            <a:r>
              <a:rPr lang="en-US" sz="1000">
                <a:solidFill>
                  <a:schemeClr val="tx2"/>
                </a:solidFill>
              </a:rPr>
              <a:t>Cutover Support</a:t>
            </a:r>
          </a:p>
          <a:p>
            <a:pPr defTabSz="457063" fontAlgn="ctr">
              <a:defRPr/>
            </a:pPr>
            <a:r>
              <a:rPr lang="en-US" sz="1000" b="1">
                <a:solidFill>
                  <a:srgbClr val="00A78E"/>
                </a:solidFill>
              </a:rPr>
              <a:t>Timing:</a:t>
            </a:r>
            <a:endParaRPr lang="en-US" sz="1000" b="1">
              <a:solidFill>
                <a:schemeClr val="tx2"/>
              </a:solidFill>
            </a:endParaRPr>
          </a:p>
          <a:p>
            <a:pPr defTabSz="457063" fontAlgn="ctr">
              <a:defRPr/>
            </a:pPr>
            <a:endParaRPr lang="en-US" sz="1000" b="1">
              <a:solidFill>
                <a:schemeClr val="tx2"/>
              </a:solidFill>
            </a:endParaRPr>
          </a:p>
          <a:p>
            <a:pPr defTabSz="457063" fontAlgn="ctr">
              <a:defRPr/>
            </a:pPr>
            <a:endParaRPr lang="en-US" sz="1000" b="1">
              <a:solidFill>
                <a:schemeClr val="tx2"/>
              </a:solidFill>
            </a:endParaRPr>
          </a:p>
          <a:p>
            <a:r>
              <a:rPr lang="en-US" sz="1000" b="1">
                <a:solidFill>
                  <a:srgbClr val="00A78E"/>
                </a:solidFill>
              </a:rPr>
              <a:t>Deliverables: </a:t>
            </a:r>
          </a:p>
          <a:p>
            <a:pPr marL="91440" indent="-91440">
              <a:buFont typeface="Arial" panose="020B0604020202020204" pitchFamily="34" charset="0"/>
              <a:buChar char="•"/>
            </a:pPr>
            <a:r>
              <a:rPr lang="en-US" sz="1000">
                <a:solidFill>
                  <a:schemeClr val="tx2"/>
                </a:solidFill>
              </a:rPr>
              <a:t>Hypercare Plan and War Room Operating Model (PPT/DOC)</a:t>
            </a:r>
          </a:p>
          <a:p>
            <a:pPr marL="91440" indent="-91440">
              <a:buFont typeface="Arial" panose="020B0604020202020204" pitchFamily="34" charset="0"/>
              <a:buChar char="•"/>
            </a:pPr>
            <a:r>
              <a:rPr lang="en-US" sz="1000">
                <a:solidFill>
                  <a:schemeClr val="tx2"/>
                </a:solidFill>
              </a:rPr>
              <a:t>Hypercare Issue Log and Resolution Tracker (XLS)</a:t>
            </a:r>
          </a:p>
          <a:p>
            <a:pPr marL="91440" indent="-91440">
              <a:buFont typeface="Arial" panose="020B0604020202020204" pitchFamily="34" charset="0"/>
              <a:buChar char="•"/>
            </a:pPr>
            <a:r>
              <a:rPr lang="en-US" sz="1000">
                <a:solidFill>
                  <a:schemeClr val="tx2"/>
                </a:solidFill>
              </a:rPr>
              <a:t>Performance Tuning Summary and Recommendations (PPT/DOC)</a:t>
            </a:r>
          </a:p>
        </p:txBody>
      </p:sp>
      <p:grpSp>
        <p:nvGrpSpPr>
          <p:cNvPr id="38" name="Group 37">
            <a:extLst>
              <a:ext uri="{FF2B5EF4-FFF2-40B4-BE49-F238E27FC236}">
                <a16:creationId xmlns:a16="http://schemas.microsoft.com/office/drawing/2014/main" id="{9803D787-7839-8903-0031-9EA2DBADAF79}"/>
              </a:ext>
            </a:extLst>
          </p:cNvPr>
          <p:cNvGrpSpPr/>
          <p:nvPr/>
        </p:nvGrpSpPr>
        <p:grpSpPr>
          <a:xfrm>
            <a:off x="543482" y="1490133"/>
            <a:ext cx="5517030" cy="307777"/>
            <a:chOff x="543482" y="1490133"/>
            <a:chExt cx="5517030" cy="307777"/>
          </a:xfrm>
        </p:grpSpPr>
        <p:sp>
          <p:nvSpPr>
            <p:cNvPr id="39" name="TextBox 38">
              <a:extLst>
                <a:ext uri="{FF2B5EF4-FFF2-40B4-BE49-F238E27FC236}">
                  <a16:creationId xmlns:a16="http://schemas.microsoft.com/office/drawing/2014/main" id="{E8F69AEC-2570-F5AA-D4B2-23240EACA8B5}"/>
                </a:ext>
              </a:extLst>
            </p:cNvPr>
            <p:cNvSpPr txBox="1"/>
            <p:nvPr/>
          </p:nvSpPr>
          <p:spPr>
            <a:xfrm>
              <a:off x="543482" y="1490133"/>
              <a:ext cx="690958"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Scope</a:t>
              </a:r>
            </a:p>
          </p:txBody>
        </p:sp>
        <p:sp>
          <p:nvSpPr>
            <p:cNvPr id="40" name="TextBox 39">
              <a:extLst>
                <a:ext uri="{FF2B5EF4-FFF2-40B4-BE49-F238E27FC236}">
                  <a16:creationId xmlns:a16="http://schemas.microsoft.com/office/drawing/2014/main" id="{1EA4BF14-4010-AD25-B6DD-536DF8BCAB93}"/>
                </a:ext>
              </a:extLst>
            </p:cNvPr>
            <p:cNvSpPr txBox="1"/>
            <p:nvPr/>
          </p:nvSpPr>
          <p:spPr>
            <a:xfrm>
              <a:off x="1366590" y="1490133"/>
              <a:ext cx="4693922" cy="307777"/>
            </a:xfrm>
            <a:prstGeom prst="rect">
              <a:avLst/>
            </a:prstGeom>
            <a:noFill/>
          </p:spPr>
          <p:txBody>
            <a:bodyPr wrap="square" lIns="0" tIns="0" rIns="0" bIns="0">
              <a:spAutoFit/>
            </a:bodyPr>
            <a:lstStyle/>
            <a:p>
              <a:pPr algn="l"/>
              <a:r>
                <a:rPr lang="en-US" sz="1000">
                  <a:solidFill>
                    <a:schemeClr val="tx2"/>
                  </a:solidFill>
                </a:rPr>
                <a:t>Provide post go-live stabilization, incident triage, performance tuning, knowledge transfer and formal handoff support.</a:t>
              </a:r>
            </a:p>
          </p:txBody>
        </p:sp>
      </p:grpSp>
      <p:grpSp>
        <p:nvGrpSpPr>
          <p:cNvPr id="41" name="Group 40">
            <a:extLst>
              <a:ext uri="{FF2B5EF4-FFF2-40B4-BE49-F238E27FC236}">
                <a16:creationId xmlns:a16="http://schemas.microsoft.com/office/drawing/2014/main" id="{175460F0-9DC1-9965-633D-5259172415BF}"/>
              </a:ext>
            </a:extLst>
          </p:cNvPr>
          <p:cNvGrpSpPr/>
          <p:nvPr/>
        </p:nvGrpSpPr>
        <p:grpSpPr>
          <a:xfrm>
            <a:off x="543482" y="2007204"/>
            <a:ext cx="5398316" cy="307777"/>
            <a:chOff x="543482" y="2260040"/>
            <a:chExt cx="5398316" cy="307777"/>
          </a:xfrm>
        </p:grpSpPr>
        <p:sp>
          <p:nvSpPr>
            <p:cNvPr id="42" name="TextBox 41">
              <a:extLst>
                <a:ext uri="{FF2B5EF4-FFF2-40B4-BE49-F238E27FC236}">
                  <a16:creationId xmlns:a16="http://schemas.microsoft.com/office/drawing/2014/main" id="{E6664179-2343-822C-DB18-2BD774F3081F}"/>
                </a:ext>
              </a:extLst>
            </p:cNvPr>
            <p:cNvSpPr txBox="1"/>
            <p:nvPr/>
          </p:nvSpPr>
          <p:spPr>
            <a:xfrm>
              <a:off x="543482" y="2260040"/>
              <a:ext cx="721899"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Objective</a:t>
              </a:r>
            </a:p>
          </p:txBody>
        </p:sp>
        <p:sp>
          <p:nvSpPr>
            <p:cNvPr id="43" name="TextBox 42">
              <a:extLst>
                <a:ext uri="{FF2B5EF4-FFF2-40B4-BE49-F238E27FC236}">
                  <a16:creationId xmlns:a16="http://schemas.microsoft.com/office/drawing/2014/main" id="{C723CB7E-778D-2CA3-6503-7C917C3AEE2D}"/>
                </a:ext>
              </a:extLst>
            </p:cNvPr>
            <p:cNvSpPr txBox="1"/>
            <p:nvPr/>
          </p:nvSpPr>
          <p:spPr>
            <a:xfrm>
              <a:off x="1366590" y="2260040"/>
              <a:ext cx="4575208" cy="307777"/>
            </a:xfrm>
            <a:prstGeom prst="rect">
              <a:avLst/>
            </a:prstGeom>
            <a:noFill/>
          </p:spPr>
          <p:txBody>
            <a:bodyPr wrap="square" lIns="0" tIns="0" rIns="0" bIns="0">
              <a:spAutoFit/>
            </a:bodyPr>
            <a:lstStyle/>
            <a:p>
              <a:pPr algn="l"/>
              <a:r>
                <a:rPr lang="en-US" sz="1000">
                  <a:solidFill>
                    <a:schemeClr val="tx2"/>
                  </a:solidFill>
                </a:rPr>
                <a:t>Coordinate transition post go-live by rapidly resolving issues, stabilizing the platform and executing a structured handoff to CVS BAU operations.</a:t>
              </a:r>
            </a:p>
          </p:txBody>
        </p:sp>
      </p:grpSp>
      <p:grpSp>
        <p:nvGrpSpPr>
          <p:cNvPr id="44" name="Group 43">
            <a:extLst>
              <a:ext uri="{FF2B5EF4-FFF2-40B4-BE49-F238E27FC236}">
                <a16:creationId xmlns:a16="http://schemas.microsoft.com/office/drawing/2014/main" id="{E22019AA-7AEC-F617-DDF5-E7D14188A6FA}"/>
              </a:ext>
            </a:extLst>
          </p:cNvPr>
          <p:cNvGrpSpPr/>
          <p:nvPr/>
        </p:nvGrpSpPr>
        <p:grpSpPr>
          <a:xfrm>
            <a:off x="543483" y="2519350"/>
            <a:ext cx="5571567" cy="2192908"/>
            <a:chOff x="543483" y="2717246"/>
            <a:chExt cx="5571567" cy="2192908"/>
          </a:xfrm>
        </p:grpSpPr>
        <p:sp>
          <p:nvSpPr>
            <p:cNvPr id="45" name="TextBox 44">
              <a:extLst>
                <a:ext uri="{FF2B5EF4-FFF2-40B4-BE49-F238E27FC236}">
                  <a16:creationId xmlns:a16="http://schemas.microsoft.com/office/drawing/2014/main" id="{F0B1E6FE-57FE-2CEB-0051-3A0BB9EBE6F0}"/>
                </a:ext>
              </a:extLst>
            </p:cNvPr>
            <p:cNvSpPr txBox="1"/>
            <p:nvPr/>
          </p:nvSpPr>
          <p:spPr>
            <a:xfrm>
              <a:off x="543483" y="2717246"/>
              <a:ext cx="731982" cy="369332"/>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Key Activities</a:t>
              </a:r>
            </a:p>
          </p:txBody>
        </p:sp>
        <p:sp>
          <p:nvSpPr>
            <p:cNvPr id="46" name="TextBox 45">
              <a:extLst>
                <a:ext uri="{FF2B5EF4-FFF2-40B4-BE49-F238E27FC236}">
                  <a16:creationId xmlns:a16="http://schemas.microsoft.com/office/drawing/2014/main" id="{E39234BE-E623-C71E-18F8-FF8D7DA1F579}"/>
                </a:ext>
              </a:extLst>
            </p:cNvPr>
            <p:cNvSpPr txBox="1"/>
            <p:nvPr/>
          </p:nvSpPr>
          <p:spPr>
            <a:xfrm>
              <a:off x="1366590" y="2717246"/>
              <a:ext cx="4748460" cy="2192908"/>
            </a:xfrm>
            <a:prstGeom prst="rect">
              <a:avLst/>
            </a:prstGeom>
            <a:noFill/>
          </p:spPr>
          <p:txBody>
            <a:bodyPr wrap="square" lIns="0" tIns="45720" rIns="45720" bIns="45720">
              <a:noAutofit/>
            </a:bodyPr>
            <a:lstStyle/>
            <a:p>
              <a:pPr marL="137160" lvl="1" indent="-137160">
                <a:spcAft>
                  <a:spcPts val="300"/>
                </a:spcAft>
                <a:buFont typeface="Arial" panose="020B0604020202020204" pitchFamily="34" charset="0"/>
                <a:buChar char="•"/>
              </a:pPr>
              <a:r>
                <a:rPr lang="en-US" sz="1000" b="1" kern="1500">
                  <a:solidFill>
                    <a:schemeClr val="tx2"/>
                  </a:solidFill>
                </a:rPr>
                <a:t>Establish War Room: </a:t>
              </a:r>
              <a:r>
                <a:rPr lang="en-US" sz="1000" kern="1500">
                  <a:solidFill>
                    <a:schemeClr val="tx2"/>
                  </a:solidFill>
                </a:rPr>
                <a:t>Set up a command center with daily stand-ups for rapid issue triage and escalation</a:t>
              </a:r>
            </a:p>
            <a:p>
              <a:pPr marL="137160" lvl="1" indent="-137160">
                <a:spcAft>
                  <a:spcPts val="300"/>
                </a:spcAft>
                <a:buFont typeface="Arial" panose="020B0604020202020204" pitchFamily="34" charset="0"/>
                <a:buChar char="•"/>
              </a:pPr>
              <a:r>
                <a:rPr lang="en-US" sz="1000" b="1" kern="1500">
                  <a:solidFill>
                    <a:schemeClr val="tx2"/>
                  </a:solidFill>
                </a:rPr>
                <a:t>Intensive Incident Management: </a:t>
              </a:r>
              <a:r>
                <a:rPr lang="en-US" sz="1000" kern="1500">
                  <a:solidFill>
                    <a:schemeClr val="tx2"/>
                  </a:solidFill>
                </a:rPr>
                <a:t>Provide monitoring and rapid response for pipeline, platform and data quality issues</a:t>
              </a:r>
            </a:p>
            <a:p>
              <a:pPr marL="137160" lvl="1" indent="-137160">
                <a:spcAft>
                  <a:spcPts val="300"/>
                </a:spcAft>
                <a:buFont typeface="Arial" panose="020B0604020202020204" pitchFamily="34" charset="0"/>
                <a:buChar char="•"/>
              </a:pPr>
              <a:r>
                <a:rPr lang="en-US" sz="1000" b="1" kern="1500">
                  <a:solidFill>
                    <a:schemeClr val="tx2"/>
                  </a:solidFill>
                </a:rPr>
                <a:t>End-User Support:</a:t>
              </a:r>
              <a:r>
                <a:rPr lang="en-US" sz="1000" kern="1500">
                  <a:solidFill>
                    <a:schemeClr val="tx2"/>
                  </a:solidFill>
                </a:rPr>
                <a:t> Act as the first point of contact for user support, providing hands-on assistance to resolve issues</a:t>
              </a:r>
            </a:p>
            <a:p>
              <a:pPr marL="137160" lvl="1" indent="-137160">
                <a:spcAft>
                  <a:spcPts val="300"/>
                </a:spcAft>
                <a:buFont typeface="Arial" panose="020B0604020202020204" pitchFamily="34" charset="0"/>
                <a:buChar char="•"/>
              </a:pPr>
              <a:r>
                <a:rPr lang="en-US" sz="1000" b="1" kern="1500">
                  <a:solidFill>
                    <a:schemeClr val="tx2"/>
                  </a:solidFill>
                </a:rPr>
                <a:t>Performance Tuning: </a:t>
              </a:r>
              <a:r>
                <a:rPr lang="en-US" sz="1000" kern="1500">
                  <a:solidFill>
                    <a:schemeClr val="tx2"/>
                  </a:solidFill>
                </a:rPr>
                <a:t>Monitor platform performance under production loads and implement tuning to meet performance benchmarks</a:t>
              </a:r>
            </a:p>
            <a:p>
              <a:pPr marL="137160" lvl="1" indent="-137160">
                <a:spcAft>
                  <a:spcPts val="300"/>
                </a:spcAft>
                <a:buFont typeface="Arial" panose="020B0604020202020204" pitchFamily="34" charset="0"/>
                <a:buChar char="•"/>
              </a:pPr>
              <a:r>
                <a:rPr lang="en-US" sz="1000" b="1" kern="1500">
                  <a:solidFill>
                    <a:schemeClr val="tx2"/>
                  </a:solidFill>
                </a:rPr>
                <a:t>Knowledge Transfer (KT): </a:t>
              </a:r>
              <a:r>
                <a:rPr lang="en-US" sz="1000" kern="1500">
                  <a:solidFill>
                    <a:schemeClr val="tx2"/>
                  </a:solidFill>
                </a:rPr>
                <a:t>Document all resolutions in a knowledge base and conduct focused transfer sessions to enable the BAU team</a:t>
              </a:r>
            </a:p>
            <a:p>
              <a:pPr marL="137160" lvl="1" indent="-137160">
                <a:spcAft>
                  <a:spcPts val="300"/>
                </a:spcAft>
                <a:buFont typeface="Arial" panose="020B0604020202020204" pitchFamily="34" charset="0"/>
                <a:buChar char="•"/>
              </a:pPr>
              <a:r>
                <a:rPr lang="en-US" sz="1000" b="1" kern="1500">
                  <a:solidFill>
                    <a:schemeClr val="tx2"/>
                  </a:solidFill>
                </a:rPr>
                <a:t>Formal Handoff: </a:t>
              </a:r>
              <a:r>
                <a:rPr lang="en-US" sz="1000" kern="1500">
                  <a:solidFill>
                    <a:schemeClr val="tx2"/>
                  </a:solidFill>
                </a:rPr>
                <a:t>Execute the handover process with a final system stability review to secure formal sign-off</a:t>
              </a:r>
            </a:p>
          </p:txBody>
        </p:sp>
      </p:grpSp>
      <p:sp>
        <p:nvSpPr>
          <p:cNvPr id="47" name="TextBox 46">
            <a:extLst>
              <a:ext uri="{FF2B5EF4-FFF2-40B4-BE49-F238E27FC236}">
                <a16:creationId xmlns:a16="http://schemas.microsoft.com/office/drawing/2014/main" id="{14C52478-0CD9-DA80-C059-4FA97F1B85F4}"/>
              </a:ext>
            </a:extLst>
          </p:cNvPr>
          <p:cNvSpPr txBox="1"/>
          <p:nvPr/>
        </p:nvSpPr>
        <p:spPr>
          <a:xfrm>
            <a:off x="6301525" y="1463040"/>
            <a:ext cx="740587"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rgbClr val="0B315E"/>
                </a:solidFill>
                <a:effectLst/>
                <a:uLnTx/>
                <a:uFillTx/>
                <a:latin typeface="CVS Health Sans"/>
                <a:ea typeface="+mn-ea"/>
                <a:cs typeface="+mn-cs"/>
              </a:rPr>
              <a:t>Milestone</a:t>
            </a:r>
          </a:p>
        </p:txBody>
      </p:sp>
      <p:grpSp>
        <p:nvGrpSpPr>
          <p:cNvPr id="48" name="Group 47">
            <a:extLst>
              <a:ext uri="{FF2B5EF4-FFF2-40B4-BE49-F238E27FC236}">
                <a16:creationId xmlns:a16="http://schemas.microsoft.com/office/drawing/2014/main" id="{21347AAD-8B9F-616F-6CD6-1378846BAAC3}"/>
              </a:ext>
            </a:extLst>
          </p:cNvPr>
          <p:cNvGrpSpPr/>
          <p:nvPr/>
        </p:nvGrpSpPr>
        <p:grpSpPr>
          <a:xfrm>
            <a:off x="533400" y="1900094"/>
            <a:ext cx="5562600" cy="4926"/>
            <a:chOff x="533400" y="1886078"/>
            <a:chExt cx="5562600" cy="4926"/>
          </a:xfrm>
        </p:grpSpPr>
        <p:cxnSp>
          <p:nvCxnSpPr>
            <p:cNvPr id="49" name="Straight Connector 48">
              <a:extLst>
                <a:ext uri="{FF2B5EF4-FFF2-40B4-BE49-F238E27FC236}">
                  <a16:creationId xmlns:a16="http://schemas.microsoft.com/office/drawing/2014/main" id="{C9A5DD85-A837-24FC-06A5-8935D16EBC2E}"/>
                </a:ext>
              </a:extLst>
            </p:cNvPr>
            <p:cNvCxnSpPr/>
            <p:nvPr/>
          </p:nvCxnSpPr>
          <p:spPr>
            <a:xfrm>
              <a:off x="553507" y="1891004"/>
              <a:ext cx="5542493"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69E2D5D1-15BA-07B2-3E0F-2466606DBD09}"/>
                </a:ext>
              </a:extLst>
            </p:cNvPr>
            <p:cNvCxnSpPr>
              <a:cxnSpLocks/>
            </p:cNvCxnSpPr>
            <p:nvPr/>
          </p:nvCxnSpPr>
          <p:spPr>
            <a:xfrm>
              <a:off x="533400" y="1886078"/>
              <a:ext cx="784166"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51" name="Group 50">
            <a:extLst>
              <a:ext uri="{FF2B5EF4-FFF2-40B4-BE49-F238E27FC236}">
                <a16:creationId xmlns:a16="http://schemas.microsoft.com/office/drawing/2014/main" id="{55B44EBF-A168-E2B0-2B74-F7ACC5FB002A}"/>
              </a:ext>
            </a:extLst>
          </p:cNvPr>
          <p:cNvGrpSpPr/>
          <p:nvPr/>
        </p:nvGrpSpPr>
        <p:grpSpPr>
          <a:xfrm>
            <a:off x="533400" y="2417165"/>
            <a:ext cx="5562600" cy="0"/>
            <a:chOff x="533400" y="2463561"/>
            <a:chExt cx="5562600" cy="0"/>
          </a:xfrm>
        </p:grpSpPr>
        <p:cxnSp>
          <p:nvCxnSpPr>
            <p:cNvPr id="52" name="Straight Connector 51">
              <a:extLst>
                <a:ext uri="{FF2B5EF4-FFF2-40B4-BE49-F238E27FC236}">
                  <a16:creationId xmlns:a16="http://schemas.microsoft.com/office/drawing/2014/main" id="{71FDB0A6-96BC-6BEE-37CC-FC4E4522EB3E}"/>
                </a:ext>
              </a:extLst>
            </p:cNvPr>
            <p:cNvCxnSpPr/>
            <p:nvPr/>
          </p:nvCxnSpPr>
          <p:spPr>
            <a:xfrm>
              <a:off x="553507" y="2463561"/>
              <a:ext cx="5542493"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FC962C8C-4930-53F3-AE3E-15ACD3A9EF06}"/>
                </a:ext>
              </a:extLst>
            </p:cNvPr>
            <p:cNvCxnSpPr>
              <a:cxnSpLocks/>
            </p:cNvCxnSpPr>
            <p:nvPr/>
          </p:nvCxnSpPr>
          <p:spPr>
            <a:xfrm>
              <a:off x="533400" y="2463561"/>
              <a:ext cx="784166"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sp>
        <p:nvSpPr>
          <p:cNvPr id="54" name="Rectangle: Rounded Corners 53">
            <a:extLst>
              <a:ext uri="{FF2B5EF4-FFF2-40B4-BE49-F238E27FC236}">
                <a16:creationId xmlns:a16="http://schemas.microsoft.com/office/drawing/2014/main" id="{32C2D282-231B-3FCD-4F0A-FA8D138E0A7D}"/>
              </a:ext>
            </a:extLst>
          </p:cNvPr>
          <p:cNvSpPr/>
          <p:nvPr/>
        </p:nvSpPr>
        <p:spPr bwMode="gray">
          <a:xfrm>
            <a:off x="6291316" y="3017520"/>
            <a:ext cx="5360592" cy="1280160"/>
          </a:xfrm>
          <a:prstGeom prst="roundRect">
            <a:avLst>
              <a:gd name="adj" fmla="val 6416"/>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tIns="0" bIns="0" rtlCol="0" anchor="ctr" anchorCtr="0"/>
          <a:lstStyle/>
          <a:p>
            <a:pPr defTabSz="457063" fontAlgn="ctr">
              <a:defRPr/>
            </a:pPr>
            <a:r>
              <a:rPr lang="en-US" sz="1000" b="1">
                <a:solidFill>
                  <a:srgbClr val="00A78E"/>
                </a:solidFill>
              </a:rPr>
              <a:t>Description: </a:t>
            </a:r>
            <a:r>
              <a:rPr lang="en-US" sz="1000">
                <a:solidFill>
                  <a:schemeClr val="tx2"/>
                </a:solidFill>
              </a:rPr>
              <a:t>Transition &amp; Handoff</a:t>
            </a:r>
          </a:p>
          <a:p>
            <a:pPr defTabSz="457063" fontAlgn="ctr">
              <a:defRPr/>
            </a:pPr>
            <a:r>
              <a:rPr lang="en-US" sz="1000" b="1">
                <a:solidFill>
                  <a:srgbClr val="00A78E"/>
                </a:solidFill>
              </a:rPr>
              <a:t>Timing: </a:t>
            </a:r>
            <a:r>
              <a:rPr lang="en-US" sz="1000" b="1">
                <a:solidFill>
                  <a:schemeClr val="tx2"/>
                </a:solidFill>
              </a:rPr>
              <a:t>Oct 2027</a:t>
            </a:r>
          </a:p>
          <a:p>
            <a:pPr defTabSz="457063" fontAlgn="ctr">
              <a:defRPr/>
            </a:pPr>
            <a:endParaRPr lang="en-US" sz="1000" b="1">
              <a:solidFill>
                <a:schemeClr val="tx2"/>
              </a:solidFill>
            </a:endParaRPr>
          </a:p>
          <a:p>
            <a:pPr defTabSz="457063" fontAlgn="ctr">
              <a:defRPr/>
            </a:pPr>
            <a:endParaRPr lang="en-US" sz="1000" b="1">
              <a:solidFill>
                <a:schemeClr val="tx2"/>
              </a:solidFill>
            </a:endParaRPr>
          </a:p>
          <a:p>
            <a:r>
              <a:rPr lang="en-US" sz="1000" b="1">
                <a:solidFill>
                  <a:srgbClr val="00A78E"/>
                </a:solidFill>
              </a:rPr>
              <a:t>Deliverables: </a:t>
            </a:r>
          </a:p>
          <a:p>
            <a:pPr marL="91440" lvl="2" indent="-91440">
              <a:buFont typeface="Arial" panose="020B0604020202020204" pitchFamily="34" charset="0"/>
              <a:buChar char="•"/>
            </a:pPr>
            <a:r>
              <a:rPr lang="en-US" sz="1000">
                <a:solidFill>
                  <a:schemeClr val="tx2"/>
                </a:solidFill>
              </a:rPr>
              <a:t>Operational Runbooks and Knowledge Base Content (DOC)</a:t>
            </a:r>
          </a:p>
          <a:p>
            <a:pPr marL="91440" lvl="2" indent="-91440">
              <a:buFont typeface="Arial" panose="020B0604020202020204" pitchFamily="34" charset="0"/>
              <a:buChar char="•"/>
            </a:pPr>
            <a:r>
              <a:rPr lang="en-US" sz="1000">
                <a:solidFill>
                  <a:schemeClr val="tx2"/>
                </a:solidFill>
              </a:rPr>
              <a:t>Knowledge Transfer Materials and Attendance Records (PPT/XLS)</a:t>
            </a:r>
          </a:p>
          <a:p>
            <a:pPr marL="91440" lvl="2" indent="-91440">
              <a:buFont typeface="Arial" panose="020B0604020202020204" pitchFamily="34" charset="0"/>
              <a:buChar char="•"/>
            </a:pPr>
            <a:r>
              <a:rPr lang="en-US" sz="1000">
                <a:solidFill>
                  <a:schemeClr val="tx2"/>
                </a:solidFill>
              </a:rPr>
              <a:t>Service Transition Checklist and Handoff Signoff Document (DOC)</a:t>
            </a:r>
          </a:p>
        </p:txBody>
      </p:sp>
      <p:sp>
        <p:nvSpPr>
          <p:cNvPr id="56" name="TextBox 55">
            <a:extLst>
              <a:ext uri="{FF2B5EF4-FFF2-40B4-BE49-F238E27FC236}">
                <a16:creationId xmlns:a16="http://schemas.microsoft.com/office/drawing/2014/main" id="{A27FF919-AAA0-53FC-71EA-6D0C5971F38A}"/>
              </a:ext>
            </a:extLst>
          </p:cNvPr>
          <p:cNvSpPr txBox="1"/>
          <p:nvPr/>
        </p:nvSpPr>
        <p:spPr>
          <a:xfrm>
            <a:off x="11155680" y="1645920"/>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F.1</a:t>
            </a:r>
          </a:p>
        </p:txBody>
      </p:sp>
      <p:sp>
        <p:nvSpPr>
          <p:cNvPr id="57" name="TextBox 56">
            <a:extLst>
              <a:ext uri="{FF2B5EF4-FFF2-40B4-BE49-F238E27FC236}">
                <a16:creationId xmlns:a16="http://schemas.microsoft.com/office/drawing/2014/main" id="{970B2044-25E4-EDF5-FB5F-6C0F5D242093}"/>
              </a:ext>
            </a:extLst>
          </p:cNvPr>
          <p:cNvSpPr txBox="1"/>
          <p:nvPr/>
        </p:nvSpPr>
        <p:spPr>
          <a:xfrm>
            <a:off x="11155680" y="3017520"/>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F.2</a:t>
            </a:r>
          </a:p>
        </p:txBody>
      </p:sp>
      <p:graphicFrame>
        <p:nvGraphicFramePr>
          <p:cNvPr id="6" name="Table 5">
            <a:extLst>
              <a:ext uri="{FF2B5EF4-FFF2-40B4-BE49-F238E27FC236}">
                <a16:creationId xmlns:a16="http://schemas.microsoft.com/office/drawing/2014/main" id="{1E9C7E38-F12B-3149-8D25-274CADD94F5E}"/>
              </a:ext>
            </a:extLst>
          </p:cNvPr>
          <p:cNvGraphicFramePr>
            <a:graphicFrameLocks noGrp="1"/>
          </p:cNvGraphicFramePr>
          <p:nvPr>
            <p:extLst>
              <p:ext uri="{D42A27DB-BD31-4B8C-83A1-F6EECF244321}">
                <p14:modId xmlns:p14="http://schemas.microsoft.com/office/powerpoint/2010/main" val="3550687494"/>
              </p:ext>
            </p:extLst>
          </p:nvPr>
        </p:nvGraphicFramePr>
        <p:xfrm>
          <a:off x="6363868" y="2030456"/>
          <a:ext cx="5235902" cy="182880"/>
        </p:xfrm>
        <a:graphic>
          <a:graphicData uri="http://schemas.openxmlformats.org/drawingml/2006/table">
            <a:tbl>
              <a:tblPr firstRow="1" bandRow="1">
                <a:tableStyleId>{5C22544A-7EE6-4342-B048-85BDC9FD1C3A}</a:tableStyleId>
              </a:tblPr>
              <a:tblGrid>
                <a:gridCol w="373993">
                  <a:extLst>
                    <a:ext uri="{9D8B030D-6E8A-4147-A177-3AD203B41FA5}">
                      <a16:colId xmlns:a16="http://schemas.microsoft.com/office/drawing/2014/main" val="4234389670"/>
                    </a:ext>
                  </a:extLst>
                </a:gridCol>
                <a:gridCol w="373993">
                  <a:extLst>
                    <a:ext uri="{9D8B030D-6E8A-4147-A177-3AD203B41FA5}">
                      <a16:colId xmlns:a16="http://schemas.microsoft.com/office/drawing/2014/main" val="2872415959"/>
                    </a:ext>
                  </a:extLst>
                </a:gridCol>
                <a:gridCol w="373993">
                  <a:extLst>
                    <a:ext uri="{9D8B030D-6E8A-4147-A177-3AD203B41FA5}">
                      <a16:colId xmlns:a16="http://schemas.microsoft.com/office/drawing/2014/main" val="2224089828"/>
                    </a:ext>
                  </a:extLst>
                </a:gridCol>
                <a:gridCol w="373993">
                  <a:extLst>
                    <a:ext uri="{9D8B030D-6E8A-4147-A177-3AD203B41FA5}">
                      <a16:colId xmlns:a16="http://schemas.microsoft.com/office/drawing/2014/main" val="3195761835"/>
                    </a:ext>
                  </a:extLst>
                </a:gridCol>
                <a:gridCol w="373993">
                  <a:extLst>
                    <a:ext uri="{9D8B030D-6E8A-4147-A177-3AD203B41FA5}">
                      <a16:colId xmlns:a16="http://schemas.microsoft.com/office/drawing/2014/main" val="1412581894"/>
                    </a:ext>
                  </a:extLst>
                </a:gridCol>
                <a:gridCol w="373993">
                  <a:extLst>
                    <a:ext uri="{9D8B030D-6E8A-4147-A177-3AD203B41FA5}">
                      <a16:colId xmlns:a16="http://schemas.microsoft.com/office/drawing/2014/main" val="2093679262"/>
                    </a:ext>
                  </a:extLst>
                </a:gridCol>
                <a:gridCol w="373993">
                  <a:extLst>
                    <a:ext uri="{9D8B030D-6E8A-4147-A177-3AD203B41FA5}">
                      <a16:colId xmlns:a16="http://schemas.microsoft.com/office/drawing/2014/main" val="4172650658"/>
                    </a:ext>
                  </a:extLst>
                </a:gridCol>
                <a:gridCol w="373993">
                  <a:extLst>
                    <a:ext uri="{9D8B030D-6E8A-4147-A177-3AD203B41FA5}">
                      <a16:colId xmlns:a16="http://schemas.microsoft.com/office/drawing/2014/main" val="4085553167"/>
                    </a:ext>
                  </a:extLst>
                </a:gridCol>
                <a:gridCol w="373993">
                  <a:extLst>
                    <a:ext uri="{9D8B030D-6E8A-4147-A177-3AD203B41FA5}">
                      <a16:colId xmlns:a16="http://schemas.microsoft.com/office/drawing/2014/main" val="3035667041"/>
                    </a:ext>
                  </a:extLst>
                </a:gridCol>
                <a:gridCol w="373993">
                  <a:extLst>
                    <a:ext uri="{9D8B030D-6E8A-4147-A177-3AD203B41FA5}">
                      <a16:colId xmlns:a16="http://schemas.microsoft.com/office/drawing/2014/main" val="1382053115"/>
                    </a:ext>
                  </a:extLst>
                </a:gridCol>
                <a:gridCol w="373993">
                  <a:extLst>
                    <a:ext uri="{9D8B030D-6E8A-4147-A177-3AD203B41FA5}">
                      <a16:colId xmlns:a16="http://schemas.microsoft.com/office/drawing/2014/main" val="243945664"/>
                    </a:ext>
                  </a:extLst>
                </a:gridCol>
                <a:gridCol w="373993">
                  <a:extLst>
                    <a:ext uri="{9D8B030D-6E8A-4147-A177-3AD203B41FA5}">
                      <a16:colId xmlns:a16="http://schemas.microsoft.com/office/drawing/2014/main" val="4035638086"/>
                    </a:ext>
                  </a:extLst>
                </a:gridCol>
                <a:gridCol w="373993">
                  <a:extLst>
                    <a:ext uri="{9D8B030D-6E8A-4147-A177-3AD203B41FA5}">
                      <a16:colId xmlns:a16="http://schemas.microsoft.com/office/drawing/2014/main" val="340677872"/>
                    </a:ext>
                  </a:extLst>
                </a:gridCol>
                <a:gridCol w="373993">
                  <a:extLst>
                    <a:ext uri="{9D8B030D-6E8A-4147-A177-3AD203B41FA5}">
                      <a16:colId xmlns:a16="http://schemas.microsoft.com/office/drawing/2014/main" val="1167973582"/>
                    </a:ext>
                  </a:extLst>
                </a:gridCol>
              </a:tblGrid>
              <a:tr h="182880">
                <a:tc>
                  <a:txBody>
                    <a:bodyPr/>
                    <a:lstStyle/>
                    <a:p>
                      <a:pPr algn="ctr"/>
                      <a:r>
                        <a:rPr lang="en-US" sz="1000"/>
                        <a:t>Sep26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Oct26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Nov26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Dec26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Jan27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Feb27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Mar27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Apr27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May27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Jun27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Jul27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Aug27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Sep27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1000"/>
                        <a:t>Oct27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extLst>
                  <a:ext uri="{0D108BD9-81ED-4DB2-BD59-A6C34878D82A}">
                    <a16:rowId xmlns:a16="http://schemas.microsoft.com/office/drawing/2014/main" val="3394829782"/>
                  </a:ext>
                </a:extLst>
              </a:tr>
            </a:tbl>
          </a:graphicData>
        </a:graphic>
      </p:graphicFrame>
      <p:graphicFrame>
        <p:nvGraphicFramePr>
          <p:cNvPr id="8" name="Table 7">
            <a:extLst>
              <a:ext uri="{FF2B5EF4-FFF2-40B4-BE49-F238E27FC236}">
                <a16:creationId xmlns:a16="http://schemas.microsoft.com/office/drawing/2014/main" id="{3CE2E013-0F15-F6F4-B8BE-52AB3F275F0A}"/>
              </a:ext>
            </a:extLst>
          </p:cNvPr>
          <p:cNvGraphicFramePr>
            <a:graphicFrameLocks noGrp="1"/>
          </p:cNvGraphicFramePr>
          <p:nvPr>
            <p:extLst>
              <p:ext uri="{D42A27DB-BD31-4B8C-83A1-F6EECF244321}">
                <p14:modId xmlns:p14="http://schemas.microsoft.com/office/powerpoint/2010/main" val="3560186941"/>
              </p:ext>
            </p:extLst>
          </p:nvPr>
        </p:nvGraphicFramePr>
        <p:xfrm>
          <a:off x="6363868" y="3411855"/>
          <a:ext cx="5235902" cy="182880"/>
        </p:xfrm>
        <a:graphic>
          <a:graphicData uri="http://schemas.openxmlformats.org/drawingml/2006/table">
            <a:tbl>
              <a:tblPr firstRow="1" bandRow="1">
                <a:tableStyleId>{5C22544A-7EE6-4342-B048-85BDC9FD1C3A}</a:tableStyleId>
              </a:tblPr>
              <a:tblGrid>
                <a:gridCol w="373993">
                  <a:extLst>
                    <a:ext uri="{9D8B030D-6E8A-4147-A177-3AD203B41FA5}">
                      <a16:colId xmlns:a16="http://schemas.microsoft.com/office/drawing/2014/main" val="4234389670"/>
                    </a:ext>
                  </a:extLst>
                </a:gridCol>
                <a:gridCol w="373993">
                  <a:extLst>
                    <a:ext uri="{9D8B030D-6E8A-4147-A177-3AD203B41FA5}">
                      <a16:colId xmlns:a16="http://schemas.microsoft.com/office/drawing/2014/main" val="2872415959"/>
                    </a:ext>
                  </a:extLst>
                </a:gridCol>
                <a:gridCol w="373993">
                  <a:extLst>
                    <a:ext uri="{9D8B030D-6E8A-4147-A177-3AD203B41FA5}">
                      <a16:colId xmlns:a16="http://schemas.microsoft.com/office/drawing/2014/main" val="2224089828"/>
                    </a:ext>
                  </a:extLst>
                </a:gridCol>
                <a:gridCol w="373993">
                  <a:extLst>
                    <a:ext uri="{9D8B030D-6E8A-4147-A177-3AD203B41FA5}">
                      <a16:colId xmlns:a16="http://schemas.microsoft.com/office/drawing/2014/main" val="3195761835"/>
                    </a:ext>
                  </a:extLst>
                </a:gridCol>
                <a:gridCol w="373993">
                  <a:extLst>
                    <a:ext uri="{9D8B030D-6E8A-4147-A177-3AD203B41FA5}">
                      <a16:colId xmlns:a16="http://schemas.microsoft.com/office/drawing/2014/main" val="1412581894"/>
                    </a:ext>
                  </a:extLst>
                </a:gridCol>
                <a:gridCol w="373993">
                  <a:extLst>
                    <a:ext uri="{9D8B030D-6E8A-4147-A177-3AD203B41FA5}">
                      <a16:colId xmlns:a16="http://schemas.microsoft.com/office/drawing/2014/main" val="2093679262"/>
                    </a:ext>
                  </a:extLst>
                </a:gridCol>
                <a:gridCol w="373993">
                  <a:extLst>
                    <a:ext uri="{9D8B030D-6E8A-4147-A177-3AD203B41FA5}">
                      <a16:colId xmlns:a16="http://schemas.microsoft.com/office/drawing/2014/main" val="4172650658"/>
                    </a:ext>
                  </a:extLst>
                </a:gridCol>
                <a:gridCol w="373993">
                  <a:extLst>
                    <a:ext uri="{9D8B030D-6E8A-4147-A177-3AD203B41FA5}">
                      <a16:colId xmlns:a16="http://schemas.microsoft.com/office/drawing/2014/main" val="4085553167"/>
                    </a:ext>
                  </a:extLst>
                </a:gridCol>
                <a:gridCol w="373993">
                  <a:extLst>
                    <a:ext uri="{9D8B030D-6E8A-4147-A177-3AD203B41FA5}">
                      <a16:colId xmlns:a16="http://schemas.microsoft.com/office/drawing/2014/main" val="3035667041"/>
                    </a:ext>
                  </a:extLst>
                </a:gridCol>
                <a:gridCol w="373993">
                  <a:extLst>
                    <a:ext uri="{9D8B030D-6E8A-4147-A177-3AD203B41FA5}">
                      <a16:colId xmlns:a16="http://schemas.microsoft.com/office/drawing/2014/main" val="1382053115"/>
                    </a:ext>
                  </a:extLst>
                </a:gridCol>
                <a:gridCol w="373993">
                  <a:extLst>
                    <a:ext uri="{9D8B030D-6E8A-4147-A177-3AD203B41FA5}">
                      <a16:colId xmlns:a16="http://schemas.microsoft.com/office/drawing/2014/main" val="243945664"/>
                    </a:ext>
                  </a:extLst>
                </a:gridCol>
                <a:gridCol w="373993">
                  <a:extLst>
                    <a:ext uri="{9D8B030D-6E8A-4147-A177-3AD203B41FA5}">
                      <a16:colId xmlns:a16="http://schemas.microsoft.com/office/drawing/2014/main" val="4035638086"/>
                    </a:ext>
                  </a:extLst>
                </a:gridCol>
                <a:gridCol w="373993">
                  <a:extLst>
                    <a:ext uri="{9D8B030D-6E8A-4147-A177-3AD203B41FA5}">
                      <a16:colId xmlns:a16="http://schemas.microsoft.com/office/drawing/2014/main" val="340677872"/>
                    </a:ext>
                  </a:extLst>
                </a:gridCol>
                <a:gridCol w="373993">
                  <a:extLst>
                    <a:ext uri="{9D8B030D-6E8A-4147-A177-3AD203B41FA5}">
                      <a16:colId xmlns:a16="http://schemas.microsoft.com/office/drawing/2014/main" val="623221758"/>
                    </a:ext>
                  </a:extLst>
                </a:gridCol>
              </a:tblGrid>
              <a:tr h="182880">
                <a:tc>
                  <a:txBody>
                    <a:bodyPr/>
                    <a:lstStyle/>
                    <a:p>
                      <a:pPr algn="ctr"/>
                      <a:r>
                        <a:rPr lang="en-US" sz="1000"/>
                        <a:t>Sep26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Oct26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Nov26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Dec26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Jan27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Feb27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Mar27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Apr27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May27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Jun27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Jul27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Aug27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Sep27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Oct27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extLst>
                  <a:ext uri="{0D108BD9-81ED-4DB2-BD59-A6C34878D82A}">
                    <a16:rowId xmlns:a16="http://schemas.microsoft.com/office/drawing/2014/main" val="3394829782"/>
                  </a:ext>
                </a:extLst>
              </a:tr>
            </a:tbl>
          </a:graphicData>
        </a:graphic>
      </p:graphicFrame>
    </p:spTree>
    <p:extLst>
      <p:ext uri="{BB962C8B-B14F-4D97-AF65-F5344CB8AC3E}">
        <p14:creationId xmlns:p14="http://schemas.microsoft.com/office/powerpoint/2010/main" val="37869562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099F8F0-3BF5-85BA-E360-E146B68FA962}"/>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A37BE20-BBD8-F865-6FE6-133A08D29EF8}"/>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4" name="thinkcell data - do not delete" hidden="1">
                        <a:extLst>
                          <a:ext uri="{FF2B5EF4-FFF2-40B4-BE49-F238E27FC236}">
                            <a16:creationId xmlns:a16="http://schemas.microsoft.com/office/drawing/2014/main" id="{7A37BE20-BBD8-F865-6FE6-133A08D29E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1999DD2B-7B3A-8808-1BE2-79F1A7D87E1A}"/>
              </a:ext>
            </a:extLst>
          </p:cNvPr>
          <p:cNvSpPr>
            <a:spLocks noGrp="1"/>
          </p:cNvSpPr>
          <p:nvPr>
            <p:ph type="title"/>
          </p:nvPr>
        </p:nvSpPr>
        <p:spPr/>
        <p:txBody>
          <a:bodyPr vert="horz" rIns="0"/>
          <a:lstStyle/>
          <a:p>
            <a:r>
              <a:rPr lang="en-US"/>
              <a:t>Workstream F – Hypercare and Operational Handoff (2/2)</a:t>
            </a:r>
            <a:br>
              <a:rPr lang="en-US" sz="1600" b="0"/>
            </a:br>
            <a:r>
              <a:rPr lang="en-US" sz="1600" b="0"/>
              <a:t>Transition – Planning</a:t>
            </a:r>
          </a:p>
        </p:txBody>
      </p:sp>
      <p:sp>
        <p:nvSpPr>
          <p:cNvPr id="10" name="Rectangle 9">
            <a:extLst>
              <a:ext uri="{FF2B5EF4-FFF2-40B4-BE49-F238E27FC236}">
                <a16:creationId xmlns:a16="http://schemas.microsoft.com/office/drawing/2014/main" id="{F0773A68-E003-7534-3A28-2E5D39AFBD7C}"/>
              </a:ext>
            </a:extLst>
          </p:cNvPr>
          <p:cNvSpPr/>
          <p:nvPr/>
        </p:nvSpPr>
        <p:spPr bwMode="gray">
          <a:xfrm>
            <a:off x="10911840" y="0"/>
            <a:ext cx="1280160" cy="548640"/>
          </a:xfrm>
          <a:prstGeom prst="rect">
            <a:avLst/>
          </a:prstGeom>
          <a:solidFill>
            <a:schemeClr val="accent5"/>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b="1">
                <a:solidFill>
                  <a:schemeClr val="bg1"/>
                </a:solidFill>
              </a:rPr>
              <a:t>Notional, to update</a:t>
            </a:r>
          </a:p>
        </p:txBody>
      </p:sp>
      <p:sp>
        <p:nvSpPr>
          <p:cNvPr id="8" name="Rectangle 7">
            <a:extLst>
              <a:ext uri="{FF2B5EF4-FFF2-40B4-BE49-F238E27FC236}">
                <a16:creationId xmlns:a16="http://schemas.microsoft.com/office/drawing/2014/main" id="{66CB8ACE-4FAE-53C7-C95B-27C4A33CE69D}"/>
              </a:ext>
            </a:extLst>
          </p:cNvPr>
          <p:cNvSpPr/>
          <p:nvPr/>
        </p:nvSpPr>
        <p:spPr bwMode="gray">
          <a:xfrm>
            <a:off x="589357" y="6202227"/>
            <a:ext cx="10963656" cy="137160"/>
          </a:xfrm>
          <a:prstGeom prst="rect">
            <a:avLst/>
          </a:prstGeom>
          <a:noFill/>
          <a:ln>
            <a:noFill/>
            <a:miter lim="800000"/>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lstStyle/>
          <a:p>
            <a:r>
              <a:rPr lang="en-US" sz="800">
                <a:solidFill>
                  <a:schemeClr val="tx1"/>
                </a:solidFill>
              </a:rPr>
              <a:t>Source: Current KPMG planning, subject to change</a:t>
            </a:r>
          </a:p>
        </p:txBody>
      </p:sp>
      <p:sp>
        <p:nvSpPr>
          <p:cNvPr id="9" name="Rectangle: Top Corners Rounded 8">
            <a:extLst>
              <a:ext uri="{FF2B5EF4-FFF2-40B4-BE49-F238E27FC236}">
                <a16:creationId xmlns:a16="http://schemas.microsoft.com/office/drawing/2014/main" id="{969C77C6-4C85-CB7A-81E5-57F8019FFC12}"/>
              </a:ext>
            </a:extLst>
          </p:cNvPr>
          <p:cNvSpPr/>
          <p:nvPr/>
        </p:nvSpPr>
        <p:spPr bwMode="gray">
          <a:xfrm rot="5400000">
            <a:off x="-1524006" y="2912536"/>
            <a:ext cx="4682069" cy="1634065"/>
          </a:xfrm>
          <a:prstGeom prst="round2SameRect">
            <a:avLst>
              <a:gd name="adj1" fmla="val 9976"/>
              <a:gd name="adj2" fmla="val 0"/>
            </a:avLst>
          </a:prstGeom>
          <a:gradFill flip="none" rotWithShape="1">
            <a:gsLst>
              <a:gs pos="0">
                <a:srgbClr val="267AC0"/>
              </a:gs>
              <a:gs pos="100000">
                <a:srgbClr val="0A4B8C"/>
              </a:gs>
            </a:gsLst>
            <a:lin ang="54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graphicFrame>
        <p:nvGraphicFramePr>
          <p:cNvPr id="11" name="Content Placeholder 6">
            <a:extLst>
              <a:ext uri="{FF2B5EF4-FFF2-40B4-BE49-F238E27FC236}">
                <a16:creationId xmlns:a16="http://schemas.microsoft.com/office/drawing/2014/main" id="{C9F7920A-CDAB-CC7C-7884-F56F5B1E227D}"/>
              </a:ext>
            </a:extLst>
          </p:cNvPr>
          <p:cNvGraphicFramePr>
            <a:graphicFrameLocks/>
          </p:cNvGraphicFramePr>
          <p:nvPr>
            <p:extLst>
              <p:ext uri="{D42A27DB-BD31-4B8C-83A1-F6EECF244321}">
                <p14:modId xmlns:p14="http://schemas.microsoft.com/office/powerpoint/2010/main" val="2195632564"/>
              </p:ext>
            </p:extLst>
          </p:nvPr>
        </p:nvGraphicFramePr>
        <p:xfrm>
          <a:off x="538691" y="1509730"/>
          <a:ext cx="11133137" cy="3250840"/>
        </p:xfrm>
        <a:graphic>
          <a:graphicData uri="http://schemas.openxmlformats.org/drawingml/2006/table">
            <a:tbl>
              <a:tblPr firstRow="1" bandRow="1">
                <a:tableStyleId>{2D5ABB26-0587-4C30-8999-92F81FD0307C}</a:tableStyleId>
              </a:tblPr>
              <a:tblGrid>
                <a:gridCol w="1099371">
                  <a:extLst>
                    <a:ext uri="{9D8B030D-6E8A-4147-A177-3AD203B41FA5}">
                      <a16:colId xmlns:a16="http://schemas.microsoft.com/office/drawing/2014/main" val="1699332636"/>
                    </a:ext>
                  </a:extLst>
                </a:gridCol>
                <a:gridCol w="5016883">
                  <a:extLst>
                    <a:ext uri="{9D8B030D-6E8A-4147-A177-3AD203B41FA5}">
                      <a16:colId xmlns:a16="http://schemas.microsoft.com/office/drawing/2014/main" val="2684621038"/>
                    </a:ext>
                  </a:extLst>
                </a:gridCol>
                <a:gridCol w="5016883">
                  <a:extLst>
                    <a:ext uri="{9D8B030D-6E8A-4147-A177-3AD203B41FA5}">
                      <a16:colId xmlns:a16="http://schemas.microsoft.com/office/drawing/2014/main" val="4044576813"/>
                    </a:ext>
                  </a:extLst>
                </a:gridCol>
              </a:tblGrid>
              <a:tr h="931849">
                <a:tc>
                  <a:txBody>
                    <a:bodyPr/>
                    <a:lstStyle/>
                    <a:p>
                      <a:pPr>
                        <a:lnSpc>
                          <a:spcPct val="90000"/>
                        </a:lnSpc>
                      </a:pPr>
                      <a:r>
                        <a:rPr lang="en-US" sz="1050" b="1">
                          <a:solidFill>
                            <a:schemeClr val="bg1"/>
                          </a:solidFill>
                        </a:rPr>
                        <a:t>Key “Do Now” activities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WBS and Sprint Planning: Create the Work Breakdown Structure (WBS), prioritization matrices, and Agile Sprint plans mapped against dependencies</a:t>
                      </a:r>
                    </a:p>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Staffing and Role Finalization: Reconcile and lock in technical resource allocation, aligning KPMG and Scicom delivery roles</a:t>
                      </a:r>
                    </a:p>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Provisional VDI Access Requests: Submit provisional VDI requests for resources by mid-October to preempt the typical 2-to-3-week administrative onboarding bottleneck</a:t>
                      </a:r>
                    </a:p>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BAU Resource Identification: Formally identify and align the CVS BAU support team members who will participate in the transition</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extLst>
                  <a:ext uri="{0D108BD9-81ED-4DB2-BD59-A6C34878D82A}">
                    <a16:rowId xmlns:a16="http://schemas.microsoft.com/office/drawing/2014/main" val="3413144615"/>
                  </a:ext>
                </a:extLst>
              </a:tr>
              <a:tr h="906389">
                <a:tc>
                  <a:txBody>
                    <a:bodyPr/>
                    <a:lstStyle/>
                    <a:p>
                      <a:pPr>
                        <a:lnSpc>
                          <a:spcPct val="90000"/>
                        </a:lnSpc>
                      </a:pPr>
                      <a:r>
                        <a:rPr lang="en-US" sz="1050" b="1">
                          <a:solidFill>
                            <a:schemeClr val="bg1"/>
                          </a:solidFill>
                        </a:rPr>
                        <a:t>Upstream Prerequisites</a:t>
                      </a:r>
                    </a:p>
                    <a:p>
                      <a:pPr>
                        <a:lnSpc>
                          <a:spcPct val="90000"/>
                        </a:lnSpc>
                      </a:pPr>
                      <a:endParaRPr lang="en-US" sz="1050" b="1">
                        <a:solidFill>
                          <a:schemeClr val="bg1"/>
                        </a:solidFill>
                      </a:endParaRP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Platform Readiness (Workstream A): Complete firewall clearances, network port openings, Azure subscription provisioning, and ExpressRoute bandwidth validation to support high volume data flows</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Bronze Data Flow (Workstream B2): Fully establish Autoloader + Event Grid configurations and </a:t>
                      </a:r>
                      <a:r>
                        <a:rPr lang="en-US" sz="1000" b="0" i="0" err="1">
                          <a:solidFill>
                            <a:schemeClr val="tx2"/>
                          </a:solidFill>
                        </a:rPr>
                        <a:t>Cribl</a:t>
                      </a:r>
                      <a:r>
                        <a:rPr lang="en-US" sz="1000" b="0" i="0">
                          <a:solidFill>
                            <a:schemeClr val="tx2"/>
                          </a:solidFill>
                        </a:rPr>
                        <a:t> routing pathways to ensure all Splunk indexes are flowing into Bronze Delta tables</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Silver &amp; Gold Curation (Workstream C): Build, normalize, and secure 9 Silver Domains (90–180 tables) and establish 12 Gold analytical products with business-accepted KPI logic</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Queries &amp; Alerts Migration (Workstream D): Complete the translation and validation of the 11,199 scoped legacy observability objects (10,503 Splunk Core/ES/AIOps queries and 696 dashboards)</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Power User Enablement (Workstream E): Identify and train "Power Users" (at least 5 per functional area) to act as the first-line transition support network</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extLst>
                  <a:ext uri="{0D108BD9-81ED-4DB2-BD59-A6C34878D82A}">
                    <a16:rowId xmlns:a16="http://schemas.microsoft.com/office/drawing/2014/main" val="1457196652"/>
                  </a:ext>
                </a:extLst>
              </a:tr>
              <a:tr h="1059151">
                <a:tc>
                  <a:txBody>
                    <a:bodyPr/>
                    <a:lstStyle/>
                    <a:p>
                      <a:pPr>
                        <a:lnSpc>
                          <a:spcPct val="90000"/>
                        </a:lnSpc>
                      </a:pPr>
                      <a:r>
                        <a:rPr lang="en-US" sz="1050" b="1">
                          <a:solidFill>
                            <a:schemeClr val="bg1"/>
                          </a:solidFill>
                        </a:rPr>
                        <a:t>Downstream Workstream Hand-offs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None/>
                        <a:tabLst/>
                        <a:defRPr/>
                      </a:pPr>
                      <a:r>
                        <a:rPr lang="en-US" sz="1000" b="0" i="0" kern="1500">
                          <a:solidFill>
                            <a:schemeClr val="tx2"/>
                          </a:solidFill>
                          <a:latin typeface="+mn-lt"/>
                          <a:ea typeface="+mn-ea"/>
                          <a:cs typeface="+mn-cs"/>
                        </a:rPr>
                        <a:t>To CVS BAU Operations Team:</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Deliver operational runbooks, transition checklists, and knowledge </a:t>
                      </a:r>
                      <a:br>
                        <a:rPr lang="en-US" sz="1000" b="0" i="0" kern="1500">
                          <a:solidFill>
                            <a:schemeClr val="tx2"/>
                          </a:solidFill>
                          <a:latin typeface="+mn-lt"/>
                          <a:ea typeface="+mn-ea"/>
                          <a:cs typeface="+mn-cs"/>
                        </a:rPr>
                      </a:br>
                      <a:r>
                        <a:rPr lang="en-US" sz="1000" b="0" i="0" kern="1500">
                          <a:solidFill>
                            <a:schemeClr val="tx2"/>
                          </a:solidFill>
                          <a:latin typeface="+mn-lt"/>
                          <a:ea typeface="+mn-ea"/>
                          <a:cs typeface="+mn-cs"/>
                        </a:rPr>
                        <a:t>base documentation</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Hand over final performance-tuning metrics and stabilization summary reports</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Conduct structured knowledge transfer (KT) sessions and secure formal handoff sign-offs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None/>
                        <a:tabLst/>
                        <a:defRPr/>
                      </a:pPr>
                      <a:r>
                        <a:rPr lang="en-US" sz="1000" b="0" i="0" kern="1500">
                          <a:solidFill>
                            <a:schemeClr val="tx2"/>
                          </a:solidFill>
                          <a:latin typeface="+mn-lt"/>
                          <a:ea typeface="+mn-ea"/>
                          <a:cs typeface="+mn-cs"/>
                        </a:rPr>
                        <a:t>To CVS Data Governance &amp; Platform Teams:</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Transition ownership of the unified metadata registries, lineage mappings, and data contract compliance models inside Unity Catalog</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Transfer active performance monitoring dashboards and pipeline execution alerts in Azure Databricks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3949764"/>
                  </a:ext>
                </a:extLst>
              </a:tr>
            </a:tbl>
          </a:graphicData>
        </a:graphic>
      </p:graphicFrame>
      <p:graphicFrame>
        <p:nvGraphicFramePr>
          <p:cNvPr id="26" name="Content Placeholder 6">
            <a:extLst>
              <a:ext uri="{FF2B5EF4-FFF2-40B4-BE49-F238E27FC236}">
                <a16:creationId xmlns:a16="http://schemas.microsoft.com/office/drawing/2014/main" id="{C7703B99-DA2C-AF60-E30B-6F39F04CE515}"/>
              </a:ext>
            </a:extLst>
          </p:cNvPr>
          <p:cNvGraphicFramePr>
            <a:graphicFrameLocks/>
          </p:cNvGraphicFramePr>
          <p:nvPr>
            <p:extLst>
              <p:ext uri="{D42A27DB-BD31-4B8C-83A1-F6EECF244321}">
                <p14:modId xmlns:p14="http://schemas.microsoft.com/office/powerpoint/2010/main" val="876411889"/>
              </p:ext>
            </p:extLst>
          </p:nvPr>
        </p:nvGraphicFramePr>
        <p:xfrm>
          <a:off x="545933" y="5066314"/>
          <a:ext cx="11142395" cy="1142815"/>
        </p:xfrm>
        <a:graphic>
          <a:graphicData uri="http://schemas.openxmlformats.org/drawingml/2006/table">
            <a:tbl>
              <a:tblPr firstRow="1" bandRow="1">
                <a:tableStyleId>{2D5ABB26-0587-4C30-8999-92F81FD0307C}</a:tableStyleId>
              </a:tblPr>
              <a:tblGrid>
                <a:gridCol w="1108868">
                  <a:extLst>
                    <a:ext uri="{9D8B030D-6E8A-4147-A177-3AD203B41FA5}">
                      <a16:colId xmlns:a16="http://schemas.microsoft.com/office/drawing/2014/main" val="2393725290"/>
                    </a:ext>
                  </a:extLst>
                </a:gridCol>
                <a:gridCol w="4630342">
                  <a:extLst>
                    <a:ext uri="{9D8B030D-6E8A-4147-A177-3AD203B41FA5}">
                      <a16:colId xmlns:a16="http://schemas.microsoft.com/office/drawing/2014/main" val="1699332636"/>
                    </a:ext>
                  </a:extLst>
                </a:gridCol>
                <a:gridCol w="5403185">
                  <a:extLst>
                    <a:ext uri="{9D8B030D-6E8A-4147-A177-3AD203B41FA5}">
                      <a16:colId xmlns:a16="http://schemas.microsoft.com/office/drawing/2014/main" val="1078624516"/>
                    </a:ext>
                  </a:extLst>
                </a:gridCol>
              </a:tblGrid>
              <a:tr h="308326">
                <a:tc>
                  <a:txBody>
                    <a:bodyPr/>
                    <a:lstStyle/>
                    <a:p>
                      <a:r>
                        <a:rPr lang="en-US" sz="1050" b="1">
                          <a:solidFill>
                            <a:schemeClr val="bg1"/>
                          </a:solidFill>
                        </a:rPr>
                        <a:t>Epic</a:t>
                      </a:r>
                    </a:p>
                  </a:txBody>
                  <a:tcPr marL="18288" marR="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457063" rtl="0" eaLnBrk="1" fontAlgn="ctr" latinLnBrk="0" hangingPunct="1"/>
                      <a:r>
                        <a:rPr lang="en-US" sz="1000" b="1" kern="1500" noProof="0">
                          <a:solidFill>
                            <a:srgbClr val="0A4B8C"/>
                          </a:solidFill>
                          <a:latin typeface="+mn-lt"/>
                          <a:ea typeface="+mn-ea"/>
                          <a:cs typeface="+mn-cs"/>
                        </a:rPr>
                        <a:t>Cutover Support &amp; Platform Stabilization</a:t>
                      </a: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a:solidFill>
                            <a:srgbClr val="0A4B8C"/>
                          </a:solidFill>
                          <a:latin typeface="+mn-lt"/>
                          <a:ea typeface="+mn-ea"/>
                          <a:cs typeface="+mn-cs"/>
                        </a:rPr>
                        <a:t>Transition &amp; Operational Handoff</a:t>
                      </a: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3144615"/>
                  </a:ext>
                </a:extLst>
              </a:tr>
              <a:tr h="834489">
                <a:tc>
                  <a:txBody>
                    <a:bodyPr/>
                    <a:lstStyle/>
                    <a:p>
                      <a:r>
                        <a:rPr lang="en-US" sz="1050" b="1">
                          <a:solidFill>
                            <a:schemeClr val="bg1"/>
                          </a:solidFill>
                        </a:rPr>
                        <a:t>Features</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War Room Mobilization</a:t>
                      </a:r>
                    </a:p>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Intensive Incident Management</a:t>
                      </a:r>
                    </a:p>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End-User Triage Support</a:t>
                      </a:r>
                    </a:p>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Performance Tuning</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Knowledge Base Documentation</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Targeted Training Sessions</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Handoff Verification</a:t>
                      </a:r>
                      <a:endParaRPr lang="en-US" sz="1000" b="0" kern="1500">
                        <a:solidFill>
                          <a:schemeClr val="tx2"/>
                        </a:solidFill>
                        <a:latin typeface="+mn-lt"/>
                        <a:ea typeface="+mn-ea"/>
                        <a:cs typeface="+mn-cs"/>
                      </a:endParaRP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7196652"/>
                  </a:ext>
                </a:extLst>
              </a:tr>
            </a:tbl>
          </a:graphicData>
        </a:graphic>
      </p:graphicFrame>
      <p:grpSp>
        <p:nvGrpSpPr>
          <p:cNvPr id="27" name="Group 26">
            <a:extLst>
              <a:ext uri="{FF2B5EF4-FFF2-40B4-BE49-F238E27FC236}">
                <a16:creationId xmlns:a16="http://schemas.microsoft.com/office/drawing/2014/main" id="{11CE7480-D8D5-DE09-6D8B-0F51508D4E2F}"/>
              </a:ext>
            </a:extLst>
          </p:cNvPr>
          <p:cNvGrpSpPr/>
          <p:nvPr/>
        </p:nvGrpSpPr>
        <p:grpSpPr>
          <a:xfrm>
            <a:off x="543684" y="5068010"/>
            <a:ext cx="11125201" cy="999"/>
            <a:chOff x="531813" y="5259957"/>
            <a:chExt cx="11125201" cy="999"/>
          </a:xfrm>
        </p:grpSpPr>
        <p:cxnSp>
          <p:nvCxnSpPr>
            <p:cNvPr id="28" name="Straight Connector 27">
              <a:extLst>
                <a:ext uri="{FF2B5EF4-FFF2-40B4-BE49-F238E27FC236}">
                  <a16:creationId xmlns:a16="http://schemas.microsoft.com/office/drawing/2014/main" id="{BECB0532-0E95-6C4F-EAA7-C3D25174571C}"/>
                </a:ext>
              </a:extLst>
            </p:cNvPr>
            <p:cNvCxnSpPr>
              <a:cxnSpLocks/>
            </p:cNvCxnSpPr>
            <p:nvPr/>
          </p:nvCxnSpPr>
          <p:spPr>
            <a:xfrm>
              <a:off x="553507" y="5260956"/>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578FCA4-DA94-99EC-EABD-C480FFA03965}"/>
                </a:ext>
              </a:extLst>
            </p:cNvPr>
            <p:cNvCxnSpPr>
              <a:cxnSpLocks/>
            </p:cNvCxnSpPr>
            <p:nvPr/>
          </p:nvCxnSpPr>
          <p:spPr>
            <a:xfrm>
              <a:off x="531813" y="5259957"/>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0" name="Group 29">
            <a:extLst>
              <a:ext uri="{FF2B5EF4-FFF2-40B4-BE49-F238E27FC236}">
                <a16:creationId xmlns:a16="http://schemas.microsoft.com/office/drawing/2014/main" id="{F56DF661-B728-B9AD-8E58-5A869F63F1E8}"/>
              </a:ext>
            </a:extLst>
          </p:cNvPr>
          <p:cNvGrpSpPr/>
          <p:nvPr/>
        </p:nvGrpSpPr>
        <p:grpSpPr>
          <a:xfrm>
            <a:off x="541305" y="3689045"/>
            <a:ext cx="11127580" cy="1695"/>
            <a:chOff x="529432" y="4264661"/>
            <a:chExt cx="11127580" cy="1695"/>
          </a:xfrm>
        </p:grpSpPr>
        <p:cxnSp>
          <p:nvCxnSpPr>
            <p:cNvPr id="31" name="Straight Connector 30">
              <a:extLst>
                <a:ext uri="{FF2B5EF4-FFF2-40B4-BE49-F238E27FC236}">
                  <a16:creationId xmlns:a16="http://schemas.microsoft.com/office/drawing/2014/main" id="{195F5A94-A51C-C85D-7AB0-E6AE1859421B}"/>
                </a:ext>
              </a:extLst>
            </p:cNvPr>
            <p:cNvCxnSpPr>
              <a:cxnSpLocks/>
            </p:cNvCxnSpPr>
            <p:nvPr/>
          </p:nvCxnSpPr>
          <p:spPr>
            <a:xfrm>
              <a:off x="553505" y="4264661"/>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8424AEA-9586-04FB-BA1A-55000D315272}"/>
                </a:ext>
              </a:extLst>
            </p:cNvPr>
            <p:cNvCxnSpPr>
              <a:cxnSpLocks/>
            </p:cNvCxnSpPr>
            <p:nvPr/>
          </p:nvCxnSpPr>
          <p:spPr>
            <a:xfrm>
              <a:off x="529432" y="4266356"/>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E973A478-78AA-2CA1-92D4-9134BA6EB161}"/>
              </a:ext>
            </a:extLst>
          </p:cNvPr>
          <p:cNvGrpSpPr/>
          <p:nvPr/>
        </p:nvGrpSpPr>
        <p:grpSpPr>
          <a:xfrm>
            <a:off x="531648" y="2450532"/>
            <a:ext cx="11125201" cy="0"/>
            <a:chOff x="531813" y="3716075"/>
            <a:chExt cx="11125201" cy="0"/>
          </a:xfrm>
        </p:grpSpPr>
        <p:cxnSp>
          <p:nvCxnSpPr>
            <p:cNvPr id="34" name="Straight Connector 33">
              <a:extLst>
                <a:ext uri="{FF2B5EF4-FFF2-40B4-BE49-F238E27FC236}">
                  <a16:creationId xmlns:a16="http://schemas.microsoft.com/office/drawing/2014/main" id="{93869917-97EC-97C8-4AEF-8079474E1114}"/>
                </a:ext>
              </a:extLst>
            </p:cNvPr>
            <p:cNvCxnSpPr>
              <a:cxnSpLocks/>
            </p:cNvCxnSpPr>
            <p:nvPr/>
          </p:nvCxnSpPr>
          <p:spPr>
            <a:xfrm>
              <a:off x="553507" y="3716075"/>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8F17E26-B105-7B44-CFF5-14693DB8D8DB}"/>
                </a:ext>
              </a:extLst>
            </p:cNvPr>
            <p:cNvCxnSpPr>
              <a:cxnSpLocks/>
            </p:cNvCxnSpPr>
            <p:nvPr/>
          </p:nvCxnSpPr>
          <p:spPr>
            <a:xfrm>
              <a:off x="531813" y="3716075"/>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6379BB25-748B-07B2-19D7-B5646D90C2FB}"/>
              </a:ext>
            </a:extLst>
          </p:cNvPr>
          <p:cNvGrpSpPr/>
          <p:nvPr/>
        </p:nvGrpSpPr>
        <p:grpSpPr>
          <a:xfrm>
            <a:off x="543684" y="5384801"/>
            <a:ext cx="11125201" cy="1"/>
            <a:chOff x="531813" y="4848012"/>
            <a:chExt cx="11125201" cy="1"/>
          </a:xfrm>
        </p:grpSpPr>
        <p:cxnSp>
          <p:nvCxnSpPr>
            <p:cNvPr id="37" name="Straight Connector 36">
              <a:extLst>
                <a:ext uri="{FF2B5EF4-FFF2-40B4-BE49-F238E27FC236}">
                  <a16:creationId xmlns:a16="http://schemas.microsoft.com/office/drawing/2014/main" id="{15B14775-3FE8-0D11-4229-C262D230BD64}"/>
                </a:ext>
              </a:extLst>
            </p:cNvPr>
            <p:cNvCxnSpPr>
              <a:cxnSpLocks/>
            </p:cNvCxnSpPr>
            <p:nvPr/>
          </p:nvCxnSpPr>
          <p:spPr>
            <a:xfrm>
              <a:off x="553507" y="4848013"/>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18C7078-DACE-5D40-DA7A-86EEF44BDE46}"/>
                </a:ext>
              </a:extLst>
            </p:cNvPr>
            <p:cNvCxnSpPr>
              <a:cxnSpLocks/>
            </p:cNvCxnSpPr>
            <p:nvPr/>
          </p:nvCxnSpPr>
          <p:spPr>
            <a:xfrm>
              <a:off x="531813" y="4848012"/>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128504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25A5CE20-9B71-6F9A-81B0-F14A08768BC9}"/>
              </a:ext>
            </a:extLst>
          </p:cNvPr>
          <p:cNvGraphicFramePr>
            <a:graphicFrameLocks/>
          </p:cNvGraphicFramePr>
          <p:nvPr>
            <p:custDataLst>
              <p:tags r:id="rId1"/>
            </p:custDataLst>
            <p:extLst>
              <p:ext uri="{D42A27DB-BD31-4B8C-83A1-F6EECF244321}">
                <p14:modId xmlns:p14="http://schemas.microsoft.com/office/powerpoint/2010/main" val="17231219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08" imgH="608" progId="TCLayout.ActiveDocument.1">
                  <p:embed/>
                </p:oleObj>
              </mc:Choice>
              <mc:Fallback>
                <p:oleObj name="thinkcell Slide" r:id="rId4" imgW="608" imgH="608" progId="TCLayout.ActiveDocument.1">
                  <p:embed/>
                  <p:pic>
                    <p:nvPicPr>
                      <p:cNvPr id="8" name="thinkcell data - do not delete" hidden="1">
                        <a:extLst>
                          <a:ext uri="{FF2B5EF4-FFF2-40B4-BE49-F238E27FC236}">
                            <a16:creationId xmlns:a16="http://schemas.microsoft.com/office/drawing/2014/main" id="{25A5CE20-9B71-6F9A-81B0-F14A08768BC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46096371-2B53-BAA5-D4D2-A1817788942B}"/>
              </a:ext>
            </a:extLst>
          </p:cNvPr>
          <p:cNvSpPr>
            <a:spLocks noGrp="1"/>
          </p:cNvSpPr>
          <p:nvPr>
            <p:ph idx="1"/>
          </p:nvPr>
        </p:nvSpPr>
        <p:spPr/>
        <p:txBody>
          <a:bodyPr/>
          <a:lstStyle/>
          <a:p>
            <a:pPr>
              <a:spcBef>
                <a:spcPts val="0"/>
              </a:spcBef>
            </a:pPr>
            <a:r>
              <a:rPr lang="en-US" sz="1200"/>
              <a:t>Welcome Season Change Freeze: Operational Guardrails</a:t>
            </a:r>
          </a:p>
          <a:p>
            <a:pPr marL="171450" lvl="0" indent="-171450">
              <a:spcBef>
                <a:spcPts val="0"/>
              </a:spcBef>
              <a:buFont typeface="Arial" panose="020B0604020202020204" pitchFamily="34" charset="0"/>
              <a:buChar char="•"/>
            </a:pPr>
            <a:r>
              <a:rPr lang="en-US" sz="1200"/>
              <a:t>Constraint: </a:t>
            </a:r>
            <a:r>
              <a:rPr lang="en-US" sz="1200" b="0"/>
              <a:t>CVS enforces a firm-wide Welcome Season Change Freeze beginning in Dec through January </a:t>
            </a:r>
          </a:p>
          <a:p>
            <a:pPr marL="171450" lvl="0" indent="-171450">
              <a:spcBef>
                <a:spcPts val="0"/>
              </a:spcBef>
              <a:buFont typeface="Arial" panose="020B0604020202020204" pitchFamily="34" charset="0"/>
              <a:buChar char="•"/>
            </a:pPr>
            <a:r>
              <a:rPr lang="en-US" sz="1200"/>
              <a:t>What It Means: </a:t>
            </a:r>
            <a:r>
              <a:rPr lang="en-US" sz="1200" b="0"/>
              <a:t>No new code deployments, schema changes, or infrastructure modifications can be made to the </a:t>
            </a:r>
            <a:r>
              <a:rPr lang="en-US" sz="1200" b="0" i="1"/>
              <a:t>Production</a:t>
            </a:r>
            <a:r>
              <a:rPr lang="en-US" sz="1200" b="0"/>
              <a:t> environment during this blackout period</a:t>
            </a:r>
          </a:p>
          <a:p>
            <a:pPr marL="171450" lvl="0" indent="-171450">
              <a:spcBef>
                <a:spcPts val="0"/>
              </a:spcBef>
              <a:buFont typeface="Arial" panose="020B0604020202020204" pitchFamily="34" charset="0"/>
              <a:buChar char="•"/>
            </a:pPr>
            <a:r>
              <a:rPr lang="en-US" sz="1200"/>
              <a:t>Opportunity: </a:t>
            </a:r>
            <a:r>
              <a:rPr lang="en-US" sz="1200" b="0"/>
              <a:t>Development and validation work can and will continue in the non-production / sandbox environments. The change freeze does </a:t>
            </a:r>
            <a:r>
              <a:rPr lang="en-US" sz="1200" b="0" i="1"/>
              <a:t>not</a:t>
            </a:r>
            <a:r>
              <a:rPr lang="en-US" sz="1200" b="0"/>
              <a:t> mean a complete stop to development</a:t>
            </a:r>
          </a:p>
          <a:p>
            <a:pPr>
              <a:spcBef>
                <a:spcPts val="0"/>
              </a:spcBef>
            </a:pPr>
            <a:endParaRPr lang="en-US" sz="1200"/>
          </a:p>
          <a:p>
            <a:pPr>
              <a:spcBef>
                <a:spcPts val="0"/>
              </a:spcBef>
            </a:pPr>
            <a:r>
              <a:rPr lang="en-US" sz="1200"/>
              <a:t>Critical Dependency - Landing 5 Key Datasets by Dec 1: </a:t>
            </a:r>
            <a:r>
              <a:rPr lang="en-US" sz="1200" b="0"/>
              <a:t>To ensure the team can work productively during the blackout, we should ingest live telemetry streams before the freeze</a:t>
            </a:r>
          </a:p>
          <a:p>
            <a:pPr>
              <a:spcBef>
                <a:spcPts val="0"/>
              </a:spcBef>
            </a:pPr>
            <a:endParaRPr lang="en-US" sz="1200" b="0"/>
          </a:p>
          <a:p>
            <a:pPr>
              <a:spcBef>
                <a:spcPts val="0"/>
              </a:spcBef>
            </a:pPr>
            <a:endParaRPr lang="en-US" sz="1200" b="0"/>
          </a:p>
          <a:p>
            <a:pPr>
              <a:spcBef>
                <a:spcPts val="0"/>
              </a:spcBef>
            </a:pPr>
            <a:endParaRPr lang="en-US" sz="1200" b="0"/>
          </a:p>
          <a:p>
            <a:pPr>
              <a:spcBef>
                <a:spcPts val="0"/>
              </a:spcBef>
            </a:pPr>
            <a:endParaRPr lang="en-US" sz="1200" b="0"/>
          </a:p>
          <a:p>
            <a:pPr>
              <a:spcBef>
                <a:spcPts val="0"/>
              </a:spcBef>
            </a:pPr>
            <a:endParaRPr lang="en-US" sz="1200" b="0"/>
          </a:p>
          <a:p>
            <a:pPr>
              <a:spcBef>
                <a:spcPts val="0"/>
              </a:spcBef>
            </a:pPr>
            <a:endParaRPr lang="en-US" sz="1200" b="0"/>
          </a:p>
          <a:p>
            <a:pPr>
              <a:spcBef>
                <a:spcPts val="0"/>
              </a:spcBef>
            </a:pPr>
            <a:endParaRPr lang="en-US" sz="1200"/>
          </a:p>
          <a:p>
            <a:pPr marL="171450" indent="-171450">
              <a:spcBef>
                <a:spcPts val="0"/>
              </a:spcBef>
              <a:buFont typeface="Arial" panose="020B0604020202020204" pitchFamily="34" charset="0"/>
              <a:buChar char="•"/>
            </a:pPr>
            <a:r>
              <a:rPr lang="en-US" sz="1200"/>
              <a:t>Recommended Action: </a:t>
            </a:r>
            <a:r>
              <a:rPr lang="en-US" sz="1200" b="0"/>
              <a:t>We recommend that CVS sponsors authorize the prioritization of the 5 critical datasets with the internal data-owner teams. In parallel, CVS must issue provisional VDI access requests by mid-October to ensure the delivery team is  operational on Dec 1</a:t>
            </a:r>
          </a:p>
          <a:p>
            <a:pPr>
              <a:spcBef>
                <a:spcPts val="0"/>
              </a:spcBef>
            </a:pPr>
            <a:endParaRPr lang="en-US" sz="1200"/>
          </a:p>
          <a:p>
            <a:pPr>
              <a:spcBef>
                <a:spcPts val="0"/>
              </a:spcBef>
            </a:pPr>
            <a:r>
              <a:rPr lang="en-US" sz="1200"/>
              <a:t>Potential Challenges:</a:t>
            </a:r>
          </a:p>
          <a:p>
            <a:pPr marL="171450" lvl="0" indent="-171450">
              <a:spcBef>
                <a:spcPts val="0"/>
              </a:spcBef>
              <a:buFont typeface="Arial" panose="020B0604020202020204" pitchFamily="34" charset="0"/>
              <a:buChar char="•"/>
            </a:pPr>
            <a:r>
              <a:rPr lang="en-US" sz="1200"/>
              <a:t>Treating Dec as "Lost": </a:t>
            </a:r>
            <a:r>
              <a:rPr lang="en-US" sz="1200" b="0"/>
              <a:t>Continue progress during the blackout period. By securing early development sandbox data, we can complete 100% of pipeline mapping and dry-run validation ahead of January production release</a:t>
            </a:r>
          </a:p>
          <a:p>
            <a:pPr marL="171450" lvl="0" indent="-171450">
              <a:spcBef>
                <a:spcPts val="0"/>
              </a:spcBef>
              <a:buFont typeface="Arial" panose="020B0604020202020204" pitchFamily="34" charset="0"/>
              <a:buChar char="•"/>
            </a:pPr>
            <a:r>
              <a:rPr lang="en-US" sz="1200"/>
              <a:t>Late Sandbox Provisioning: </a:t>
            </a:r>
            <a:r>
              <a:rPr lang="en-US" sz="1200" b="0"/>
              <a:t>Sandbox environments are occasionally included in change-freeze restrictions. Confirm with CVS that  development sandboxes are exempt from freeze</a:t>
            </a:r>
          </a:p>
          <a:p>
            <a:pPr marL="171450" lvl="0" indent="-171450">
              <a:spcBef>
                <a:spcPts val="0"/>
              </a:spcBef>
              <a:buFont typeface="Arial" panose="020B0604020202020204" pitchFamily="34" charset="0"/>
              <a:buChar char="•"/>
            </a:pPr>
            <a:r>
              <a:rPr lang="en-US" sz="1200"/>
              <a:t>“Known Unknowns”: </a:t>
            </a:r>
            <a:r>
              <a:rPr lang="en-US" sz="1200" b="0"/>
              <a:t>Identify activities that must be completed before the change freeze to avoid critical delays</a:t>
            </a:r>
          </a:p>
          <a:p>
            <a:pPr>
              <a:spcBef>
                <a:spcPts val="0"/>
              </a:spcBef>
            </a:pPr>
            <a:br>
              <a:rPr lang="en-US" sz="1200"/>
            </a:br>
            <a:endParaRPr lang="en-US" sz="1200"/>
          </a:p>
        </p:txBody>
      </p:sp>
      <p:sp>
        <p:nvSpPr>
          <p:cNvPr id="5" name="Title 4">
            <a:extLst>
              <a:ext uri="{FF2B5EF4-FFF2-40B4-BE49-F238E27FC236}">
                <a16:creationId xmlns:a16="http://schemas.microsoft.com/office/drawing/2014/main" id="{56A27B76-23F0-8827-52B1-47DD308FE557}"/>
              </a:ext>
            </a:extLst>
          </p:cNvPr>
          <p:cNvSpPr>
            <a:spLocks noGrp="1"/>
          </p:cNvSpPr>
          <p:nvPr>
            <p:ph type="title"/>
          </p:nvPr>
        </p:nvSpPr>
        <p:spPr/>
        <p:txBody>
          <a:bodyPr vert="horz" rIns="0"/>
          <a:lstStyle/>
          <a:p>
            <a:r>
              <a:rPr lang="en-US"/>
              <a:t>Welcome Season Change Freeze Planning </a:t>
            </a:r>
            <a:br>
              <a:rPr lang="en-US"/>
            </a:br>
            <a:r>
              <a:rPr lang="en-US" sz="1600" b="0"/>
              <a:t>Mitigating Timeline Risks &amp; Securing the Critical Path</a:t>
            </a:r>
            <a:endParaRPr lang="en-US" sz="1600"/>
          </a:p>
        </p:txBody>
      </p:sp>
      <p:graphicFrame>
        <p:nvGraphicFramePr>
          <p:cNvPr id="10" name="Table 9">
            <a:extLst>
              <a:ext uri="{FF2B5EF4-FFF2-40B4-BE49-F238E27FC236}">
                <a16:creationId xmlns:a16="http://schemas.microsoft.com/office/drawing/2014/main" id="{F4445691-2152-B287-1BED-36D80B9CF45C}"/>
              </a:ext>
            </a:extLst>
          </p:cNvPr>
          <p:cNvGraphicFramePr>
            <a:graphicFrameLocks noGrp="1"/>
          </p:cNvGraphicFramePr>
          <p:nvPr>
            <p:extLst>
              <p:ext uri="{D42A27DB-BD31-4B8C-83A1-F6EECF244321}">
                <p14:modId xmlns:p14="http://schemas.microsoft.com/office/powerpoint/2010/main" val="2336893542"/>
              </p:ext>
            </p:extLst>
          </p:nvPr>
        </p:nvGraphicFramePr>
        <p:xfrm>
          <a:off x="587375" y="3017520"/>
          <a:ext cx="11028364" cy="731520"/>
        </p:xfrm>
        <a:graphic>
          <a:graphicData uri="http://schemas.openxmlformats.org/drawingml/2006/table">
            <a:tbl>
              <a:tblPr firstRow="1" bandRow="1">
                <a:tableStyleId>{08FB837D-C827-4EFA-A057-4D05807E0F7C}</a:tableStyleId>
              </a:tblPr>
              <a:tblGrid>
                <a:gridCol w="1160743">
                  <a:extLst>
                    <a:ext uri="{9D8B030D-6E8A-4147-A177-3AD203B41FA5}">
                      <a16:colId xmlns:a16="http://schemas.microsoft.com/office/drawing/2014/main" val="3769856810"/>
                    </a:ext>
                  </a:extLst>
                </a:gridCol>
                <a:gridCol w="3168011">
                  <a:extLst>
                    <a:ext uri="{9D8B030D-6E8A-4147-A177-3AD203B41FA5}">
                      <a16:colId xmlns:a16="http://schemas.microsoft.com/office/drawing/2014/main" val="3825928405"/>
                    </a:ext>
                  </a:extLst>
                </a:gridCol>
                <a:gridCol w="1120877">
                  <a:extLst>
                    <a:ext uri="{9D8B030D-6E8A-4147-A177-3AD203B41FA5}">
                      <a16:colId xmlns:a16="http://schemas.microsoft.com/office/drawing/2014/main" val="1759200300"/>
                    </a:ext>
                  </a:extLst>
                </a:gridCol>
                <a:gridCol w="5578733">
                  <a:extLst>
                    <a:ext uri="{9D8B030D-6E8A-4147-A177-3AD203B41FA5}">
                      <a16:colId xmlns:a16="http://schemas.microsoft.com/office/drawing/2014/main" val="3485654227"/>
                    </a:ext>
                  </a:extLst>
                </a:gridCol>
              </a:tblGrid>
              <a:tr h="0">
                <a:tc>
                  <a:txBody>
                    <a:bodyPr/>
                    <a:lstStyle/>
                    <a:p>
                      <a:r>
                        <a:rPr lang="en-US" sz="1200"/>
                        <a:t>Dependency</a:t>
                      </a:r>
                    </a:p>
                  </a:txBody>
                  <a:tcPr/>
                </a:tc>
                <a:tc>
                  <a:txBody>
                    <a:bodyPr/>
                    <a:lstStyle/>
                    <a:p>
                      <a:r>
                        <a:rPr lang="en-US" sz="1200"/>
                        <a:t>Required Action </a:t>
                      </a:r>
                    </a:p>
                  </a:txBody>
                  <a:tcPr/>
                </a:tc>
                <a:tc>
                  <a:txBody>
                    <a:bodyPr/>
                    <a:lstStyle/>
                    <a:p>
                      <a:r>
                        <a:rPr lang="en-US" sz="1200"/>
                        <a:t>Target Date</a:t>
                      </a:r>
                    </a:p>
                  </a:txBody>
                  <a:tcPr/>
                </a:tc>
                <a:tc>
                  <a:txBody>
                    <a:bodyPr/>
                    <a:lstStyle/>
                    <a:p>
                      <a:r>
                        <a:rPr lang="en-US" sz="1200"/>
                        <a:t>Impact</a:t>
                      </a:r>
                    </a:p>
                  </a:txBody>
                  <a:tcPr/>
                </a:tc>
                <a:extLst>
                  <a:ext uri="{0D108BD9-81ED-4DB2-BD59-A6C34878D82A}">
                    <a16:rowId xmlns:a16="http://schemas.microsoft.com/office/drawing/2014/main" val="1880625592"/>
                  </a:ext>
                </a:extLst>
              </a:tr>
              <a:tr h="0">
                <a:tc>
                  <a:txBody>
                    <a:bodyPr/>
                    <a:lstStyle/>
                    <a:p>
                      <a:r>
                        <a:rPr lang="en-US" sz="1200"/>
                        <a:t>Land 5 Key Datasets</a:t>
                      </a:r>
                    </a:p>
                  </a:txBody>
                  <a:tcPr/>
                </a:tc>
                <a:tc>
                  <a:txBody>
                    <a:bodyPr/>
                    <a:lstStyle/>
                    <a:p>
                      <a:r>
                        <a:rPr lang="en-US" sz="1200"/>
                        <a:t>Ingest and validate the five critical security and observability datasets directly into Databricks.</a:t>
                      </a:r>
                    </a:p>
                  </a:txBody>
                  <a:tcPr/>
                </a:tc>
                <a:tc>
                  <a:txBody>
                    <a:bodyPr/>
                    <a:lstStyle/>
                    <a:p>
                      <a:r>
                        <a:rPr lang="en-US" sz="1200"/>
                        <a:t>December 1, 2026</a:t>
                      </a:r>
                    </a:p>
                  </a:txBody>
                  <a:tcPr/>
                </a:tc>
                <a:tc>
                  <a:txBody>
                    <a:bodyPr/>
                    <a:lstStyle/>
                    <a:p>
                      <a:r>
                        <a:rPr lang="en-US" sz="1200"/>
                        <a:t>If this date is missed, the team may not have live telemetry data for validation, which will impact the start of Workstream B development.</a:t>
                      </a:r>
                    </a:p>
                  </a:txBody>
                  <a:tcPr/>
                </a:tc>
                <a:extLst>
                  <a:ext uri="{0D108BD9-81ED-4DB2-BD59-A6C34878D82A}">
                    <a16:rowId xmlns:a16="http://schemas.microsoft.com/office/drawing/2014/main" val="3317684462"/>
                  </a:ext>
                </a:extLst>
              </a:tr>
            </a:tbl>
          </a:graphicData>
        </a:graphic>
      </p:graphicFrame>
    </p:spTree>
    <p:extLst>
      <p:ext uri="{BB962C8B-B14F-4D97-AF65-F5344CB8AC3E}">
        <p14:creationId xmlns:p14="http://schemas.microsoft.com/office/powerpoint/2010/main" val="38562450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4E8C070-7318-103E-2220-B36E361DEB57}"/>
              </a:ext>
            </a:extLst>
          </p:cNvPr>
          <p:cNvGraphicFramePr>
            <a:graphicFrameLocks/>
          </p:cNvGraphicFramePr>
          <p:nvPr>
            <p:custDataLst>
              <p:tags r:id="rId1"/>
            </p:custDataLst>
            <p:extLst>
              <p:ext uri="{D42A27DB-BD31-4B8C-83A1-F6EECF244321}">
                <p14:modId xmlns:p14="http://schemas.microsoft.com/office/powerpoint/2010/main" val="32909033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08" imgH="608" progId="TCLayout.ActiveDocument.1">
                  <p:embed/>
                </p:oleObj>
              </mc:Choice>
              <mc:Fallback>
                <p:oleObj name="thinkcell Slide" r:id="rId4" imgW="608" imgH="608" progId="TCLayout.ActiveDocument.1">
                  <p:embed/>
                  <p:pic>
                    <p:nvPicPr>
                      <p:cNvPr id="5" name="thinkcell data - do not delete" hidden="1">
                        <a:extLst>
                          <a:ext uri="{FF2B5EF4-FFF2-40B4-BE49-F238E27FC236}">
                            <a16:creationId xmlns:a16="http://schemas.microsoft.com/office/drawing/2014/main" id="{44E8C070-7318-103E-2220-B36E361DEB5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364B58F8-E584-ACAA-A2FF-52C80820AD24}"/>
              </a:ext>
            </a:extLst>
          </p:cNvPr>
          <p:cNvSpPr>
            <a:spLocks noGrp="1"/>
          </p:cNvSpPr>
          <p:nvPr>
            <p:ph idx="1"/>
          </p:nvPr>
        </p:nvSpPr>
        <p:spPr>
          <a:xfrm>
            <a:off x="587375" y="1494292"/>
            <a:ext cx="11028363" cy="4576307"/>
          </a:xfrm>
        </p:spPr>
        <p:txBody>
          <a:bodyPr/>
          <a:lstStyle/>
          <a:p>
            <a:pPr>
              <a:spcBef>
                <a:spcPts val="0"/>
              </a:spcBef>
            </a:pPr>
            <a:r>
              <a:rPr lang="en-US" sz="1200"/>
              <a:t>Overview:</a:t>
            </a:r>
            <a:endParaRPr lang="en-US" sz="1200" b="0"/>
          </a:p>
          <a:p>
            <a:pPr marL="171450" indent="-171450">
              <a:spcBef>
                <a:spcPts val="0"/>
              </a:spcBef>
              <a:buFont typeface="Arial" panose="020B0604020202020204" pitchFamily="34" charset="0"/>
              <a:buChar char="•"/>
            </a:pPr>
            <a:r>
              <a:rPr lang="en-US" sz="1200"/>
              <a:t>Document Progression: </a:t>
            </a:r>
            <a:r>
              <a:rPr lang="en-US" sz="1200" b="0"/>
              <a:t> Statement of Work (SOW) successfully progressed to Version 6, incorporating updates and feedback from teams in last several days</a:t>
            </a:r>
          </a:p>
          <a:p>
            <a:pPr marL="171450" indent="-171450">
              <a:spcBef>
                <a:spcPts val="0"/>
              </a:spcBef>
              <a:buFont typeface="Arial" panose="020B0604020202020204" pitchFamily="34" charset="0"/>
              <a:buChar char="•"/>
            </a:pPr>
            <a:r>
              <a:rPr lang="en-US" sz="1200"/>
              <a:t>Role Mappings &amp; Estimates: </a:t>
            </a:r>
            <a:r>
              <a:rPr lang="en-US" sz="1200" b="0"/>
              <a:t>Master estimation spreadsheet serves as the single source of truth for role definitions, capacity models, and resource efforts</a:t>
            </a:r>
          </a:p>
          <a:p>
            <a:pPr>
              <a:spcBef>
                <a:spcPts val="0"/>
              </a:spcBef>
            </a:pPr>
            <a:endParaRPr lang="en-US" sz="1200"/>
          </a:p>
          <a:p>
            <a:pPr>
              <a:spcBef>
                <a:spcPts val="0"/>
              </a:spcBef>
            </a:pPr>
            <a:endParaRPr lang="en-US" sz="1200"/>
          </a:p>
          <a:p>
            <a:pPr>
              <a:spcBef>
                <a:spcPts val="0"/>
              </a:spcBef>
            </a:pPr>
            <a:endParaRPr lang="en-US" sz="1200"/>
          </a:p>
          <a:p>
            <a:pPr>
              <a:spcBef>
                <a:spcPts val="0"/>
              </a:spcBef>
            </a:pPr>
            <a:endParaRPr lang="en-US" sz="1200"/>
          </a:p>
          <a:p>
            <a:pPr>
              <a:spcBef>
                <a:spcPts val="0"/>
              </a:spcBef>
            </a:pPr>
            <a:r>
              <a:rPr lang="en-US" sz="1200"/>
              <a:t>Resource Allocation &amp; Workstream Coverage: </a:t>
            </a:r>
            <a:r>
              <a:rPr lang="en-US" sz="1200" b="0"/>
              <a:t>Completing a review to confirm operational coverage across all core workstreams</a:t>
            </a:r>
          </a:p>
          <a:p>
            <a:pPr>
              <a:spcBef>
                <a:spcPts val="0"/>
              </a:spcBef>
            </a:pPr>
            <a:endParaRPr lang="en-US" sz="1200" b="0"/>
          </a:p>
          <a:p>
            <a:pPr>
              <a:spcBef>
                <a:spcPts val="0"/>
              </a:spcBef>
            </a:pPr>
            <a:endParaRPr lang="en-US" sz="1200" b="0"/>
          </a:p>
          <a:p>
            <a:pPr>
              <a:spcBef>
                <a:spcPts val="0"/>
              </a:spcBef>
            </a:pPr>
            <a:endParaRPr lang="en-US" sz="1200" b="0"/>
          </a:p>
          <a:p>
            <a:pPr>
              <a:spcBef>
                <a:spcPts val="0"/>
              </a:spcBef>
            </a:pPr>
            <a:endParaRPr lang="en-US" sz="1200" b="0"/>
          </a:p>
          <a:p>
            <a:pPr>
              <a:spcBef>
                <a:spcPts val="0"/>
              </a:spcBef>
            </a:pPr>
            <a:endParaRPr lang="en-US" sz="1200" b="0"/>
          </a:p>
          <a:p>
            <a:pPr>
              <a:spcBef>
                <a:spcPts val="0"/>
              </a:spcBef>
            </a:pPr>
            <a:endParaRPr lang="en-US" sz="1200" b="0"/>
          </a:p>
          <a:p>
            <a:pPr>
              <a:spcBef>
                <a:spcPts val="0"/>
              </a:spcBef>
            </a:pPr>
            <a:endParaRPr lang="en-US" sz="1200" b="0"/>
          </a:p>
          <a:p>
            <a:pPr>
              <a:spcBef>
                <a:spcPts val="0"/>
              </a:spcBef>
            </a:pPr>
            <a:endParaRPr lang="en-US" sz="1200"/>
          </a:p>
          <a:p>
            <a:pPr>
              <a:spcBef>
                <a:spcPts val="0"/>
              </a:spcBef>
            </a:pPr>
            <a:endParaRPr lang="en-US" sz="1200"/>
          </a:p>
          <a:p>
            <a:pPr>
              <a:spcBef>
                <a:spcPts val="0"/>
              </a:spcBef>
            </a:pPr>
            <a:endParaRPr lang="en-US" sz="1200"/>
          </a:p>
          <a:p>
            <a:pPr>
              <a:spcBef>
                <a:spcPts val="0"/>
              </a:spcBef>
            </a:pPr>
            <a:r>
              <a:rPr lang="en-US" sz="1200"/>
              <a:t>Recommended Action:</a:t>
            </a:r>
          </a:p>
          <a:p>
            <a:pPr marL="171450" indent="-171450">
              <a:spcBef>
                <a:spcPts val="0"/>
              </a:spcBef>
              <a:buFont typeface="Arial" panose="020B0604020202020204" pitchFamily="34" charset="0"/>
              <a:buChar char="•"/>
            </a:pPr>
            <a:r>
              <a:rPr lang="en-US" sz="1200" b="0"/>
              <a:t>Leaders to finalize SOW and agree on decision to start at risk as soon as possible to avoid potential delays which may increase VDI/Onboarding/staffing bottlenecks,  and potentially impact deadlines ahead of Dec 1 Welcome Season Change Freeze</a:t>
            </a:r>
          </a:p>
        </p:txBody>
      </p:sp>
      <p:sp>
        <p:nvSpPr>
          <p:cNvPr id="3" name="Title 2">
            <a:extLst>
              <a:ext uri="{FF2B5EF4-FFF2-40B4-BE49-F238E27FC236}">
                <a16:creationId xmlns:a16="http://schemas.microsoft.com/office/drawing/2014/main" id="{E2142418-7E31-BCA3-87E4-0BB373999A64}"/>
              </a:ext>
            </a:extLst>
          </p:cNvPr>
          <p:cNvSpPr>
            <a:spLocks noGrp="1"/>
          </p:cNvSpPr>
          <p:nvPr>
            <p:ph type="title"/>
          </p:nvPr>
        </p:nvSpPr>
        <p:spPr/>
        <p:txBody>
          <a:bodyPr vert="horz" rIns="0"/>
          <a:lstStyle/>
          <a:p>
            <a:r>
              <a:rPr lang="en-US"/>
              <a:t>SOW &amp; Role Mapping Review</a:t>
            </a:r>
            <a:br>
              <a:rPr lang="en-US"/>
            </a:br>
            <a:r>
              <a:rPr lang="en-US" sz="1600" b="0"/>
              <a:t>Commercial Alignment, Resource Optimization, and Plan Reconciliation</a:t>
            </a:r>
            <a:endParaRPr lang="en-US" sz="1600"/>
          </a:p>
        </p:txBody>
      </p:sp>
      <p:graphicFrame>
        <p:nvGraphicFramePr>
          <p:cNvPr id="6" name="Table 5">
            <a:extLst>
              <a:ext uri="{FF2B5EF4-FFF2-40B4-BE49-F238E27FC236}">
                <a16:creationId xmlns:a16="http://schemas.microsoft.com/office/drawing/2014/main" id="{96F60C72-A6F8-78C7-CB44-57934DFB5DAE}"/>
              </a:ext>
            </a:extLst>
          </p:cNvPr>
          <p:cNvGraphicFramePr>
            <a:graphicFrameLocks noGrp="1"/>
          </p:cNvGraphicFramePr>
          <p:nvPr>
            <p:extLst>
              <p:ext uri="{D42A27DB-BD31-4B8C-83A1-F6EECF244321}">
                <p14:modId xmlns:p14="http://schemas.microsoft.com/office/powerpoint/2010/main" val="691911172"/>
              </p:ext>
            </p:extLst>
          </p:nvPr>
        </p:nvGraphicFramePr>
        <p:xfrm>
          <a:off x="587375" y="3261604"/>
          <a:ext cx="11028363" cy="1097280"/>
        </p:xfrm>
        <a:graphic>
          <a:graphicData uri="http://schemas.openxmlformats.org/drawingml/2006/table">
            <a:tbl>
              <a:tblPr firstRow="1" bandRow="1">
                <a:tableStyleId>{08FB837D-C827-4EFA-A057-4D05807E0F7C}</a:tableStyleId>
              </a:tblPr>
              <a:tblGrid>
                <a:gridCol w="3676121">
                  <a:extLst>
                    <a:ext uri="{9D8B030D-6E8A-4147-A177-3AD203B41FA5}">
                      <a16:colId xmlns:a16="http://schemas.microsoft.com/office/drawing/2014/main" val="3769856810"/>
                    </a:ext>
                  </a:extLst>
                </a:gridCol>
                <a:gridCol w="3676121">
                  <a:extLst>
                    <a:ext uri="{9D8B030D-6E8A-4147-A177-3AD203B41FA5}">
                      <a16:colId xmlns:a16="http://schemas.microsoft.com/office/drawing/2014/main" val="3825928405"/>
                    </a:ext>
                  </a:extLst>
                </a:gridCol>
                <a:gridCol w="3676121">
                  <a:extLst>
                    <a:ext uri="{9D8B030D-6E8A-4147-A177-3AD203B41FA5}">
                      <a16:colId xmlns:a16="http://schemas.microsoft.com/office/drawing/2014/main" val="1759200300"/>
                    </a:ext>
                  </a:extLst>
                </a:gridCol>
              </a:tblGrid>
              <a:tr h="0">
                <a:tc>
                  <a:txBody>
                    <a:bodyPr/>
                    <a:lstStyle/>
                    <a:p>
                      <a:r>
                        <a:rPr lang="en-US" sz="1200"/>
                        <a:t>Workstream /  Focus Area</a:t>
                      </a:r>
                    </a:p>
                  </a:txBody>
                  <a:tcPr/>
                </a:tc>
                <a:tc>
                  <a:txBody>
                    <a:bodyPr/>
                    <a:lstStyle/>
                    <a:p>
                      <a:r>
                        <a:rPr lang="en-US" sz="1200"/>
                        <a:t>Key Roles Mapped (SOW)</a:t>
                      </a:r>
                    </a:p>
                  </a:txBody>
                  <a:tcPr/>
                </a:tc>
                <a:tc>
                  <a:txBody>
                    <a:bodyPr/>
                    <a:lstStyle/>
                    <a:p>
                      <a:r>
                        <a:rPr lang="en-US" sz="1200"/>
                        <a:t>Status</a:t>
                      </a:r>
                    </a:p>
                  </a:txBody>
                  <a:tcPr/>
                </a:tc>
                <a:extLst>
                  <a:ext uri="{0D108BD9-81ED-4DB2-BD59-A6C34878D82A}">
                    <a16:rowId xmlns:a16="http://schemas.microsoft.com/office/drawing/2014/main" val="1880625592"/>
                  </a:ext>
                </a:extLst>
              </a:tr>
              <a:tr h="0">
                <a:tc>
                  <a:txBody>
                    <a:bodyPr/>
                    <a:lstStyle/>
                    <a:p>
                      <a:r>
                        <a:rPr lang="en-US" sz="1200"/>
                        <a:t>Workstream A: Foundation</a:t>
                      </a:r>
                    </a:p>
                  </a:txBody>
                  <a:tcPr/>
                </a:tc>
                <a:tc>
                  <a:txBody>
                    <a:bodyPr/>
                    <a:lstStyle/>
                    <a:p>
                      <a:r>
                        <a:rPr lang="en-US" sz="1200"/>
                        <a:t>Solution Architects, Security Specialists </a:t>
                      </a:r>
                    </a:p>
                  </a:txBody>
                  <a:tcPr/>
                </a:tc>
                <a:tc>
                  <a:txBody>
                    <a:bodyPr/>
                    <a:lstStyle/>
                    <a:p>
                      <a:r>
                        <a:rPr lang="en-US" sz="1200"/>
                        <a:t>Fully allocated; aligned to core deliverables </a:t>
                      </a:r>
                    </a:p>
                  </a:txBody>
                  <a:tcPr/>
                </a:tc>
                <a:extLst>
                  <a:ext uri="{0D108BD9-81ED-4DB2-BD59-A6C34878D82A}">
                    <a16:rowId xmlns:a16="http://schemas.microsoft.com/office/drawing/2014/main" val="3317684462"/>
                  </a:ext>
                </a:extLst>
              </a:tr>
              <a:tr h="0">
                <a:tc>
                  <a:txBody>
                    <a:bodyPr/>
                    <a:lstStyle/>
                    <a:p>
                      <a:r>
                        <a:rPr lang="en-US" sz="1200"/>
                        <a:t>Workstream B: Ingestion</a:t>
                      </a:r>
                    </a:p>
                  </a:txBody>
                  <a:tcPr/>
                </a:tc>
                <a:tc>
                  <a:txBody>
                    <a:bodyPr/>
                    <a:lstStyle/>
                    <a:p>
                      <a:r>
                        <a:rPr lang="en-US" sz="1200"/>
                        <a:t>Data Engineers, </a:t>
                      </a:r>
                      <a:r>
                        <a:rPr lang="en-US" sz="1200" err="1"/>
                        <a:t>PySpark</a:t>
                      </a:r>
                      <a:r>
                        <a:rPr lang="en-US" sz="1200"/>
                        <a:t> Developers </a:t>
                      </a:r>
                    </a:p>
                  </a:txBody>
                  <a:tcPr/>
                </a:tc>
                <a:tc>
                  <a:txBody>
                    <a:bodyPr/>
                    <a:lstStyle/>
                    <a:p>
                      <a:r>
                        <a:rPr lang="en-US" sz="1200"/>
                        <a:t>Audit in progress to align KPMG &amp; </a:t>
                      </a:r>
                      <a:r>
                        <a:rPr lang="en-US" sz="1200" err="1"/>
                        <a:t>Scicom</a:t>
                      </a:r>
                      <a:r>
                        <a:rPr lang="en-US" sz="1200"/>
                        <a:t> roles </a:t>
                      </a:r>
                    </a:p>
                  </a:txBody>
                  <a:tcPr/>
                </a:tc>
                <a:extLst>
                  <a:ext uri="{0D108BD9-81ED-4DB2-BD59-A6C34878D82A}">
                    <a16:rowId xmlns:a16="http://schemas.microsoft.com/office/drawing/2014/main" val="1929544699"/>
                  </a:ext>
                </a:extLst>
              </a:tr>
              <a:tr h="0">
                <a:tc>
                  <a:txBody>
                    <a:bodyPr/>
                    <a:lstStyle/>
                    <a:p>
                      <a:r>
                        <a:rPr lang="en-US" sz="1200"/>
                        <a:t>Workstream C: Enablement</a:t>
                      </a:r>
                    </a:p>
                  </a:txBody>
                  <a:tcPr/>
                </a:tc>
                <a:tc>
                  <a:txBody>
                    <a:bodyPr/>
                    <a:lstStyle/>
                    <a:p>
                      <a:r>
                        <a:rPr lang="en-US" sz="1200"/>
                        <a:t>Agile PMO, Change Management Leads </a:t>
                      </a:r>
                    </a:p>
                  </a:txBody>
                  <a:tcPr/>
                </a:tc>
                <a:tc>
                  <a:txBody>
                    <a:bodyPr/>
                    <a:lstStyle/>
                    <a:p>
                      <a:r>
                        <a:rPr lang="en-US" sz="1200"/>
                        <a:t>Fully allocated; driving bottom-up planning </a:t>
                      </a:r>
                    </a:p>
                  </a:txBody>
                  <a:tcPr/>
                </a:tc>
                <a:extLst>
                  <a:ext uri="{0D108BD9-81ED-4DB2-BD59-A6C34878D82A}">
                    <a16:rowId xmlns:a16="http://schemas.microsoft.com/office/drawing/2014/main" val="523836223"/>
                  </a:ext>
                </a:extLst>
              </a:tr>
            </a:tbl>
          </a:graphicData>
        </a:graphic>
      </p:graphicFrame>
    </p:spTree>
    <p:extLst>
      <p:ext uri="{BB962C8B-B14F-4D97-AF65-F5344CB8AC3E}">
        <p14:creationId xmlns:p14="http://schemas.microsoft.com/office/powerpoint/2010/main" val="13344624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9B72A53-4D8E-06DE-4D65-6B63E784CE9E}"/>
              </a:ext>
            </a:extLst>
          </p:cNvPr>
          <p:cNvGraphicFramePr>
            <a:graphicFrameLocks/>
          </p:cNvGraphicFramePr>
          <p:nvPr>
            <p:custDataLst>
              <p:tags r:id="rId1"/>
            </p:custDataLst>
            <p:extLst>
              <p:ext uri="{D42A27DB-BD31-4B8C-83A1-F6EECF244321}">
                <p14:modId xmlns:p14="http://schemas.microsoft.com/office/powerpoint/2010/main" val="33746476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4" name="thinkcell data - do not delete" hidden="1">
                        <a:extLst>
                          <a:ext uri="{FF2B5EF4-FFF2-40B4-BE49-F238E27FC236}">
                            <a16:creationId xmlns:a16="http://schemas.microsoft.com/office/drawing/2014/main" id="{89B72A53-4D8E-06DE-4D65-6B63E784CE9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Content Placeholder 1">
            <a:extLst>
              <a:ext uri="{FF2B5EF4-FFF2-40B4-BE49-F238E27FC236}">
                <a16:creationId xmlns:a16="http://schemas.microsoft.com/office/drawing/2014/main" id="{B739E9E5-5079-04C4-ECD5-AE31AFF7C1B6}"/>
              </a:ext>
            </a:extLst>
          </p:cNvPr>
          <p:cNvSpPr>
            <a:spLocks noGrp="1"/>
          </p:cNvSpPr>
          <p:nvPr>
            <p:ph idx="1"/>
          </p:nvPr>
        </p:nvSpPr>
        <p:spPr/>
        <p:txBody>
          <a:bodyPr/>
          <a:lstStyle/>
          <a:p>
            <a:pPr>
              <a:spcBef>
                <a:spcPts val="0"/>
              </a:spcBef>
            </a:pPr>
            <a:r>
              <a:rPr lang="en-US" sz="1200"/>
              <a:t>Technical Baseline: Capacity &amp; Consumption Estimates</a:t>
            </a:r>
          </a:p>
          <a:p>
            <a:pPr marL="171450" lvl="0" indent="-171450">
              <a:spcBef>
                <a:spcPts val="0"/>
              </a:spcBef>
              <a:buFont typeface="Arial" panose="020B0604020202020204" pitchFamily="34" charset="0"/>
              <a:buChar char="•"/>
            </a:pPr>
            <a:r>
              <a:rPr lang="en-US" sz="1200"/>
              <a:t>Data Volume Baseline: </a:t>
            </a:r>
            <a:r>
              <a:rPr lang="en-US" sz="1200" b="0"/>
              <a:t>The baseline capacity model is finalized at 300 Terabytes (TB) of observability and security telemetry</a:t>
            </a:r>
          </a:p>
          <a:p>
            <a:pPr marL="171450" lvl="0" indent="-171450">
              <a:spcBef>
                <a:spcPts val="0"/>
              </a:spcBef>
              <a:buFont typeface="Arial" panose="020B0604020202020204" pitchFamily="34" charset="0"/>
              <a:buChar char="•"/>
            </a:pPr>
            <a:r>
              <a:rPr lang="en-US" sz="1200"/>
              <a:t>Incremental Buffer: </a:t>
            </a:r>
            <a:r>
              <a:rPr lang="en-US" sz="1200" b="0"/>
              <a:t>An additional 10 TB has been modeled to accommodate expanding data pipeline requirements, bringing the active estimate to 310 TB</a:t>
            </a:r>
          </a:p>
          <a:p>
            <a:pPr marL="171450" lvl="0" indent="-171450">
              <a:spcBef>
                <a:spcPts val="0"/>
              </a:spcBef>
              <a:buFont typeface="Arial" panose="020B0604020202020204" pitchFamily="34" charset="0"/>
              <a:buChar char="•"/>
            </a:pPr>
            <a:r>
              <a:rPr lang="en-US" sz="1200"/>
              <a:t>Calculations Single Source: </a:t>
            </a:r>
            <a:r>
              <a:rPr lang="en-US" sz="1200" b="0"/>
              <a:t>All background consumption formulas, role mappings, and capacity assumptions are documented in the master spreadsheet transmitted on September 21</a:t>
            </a:r>
          </a:p>
          <a:p>
            <a:pPr>
              <a:spcBef>
                <a:spcPts val="0"/>
              </a:spcBef>
            </a:pPr>
            <a:br>
              <a:rPr lang="en-US" sz="1200"/>
            </a:br>
            <a:r>
              <a:rPr lang="en-US" sz="1200"/>
              <a:t>Commercial Strategy: Optimizing Funding Pools: </a:t>
            </a:r>
            <a:r>
              <a:rPr lang="en-US" sz="1200" b="0"/>
              <a:t>We are executing a dual-track strategy to leverage Microsoft funding and maximize CVS’s Enterprise Agreement flexibility</a:t>
            </a:r>
          </a:p>
          <a:p>
            <a:pPr>
              <a:spcBef>
                <a:spcPts val="0"/>
              </a:spcBef>
            </a:pPr>
            <a:endParaRPr lang="en-US" sz="1200" i="1"/>
          </a:p>
          <a:p>
            <a:pPr>
              <a:spcBef>
                <a:spcPts val="0"/>
              </a:spcBef>
            </a:pPr>
            <a:endParaRPr lang="en-US" sz="1200" i="1"/>
          </a:p>
          <a:p>
            <a:pPr>
              <a:spcBef>
                <a:spcPts val="0"/>
              </a:spcBef>
            </a:pPr>
            <a:endParaRPr lang="en-US" sz="1200" i="1"/>
          </a:p>
          <a:p>
            <a:pPr>
              <a:spcBef>
                <a:spcPts val="0"/>
              </a:spcBef>
            </a:pPr>
            <a:endParaRPr lang="en-US" sz="1200" i="1"/>
          </a:p>
          <a:p>
            <a:pPr>
              <a:spcBef>
                <a:spcPts val="0"/>
              </a:spcBef>
            </a:pPr>
            <a:endParaRPr lang="en-US" sz="1200" i="1"/>
          </a:p>
          <a:p>
            <a:pPr>
              <a:spcBef>
                <a:spcPts val="0"/>
              </a:spcBef>
            </a:pPr>
            <a:endParaRPr lang="en-US" sz="1200" i="1"/>
          </a:p>
          <a:p>
            <a:pPr>
              <a:spcBef>
                <a:spcPts val="0"/>
              </a:spcBef>
            </a:pPr>
            <a:br>
              <a:rPr lang="en-US" sz="1200"/>
            </a:br>
            <a:endParaRPr lang="en-US" sz="1200"/>
          </a:p>
          <a:p>
            <a:pPr>
              <a:spcBef>
                <a:spcPts val="0"/>
              </a:spcBef>
            </a:pPr>
            <a:r>
              <a:rPr lang="en-US" sz="1200"/>
              <a:t> Recommended Action:</a:t>
            </a:r>
          </a:p>
          <a:p>
            <a:pPr marL="171450" indent="-171450">
              <a:spcBef>
                <a:spcPts val="0"/>
              </a:spcBef>
              <a:buFont typeface="Arial" panose="020B0604020202020204" pitchFamily="34" charset="0"/>
              <a:buChar char="•"/>
            </a:pPr>
            <a:r>
              <a:rPr lang="en-US" sz="1200"/>
              <a:t>Proposed Path Forward: </a:t>
            </a:r>
            <a:r>
              <a:rPr lang="en-US" sz="1200" b="0"/>
              <a:t>Align ECIF calculation model with our 310 TB baseline to secure maximum external funding before the Dec 1 Change Freeze limits operational window</a:t>
            </a:r>
          </a:p>
          <a:p>
            <a:pPr>
              <a:spcBef>
                <a:spcPts val="0"/>
              </a:spcBef>
            </a:pPr>
            <a:endParaRPr lang="en-US" sz="1200"/>
          </a:p>
          <a:p>
            <a:pPr>
              <a:spcBef>
                <a:spcPts val="0"/>
              </a:spcBef>
            </a:pPr>
            <a:r>
              <a:rPr lang="en-US" sz="1200"/>
              <a:t>Potential Challenges:</a:t>
            </a:r>
          </a:p>
          <a:p>
            <a:pPr marL="171450" lvl="0" indent="-171450">
              <a:spcBef>
                <a:spcPts val="0"/>
              </a:spcBef>
              <a:buFont typeface="Arial" panose="020B0604020202020204" pitchFamily="34" charset="0"/>
              <a:buChar char="•"/>
            </a:pPr>
            <a:r>
              <a:rPr lang="en-US" sz="1200"/>
              <a:t>ESA Allocation: </a:t>
            </a:r>
            <a:r>
              <a:rPr lang="en-US" sz="1200" b="0"/>
              <a:t>Ensure the $10M ESA allotment is confirmed for the work, was noted that most of the broader $100M pool is already spoken for across CVS</a:t>
            </a:r>
          </a:p>
          <a:p>
            <a:pPr marL="171450" lvl="0" indent="-171450">
              <a:spcBef>
                <a:spcPts val="0"/>
              </a:spcBef>
              <a:buFont typeface="Arial" panose="020B0604020202020204" pitchFamily="34" charset="0"/>
              <a:buChar char="•"/>
            </a:pPr>
            <a:r>
              <a:rPr lang="en-US" sz="1200"/>
              <a:t>Incremental Ingestion Overruns: </a:t>
            </a:r>
            <a:r>
              <a:rPr lang="en-US" sz="1200" b="0"/>
              <a:t>Telemetry sources often experience volume spikes. Architecture teams should design ingestion throttles to prevent unexpected billing overruns</a:t>
            </a:r>
          </a:p>
          <a:p>
            <a:pPr>
              <a:spcBef>
                <a:spcPts val="0"/>
              </a:spcBef>
            </a:pPr>
            <a:br>
              <a:rPr lang="en-US" sz="1200"/>
            </a:br>
            <a:endParaRPr lang="en-US" sz="1200"/>
          </a:p>
          <a:p>
            <a:pPr>
              <a:spcBef>
                <a:spcPts val="0"/>
              </a:spcBef>
            </a:pPr>
            <a:endParaRPr lang="en-US" sz="1200"/>
          </a:p>
        </p:txBody>
      </p:sp>
      <p:sp>
        <p:nvSpPr>
          <p:cNvPr id="3" name="Title 2">
            <a:extLst>
              <a:ext uri="{FF2B5EF4-FFF2-40B4-BE49-F238E27FC236}">
                <a16:creationId xmlns:a16="http://schemas.microsoft.com/office/drawing/2014/main" id="{1C90C8B6-0596-F70F-EAE6-82B128280479}"/>
              </a:ext>
            </a:extLst>
          </p:cNvPr>
          <p:cNvSpPr>
            <a:spLocks noGrp="1"/>
          </p:cNvSpPr>
          <p:nvPr>
            <p:ph type="title"/>
          </p:nvPr>
        </p:nvSpPr>
        <p:spPr/>
        <p:txBody>
          <a:bodyPr vert="horz" rIns="0"/>
          <a:lstStyle/>
          <a:p>
            <a:r>
              <a:rPr lang="en-US"/>
              <a:t>ECIF &amp; ESA Funding Maximization</a:t>
            </a:r>
            <a:br>
              <a:rPr lang="en-US"/>
            </a:br>
            <a:r>
              <a:rPr lang="en-US" sz="1600" b="0"/>
              <a:t>Aligning Technical Capacity Models with Strategic Funding Vehicles</a:t>
            </a:r>
            <a:endParaRPr lang="en-US"/>
          </a:p>
        </p:txBody>
      </p:sp>
      <p:graphicFrame>
        <p:nvGraphicFramePr>
          <p:cNvPr id="8" name="Table 7">
            <a:extLst>
              <a:ext uri="{FF2B5EF4-FFF2-40B4-BE49-F238E27FC236}">
                <a16:creationId xmlns:a16="http://schemas.microsoft.com/office/drawing/2014/main" id="{C28AD3C2-7DE3-F3F6-95A3-875B304179A9}"/>
              </a:ext>
            </a:extLst>
          </p:cNvPr>
          <p:cNvGraphicFramePr>
            <a:graphicFrameLocks noGrp="1"/>
          </p:cNvGraphicFramePr>
          <p:nvPr>
            <p:extLst>
              <p:ext uri="{D42A27DB-BD31-4B8C-83A1-F6EECF244321}">
                <p14:modId xmlns:p14="http://schemas.microsoft.com/office/powerpoint/2010/main" val="4054140827"/>
              </p:ext>
            </p:extLst>
          </p:nvPr>
        </p:nvGraphicFramePr>
        <p:xfrm>
          <a:off x="587375" y="2834640"/>
          <a:ext cx="10965638" cy="1188720"/>
        </p:xfrm>
        <a:graphic>
          <a:graphicData uri="http://schemas.openxmlformats.org/drawingml/2006/table">
            <a:tbl>
              <a:tblPr firstRow="1" bandRow="1">
                <a:tableStyleId>{08FB837D-C827-4EFA-A057-4D05807E0F7C}</a:tableStyleId>
              </a:tblPr>
              <a:tblGrid>
                <a:gridCol w="1315627">
                  <a:extLst>
                    <a:ext uri="{9D8B030D-6E8A-4147-A177-3AD203B41FA5}">
                      <a16:colId xmlns:a16="http://schemas.microsoft.com/office/drawing/2014/main" val="3769856810"/>
                    </a:ext>
                  </a:extLst>
                </a:gridCol>
                <a:gridCol w="1727355">
                  <a:extLst>
                    <a:ext uri="{9D8B030D-6E8A-4147-A177-3AD203B41FA5}">
                      <a16:colId xmlns:a16="http://schemas.microsoft.com/office/drawing/2014/main" val="1759200300"/>
                    </a:ext>
                  </a:extLst>
                </a:gridCol>
                <a:gridCol w="7922656">
                  <a:extLst>
                    <a:ext uri="{9D8B030D-6E8A-4147-A177-3AD203B41FA5}">
                      <a16:colId xmlns:a16="http://schemas.microsoft.com/office/drawing/2014/main" val="3485654227"/>
                    </a:ext>
                  </a:extLst>
                </a:gridCol>
              </a:tblGrid>
              <a:tr h="0">
                <a:tc>
                  <a:txBody>
                    <a:bodyPr/>
                    <a:lstStyle/>
                    <a:p>
                      <a:r>
                        <a:rPr lang="en-US" sz="1200"/>
                        <a:t>Funding Source</a:t>
                      </a:r>
                    </a:p>
                  </a:txBody>
                  <a:tcPr/>
                </a:tc>
                <a:tc>
                  <a:txBody>
                    <a:bodyPr/>
                    <a:lstStyle/>
                    <a:p>
                      <a:r>
                        <a:rPr lang="en-US" sz="1200"/>
                        <a:t>Project Allocation</a:t>
                      </a:r>
                    </a:p>
                  </a:txBody>
                  <a:tcPr/>
                </a:tc>
                <a:tc>
                  <a:txBody>
                    <a:bodyPr/>
                    <a:lstStyle/>
                    <a:p>
                      <a:r>
                        <a:rPr lang="en-US" sz="1200"/>
                        <a:t>Strategic Leverage/ Action</a:t>
                      </a:r>
                    </a:p>
                  </a:txBody>
                  <a:tcPr/>
                </a:tc>
                <a:extLst>
                  <a:ext uri="{0D108BD9-81ED-4DB2-BD59-A6C34878D82A}">
                    <a16:rowId xmlns:a16="http://schemas.microsoft.com/office/drawing/2014/main" val="1880625592"/>
                  </a:ext>
                </a:extLst>
              </a:tr>
              <a:tr h="0">
                <a:tc>
                  <a:txBody>
                    <a:bodyPr/>
                    <a:lstStyle/>
                    <a:p>
                      <a:r>
                        <a:rPr lang="en-US" sz="1200"/>
                        <a:t>Microsoft ECIF</a:t>
                      </a:r>
                    </a:p>
                  </a:txBody>
                  <a:tcPr/>
                </a:tc>
                <a:tc>
                  <a:txBody>
                    <a:bodyPr/>
                    <a:lstStyle/>
                    <a:p>
                      <a:r>
                        <a:rPr lang="en-US" sz="1200"/>
                        <a:t>Baseline Estimate </a:t>
                      </a:r>
                    </a:p>
                  </a:txBody>
                  <a:tcPr/>
                </a:tc>
                <a:tc>
                  <a:txBody>
                    <a:bodyPr/>
                    <a:lstStyle/>
                    <a:p>
                      <a:r>
                        <a:rPr lang="en-US" sz="1200"/>
                        <a:t>Action: Naga Kalidindi to sync with Microsoft to clarify the calculation algorithm and request an upward adjustment to match SOW  scope expansion.</a:t>
                      </a:r>
                    </a:p>
                  </a:txBody>
                  <a:tcPr/>
                </a:tc>
                <a:extLst>
                  <a:ext uri="{0D108BD9-81ED-4DB2-BD59-A6C34878D82A}">
                    <a16:rowId xmlns:a16="http://schemas.microsoft.com/office/drawing/2014/main" val="3317684462"/>
                  </a:ext>
                </a:extLst>
              </a:tr>
              <a:tr h="0">
                <a:tc>
                  <a:txBody>
                    <a:bodyPr/>
                    <a:lstStyle/>
                    <a:p>
                      <a:r>
                        <a:rPr lang="en-US" sz="1200"/>
                        <a:t>CVS Microsoft ESA</a:t>
                      </a:r>
                    </a:p>
                  </a:txBody>
                  <a:tcPr/>
                </a:tc>
                <a:tc>
                  <a:txBody>
                    <a:bodyPr/>
                    <a:lstStyle/>
                    <a:p>
                      <a:r>
                        <a:rPr lang="en-US" sz="1200"/>
                        <a:t>$9.8M is earmarked from the ECIF</a:t>
                      </a:r>
                    </a:p>
                  </a:txBody>
                  <a:tcPr/>
                </a:tc>
                <a:tc>
                  <a:txBody>
                    <a:bodyPr/>
                    <a:lstStyle/>
                    <a:p>
                      <a:r>
                        <a:rPr lang="en-US" sz="1200"/>
                        <a:t>Action: Leverage ESA program flexibility to absorb incremental consumption and cover SOW role requirements if ECIF caps are reached</a:t>
                      </a:r>
                    </a:p>
                  </a:txBody>
                  <a:tcPr/>
                </a:tc>
                <a:extLst>
                  <a:ext uri="{0D108BD9-81ED-4DB2-BD59-A6C34878D82A}">
                    <a16:rowId xmlns:a16="http://schemas.microsoft.com/office/drawing/2014/main" val="1929544699"/>
                  </a:ext>
                </a:extLst>
              </a:tr>
            </a:tbl>
          </a:graphicData>
        </a:graphic>
      </p:graphicFrame>
    </p:spTree>
    <p:extLst>
      <p:ext uri="{BB962C8B-B14F-4D97-AF65-F5344CB8AC3E}">
        <p14:creationId xmlns:p14="http://schemas.microsoft.com/office/powerpoint/2010/main" val="273904835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2_CVS_Health_PPT_Everyday_Widescreen_Template">
  <a:themeElements>
    <a:clrScheme name="CVS Health">
      <a:dk1>
        <a:srgbClr val="000000"/>
      </a:dk1>
      <a:lt1>
        <a:sysClr val="window" lastClr="FFFFFF"/>
      </a:lt1>
      <a:dk2>
        <a:srgbClr val="3F3F3F"/>
      </a:dk2>
      <a:lt2>
        <a:srgbClr val="C0C0C0"/>
      </a:lt2>
      <a:accent1>
        <a:srgbClr val="9E0000"/>
      </a:accent1>
      <a:accent2>
        <a:srgbClr val="CC0000"/>
      </a:accent2>
      <a:accent3>
        <a:srgbClr val="E94D4D"/>
      </a:accent3>
      <a:accent4>
        <a:srgbClr val="F7978D"/>
      </a:accent4>
      <a:accent5>
        <a:srgbClr val="646464"/>
      </a:accent5>
      <a:accent6>
        <a:srgbClr val="868686"/>
      </a:accent6>
      <a:hlink>
        <a:srgbClr val="3F3F3F"/>
      </a:hlink>
      <a:folHlink>
        <a:srgbClr val="A5A5A5"/>
      </a:folHlink>
    </a:clrScheme>
    <a:fontScheme name="CVS Fonts">
      <a:majorFont>
        <a:latin typeface="CVS Health Sans"/>
        <a:ea typeface=""/>
        <a:cs typeface=""/>
      </a:majorFont>
      <a:minorFont>
        <a:latin typeface="CVS Health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5"/>
        </a:solidFill>
        <a:ln>
          <a:noFill/>
          <a:miter lim="800000"/>
        </a:ln>
        <a:effectLst/>
      </a:spPr>
      <a:bodyPr rtlCol="0" anchor="ctr"/>
      <a:lstStyle>
        <a:defPPr algn="ctr">
          <a:defRPr sz="1500" b="1" dirty="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accent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500" dirty="0" smtClean="0">
            <a:solidFill>
              <a:schemeClr val="tx2"/>
            </a:solidFill>
          </a:defRPr>
        </a:defPPr>
      </a:lstStyle>
    </a:txDef>
  </a:objectDefaults>
  <a:extraClrSchemeLst/>
  <a:custClrLst>
    <a:custClr name="CVS Health Red">
      <a:srgbClr val="CC0000"/>
    </a:custClr>
    <a:custClr name="PPT Red Dark">
      <a:srgbClr val="9E0000"/>
    </a:custClr>
    <a:custClr name="Gray Extralight">
      <a:srgbClr val="E9E9E9"/>
    </a:custClr>
    <a:custClr name="PPT Gray Light">
      <a:srgbClr val="C0C0C0"/>
    </a:custClr>
    <a:custClr name="PPT Gray Medium">
      <a:srgbClr val="868686"/>
    </a:custClr>
    <a:custClr name="PPT Gray Dark">
      <a:srgbClr val="646464"/>
    </a:custClr>
    <a:custClr name="Aetna Violet">
      <a:srgbClr val="7D3F98"/>
    </a:custClr>
    <a:custClr name="PPT Violet Dark">
      <a:srgbClr val="563D82"/>
    </a:custClr>
    <a:custClr name="Navy Light">
      <a:srgbClr val="0A4B8C"/>
    </a:custClr>
    <a:custClr name="Navy">
      <a:srgbClr val="0B315E"/>
    </a:custClr>
    <a:custClr name="Navy Light">
      <a:srgbClr val="0A4B8C"/>
    </a:custClr>
    <a:custClr name="PPT Blue Dark">
      <a:srgbClr val="267AC0"/>
    </a:custClr>
    <a:custClr name="PPT Teal Extradark">
      <a:srgbClr val="00787E"/>
    </a:custClr>
    <a:custClr name="Teal Dark">
      <a:srgbClr val="00A78E"/>
    </a:custClr>
    <a:custClr name="PPT Gray Dark">
      <a:srgbClr val="646464"/>
    </a:custClr>
    <a:custClr name="PPT Gray Medium">
      <a:srgbClr val="868686"/>
    </a:custClr>
    <a:custClr name="PPT Green Extradark">
      <a:srgbClr val="487A10"/>
    </a:custClr>
    <a:custClr name="Green Dark">
      <a:srgbClr val="61A515"/>
    </a:custClr>
    <a:custClr name="PPT Orange Extradark">
      <a:srgbClr val="CE430C"/>
    </a:custClr>
    <a:custClr name="Orange Dark">
      <a:srgbClr val="F4642A"/>
    </a:custClr>
  </a:custClrLst>
  <a:extLst>
    <a:ext uri="{05A4C25C-085E-4340-85A3-A5531E510DB2}">
      <thm15:themeFamily xmlns:thm15="http://schemas.microsoft.com/office/thememl/2012/main" name="CVS_Health_Everyday_Widescreen_Template_01_2023" id="{7EFCD1C1-A5D7-5B46-AC73-73A868C74675}" vid="{2EBBD54E-5354-8642-8C39-02E7761E12C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C0E01C82CFC3444BBC01A07F556AEDE" ma:contentTypeVersion="3" ma:contentTypeDescription="Create a new document." ma:contentTypeScope="" ma:versionID="84405aa1168a9b4c411d92e9af987945">
  <xsd:schema xmlns:xsd="http://www.w3.org/2001/XMLSchema" xmlns:xs="http://www.w3.org/2001/XMLSchema" xmlns:p="http://schemas.microsoft.com/office/2006/metadata/properties" xmlns:ns2="88d540e4-d991-4978-9c57-880d42c7e730" targetNamespace="http://schemas.microsoft.com/office/2006/metadata/properties" ma:root="true" ma:fieldsID="ec2c9e13694366983849c2cba5d35db0" ns2:_="">
    <xsd:import namespace="88d540e4-d991-4978-9c57-880d42c7e73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d540e4-d991-4978-9c57-880d42c7e73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08AF1A8-9386-48C0-8F43-2CB44F400EB1}">
  <ds:schemaRefs>
    <ds:schemaRef ds:uri="88d540e4-d991-4978-9c57-880d42c7e73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083FE0B-24FE-43B8-A83E-833B52977880}">
  <ds:schemaRefs>
    <ds:schemaRef ds:uri="88d540e4-d991-4978-9c57-880d42c7e73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085E927-1863-478F-A429-88116FE529FA}">
  <ds:schemaRefs>
    <ds:schemaRef ds:uri="http://schemas.microsoft.com/sharepoint/v3/contenttype/forms"/>
  </ds:schemaRefs>
</ds:datastoreItem>
</file>

<file path=docMetadata/LabelInfo.xml><?xml version="1.0" encoding="utf-8"?>
<clbl:labelList xmlns:clbl="http://schemas.microsoft.com/office/2020/mipLabelMetadata">
  <clbl:label id="{95653b52-df9b-47d2-8549-8de78ac04e21}" enabled="1" method="Standard" siteId="{deff24bb-2089-4400-8c8e-f71e680378b2}" removed="0"/>
</clbl:labelList>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52</Slides>
  <Notes>8</Notes>
  <HiddenSlides>31</HiddenSlides>
  <ScaleCrop>false</ScaleCrop>
  <HeadingPairs>
    <vt:vector size="4" baseType="variant">
      <vt:variant>
        <vt:lpstr>Theme</vt:lpstr>
      </vt:variant>
      <vt:variant>
        <vt:i4>1</vt:i4>
      </vt:variant>
      <vt:variant>
        <vt:lpstr>Slide Titles</vt:lpstr>
      </vt:variant>
      <vt:variant>
        <vt:i4>52</vt:i4>
      </vt:variant>
    </vt:vector>
  </HeadingPairs>
  <TitlesOfParts>
    <vt:vector size="53" baseType="lpstr">
      <vt:lpstr>22_CVS_Health_PPT_Everyday_Widescreen_Template</vt:lpstr>
      <vt:lpstr>Discuss Databricks SOW &amp; Key Project Topics  September 24, 2026</vt:lpstr>
      <vt:lpstr>Agenda</vt:lpstr>
      <vt:lpstr>Workstream owners – in the table below, the “Lead”</vt:lpstr>
      <vt:lpstr>PowerPoint Presentation</vt:lpstr>
      <vt:lpstr>Executive Summary Path to finalizing contracts and kicking-off project </vt:lpstr>
      <vt:lpstr>1. Technical Approach &amp; Master Timeline</vt:lpstr>
      <vt:lpstr>PowerPoint Presentation</vt:lpstr>
      <vt:lpstr>Workstream A Key Objectives</vt:lpstr>
      <vt:lpstr>Workstream A - Architecture Review &amp; Remediation (1/2) Diagnose and Plan – From the SOW and other planning documents</vt:lpstr>
      <vt:lpstr>Workstream A - Architecture Review &amp; Remediation (2/2) Diagnose and Plan – Planning </vt:lpstr>
      <vt:lpstr>Workstream A – Approach From assessment to an actionable roadmap</vt:lpstr>
      <vt:lpstr>Workstream A – Assessment Framework Key components of Databricks Architecture</vt:lpstr>
      <vt:lpstr>Workstream A – Information Request List Accelerating the assessment and remediation process</vt:lpstr>
      <vt:lpstr>Workstream A – Proposed Meetings Operating rhythm for the first two months</vt:lpstr>
      <vt:lpstr>Workstream A - Architecture Assessment Framework - Planning Focus on  "how and when" of Milestone A.1 to establish operational clarity and alignment </vt:lpstr>
      <vt:lpstr>Workstream A - Architecture Assessment Framework – Considerations Focus on lowering risk, highlighting bottlenecks, and demonstrating proactive mitigation </vt:lpstr>
      <vt:lpstr>Workstream B1 – Source Rationalization and Data Contracts (1/2) “Deciding What Data We Have, Who Owns It, and How It Should Be Labeled” – From the SOW and other planning documents</vt:lpstr>
      <vt:lpstr>Workstream B1 – Source Rationalization and Data Contracts (2/2) “Deciding What Data We Have, Who Owns It, and How It Should Be Labeled” – Planning</vt:lpstr>
      <vt:lpstr>Workstream B2 – Databricks Bronze Data Landing (1/2) “Building the Digital Highway to Safely Deliver and Park the Data” – From the SOW and other planning documents</vt:lpstr>
      <vt:lpstr>Workstream B2 – Databricks Bronze Data Landing (2/2) “Building the Digital Highway to Safely Deliver and Park the Data” – Planning </vt:lpstr>
      <vt:lpstr>Workstream B – Approach</vt:lpstr>
      <vt:lpstr>Workstream B – Framework</vt:lpstr>
      <vt:lpstr>Workstream B – Key Architecture Components</vt:lpstr>
      <vt:lpstr>Workstream B – Pre-Requisite Components for Scaling </vt:lpstr>
      <vt:lpstr>Workstream B – Repeatable Source Onboarding Lifecycle</vt:lpstr>
      <vt:lpstr>Workstream B – Scope Boundaries and Integration Responsibilities</vt:lpstr>
      <vt:lpstr>Workstream B – Information Request List</vt:lpstr>
      <vt:lpstr>Workstream B – Proposed Meetings</vt:lpstr>
      <vt:lpstr>Workstream C</vt:lpstr>
      <vt:lpstr>Workstream C – Data Architecture and Pipeline Enablement (1/2) The factory – From the SOW and other planning documents</vt:lpstr>
      <vt:lpstr>Workstream C – Data Architecture and Pipeline Enablement (2/2) The factory – Planning</vt:lpstr>
      <vt:lpstr>Workstream C – Approach Building the Silver and Gold pipeline factory</vt:lpstr>
      <vt:lpstr>Workstream C – Information Request List Requirements and contextual data the pipeline factory depends on</vt:lpstr>
      <vt:lpstr>Workstream C – Proposed Meetings Sprint-based cadence for continuous delivery</vt:lpstr>
      <vt:lpstr>Workstream D</vt:lpstr>
      <vt:lpstr>Workstream D – Observability, Availability and Performance Monitoring Rationalization (1/2) Monitoring &amp; Analytics – From the SOW and other planning documents</vt:lpstr>
      <vt:lpstr>Workstream D – Observability, Availability and Performance Monitoring Rationalization (2/2) Monitoring &amp; Analytics – Planning</vt:lpstr>
      <vt:lpstr>Workstream D – Approach AI-assisted migration of legacy analytics to Databricks</vt:lpstr>
      <vt:lpstr>Workstream D – Information Request List Data and access needed to rationalize and migrate legacy analytics</vt:lpstr>
      <vt:lpstr>Workstream D – Proposed Meetings Cadence built around the tiered migration backlog</vt:lpstr>
      <vt:lpstr>Workstream 0</vt:lpstr>
      <vt:lpstr>Workstream 0 – Project Management Support (1/2) Project Management – From the SOW and other planning documents</vt:lpstr>
      <vt:lpstr>Workstream 0 – Project Management Support (2/2) Project Management – Planning </vt:lpstr>
      <vt:lpstr>Workstream E</vt:lpstr>
      <vt:lpstr>Workstream E – Organizational Change and Adoption (1/2) Change management – From the SOW and other planning documents</vt:lpstr>
      <vt:lpstr>Workstream E – Organizational Change and Adoption (2/2) Change management – Planning</vt:lpstr>
      <vt:lpstr>Workstream F</vt:lpstr>
      <vt:lpstr>Workstream F – Hypercare and Operational Handoff (1/2) Transition – From the SOW and other planning documents</vt:lpstr>
      <vt:lpstr>Workstream F – Hypercare and Operational Handoff (2/2) Transition – Planning</vt:lpstr>
      <vt:lpstr>Welcome Season Change Freeze Planning  Mitigating Timeline Risks &amp; Securing the Critical Path</vt:lpstr>
      <vt:lpstr>SOW &amp; Role Mapping Review Commercial Alignment, Resource Optimization, and Plan Reconciliation</vt:lpstr>
      <vt:lpstr>ECIF &amp; ESA Funding Maximization Aligning Technical Capacity Models with Strategic Funding Vehicles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Veingrad, Joseph</dc:creator>
  <cp:revision>1</cp:revision>
  <dcterms:created xsi:type="dcterms:W3CDTF">2026-08-27T03:33:05Z</dcterms:created>
  <dcterms:modified xsi:type="dcterms:W3CDTF">2026-10-07T17:33:18Z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0x010100AC0E01C82CFC3444BBC01A07F556AEDE</vt:lpwstr>
  </property>
</Properties>
</file>