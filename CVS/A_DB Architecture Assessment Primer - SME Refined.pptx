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embeddings/Microsoft_Excel_Binary_Worksheet.xlsb" ContentType="application/vnd.ms-excel.sheet.binary.macroEnabled.12"/>
  <Override PartName="/ppt/media/image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147483533" r:id="rId5"/>
    <p:sldId id="2147483536" r:id="rId6"/>
    <p:sldId id="2147483537" r:id="rId7"/>
    <p:sldId id="2147483508" r:id="rId8"/>
    <p:sldId id="214748353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8848BE-BA2D-F325-430C-F89ADD18F60D}" name="Switzer, Emily N" initials="ES" userId="S::eswitzer@kpmg.com::690a7798-f545-41ae-988e-f9dfa57302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2C977-6392-4937-ACC8-C7AB4E48A1C7}" v="144" dt="2026-09-24T11:47:33.218"/>
    <p1510:client id="{6EBC1B18-DE89-F52E-0EA6-321C2E7479F5}" v="12" dt="2026-09-24T06:12:00.066"/>
    <p1510:client id="{E3FC14FC-2C45-591E-AB4E-5DACA0B2AC80}" v="5" dt="2026-09-24T14:17:31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an, Ravi" userId="S::raviranjan7@kpmg.com::93e8b513-90e4-487f-8943-c8feaa1d0628" providerId="AD" clId="Web-{E3FC14FC-2C45-591E-AB4E-5DACA0B2AC80}"/>
    <pc:docChg chg="modSld">
      <pc:chgData name="Ranjan, Ravi" userId="S::raviranjan7@kpmg.com::93e8b513-90e4-487f-8943-c8feaa1d0628" providerId="AD" clId="Web-{E3FC14FC-2C45-591E-AB4E-5DACA0B2AC80}" dt="2026-09-24T14:17:30.343" v="3" actId="20577"/>
      <pc:docMkLst>
        <pc:docMk/>
      </pc:docMkLst>
      <pc:sldChg chg="modSp">
        <pc:chgData name="Ranjan, Ravi" userId="S::raviranjan7@kpmg.com::93e8b513-90e4-487f-8943-c8feaa1d0628" providerId="AD" clId="Web-{E3FC14FC-2C45-591E-AB4E-5DACA0B2AC80}" dt="2026-09-24T14:17:30.343" v="3" actId="20577"/>
        <pc:sldMkLst>
          <pc:docMk/>
          <pc:sldMk cId="0" sldId="2147483537"/>
        </pc:sldMkLst>
        <pc:spChg chg="mod">
          <ac:chgData name="Ranjan, Ravi" userId="S::raviranjan7@kpmg.com::93e8b513-90e4-487f-8943-c8feaa1d0628" providerId="AD" clId="Web-{E3FC14FC-2C45-591E-AB4E-5DACA0B2AC80}" dt="2026-09-24T14:17:30.343" v="3" actId="20577"/>
          <ac:spMkLst>
            <pc:docMk/>
            <pc:sldMk cId="0" sldId="2147483537"/>
            <ac:spMk id="4" creationId="{00000000-0000-0000-0000-000000000000}"/>
          </ac:spMkLst>
        </pc:spChg>
      </pc:sldChg>
    </pc:docChg>
  </pc:docChgLst>
  <pc:docChgLst>
    <pc:chgData name="Ranjan, Ravi" userId="S::raviranjan7@kpmg.com::93e8b513-90e4-487f-8943-c8feaa1d0628" providerId="AD" clId="Web-{6EBC1B18-DE89-F52E-0EA6-321C2E7479F5}"/>
    <pc:docChg chg="modSld">
      <pc:chgData name="Ranjan, Ravi" userId="S::raviranjan7@kpmg.com::93e8b513-90e4-487f-8943-c8feaa1d0628" providerId="AD" clId="Web-{6EBC1B18-DE89-F52E-0EA6-321C2E7479F5}" dt="2026-09-24T06:12:00.066" v="9" actId="20577"/>
      <pc:docMkLst>
        <pc:docMk/>
      </pc:docMkLst>
      <pc:sldChg chg="modSp">
        <pc:chgData name="Ranjan, Ravi" userId="S::raviranjan7@kpmg.com::93e8b513-90e4-487f-8943-c8feaa1d0628" providerId="AD" clId="Web-{6EBC1B18-DE89-F52E-0EA6-321C2E7479F5}" dt="2026-09-24T06:12:00.066" v="9" actId="20577"/>
        <pc:sldMkLst>
          <pc:docMk/>
          <pc:sldMk cId="4047186345" sldId="2147483533"/>
        </pc:sldMkLst>
        <pc:spChg chg="mod">
          <ac:chgData name="Ranjan, Ravi" userId="S::raviranjan7@kpmg.com::93e8b513-90e4-487f-8943-c8feaa1d0628" providerId="AD" clId="Web-{6EBC1B18-DE89-F52E-0EA6-321C2E7479F5}" dt="2026-09-24T06:12:00.066" v="9" actId="20577"/>
          <ac:spMkLst>
            <pc:docMk/>
            <pc:sldMk cId="4047186345" sldId="2147483533"/>
            <ac:spMk id="8" creationId="{3AF469F1-1232-405B-F5A5-3A6C0E418506}"/>
          </ac:spMkLst>
        </pc:spChg>
      </pc:sldChg>
    </pc:docChg>
  </pc:docChgLst>
  <pc:docChgLst>
    <pc:chgData name="Ranjan, Ravi" userId="93e8b513-90e4-487f-8943-c8feaa1d0628" providerId="ADAL" clId="{2FB374EB-474A-4069-8A7F-6D47C168ED6A}"/>
    <pc:docChg chg="undo custSel addSld delSld modSld">
      <pc:chgData name="Ranjan, Ravi" userId="93e8b513-90e4-487f-8943-c8feaa1d0628" providerId="ADAL" clId="{2FB374EB-474A-4069-8A7F-6D47C168ED6A}" dt="2026-09-24T11:47:33.218" v="139" actId="14100"/>
      <pc:docMkLst>
        <pc:docMk/>
      </pc:docMkLst>
      <pc:sldChg chg="add del">
        <pc:chgData name="Ranjan, Ravi" userId="93e8b513-90e4-487f-8943-c8feaa1d0628" providerId="ADAL" clId="{2FB374EB-474A-4069-8A7F-6D47C168ED6A}" dt="2026-09-24T11:31:54.621" v="5" actId="47"/>
        <pc:sldMkLst>
          <pc:docMk/>
          <pc:sldMk cId="0" sldId="256"/>
        </pc:sldMkLst>
      </pc:sldChg>
      <pc:sldChg chg="add del">
        <pc:chgData name="Ranjan, Ravi" userId="93e8b513-90e4-487f-8943-c8feaa1d0628" providerId="ADAL" clId="{2FB374EB-474A-4069-8A7F-6D47C168ED6A}" dt="2026-09-24T11:31:54.621" v="5" actId="47"/>
        <pc:sldMkLst>
          <pc:docMk/>
          <pc:sldMk cId="0" sldId="257"/>
        </pc:sldMkLst>
      </pc:sldChg>
      <pc:sldChg chg="addSp modSp mod">
        <pc:chgData name="Ranjan, Ravi" userId="93e8b513-90e4-487f-8943-c8feaa1d0628" providerId="ADAL" clId="{2FB374EB-474A-4069-8A7F-6D47C168ED6A}" dt="2026-09-24T11:42:15.988" v="85" actId="14100"/>
        <pc:sldMkLst>
          <pc:docMk/>
          <pc:sldMk cId="1411986489" sldId="2147483508"/>
        </pc:sldMkLst>
        <pc:spChg chg="mod">
          <ac:chgData name="Ranjan, Ravi" userId="93e8b513-90e4-487f-8943-c8feaa1d0628" providerId="ADAL" clId="{2FB374EB-474A-4069-8A7F-6D47C168ED6A}" dt="2026-09-24T11:35:59.184" v="53" actId="120"/>
          <ac:spMkLst>
            <pc:docMk/>
            <pc:sldMk cId="1411986489" sldId="2147483508"/>
            <ac:spMk id="2" creationId="{66A9756E-C720-9319-1391-995E3EB3F0EE}"/>
          </ac:spMkLst>
        </pc:spChg>
        <pc:spChg chg="mod">
          <ac:chgData name="Ranjan, Ravi" userId="93e8b513-90e4-487f-8943-c8feaa1d0628" providerId="ADAL" clId="{2FB374EB-474A-4069-8A7F-6D47C168ED6A}" dt="2026-09-24T11:33:50.971" v="47" actId="20577"/>
          <ac:spMkLst>
            <pc:docMk/>
            <pc:sldMk cId="1411986489" sldId="2147483508"/>
            <ac:spMk id="4" creationId="{A70B50E5-0DB4-0787-A990-22CA0B543816}"/>
          </ac:spMkLst>
        </pc:spChg>
        <pc:spChg chg="mod">
          <ac:chgData name="Ranjan, Ravi" userId="93e8b513-90e4-487f-8943-c8feaa1d0628" providerId="ADAL" clId="{2FB374EB-474A-4069-8A7F-6D47C168ED6A}" dt="2026-09-24T11:42:15.988" v="85" actId="14100"/>
          <ac:spMkLst>
            <pc:docMk/>
            <pc:sldMk cId="1411986489" sldId="2147483508"/>
            <ac:spMk id="5" creationId="{7E8B760B-03B0-6194-CBA3-95EE3C8FA32F}"/>
          </ac:spMkLst>
        </pc:spChg>
        <pc:spChg chg="mod">
          <ac:chgData name="Ranjan, Ravi" userId="93e8b513-90e4-487f-8943-c8feaa1d0628" providerId="ADAL" clId="{2FB374EB-474A-4069-8A7F-6D47C168ED6A}" dt="2026-09-24T11:37:59.235" v="58" actId="120"/>
          <ac:spMkLst>
            <pc:docMk/>
            <pc:sldMk cId="1411986489" sldId="2147483508"/>
            <ac:spMk id="9" creationId="{3B73DF08-1121-0A8C-7AC8-7577B2464C34}"/>
          </ac:spMkLst>
        </pc:spChg>
        <pc:spChg chg="mod">
          <ac:chgData name="Ranjan, Ravi" userId="93e8b513-90e4-487f-8943-c8feaa1d0628" providerId="ADAL" clId="{2FB374EB-474A-4069-8A7F-6D47C168ED6A}" dt="2026-09-24T11:39:34.336" v="74" actId="20577"/>
          <ac:spMkLst>
            <pc:docMk/>
            <pc:sldMk cId="1411986489" sldId="2147483508"/>
            <ac:spMk id="70" creationId="{A44F0A05-74B5-C61D-E3C5-24465C0B22B6}"/>
          </ac:spMkLst>
        </pc:spChg>
        <pc:spChg chg="mod">
          <ac:chgData name="Ranjan, Ravi" userId="93e8b513-90e4-487f-8943-c8feaa1d0628" providerId="ADAL" clId="{2FB374EB-474A-4069-8A7F-6D47C168ED6A}" dt="2026-09-24T11:37:23.023" v="56"/>
          <ac:spMkLst>
            <pc:docMk/>
            <pc:sldMk cId="1411986489" sldId="2147483508"/>
            <ac:spMk id="71" creationId="{95FD76F5-B6D5-76B4-6E77-29728DDD4F5D}"/>
          </ac:spMkLst>
        </pc:spChg>
        <pc:spChg chg="mod">
          <ac:chgData name="Ranjan, Ravi" userId="93e8b513-90e4-487f-8943-c8feaa1d0628" providerId="ADAL" clId="{2FB374EB-474A-4069-8A7F-6D47C168ED6A}" dt="2026-09-24T11:36:28.843" v="55" actId="120"/>
          <ac:spMkLst>
            <pc:docMk/>
            <pc:sldMk cId="1411986489" sldId="2147483508"/>
            <ac:spMk id="72" creationId="{DF89D6A8-7203-1484-8939-32AC2D84B284}"/>
          </ac:spMkLst>
        </pc:spChg>
        <pc:spChg chg="mod">
          <ac:chgData name="Ranjan, Ravi" userId="93e8b513-90e4-487f-8943-c8feaa1d0628" providerId="ADAL" clId="{2FB374EB-474A-4069-8A7F-6D47C168ED6A}" dt="2026-09-24T11:40:03.251" v="75"/>
          <ac:spMkLst>
            <pc:docMk/>
            <pc:sldMk cId="1411986489" sldId="2147483508"/>
            <ac:spMk id="73" creationId="{632FB173-B5D6-24C0-3C53-5BAA6EECEA3E}"/>
          </ac:spMkLst>
        </pc:spChg>
        <pc:spChg chg="mod">
          <ac:chgData name="Ranjan, Ravi" userId="93e8b513-90e4-487f-8943-c8feaa1d0628" providerId="ADAL" clId="{2FB374EB-474A-4069-8A7F-6D47C168ED6A}" dt="2026-09-24T11:41:08.563" v="80" actId="113"/>
          <ac:spMkLst>
            <pc:docMk/>
            <pc:sldMk cId="1411986489" sldId="2147483508"/>
            <ac:spMk id="74" creationId="{88066021-6655-7B0D-874B-837CACB43277}"/>
          </ac:spMkLst>
        </pc:spChg>
        <pc:graphicFrameChg chg="add mod">
          <ac:chgData name="Ranjan, Ravi" userId="93e8b513-90e4-487f-8943-c8feaa1d0628" providerId="ADAL" clId="{2FB374EB-474A-4069-8A7F-6D47C168ED6A}" dt="2026-09-24T11:34:51.913" v="48"/>
          <ac:graphicFrameMkLst>
            <pc:docMk/>
            <pc:sldMk cId="1411986489" sldId="2147483508"/>
            <ac:graphicFrameMk id="7" creationId="{91735DB0-EA78-3A71-AB9C-074E8A04F319}"/>
          </ac:graphicFrameMkLst>
        </pc:graphicFrameChg>
      </pc:sldChg>
      <pc:sldChg chg="add del">
        <pc:chgData name="Ranjan, Ravi" userId="93e8b513-90e4-487f-8943-c8feaa1d0628" providerId="ADAL" clId="{2FB374EB-474A-4069-8A7F-6D47C168ED6A}" dt="2026-09-24T11:31:45.446" v="4"/>
        <pc:sldMkLst>
          <pc:docMk/>
          <pc:sldMk cId="4047186345" sldId="2147483533"/>
        </pc:sldMkLst>
      </pc:sldChg>
      <pc:sldChg chg="addSp delSp modSp mod modClrScheme chgLayout">
        <pc:chgData name="Ranjan, Ravi" userId="93e8b513-90e4-487f-8943-c8feaa1d0628" providerId="ADAL" clId="{2FB374EB-474A-4069-8A7F-6D47C168ED6A}" dt="2026-09-24T11:47:33.218" v="139" actId="14100"/>
        <pc:sldMkLst>
          <pc:docMk/>
          <pc:sldMk cId="3485993764" sldId="2147483534"/>
        </pc:sldMkLst>
        <pc:spChg chg="mod">
          <ac:chgData name="Ranjan, Ravi" userId="93e8b513-90e4-487f-8943-c8feaa1d0628" providerId="ADAL" clId="{2FB374EB-474A-4069-8A7F-6D47C168ED6A}" dt="2026-09-24T11:47:16.192" v="94" actId="26606"/>
          <ac:spMkLst>
            <pc:docMk/>
            <pc:sldMk cId="3485993764" sldId="2147483534"/>
            <ac:spMk id="2" creationId="{19930BD4-6B32-E57B-CADD-962D06613798}"/>
          </ac:spMkLst>
        </pc:spChg>
        <pc:spChg chg="add del">
          <ac:chgData name="Ranjan, Ravi" userId="93e8b513-90e4-487f-8943-c8feaa1d0628" providerId="ADAL" clId="{2FB374EB-474A-4069-8A7F-6D47C168ED6A}" dt="2026-09-24T11:46:35.123" v="89" actId="22"/>
          <ac:spMkLst>
            <pc:docMk/>
            <pc:sldMk cId="3485993764" sldId="2147483534"/>
            <ac:spMk id="6" creationId="{B12B0E11-3903-35E5-BE64-AF16E027D435}"/>
          </ac:spMkLst>
        </pc:spChg>
        <pc:graphicFrameChg chg="del">
          <ac:chgData name="Ranjan, Ravi" userId="93e8b513-90e4-487f-8943-c8feaa1d0628" providerId="ADAL" clId="{2FB374EB-474A-4069-8A7F-6D47C168ED6A}" dt="2026-09-24T11:46:18.098" v="86" actId="478"/>
          <ac:graphicFrameMkLst>
            <pc:docMk/>
            <pc:sldMk cId="3485993764" sldId="2147483534"/>
            <ac:graphicFrameMk id="3" creationId="{83CC050B-403D-7F14-1E89-3167F2FB76EF}"/>
          </ac:graphicFrameMkLst>
        </pc:graphicFrameChg>
        <pc:graphicFrameChg chg="add mod">
          <ac:chgData name="Ranjan, Ravi" userId="93e8b513-90e4-487f-8943-c8feaa1d0628" providerId="ADAL" clId="{2FB374EB-474A-4069-8A7F-6D47C168ED6A}" dt="2026-09-24T11:46:20.475" v="87"/>
          <ac:graphicFrameMkLst>
            <pc:docMk/>
            <pc:sldMk cId="3485993764" sldId="2147483534"/>
            <ac:graphicFrameMk id="4" creationId="{5854E11B-18D2-4792-E10F-69ED565D031A}"/>
          </ac:graphicFrameMkLst>
        </pc:graphicFrameChg>
        <pc:graphicFrameChg chg="add mod">
          <ac:chgData name="Ranjan, Ravi" userId="93e8b513-90e4-487f-8943-c8feaa1d0628" providerId="ADAL" clId="{2FB374EB-474A-4069-8A7F-6D47C168ED6A}" dt="2026-09-24T11:46:40.092" v="90"/>
          <ac:graphicFrameMkLst>
            <pc:docMk/>
            <pc:sldMk cId="3485993764" sldId="2147483534"/>
            <ac:graphicFrameMk id="7" creationId="{863E030C-7282-96AE-7433-4802F5B9414C}"/>
          </ac:graphicFrameMkLst>
        </pc:graphicFrameChg>
        <pc:graphicFrameChg chg="add mod modGraphic">
          <ac:chgData name="Ranjan, Ravi" userId="93e8b513-90e4-487f-8943-c8feaa1d0628" providerId="ADAL" clId="{2FB374EB-474A-4069-8A7F-6D47C168ED6A}" dt="2026-09-24T11:47:33.218" v="139" actId="14100"/>
          <ac:graphicFrameMkLst>
            <pc:docMk/>
            <pc:sldMk cId="3485993764" sldId="2147483534"/>
            <ac:graphicFrameMk id="8" creationId="{0A1F3E52-3696-9E3B-FEE6-01DED4D1B969}"/>
          </ac:graphicFrameMkLst>
        </pc:graphicFrameChg>
      </pc:sldChg>
      <pc:sldChg chg="modSp add del mod">
        <pc:chgData name="Ranjan, Ravi" userId="93e8b513-90e4-487f-8943-c8feaa1d0628" providerId="ADAL" clId="{2FB374EB-474A-4069-8A7F-6D47C168ED6A}" dt="2026-09-24T11:31:54.621" v="5" actId="47"/>
        <pc:sldMkLst>
          <pc:docMk/>
          <pc:sldMk cId="2562225490" sldId="2147483535"/>
        </pc:sldMkLst>
        <pc:spChg chg="mod">
          <ac:chgData name="Ranjan, Ravi" userId="93e8b513-90e4-487f-8943-c8feaa1d0628" providerId="ADAL" clId="{2FB374EB-474A-4069-8A7F-6D47C168ED6A}" dt="2026-09-24T09:06:17.583" v="2" actId="20577"/>
          <ac:spMkLst>
            <pc:docMk/>
            <pc:sldMk cId="2562225490" sldId="2147483535"/>
            <ac:spMk id="85" creationId="{FF42CF06-5BF1-F18D-A347-F0816DB2C21C}"/>
          </ac:spMkLst>
        </pc:spChg>
        <pc:grpChg chg="mod">
          <ac:chgData name="Ranjan, Ravi" userId="93e8b513-90e4-487f-8943-c8feaa1d0628" providerId="ADAL" clId="{2FB374EB-474A-4069-8A7F-6D47C168ED6A}" dt="2026-09-24T09:07:22.521" v="3" actId="14100"/>
          <ac:grpSpMkLst>
            <pc:docMk/>
            <pc:sldMk cId="2562225490" sldId="2147483535"/>
            <ac:grpSpMk id="36" creationId="{CADC5DE4-1810-393B-038E-766DD96DC4D0}"/>
          </ac:grpSpMkLst>
        </pc:grpChg>
      </pc:sldChg>
      <pc:sldChg chg="add">
        <pc:chgData name="Ranjan, Ravi" userId="93e8b513-90e4-487f-8943-c8feaa1d0628" providerId="ADAL" clId="{2FB374EB-474A-4069-8A7F-6D47C168ED6A}" dt="2026-09-24T11:31:45.446" v="4"/>
        <pc:sldMkLst>
          <pc:docMk/>
          <pc:sldMk cId="0" sldId="2147483536"/>
        </pc:sldMkLst>
      </pc:sldChg>
      <pc:sldChg chg="add">
        <pc:chgData name="Ranjan, Ravi" userId="93e8b513-90e4-487f-8943-c8feaa1d0628" providerId="ADAL" clId="{2FB374EB-474A-4069-8A7F-6D47C168ED6A}" dt="2026-09-24T11:31:45.446" v="4"/>
        <pc:sldMkLst>
          <pc:docMk/>
          <pc:sldMk cId="0" sldId="2147483537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Relationship Id="rId2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95066185318893"/>
          <c:y val="0.1095066185318893"/>
          <c:w val="0.78098676293622138"/>
          <c:h val="0.78098676293622138"/>
        </c:manualLayout>
      </c:layout>
      <c:doughnutChart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dPt>
            <c:idx val="0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68-4AA8-BD83-32F67DEB7286}"/>
              </c:ext>
            </c:extLst>
          </c:dPt>
          <c:dPt>
            <c:idx val="1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68-4AA8-BD83-32F67DEB7286}"/>
              </c:ext>
            </c:extLst>
          </c:dPt>
          <c:dPt>
            <c:idx val="2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168-4AA8-BD83-32F67DEB7286}"/>
              </c:ext>
            </c:extLst>
          </c:dPt>
          <c:dPt>
            <c:idx val="3"/>
            <c:bubble3D val="0"/>
            <c:spPr>
              <a:solidFill>
                <a:srgbClr val="0033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168-4AA8-BD83-32F67DEB7286}"/>
              </c:ext>
            </c:extLst>
          </c:dPt>
          <c:dPt>
            <c:idx val="4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68-4AA8-BD83-32F67DEB7286}"/>
              </c:ext>
            </c:extLst>
          </c:dPt>
          <c:dPt>
            <c:idx val="5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168-4AA8-BD83-32F67DEB7286}"/>
              </c:ext>
            </c:extLst>
          </c:dPt>
          <c:dPt>
            <c:idx val="6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5168-4AA8-BD83-32F67DEB7286}"/>
              </c:ext>
            </c:extLst>
          </c:dPt>
          <c:dPt>
            <c:idx val="7"/>
            <c:bubble3D val="0"/>
            <c:spPr>
              <a:solidFill>
                <a:srgbClr val="1E49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5168-4AA8-BD83-32F67DEB7286}"/>
              </c:ext>
            </c:extLst>
          </c:dPt>
          <c:val>
            <c:numRef>
              <c:f>Sheet1!$A$1:$A$8</c:f>
              <c:numCache>
                <c:formatCode>General</c:formatCode>
                <c:ptCount val="8"/>
                <c:pt idx="0">
                  <c:v>12.5</c:v>
                </c:pt>
                <c:pt idx="1">
                  <c:v>12.5</c:v>
                </c:pt>
                <c:pt idx="2">
                  <c:v>12.5</c:v>
                </c:pt>
                <c:pt idx="3">
                  <c:v>12.5</c:v>
                </c:pt>
                <c:pt idx="4">
                  <c:v>12.5</c:v>
                </c:pt>
                <c:pt idx="5">
                  <c:v>12.5</c:v>
                </c:pt>
                <c:pt idx="6">
                  <c:v>12.5</c:v>
                </c:pt>
                <c:pt idx="7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168-4AA8-BD83-32F67DEB7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39"/>
      </c:doughnutChart>
      <c:spPr>
        <a:noFill/>
        <a:ln w="25400">
          <a:noFill/>
        </a:ln>
        <a:effectLst/>
      </c:spPr>
    </c:plotArea>
    <c:plotVisOnly val="0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4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0.50145</cdr:x>
      <cdr:y>0.19888</cdr:y>
    </cdr:from>
    <cdr:to>
      <cdr:x>0.747</cdr:x>
      <cdr:y>0.28071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0A39C42B-EEAB-423F-8212-9C43CA29438C}"/>
            </a:ext>
          </a:extLst>
        </cdr:cNvPr>
        <cdr:cNvSpPr txBox="1"/>
      </cdr:nvSpPr>
      <cdr:spPr>
        <a:xfrm xmlns:a="http://schemas.openxmlformats.org/drawingml/2006/main">
          <a:off x="1323026" y="524734"/>
          <a:ext cx="647889" cy="215900"/>
        </a:xfrm>
        <a:prstGeom xmlns:a="http://schemas.openxmlformats.org/drawingml/2006/main" prst="rect">
          <a:avLst/>
        </a:prstGeom>
        <a:ln xmlns:a="http://schemas.openxmlformats.org/drawingml/2006/main" w="6350">
          <a:noFill/>
          <a:miter lim="800000"/>
        </a:ln>
      </cdr:spPr>
      <cdr:txBody>
        <a:bodyPr xmlns:a="http://schemas.openxmlformats.org/drawingml/2006/main" vertOverflow="clip" vert="horz" wrap="square" lIns="0" tIns="0" rIns="0" bIns="0" rtlCol="0">
          <a:noAutofit/>
        </a:bodyPr>
        <a:lstStyle xmlns:a="http://schemas.openxmlformats.org/drawingml/2006/main"/>
        <a:p xmlns:a="http://schemas.openxmlformats.org/drawingml/2006/main">
          <a:pPr algn="ctr">
            <a:spcBef>
              <a:spcPts val="300"/>
            </a:spcBef>
            <a:spcAft>
              <a:spcPts val="300"/>
            </a:spcAft>
            <a:buNone/>
          </a:pPr>
          <a:endParaRPr lang="en-US" sz="1400" b="1" dirty="0">
            <a:solidFill>
              <a:schemeClr val="bg1"/>
            </a:solidFill>
            <a:latin typeface="Arial" panose="020B0604020202020204" pitchFamily="34" charset="0"/>
          </a:endParaRPr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31A78-F3EC-48F6-B559-1CE5D991909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08B3A-CF39-49B0-9939-245935200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7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.sv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hyperlink" Target="https://twitter.com/kpmguk" TargetMode="External"/><Relationship Id="rId7" Type="http://schemas.openxmlformats.org/officeDocument/2006/relationships/image" Target="../media/image12.png"/><Relationship Id="rId8" Type="http://schemas.openxmlformats.org/officeDocument/2006/relationships/hyperlink" Target="https://www.linkedin.com/company/1080" TargetMode="External"/><Relationship Id="rId9" Type="http://schemas.openxmlformats.org/officeDocument/2006/relationships/hyperlink" Target="https://www.youtube.com/user/KPMGUK" TargetMode="Externa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9" y="2180"/>
            <a:ext cx="12190341" cy="68558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6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" y="467"/>
            <a:ext cx="12190341" cy="68570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457743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8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335E8F-D0E6-4E91-BC16-1E970996B1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354698" cy="1686205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3281032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7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4">
    <p:bg>
      <p:bgPr>
        <a:gradFill flip="none" rotWithShape="1">
          <a:gsLst>
            <a:gs pos="100000">
              <a:schemeClr val="accent1"/>
            </a:gs>
            <a:gs pos="0">
              <a:schemeClr val="accent5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49165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49165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pic>
        <p:nvPicPr>
          <p:cNvPr id="3" name="Picture 2" descr="A close up of a computer&#10;&#10;Description automatically generated">
            <a:extLst>
              <a:ext uri="{FF2B5EF4-FFF2-40B4-BE49-F238E27FC236}">
                <a16:creationId xmlns:a16="http://schemas.microsoft.com/office/drawing/2014/main" id="{CED48CBB-8F06-86B1-9F7A-8B4772850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83"/>
          <a:stretch/>
        </p:blipFill>
        <p:spPr>
          <a:xfrm>
            <a:off x="7682844" y="720351"/>
            <a:ext cx="3767853" cy="541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0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6350010" cy="4445007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5765982" cy="2903488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17666" y="4752153"/>
            <a:ext cx="5765982" cy="816606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AE81D1E-EC03-4E35-9F55-9751C67CE0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01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F73FA8F-86B4-4B38-9318-B211F1BBAFEB}"/>
              </a:ext>
            </a:extLst>
          </p:cNvPr>
          <p:cNvSpPr>
            <a:spLocks noChangeAspect="1"/>
          </p:cNvSpPr>
          <p:nvPr userDrawn="1"/>
        </p:nvSpPr>
        <p:spPr>
          <a:xfrm>
            <a:off x="741301" y="1470479"/>
            <a:ext cx="3099633" cy="441094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7666" y="1759937"/>
            <a:ext cx="2487266" cy="2900514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1017666" y="4752153"/>
            <a:ext cx="2487267" cy="81577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ADB91F-075F-40EA-BBF8-09E1B53E17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6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 noChangeAspect="1"/>
          </p:cNvSpPr>
          <p:nvPr userDrawn="1"/>
        </p:nvSpPr>
        <p:spPr>
          <a:xfrm>
            <a:off x="3656602" y="736722"/>
            <a:ext cx="7794097" cy="5455869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923066" y="5075895"/>
            <a:ext cx="7260639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9E5DDB-2262-4657-AA4F-9CE87AA83B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2009" y="1002219"/>
            <a:ext cx="7260639" cy="3950972"/>
          </a:xfrm>
        </p:spPr>
        <p:txBody>
          <a:bodyPr/>
          <a:lstStyle>
            <a:lvl1pPr>
              <a:defRPr lang="en-GB" sz="66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Title slide text only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DA91F4-0EDF-45F7-BE99-6872894A16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20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_Pacific Blue">
    <p:bg>
      <p:bgPr>
        <a:gradFill>
          <a:gsLst>
            <a:gs pos="100000">
              <a:srgbClr val="ACEAFF"/>
            </a:gs>
            <a:gs pos="0">
              <a:schemeClr val="accent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C1A25C-9C23-47D0-BC86-BD2474043CD3}"/>
              </a:ext>
            </a:extLst>
          </p:cNvPr>
          <p:cNvGrpSpPr/>
          <p:nvPr userDrawn="1"/>
        </p:nvGrpSpPr>
        <p:grpSpPr>
          <a:xfrm>
            <a:off x="998476" y="0"/>
            <a:ext cx="911399" cy="1485244"/>
            <a:chOff x="1008000" y="0"/>
            <a:chExt cx="911399" cy="1485244"/>
          </a:xfrm>
          <a:solidFill>
            <a:schemeClr val="bg1">
              <a:alpha val="0"/>
            </a:schemeClr>
          </a:solidFill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EEC5B735-00AD-41B9-A513-0F7783FFBE36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0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C5CCCCF1-8E34-4341-A6C5-97CC39680E55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742622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162D722E-1D64-4D54-98B6-8466501BFD3D}"/>
                </a:ext>
              </a:extLst>
            </p:cNvPr>
            <p:cNvSpPr>
              <a:spLocks noChangeAspect="1" noEditPoints="1"/>
            </p:cNvSpPr>
            <p:nvPr userDrawn="1"/>
          </p:nvSpPr>
          <p:spPr bwMode="auto">
            <a:xfrm>
              <a:off x="1008000" y="1113933"/>
              <a:ext cx="911399" cy="371311"/>
            </a:xfrm>
            <a:custGeom>
              <a:avLst/>
              <a:gdLst>
                <a:gd name="T0" fmla="*/ 269 w 283"/>
                <a:gd name="T1" fmla="*/ 77 h 114"/>
                <a:gd name="T2" fmla="*/ 222 w 283"/>
                <a:gd name="T3" fmla="*/ 87 h 114"/>
                <a:gd name="T4" fmla="*/ 244 w 283"/>
                <a:gd name="T5" fmla="*/ 60 h 114"/>
                <a:gd name="T6" fmla="*/ 269 w 283"/>
                <a:gd name="T7" fmla="*/ 56 h 114"/>
                <a:gd name="T8" fmla="*/ 222 w 283"/>
                <a:gd name="T9" fmla="*/ 2 h 114"/>
                <a:gd name="T10" fmla="*/ 281 w 283"/>
                <a:gd name="T11" fmla="*/ 87 h 114"/>
                <a:gd name="T12" fmla="*/ 222 w 283"/>
                <a:gd name="T13" fmla="*/ 89 h 114"/>
                <a:gd name="T14" fmla="*/ 246 w 283"/>
                <a:gd name="T15" fmla="*/ 101 h 114"/>
                <a:gd name="T16" fmla="*/ 205 w 283"/>
                <a:gd name="T17" fmla="*/ 82 h 114"/>
                <a:gd name="T18" fmla="*/ 203 w 283"/>
                <a:gd name="T19" fmla="*/ 52 h 114"/>
                <a:gd name="T20" fmla="*/ 154 w 283"/>
                <a:gd name="T21" fmla="*/ 87 h 114"/>
                <a:gd name="T22" fmla="*/ 213 w 283"/>
                <a:gd name="T23" fmla="*/ 53 h 114"/>
                <a:gd name="T24" fmla="*/ 171 w 283"/>
                <a:gd name="T25" fmla="*/ 87 h 114"/>
                <a:gd name="T26" fmla="*/ 180 w 283"/>
                <a:gd name="T27" fmla="*/ 87 h 114"/>
                <a:gd name="T28" fmla="*/ 120 w 283"/>
                <a:gd name="T29" fmla="*/ 87 h 114"/>
                <a:gd name="T30" fmla="*/ 117 w 283"/>
                <a:gd name="T31" fmla="*/ 56 h 114"/>
                <a:gd name="T32" fmla="*/ 86 w 283"/>
                <a:gd name="T33" fmla="*/ 2 h 114"/>
                <a:gd name="T34" fmla="*/ 145 w 283"/>
                <a:gd name="T35" fmla="*/ 52 h 114"/>
                <a:gd name="T36" fmla="*/ 142 w 283"/>
                <a:gd name="T37" fmla="*/ 87 h 114"/>
                <a:gd name="T38" fmla="*/ 93 w 283"/>
                <a:gd name="T39" fmla="*/ 79 h 114"/>
                <a:gd name="T40" fmla="*/ 89 w 283"/>
                <a:gd name="T41" fmla="*/ 79 h 114"/>
                <a:gd name="T42" fmla="*/ 87 w 283"/>
                <a:gd name="T43" fmla="*/ 69 h 114"/>
                <a:gd name="T44" fmla="*/ 95 w 283"/>
                <a:gd name="T45" fmla="*/ 62 h 114"/>
                <a:gd name="T46" fmla="*/ 93 w 283"/>
                <a:gd name="T47" fmla="*/ 79 h 114"/>
                <a:gd name="T48" fmla="*/ 67 w 283"/>
                <a:gd name="T49" fmla="*/ 86 h 114"/>
                <a:gd name="T50" fmla="*/ 37 w 283"/>
                <a:gd name="T51" fmla="*/ 82 h 114"/>
                <a:gd name="T52" fmla="*/ 25 w 283"/>
                <a:gd name="T53" fmla="*/ 77 h 114"/>
                <a:gd name="T54" fmla="*/ 18 w 283"/>
                <a:gd name="T55" fmla="*/ 2 h 114"/>
                <a:gd name="T56" fmla="*/ 76 w 283"/>
                <a:gd name="T57" fmla="*/ 55 h 114"/>
                <a:gd name="T58" fmla="*/ 22 w 283"/>
                <a:gd name="T59" fmla="*/ 87 h 114"/>
                <a:gd name="T60" fmla="*/ 220 w 283"/>
                <a:gd name="T61" fmla="*/ 0 h 114"/>
                <a:gd name="T62" fmla="*/ 215 w 283"/>
                <a:gd name="T63" fmla="*/ 0 h 114"/>
                <a:gd name="T64" fmla="*/ 147 w 283"/>
                <a:gd name="T65" fmla="*/ 52 h 114"/>
                <a:gd name="T66" fmla="*/ 84 w 283"/>
                <a:gd name="T67" fmla="*/ 52 h 114"/>
                <a:gd name="T68" fmla="*/ 16 w 283"/>
                <a:gd name="T69" fmla="*/ 0 h 114"/>
                <a:gd name="T70" fmla="*/ 14 w 283"/>
                <a:gd name="T71" fmla="*/ 113 h 114"/>
                <a:gd name="T72" fmla="*/ 35 w 283"/>
                <a:gd name="T73" fmla="*/ 113 h 114"/>
                <a:gd name="T74" fmla="*/ 66 w 283"/>
                <a:gd name="T75" fmla="*/ 89 h 114"/>
                <a:gd name="T76" fmla="*/ 81 w 283"/>
                <a:gd name="T77" fmla="*/ 89 h 114"/>
                <a:gd name="T78" fmla="*/ 90 w 283"/>
                <a:gd name="T79" fmla="*/ 89 h 114"/>
                <a:gd name="T80" fmla="*/ 112 w 283"/>
                <a:gd name="T81" fmla="*/ 113 h 114"/>
                <a:gd name="T82" fmla="*/ 142 w 283"/>
                <a:gd name="T83" fmla="*/ 89 h 114"/>
                <a:gd name="T84" fmla="*/ 170 w 283"/>
                <a:gd name="T85" fmla="*/ 89 h 114"/>
                <a:gd name="T86" fmla="*/ 190 w 283"/>
                <a:gd name="T87" fmla="*/ 113 h 114"/>
                <a:gd name="T88" fmla="*/ 210 w 283"/>
                <a:gd name="T89" fmla="*/ 108 h 114"/>
                <a:gd name="T90" fmla="*/ 266 w 283"/>
                <a:gd name="T91" fmla="*/ 89 h 114"/>
                <a:gd name="T92" fmla="*/ 220 w 283"/>
                <a:gd name="T9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83" h="114">
                  <a:moveTo>
                    <a:pt x="281" y="87"/>
                  </a:moveTo>
                  <a:cubicBezTo>
                    <a:pt x="266" y="87"/>
                    <a:pt x="266" y="87"/>
                    <a:pt x="266" y="8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22" y="87"/>
                    <a:pt x="222" y="87"/>
                    <a:pt x="222" y="87"/>
                  </a:cubicBezTo>
                  <a:cubicBezTo>
                    <a:pt x="222" y="85"/>
                    <a:pt x="222" y="85"/>
                    <a:pt x="222" y="85"/>
                  </a:cubicBezTo>
                  <a:cubicBezTo>
                    <a:pt x="223" y="84"/>
                    <a:pt x="223" y="83"/>
                    <a:pt x="223" y="81"/>
                  </a:cubicBezTo>
                  <a:cubicBezTo>
                    <a:pt x="226" y="71"/>
                    <a:pt x="233" y="60"/>
                    <a:pt x="244" y="60"/>
                  </a:cubicBezTo>
                  <a:cubicBezTo>
                    <a:pt x="249" y="60"/>
                    <a:pt x="254" y="62"/>
                    <a:pt x="253" y="69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6"/>
                    <a:pt x="273" y="61"/>
                    <a:pt x="269" y="56"/>
                  </a:cubicBezTo>
                  <a:cubicBezTo>
                    <a:pt x="266" y="51"/>
                    <a:pt x="258" y="48"/>
                    <a:pt x="248" y="48"/>
                  </a:cubicBezTo>
                  <a:cubicBezTo>
                    <a:pt x="241" y="48"/>
                    <a:pt x="231" y="50"/>
                    <a:pt x="222" y="55"/>
                  </a:cubicBezTo>
                  <a:cubicBezTo>
                    <a:pt x="222" y="2"/>
                    <a:pt x="222" y="2"/>
                    <a:pt x="222" y="2"/>
                  </a:cubicBezTo>
                  <a:cubicBezTo>
                    <a:pt x="281" y="2"/>
                    <a:pt x="281" y="2"/>
                    <a:pt x="281" y="2"/>
                  </a:cubicBezTo>
                  <a:cubicBezTo>
                    <a:pt x="281" y="87"/>
                    <a:pt x="281" y="87"/>
                    <a:pt x="281" y="87"/>
                  </a:cubicBezTo>
                  <a:cubicBezTo>
                    <a:pt x="281" y="87"/>
                    <a:pt x="281" y="87"/>
                    <a:pt x="281" y="87"/>
                  </a:cubicBezTo>
                  <a:close/>
                  <a:moveTo>
                    <a:pt x="246" y="101"/>
                  </a:moveTo>
                  <a:cubicBezTo>
                    <a:pt x="243" y="102"/>
                    <a:pt x="240" y="102"/>
                    <a:pt x="237" y="102"/>
                  </a:cubicBezTo>
                  <a:cubicBezTo>
                    <a:pt x="228" y="102"/>
                    <a:pt x="222" y="98"/>
                    <a:pt x="222" y="89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6" y="101"/>
                    <a:pt x="246" y="101"/>
                    <a:pt x="246" y="101"/>
                  </a:cubicBezTo>
                  <a:close/>
                  <a:moveTo>
                    <a:pt x="213" y="53"/>
                  </a:moveTo>
                  <a:cubicBezTo>
                    <a:pt x="213" y="65"/>
                    <a:pt x="213" y="65"/>
                    <a:pt x="213" y="65"/>
                  </a:cubicBezTo>
                  <a:cubicBezTo>
                    <a:pt x="209" y="71"/>
                    <a:pt x="206" y="77"/>
                    <a:pt x="205" y="82"/>
                  </a:cubicBezTo>
                  <a:cubicBezTo>
                    <a:pt x="204" y="83"/>
                    <a:pt x="204" y="85"/>
                    <a:pt x="204" y="87"/>
                  </a:cubicBezTo>
                  <a:cubicBezTo>
                    <a:pt x="195" y="87"/>
                    <a:pt x="195" y="87"/>
                    <a:pt x="195" y="87"/>
                  </a:cubicBezTo>
                  <a:cubicBezTo>
                    <a:pt x="203" y="52"/>
                    <a:pt x="203" y="52"/>
                    <a:pt x="203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56" y="87"/>
                    <a:pt x="156" y="87"/>
                    <a:pt x="156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213" y="2"/>
                    <a:pt x="213" y="2"/>
                    <a:pt x="213" y="2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3" y="53"/>
                    <a:pt x="213" y="53"/>
                    <a:pt x="213" y="53"/>
                  </a:cubicBezTo>
                  <a:close/>
                  <a:moveTo>
                    <a:pt x="180" y="87"/>
                  </a:moveTo>
                  <a:cubicBezTo>
                    <a:pt x="171" y="87"/>
                    <a:pt x="171" y="87"/>
                    <a:pt x="171" y="87"/>
                  </a:cubicBezTo>
                  <a:cubicBezTo>
                    <a:pt x="185" y="66"/>
                    <a:pt x="185" y="66"/>
                    <a:pt x="185" y="66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7"/>
                    <a:pt x="180" y="87"/>
                    <a:pt x="180" y="87"/>
                  </a:cubicBezTo>
                  <a:close/>
                  <a:moveTo>
                    <a:pt x="145" y="52"/>
                  </a:moveTo>
                  <a:cubicBezTo>
                    <a:pt x="130" y="52"/>
                    <a:pt x="130" y="52"/>
                    <a:pt x="130" y="52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04" y="87"/>
                    <a:pt x="104" y="87"/>
                    <a:pt x="104" y="87"/>
                  </a:cubicBezTo>
                  <a:cubicBezTo>
                    <a:pt x="112" y="84"/>
                    <a:pt x="117" y="78"/>
                    <a:pt x="119" y="70"/>
                  </a:cubicBezTo>
                  <a:cubicBezTo>
                    <a:pt x="120" y="64"/>
                    <a:pt x="119" y="59"/>
                    <a:pt x="117" y="56"/>
                  </a:cubicBezTo>
                  <a:cubicBezTo>
                    <a:pt x="113" y="51"/>
                    <a:pt x="105" y="52"/>
                    <a:pt x="98" y="52"/>
                  </a:cubicBezTo>
                  <a:cubicBezTo>
                    <a:pt x="97" y="52"/>
                    <a:pt x="86" y="52"/>
                    <a:pt x="86" y="52"/>
                  </a:cubicBezTo>
                  <a:cubicBezTo>
                    <a:pt x="86" y="2"/>
                    <a:pt x="86" y="2"/>
                    <a:pt x="86" y="2"/>
                  </a:cubicBezTo>
                  <a:cubicBezTo>
                    <a:pt x="145" y="2"/>
                    <a:pt x="145" y="2"/>
                    <a:pt x="145" y="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45" y="52"/>
                    <a:pt x="145" y="52"/>
                    <a:pt x="145" y="52"/>
                  </a:cubicBezTo>
                  <a:close/>
                  <a:moveTo>
                    <a:pt x="135" y="87"/>
                  </a:moveTo>
                  <a:cubicBezTo>
                    <a:pt x="141" y="65"/>
                    <a:pt x="141" y="65"/>
                    <a:pt x="141" y="65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35" y="87"/>
                    <a:pt x="135" y="87"/>
                    <a:pt x="135" y="87"/>
                  </a:cubicBezTo>
                  <a:cubicBezTo>
                    <a:pt x="135" y="87"/>
                    <a:pt x="135" y="87"/>
                    <a:pt x="135" y="87"/>
                  </a:cubicBezTo>
                  <a:close/>
                  <a:moveTo>
                    <a:pt x="93" y="79"/>
                  </a:moveTo>
                  <a:cubicBezTo>
                    <a:pt x="93" y="79"/>
                    <a:pt x="93" y="79"/>
                    <a:pt x="93" y="79"/>
                  </a:cubicBezTo>
                  <a:cubicBezTo>
                    <a:pt x="92" y="79"/>
                    <a:pt x="91" y="79"/>
                    <a:pt x="91" y="79"/>
                  </a:cubicBezTo>
                  <a:cubicBezTo>
                    <a:pt x="90" y="79"/>
                    <a:pt x="89" y="79"/>
                    <a:pt x="89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69"/>
                    <a:pt x="87" y="69"/>
                    <a:pt x="87" y="69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90" y="62"/>
                    <a:pt x="91" y="62"/>
                    <a:pt x="92" y="62"/>
                  </a:cubicBezTo>
                  <a:cubicBezTo>
                    <a:pt x="95" y="62"/>
                    <a:pt x="95" y="62"/>
                    <a:pt x="95" y="62"/>
                  </a:cubicBezTo>
                  <a:cubicBezTo>
                    <a:pt x="100" y="62"/>
                    <a:pt x="103" y="62"/>
                    <a:pt x="104" y="63"/>
                  </a:cubicBezTo>
                  <a:cubicBezTo>
                    <a:pt x="105" y="65"/>
                    <a:pt x="105" y="67"/>
                    <a:pt x="104" y="70"/>
                  </a:cubicBezTo>
                  <a:cubicBezTo>
                    <a:pt x="102" y="75"/>
                    <a:pt x="100" y="78"/>
                    <a:pt x="93" y="79"/>
                  </a:cubicBezTo>
                  <a:moveTo>
                    <a:pt x="76" y="55"/>
                  </a:moveTo>
                  <a:cubicBezTo>
                    <a:pt x="75" y="58"/>
                    <a:pt x="75" y="58"/>
                    <a:pt x="75" y="58"/>
                  </a:cubicBezTo>
                  <a:cubicBezTo>
                    <a:pt x="67" y="86"/>
                    <a:pt x="67" y="86"/>
                    <a:pt x="67" y="86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7" y="82"/>
                    <a:pt x="37" y="82"/>
                    <a:pt x="37" y="82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lose/>
                  <a:moveTo>
                    <a:pt x="22" y="87"/>
                  </a:move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ubicBezTo>
                    <a:pt x="22" y="87"/>
                    <a:pt x="22" y="87"/>
                    <a:pt x="22" y="87"/>
                  </a:cubicBezTo>
                  <a:close/>
                  <a:moveTo>
                    <a:pt x="220" y="0"/>
                  </a:moveTo>
                  <a:cubicBezTo>
                    <a:pt x="220" y="57"/>
                    <a:pt x="220" y="57"/>
                    <a:pt x="220" y="57"/>
                  </a:cubicBezTo>
                  <a:cubicBezTo>
                    <a:pt x="218" y="59"/>
                    <a:pt x="216" y="60"/>
                    <a:pt x="215" y="62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59" y="113"/>
                    <a:pt x="59" y="113"/>
                    <a:pt x="59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85" y="89"/>
                    <a:pt x="85" y="89"/>
                    <a:pt x="85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90" y="89"/>
                    <a:pt x="90" y="89"/>
                    <a:pt x="90" y="89"/>
                  </a:cubicBezTo>
                  <a:cubicBezTo>
                    <a:pt x="119" y="89"/>
                    <a:pt x="119" y="89"/>
                    <a:pt x="119" y="89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35" y="89"/>
                    <a:pt x="135" y="89"/>
                    <a:pt x="135" y="89"/>
                  </a:cubicBezTo>
                  <a:cubicBezTo>
                    <a:pt x="142" y="89"/>
                    <a:pt x="142" y="89"/>
                    <a:pt x="142" y="89"/>
                  </a:cubicBezTo>
                  <a:cubicBezTo>
                    <a:pt x="142" y="113"/>
                    <a:pt x="142" y="113"/>
                    <a:pt x="142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90" y="113"/>
                    <a:pt x="190" y="113"/>
                    <a:pt x="190" y="113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204" y="89"/>
                    <a:pt x="204" y="89"/>
                    <a:pt x="204" y="89"/>
                  </a:cubicBezTo>
                  <a:cubicBezTo>
                    <a:pt x="203" y="96"/>
                    <a:pt x="205" y="103"/>
                    <a:pt x="210" y="108"/>
                  </a:cubicBezTo>
                  <a:cubicBezTo>
                    <a:pt x="216" y="113"/>
                    <a:pt x="225" y="114"/>
                    <a:pt x="232" y="114"/>
                  </a:cubicBezTo>
                  <a:cubicBezTo>
                    <a:pt x="241" y="114"/>
                    <a:pt x="251" y="113"/>
                    <a:pt x="260" y="111"/>
                  </a:cubicBezTo>
                  <a:cubicBezTo>
                    <a:pt x="266" y="89"/>
                    <a:pt x="266" y="89"/>
                    <a:pt x="266" y="89"/>
                  </a:cubicBezTo>
                  <a:cubicBezTo>
                    <a:pt x="283" y="89"/>
                    <a:pt x="283" y="89"/>
                    <a:pt x="283" y="89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220" y="0"/>
                    <a:pt x="220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A6246C3-5BC1-4146-9E95-B8B3F1B77C22}"/>
              </a:ext>
            </a:extLst>
          </p:cNvPr>
          <p:cNvSpPr>
            <a:spLocks noChangeAspect="1"/>
          </p:cNvSpPr>
          <p:nvPr userDrawn="1"/>
        </p:nvSpPr>
        <p:spPr>
          <a:xfrm>
            <a:off x="7686675" y="736722"/>
            <a:ext cx="3764024" cy="5415923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06" name="Text Placeholder 3">
            <a:extLst>
              <a:ext uri="{FF2B5EF4-FFF2-40B4-BE49-F238E27FC236}">
                <a16:creationId xmlns:a16="http://schemas.microsoft.com/office/drawing/2014/main" id="{E9A5689E-A0AC-4126-A5A7-5CD8528C6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3138" y="5075895"/>
            <a:ext cx="3229510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53138" y="1002219"/>
            <a:ext cx="3229510" cy="3950972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ECC0639-96E3-412C-BC90-5540FE2BEC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9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00E6EA-7AA4-4C98-8E47-F5F83446E051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1468380"/>
            <a:ext cx="5885053" cy="4087973"/>
          </a:xfrm>
          <a:solidFill>
            <a:schemeClr val="accent1"/>
          </a:solidFill>
        </p:spPr>
        <p:txBody>
          <a:bodyPr anchor="ctr"/>
          <a:lstStyle>
            <a:lvl1pPr algn="ctr"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642337" y="1468380"/>
            <a:ext cx="3551186" cy="3098109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648627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648628" y="4746353"/>
            <a:ext cx="3551186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82C8FF-4554-4D33-9E91-3BB7D4A856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42337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58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9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Vertical Window Imag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445BA5F7-F13B-4C20-B0E0-112E55400EE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41301" y="732868"/>
            <a:ext cx="3727618" cy="5392264"/>
          </a:xfrm>
          <a:solidFill>
            <a:schemeClr val="accent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89910" y="1453783"/>
            <a:ext cx="5301922" cy="344622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729193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5489910" y="4953575"/>
            <a:ext cx="5301922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0418D56-2AD4-4649-A855-7B7DABEE4F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9910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4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Horizont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129527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872149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1D0B9D96-907F-4E37-B5A7-830AD095F223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909676" y="1456388"/>
            <a:ext cx="6283848" cy="4364991"/>
          </a:xfrm>
          <a:solidFill>
            <a:schemeClr val="accent2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lang="en-GB" sz="1000" b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E8E14845-BB2E-4EA2-8CBD-F35A520E36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301" y="1456388"/>
            <a:ext cx="3432043" cy="3427743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423222F2-0E39-45E4-8918-49125CD7C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1301" y="5007010"/>
            <a:ext cx="3432043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6BE9D60-8E37-4DED-A951-A9C36EAA76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26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ight Vertical Window Image_Cobal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glass cube&#10;&#10;Description automatically generated">
            <a:extLst>
              <a:ext uri="{FF2B5EF4-FFF2-40B4-BE49-F238E27FC236}">
                <a16:creationId xmlns:a16="http://schemas.microsoft.com/office/drawing/2014/main" id="{75260361-1DD5-DD79-E1EF-5E4515723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1302" y="1456388"/>
            <a:ext cx="5506648" cy="3442681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EEC5B735-00AD-41B9-A513-0F7783FFBE3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614966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C5CCCCF1-8E34-4341-A6C5-97CC39680E5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1357588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>
              <a:alpha val="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 Placeholder 3"/>
          <p:cNvSpPr>
            <a:spLocks noGrp="1"/>
          </p:cNvSpPr>
          <p:nvPr userDrawn="1">
            <p:ph type="body" sz="quarter" idx="11"/>
          </p:nvPr>
        </p:nvSpPr>
        <p:spPr>
          <a:xfrm>
            <a:off x="741302" y="5007009"/>
            <a:ext cx="550664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A84BD71-38D7-4AC1-B38A-7DE8843A6D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79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7146235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58FFCE-70FF-E8A9-1517-97027D03F8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2081" y="518036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EE4DAAF-DB2D-B25E-7B9D-0F44ED0E90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081" y="125389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E977FBC-993E-BFBA-2C6A-08F5FD3B70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22081" y="1986458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098360-6E22-9234-483A-A7F9E44963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22081" y="2719019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F3E4A42-CF45-2915-6B61-FC6A1477D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2081" y="3451580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B54C6F9-611B-E49E-B97E-FDA98D09CB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22081" y="4191427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112AF84-8A2E-895B-95CA-747F03F655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22081" y="4931274"/>
            <a:ext cx="1747838" cy="620712"/>
          </a:xfrm>
        </p:spPr>
        <p:txBody>
          <a:bodyPr anchor="ctr"/>
          <a:lstStyle>
            <a:lvl1pPr algn="r">
              <a:lnSpc>
                <a:spcPct val="7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42361" y="517525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BDAFC491-0350-72A9-16A2-A09188C5C2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42361" y="1248732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1EF314C3-E5F9-AB91-47BC-9447371C24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42361" y="1986458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641329B7-7972-61B0-C0AC-5550316CF8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42361" y="2727844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EEBD0451-DC0E-3D9D-8C4A-787DC788A9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42361" y="3447406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35029D0-C3C3-1A14-5396-8F72B83715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42361" y="4189839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F8F78E0D-C775-4EB0-7C8E-EB5FF98568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42361" y="4936023"/>
            <a:ext cx="3846440" cy="623888"/>
          </a:xfrm>
        </p:spPr>
        <p:txBody>
          <a:bodyPr anchor="ctr"/>
          <a:lstStyle>
            <a:lvl1pPr>
              <a:spcAft>
                <a:spcPts val="0"/>
              </a:spcAft>
              <a:defRPr sz="1800"/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33359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00C76C-8FDF-939D-9BF7-ED86B8A09683}"/>
              </a:ext>
            </a:extLst>
          </p:cNvPr>
          <p:cNvSpPr/>
          <p:nvPr userDrawn="1"/>
        </p:nvSpPr>
        <p:spPr>
          <a:xfrm>
            <a:off x="0" y="0"/>
            <a:ext cx="6482281" cy="6029608"/>
          </a:xfrm>
          <a:prstGeom prst="rect">
            <a:avLst/>
          </a:prstGeom>
          <a:gradFill>
            <a:gsLst>
              <a:gs pos="0">
                <a:srgbClr val="7213EA"/>
              </a:gs>
              <a:gs pos="100000">
                <a:srgbClr val="1E49E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30DB1C0-6A8F-C400-D535-756CF0C3CD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0511" y="517524"/>
            <a:ext cx="4498290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55763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F4025-D6D1-3FCA-5131-3FE2BFC2B5A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" y="0"/>
            <a:ext cx="6509442" cy="6029325"/>
          </a:xfr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t"/>
          <a:lstStyle>
            <a:lvl1pPr algn="ctr">
              <a:defRPr lang="en-US"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2296814"/>
            <a:ext cx="4020256" cy="533400"/>
          </a:xfrm>
        </p:spPr>
        <p:txBody>
          <a:bodyPr anchor="ctr"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B27649C9-300B-0A43-CF29-9A706DD5F4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26313" y="517524"/>
            <a:ext cx="4362488" cy="5231425"/>
          </a:xfrm>
        </p:spPr>
        <p:txBody>
          <a:bodyPr anchor="ctr"/>
          <a:lstStyle>
            <a:lvl1pPr>
              <a:spcAft>
                <a:spcPts val="0"/>
              </a:spcAft>
              <a:defRPr sz="1800" b="1">
                <a:solidFill>
                  <a:schemeClr val="tx2"/>
                </a:solidFill>
              </a:defRPr>
            </a:lvl1pPr>
            <a:lvl2pPr>
              <a:spcAft>
                <a:spcPts val="0"/>
              </a:spcAft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60254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505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w/ super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704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993648" y="189259"/>
            <a:ext cx="10204704" cy="184666"/>
          </a:xfrm>
        </p:spPr>
        <p:txBody>
          <a:bodyPr>
            <a:noAutofit/>
          </a:bodyPr>
          <a:lstStyle>
            <a:lvl1pPr>
              <a:defRPr sz="1200" b="1">
                <a:solidFill>
                  <a:srgbClr val="00338D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1007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007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06C60-BBAD-4B44-9D69-53684892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147A601A-3AE8-4889-A026-9740E00CCFBB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53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8759824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29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C99C-7410-4D22-BA8D-48877FCF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0349-D058-A407-0551-F4C4F62496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19213"/>
            <a:ext cx="7071275" cy="4552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70D78B4-5113-23F5-AF68-C56D3317A34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74455" y="1319213"/>
            <a:ext cx="2822182" cy="4552950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15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_doub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733E-E364-489F-B7AF-D2002EE59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800"/>
            <a:ext cx="10204450" cy="10010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7C9FF4-C999-39DC-2F76-6B71B5A8BE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59824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9276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FD8B3-A559-4E34-BA53-32A7F927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48947F85-E5F1-445E-BD2C-8963D165668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5E1DB-F124-D258-2E60-1D91DC98BF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330325"/>
            <a:ext cx="8745674" cy="454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0490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_double title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8">
            <a:extLst>
              <a:ext uri="{FF2B5EF4-FFF2-40B4-BE49-F238E27FC236}">
                <a16:creationId xmlns:a16="http://schemas.microsoft.com/office/drawing/2014/main" id="{F4561A05-7671-4539-AB97-A9979F67EB4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AAE32-05EB-420A-97AB-3254804D3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364" y="431799"/>
            <a:ext cx="10204450" cy="9633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567897B5-3A96-440B-8018-FDD880280B2A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56427-BEBE-72D5-9F72-57A321667E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5363" y="1700213"/>
            <a:ext cx="8745536" cy="4176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9840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3EC5E-F3D7-A1BA-615C-40D2A155A4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A7FDECC-089E-DBE5-1B2C-4C338AF06D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325"/>
            <a:ext cx="4968000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0495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918AE-52AC-4531-9640-0D2CA3A28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79D6C947-06F1-4188-A558-E10C77FF12CE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bg1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2138313-6F7E-9B18-D72C-5FB26A14BE9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51948A6-255B-1B23-B9F9-4670FB4176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0800" y="1330125"/>
            <a:ext cx="4968000" cy="4546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8903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ne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D32ADA-D319-4A1F-BF43-8C0B259F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E5A1F-6A53-8F08-BF73-3A465A63460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5363" y="1338067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A9A8E5C-1DF5-A8AD-B648-0094CAE89A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5363" y="3741091"/>
            <a:ext cx="10195200" cy="2136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24330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Two Column +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49"/>
            <a:ext cx="4967288" cy="3825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6057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Intro + Bottom content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98D60-3AA9-4DD4-AFCF-8682C70E39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200" y="1322389"/>
            <a:ext cx="10185400" cy="518400"/>
          </a:xfrm>
        </p:spPr>
        <p:txBody>
          <a:bodyPr/>
          <a:lstStyle>
            <a:lvl1pPr>
              <a:defRPr sz="1800" kern="0"/>
            </a:lvl1pPr>
          </a:lstStyle>
          <a:p>
            <a:pPr lvl="0"/>
            <a:r>
              <a:rPr lang="en-US"/>
              <a:t>Introduction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C6ADA-51FB-F5AE-B78E-993E3048257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33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7FAE8E2-031A-E822-2E9D-3F665FC6E6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20800" y="2051050"/>
            <a:ext cx="4967288" cy="14707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D83062-1E57-69E1-3C81-C160D7CFD6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03199" y="3675709"/>
            <a:ext cx="10187363" cy="2202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3465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wo column + header ima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3AC61-1BCB-1F69-DD53-B0AAED647DF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250166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29106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CD9A9-9858-C4E3-4703-C9709BC2E3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03300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6B4FB7A-CA88-373B-4037-472FAF622F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412" y="3733800"/>
            <a:ext cx="4967288" cy="21902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30028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93B809-7A30-47BC-953E-AF9FE10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054C0-4190-A073-FF06-A5EB62316AA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95363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6105C62-91E0-B66D-85BA-D26896F940D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02150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87642C3-1AC2-77F0-4602-3BAD72478B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08937" y="1331912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5E75ECB-D0CA-2D00-702F-1AD57C5EBA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95363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B33D029-7198-2E2E-5E6C-B289731A27F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502150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A19DB0-EA08-D699-0C88-37B4D178D11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08937" y="3742126"/>
            <a:ext cx="3187700" cy="2134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50687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0C064-15D1-24D5-3E98-71739E8B8974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00330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28DB69-A5E6-3995-43BE-21D7823D616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74470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84EA45F-006F-C693-3D9A-C894873CED4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45641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B52F-B0E0-37C7-5F65-EEF98E215D4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21681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B7BF63F-B2C0-FCAC-0EB5-D84B8D6B88E0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287982" y="1322387"/>
            <a:ext cx="1900238" cy="4554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135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9AD75-9C5D-491A-8EB6-1E4763A9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5948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5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A68D3E60-F95F-4250-92C1-89CF93433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1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D8E592C-F128-4E4B-970B-BFB5C0F2A4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8984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E6B17CD-E0EF-40A4-A171-4E4B731CE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34768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3C9A44B-2A8F-416D-A76B-F3A018572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0552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3A5B3AC-C2E0-40CF-9D31-036461F790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69E3860-942E-40E2-A1C8-AF5DF2967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68984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8E580107-2025-4C04-9884-4A6DBB63D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4768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BC4D5128-392D-4FC9-A83F-FA43203A40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552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8EB5529-8601-4864-9983-FBB672B8B9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66337" y="1331913"/>
            <a:ext cx="1935163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4715BC67-F699-49E6-B5D7-22ED9DFA8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6337" y="1936712"/>
            <a:ext cx="1728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 algn="l">
              <a:defRPr sz="140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51C022-C0B7-4310-BC9F-D7C63034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1866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5 column + intro + head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580C36-1E70-46DD-9783-AFD66B7DEC90}"/>
              </a:ext>
            </a:extLst>
          </p:cNvPr>
          <p:cNvSpPr/>
          <p:nvPr userDrawn="1"/>
        </p:nvSpPr>
        <p:spPr>
          <a:xfrm>
            <a:off x="0" y="0"/>
            <a:ext cx="12192000" cy="26860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557E01-A30E-46EA-BAB3-4F33E0992F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63" y="1330325"/>
            <a:ext cx="10185400" cy="246221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9724627-195E-4BFD-9A60-FFD6EECF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3FA197-29C7-A542-7F4A-98E54EAA4044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95363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0062C7F-1E7F-D3F0-42DA-19C1A9676E4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048397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DB8C39D9-73AE-A115-2AC4-E84A2758E601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101431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D9CEF0B-75E3-E133-3C7E-37C7249C4ACC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154465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891467F-14E8-7772-2AA4-3FE5032AA06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207500" y="2009775"/>
            <a:ext cx="1989137" cy="3938538"/>
          </a:xfr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US"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9241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2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70D7C0-6953-439A-A54E-CED56520F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4634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4 Columns_Cobal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A5FBEF-FE77-4CC8-B2D5-D94327DAF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320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659D9BAA-2BF4-4A94-BAA4-5D091A2962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3775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E3D170C1-7106-44D2-A62F-A804F244A0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84350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DDAC4CF-AC2F-4D83-9FB0-DDFB71EE9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74926" y="1936713"/>
            <a:ext cx="2196000" cy="3940213"/>
          </a:xfrm>
          <a:solidFill>
            <a:schemeClr val="bg1">
              <a:lumMod val="85000"/>
            </a:schemeClr>
          </a:solidFill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C84B130-9B9F-460C-87A1-4E3012ECEA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320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C076374-F8FA-413A-9C7F-81C8235123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3775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2DC24D7-E120-435A-8A2A-98E939AC4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350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1F15369-328E-43E6-894F-1F86414EB3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4926" y="1331913"/>
            <a:ext cx="2424887" cy="604800"/>
          </a:xfrm>
          <a:prstGeom prst="homePlate">
            <a:avLst>
              <a:gd name="adj" fmla="val 34200"/>
            </a:avLst>
          </a:prstGeom>
          <a:solidFill>
            <a:schemeClr val="accent1"/>
          </a:solidFill>
        </p:spPr>
        <p:txBody>
          <a:bodyPr lIns="108000" tIns="108000" rIns="108000" bIns="108000" anchor="ctr"/>
          <a:lstStyle>
            <a:lvl1pPr algn="l"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90D0D6-CEB9-47AA-B0BF-EB213FE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8119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FIVE COLUMN + Subtitl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7EC625-DE37-4829-ACBE-0373F0B82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32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>
                <a:solidFill>
                  <a:schemeClr val="tx1"/>
                </a:solidFill>
              </a:defRPr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 ker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037C46F-D057-4106-9B45-A730A557B5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726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E33DBCF-2199-4682-AAC2-C3FC0CBE92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420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130E5C8-8660-4D01-AD3B-CEEFB37F753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11400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404CCF0-6C3D-42EE-9F8D-FE237FEEB1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80798" y="1322388"/>
            <a:ext cx="1899657" cy="4554538"/>
          </a:xfrm>
          <a:solidFill>
            <a:srgbClr val="E5E5E5"/>
          </a:solidFill>
        </p:spPr>
        <p:txBody>
          <a:bodyPr lIns="91440" tIns="1005840" rIns="91440"/>
          <a:lstStyle>
            <a:lvl1pPr>
              <a:defRPr sz="1600" b="1" spc="0"/>
            </a:lvl1pPr>
            <a:lvl2pPr>
              <a:defRPr sz="1600" b="0"/>
            </a:lvl2pPr>
            <a:lvl3pPr>
              <a:defRPr sz="1600" kern="0"/>
            </a:lvl3pPr>
            <a:lvl4pPr>
              <a:defRPr sz="1600" kern="0"/>
            </a:lvl4pPr>
            <a:lvl5pPr marL="461963" indent="-231775">
              <a:buClr>
                <a:schemeClr val="tx2"/>
              </a:buClr>
              <a:buFont typeface="Arial" panose="020B0604020202020204" pitchFamily="34" charset="0"/>
              <a:buChar char="-"/>
              <a:defRPr sz="1600" kern="0"/>
            </a:lvl5pPr>
            <a:lvl7pPr>
              <a:defRPr sz="1600"/>
            </a:lvl7pPr>
            <a:lvl8pPr>
              <a:defRPr sz="1600"/>
            </a:lvl8pPr>
            <a:lvl9pPr marL="1090613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rgbClr val="00338D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7138E-6EE9-4E16-AB30-D7C7DA3DCE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8538" y="1630363"/>
            <a:ext cx="1906587" cy="563562"/>
          </a:xfrm>
          <a:solidFill>
            <a:srgbClr val="1E49E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E652417-F61A-4ABE-AAED-E30436B90B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73464" y="1630363"/>
            <a:ext cx="1906587" cy="563562"/>
          </a:xfrm>
          <a:solidFill>
            <a:schemeClr val="tx2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218554-B99A-45E3-9AE4-434D8CA5A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40699" y="1630363"/>
            <a:ext cx="1906587" cy="563562"/>
          </a:xfrm>
          <a:solidFill>
            <a:schemeClr val="accent4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FCA38BE-76B7-4635-8179-9D7DD99CD97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07934" y="1630363"/>
            <a:ext cx="1906587" cy="563562"/>
          </a:xfrm>
          <a:solidFill>
            <a:schemeClr val="accent3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2020005-E0B8-4233-8022-8AC559F11D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80798" y="1630363"/>
            <a:ext cx="1906587" cy="563562"/>
          </a:xfrm>
          <a:solidFill>
            <a:schemeClr val="accent1"/>
          </a:solidFill>
        </p:spPr>
        <p:txBody>
          <a:bodyPr anchor="ctr"/>
          <a:lstStyle>
            <a:lvl1pPr algn="ctr">
              <a:defRPr sz="1600" b="1" ker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1399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Quad Box with Center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19862B5-E58D-4F98-8070-F04E6659AC3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3346" y="1330325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4967685 w 4967685"/>
              <a:gd name="connsiteY1" fmla="*/ 0 h 2132614"/>
              <a:gd name="connsiteX2" fmla="*/ 4967685 w 4967685"/>
              <a:gd name="connsiteY2" fmla="*/ 1013538 h 2132614"/>
              <a:gd name="connsiteX3" fmla="*/ 3364916 w 4967685"/>
              <a:gd name="connsiteY3" fmla="*/ 1013538 h 2132614"/>
              <a:gd name="connsiteX4" fmla="*/ 3364916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4967685" y="0"/>
                </a:lnTo>
                <a:lnTo>
                  <a:pt x="4967685" y="1013538"/>
                </a:lnTo>
                <a:lnTo>
                  <a:pt x="3364916" y="1013538"/>
                </a:lnTo>
                <a:lnTo>
                  <a:pt x="3364916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EEBDCDC-F212-4ED4-8D32-7B1BC919EF2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232260" y="1330325"/>
            <a:ext cx="4970724" cy="2132614"/>
          </a:xfrm>
          <a:custGeom>
            <a:avLst/>
            <a:gdLst>
              <a:gd name="connsiteX0" fmla="*/ 0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1602767 w 4970724"/>
              <a:gd name="connsiteY3" fmla="*/ 2132614 h 2132614"/>
              <a:gd name="connsiteX4" fmla="*/ 1602767 w 4970724"/>
              <a:gd name="connsiteY4" fmla="*/ 1013538 h 2132614"/>
              <a:gd name="connsiteX5" fmla="*/ 0 w 4970724"/>
              <a:gd name="connsiteY5" fmla="*/ 1013538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0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1602767" y="2132614"/>
                </a:lnTo>
                <a:lnTo>
                  <a:pt x="1602767" y="1013538"/>
                </a:lnTo>
                <a:lnTo>
                  <a:pt x="0" y="10135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E0E984E-3A85-42BD-A2C6-26D3EB300D8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003346" y="3747502"/>
            <a:ext cx="4967685" cy="2132614"/>
          </a:xfrm>
          <a:custGeom>
            <a:avLst/>
            <a:gdLst>
              <a:gd name="connsiteX0" fmla="*/ 0 w 4967685"/>
              <a:gd name="connsiteY0" fmla="*/ 0 h 2132614"/>
              <a:gd name="connsiteX1" fmla="*/ 3364916 w 4967685"/>
              <a:gd name="connsiteY1" fmla="*/ 0 h 2132614"/>
              <a:gd name="connsiteX2" fmla="*/ 3364916 w 4967685"/>
              <a:gd name="connsiteY2" fmla="*/ 1119077 h 2132614"/>
              <a:gd name="connsiteX3" fmla="*/ 4967685 w 4967685"/>
              <a:gd name="connsiteY3" fmla="*/ 1119077 h 2132614"/>
              <a:gd name="connsiteX4" fmla="*/ 4967685 w 4967685"/>
              <a:gd name="connsiteY4" fmla="*/ 2132614 h 2132614"/>
              <a:gd name="connsiteX5" fmla="*/ 0 w 4967685"/>
              <a:gd name="connsiteY5" fmla="*/ 2132614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7685" h="2132614">
                <a:moveTo>
                  <a:pt x="0" y="0"/>
                </a:moveTo>
                <a:lnTo>
                  <a:pt x="3364916" y="0"/>
                </a:lnTo>
                <a:lnTo>
                  <a:pt x="3364916" y="1119077"/>
                </a:lnTo>
                <a:lnTo>
                  <a:pt x="4967685" y="1119077"/>
                </a:lnTo>
                <a:lnTo>
                  <a:pt x="4967685" y="2132614"/>
                </a:lnTo>
                <a:lnTo>
                  <a:pt x="0" y="2132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08000" tIns="108000" rIns="1872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DB6DB5B-6EBB-4E77-8ECE-2DE4424BD66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232260" y="3747502"/>
            <a:ext cx="4970724" cy="2132614"/>
          </a:xfrm>
          <a:custGeom>
            <a:avLst/>
            <a:gdLst>
              <a:gd name="connsiteX0" fmla="*/ 1602767 w 4970724"/>
              <a:gd name="connsiteY0" fmla="*/ 0 h 2132614"/>
              <a:gd name="connsiteX1" fmla="*/ 4970724 w 4970724"/>
              <a:gd name="connsiteY1" fmla="*/ 0 h 2132614"/>
              <a:gd name="connsiteX2" fmla="*/ 4970724 w 4970724"/>
              <a:gd name="connsiteY2" fmla="*/ 2132614 h 2132614"/>
              <a:gd name="connsiteX3" fmla="*/ 0 w 4970724"/>
              <a:gd name="connsiteY3" fmla="*/ 2132614 h 2132614"/>
              <a:gd name="connsiteX4" fmla="*/ 0 w 4970724"/>
              <a:gd name="connsiteY4" fmla="*/ 1119077 h 2132614"/>
              <a:gd name="connsiteX5" fmla="*/ 1602767 w 4970724"/>
              <a:gd name="connsiteY5" fmla="*/ 1119077 h 213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0724" h="2132614">
                <a:moveTo>
                  <a:pt x="1602767" y="0"/>
                </a:moveTo>
                <a:lnTo>
                  <a:pt x="4970724" y="0"/>
                </a:lnTo>
                <a:lnTo>
                  <a:pt x="4970724" y="2132614"/>
                </a:lnTo>
                <a:lnTo>
                  <a:pt x="0" y="2132614"/>
                </a:lnTo>
                <a:lnTo>
                  <a:pt x="0" y="1119077"/>
                </a:lnTo>
                <a:lnTo>
                  <a:pt x="1602767" y="11190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1872000" tIns="108000" rIns="108000" bIns="108000">
            <a:no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CA206-C726-4930-8059-66751EC1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9FE0EB-C435-5FB3-FCE5-D3B348E2ACAE}"/>
              </a:ext>
            </a:extLst>
          </p:cNvPr>
          <p:cNvSpPr>
            <a:spLocks noGrp="1"/>
          </p:cNvSpPr>
          <p:nvPr>
            <p:ph sz="quarter" idx="57"/>
          </p:nvPr>
        </p:nvSpPr>
        <p:spPr>
          <a:xfrm>
            <a:off x="4570413" y="2546350"/>
            <a:ext cx="3049649" cy="2132013"/>
          </a:xfrm>
          <a:solidFill>
            <a:schemeClr val="accent1"/>
          </a:solidFill>
          <a:ln>
            <a:noFill/>
          </a:ln>
        </p:spPr>
        <p:txBody>
          <a:bodyPr vert="horz" lIns="108000" tIns="108000" rIns="108000" bIns="108000" rtlCol="0" anchor="ctr" anchorCtr="1">
            <a:noAutofit/>
          </a:bodyPr>
          <a:lstStyle>
            <a:lvl1pPr algn="ctr">
              <a:defRPr lang="en-US" dirty="0" smtClean="0">
                <a:solidFill>
                  <a:schemeClr val="bg1"/>
                </a:solidFill>
                <a:cs typeface="Arial" panose="020B0604020202020204" pitchFamily="34" charset="0"/>
              </a:defRPr>
            </a:lvl1pPr>
            <a:lvl2pPr algn="ctr">
              <a:defRPr lang="en-US" dirty="0" smtClean="0">
                <a:solidFill>
                  <a:schemeClr val="bg1"/>
                </a:solidFill>
              </a:defRPr>
            </a:lvl2pPr>
            <a:lvl3pPr algn="ctr">
              <a:defRPr lang="en-US" dirty="0" smtClean="0">
                <a:solidFill>
                  <a:schemeClr val="bg1"/>
                </a:solidFill>
              </a:defRPr>
            </a:lvl3pPr>
            <a:lvl4pPr algn="ctr">
              <a:defRPr lang="en-US" dirty="0" smtClean="0">
                <a:solidFill>
                  <a:schemeClr val="bg1"/>
                </a:solidFill>
              </a:defRPr>
            </a:lvl4pPr>
            <a:lvl5pPr algn="ctr">
              <a:defRPr lang="en-US" dirty="0">
                <a:solidFill>
                  <a:schemeClr val="bg1"/>
                </a:solidFill>
              </a:defRPr>
            </a:lvl5pPr>
          </a:lstStyle>
          <a:p>
            <a:pPr lvl="0" algn="ctr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578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 + Blu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76913D-77B2-43C9-9A9E-B86D68E1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EBE6-C4EB-3D63-4351-4FBEA06A0B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2588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E5B1772-E65F-A92F-6EE3-3FB7C60E2E1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40394" y="1720850"/>
            <a:ext cx="4968000" cy="41560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vert="horz" lIns="108000" tIns="108000" rIns="108000" bIns="10800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07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our Boxes +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36040" y="1720714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36040" y="1331913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100320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100320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6236040" y="4130720"/>
            <a:ext cx="4968000" cy="1746205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lIns="108000" tIns="108000" rIns="108000" bIns="10800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6"/>
          </p:nvPr>
        </p:nvSpPr>
        <p:spPr>
          <a:xfrm>
            <a:off x="6236040" y="3741920"/>
            <a:ext cx="4968000" cy="388800"/>
          </a:xfrm>
          <a:solidFill>
            <a:schemeClr val="accent2"/>
          </a:solidFill>
          <a:ln w="12700">
            <a:noFill/>
          </a:ln>
        </p:spPr>
        <p:txBody>
          <a:bodyPr lIns="108000" tIns="108000" rIns="108000" bIns="108000" anchor="ctr"/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F8E881-FC4C-4F00-9389-FF3C71D7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5210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BE67C5C-769B-4AEA-A1B7-EFD4A3AA23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2224444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2">
    <p:bg>
      <p:bgPr>
        <a:gradFill flip="none" rotWithShape="1">
          <a:gsLst>
            <a:gs pos="0">
              <a:schemeClr val="accent5"/>
            </a:gs>
            <a:gs pos="100000">
              <a:schemeClr val="accent1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AF31653-DA95-4567-9106-71E1E49BA627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2925CE2F-8945-49DE-BCC2-8BCACF480E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C346F2F1-AF73-4284-8702-745152AF5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6095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A87A788-0BF5-4419-BCFC-809F6D2E93AA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4325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5F7723F4-8321-43A3-962F-3DEEE5C6DE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9860" y="5308261"/>
            <a:ext cx="5252400" cy="246221"/>
          </a:xfrm>
        </p:spPr>
        <p:txBody>
          <a:bodyPr wrap="square" anchor="b">
            <a:sp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  <a:lvl2pPr>
              <a:defRPr sz="1600">
                <a:solidFill>
                  <a:schemeClr val="accent2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17B18B8B-EB09-48D8-AC31-3A9DFAC0B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282657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36415CC-18EE-44C6-AA6A-0C70BEB38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1301" y="4240696"/>
            <a:ext cx="5748399" cy="1854200"/>
          </a:xfrm>
        </p:spPr>
        <p:txBody>
          <a:bodyPr anchor="b"/>
          <a:lstStyle>
            <a:lvl1pPr>
              <a:spcAft>
                <a:spcPts val="1000"/>
              </a:spcAft>
              <a:defRPr lang="en-US" sz="900" b="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spcAft>
                <a:spcPts val="1000"/>
              </a:spcAft>
              <a:defRPr sz="900" b="0">
                <a:solidFill>
                  <a:schemeClr val="tx1"/>
                </a:solidFill>
              </a:defRPr>
            </a:lvl2pPr>
          </a:lstStyle>
          <a:p>
            <a:pPr marL="0" lv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Second level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B7DCF77-C63C-4BBE-88C9-6A8B122B82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301" y="736722"/>
            <a:ext cx="914400" cy="3683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81CA90-D592-C9D2-D312-E24E59BEEAD5}"/>
              </a:ext>
            </a:extLst>
          </p:cNvPr>
          <p:cNvSpPr txBox="1"/>
          <p:nvPr userDrawn="1"/>
        </p:nvSpPr>
        <p:spPr>
          <a:xfrm>
            <a:off x="741301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Learn about us: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A9FA3A8-95F7-342F-0770-F1DF6F57C670}"/>
              </a:ext>
            </a:extLst>
          </p:cNvPr>
          <p:cNvSpPr/>
          <p:nvPr userDrawn="1"/>
        </p:nvSpPr>
        <p:spPr>
          <a:xfrm>
            <a:off x="1914717" y="3715275"/>
            <a:ext cx="380190" cy="380190"/>
          </a:xfrm>
          <a:custGeom>
            <a:avLst/>
            <a:gdLst>
              <a:gd name="connsiteX0" fmla="*/ 192044 w 207146"/>
              <a:gd name="connsiteY0" fmla="*/ 0 h 207146"/>
              <a:gd name="connsiteX1" fmla="*/ 15251 w 207146"/>
              <a:gd name="connsiteY1" fmla="*/ 0 h 207146"/>
              <a:gd name="connsiteX2" fmla="*/ 0 w 207146"/>
              <a:gd name="connsiteY2" fmla="*/ 15251 h 207146"/>
              <a:gd name="connsiteX3" fmla="*/ 0 w 207146"/>
              <a:gd name="connsiteY3" fmla="*/ 191896 h 207146"/>
              <a:gd name="connsiteX4" fmla="*/ 15251 w 207146"/>
              <a:gd name="connsiteY4" fmla="*/ 207147 h 207146"/>
              <a:gd name="connsiteX5" fmla="*/ 191896 w 207146"/>
              <a:gd name="connsiteY5" fmla="*/ 207147 h 207146"/>
              <a:gd name="connsiteX6" fmla="*/ 207147 w 207146"/>
              <a:gd name="connsiteY6" fmla="*/ 191896 h 207146"/>
              <a:gd name="connsiteX7" fmla="*/ 207147 w 207146"/>
              <a:gd name="connsiteY7" fmla="*/ 15251 h 207146"/>
              <a:gd name="connsiteX8" fmla="*/ 191896 w 207146"/>
              <a:gd name="connsiteY8" fmla="*/ 0 h 207146"/>
              <a:gd name="connsiteX9" fmla="*/ 61892 w 207146"/>
              <a:gd name="connsiteY9" fmla="*/ 176645 h 207146"/>
              <a:gd name="connsiteX10" fmla="*/ 30798 w 207146"/>
              <a:gd name="connsiteY10" fmla="*/ 176645 h 207146"/>
              <a:gd name="connsiteX11" fmla="*/ 30798 w 207146"/>
              <a:gd name="connsiteY11" fmla="*/ 77587 h 207146"/>
              <a:gd name="connsiteX12" fmla="*/ 61892 w 207146"/>
              <a:gd name="connsiteY12" fmla="*/ 77587 h 207146"/>
              <a:gd name="connsiteX13" fmla="*/ 61892 w 207146"/>
              <a:gd name="connsiteY13" fmla="*/ 176645 h 207146"/>
              <a:gd name="connsiteX14" fmla="*/ 46345 w 207146"/>
              <a:gd name="connsiteY14" fmla="*/ 63965 h 207146"/>
              <a:gd name="connsiteX15" fmla="*/ 28429 w 207146"/>
              <a:gd name="connsiteY15" fmla="*/ 46049 h 207146"/>
              <a:gd name="connsiteX16" fmla="*/ 46345 w 207146"/>
              <a:gd name="connsiteY16" fmla="*/ 28133 h 207146"/>
              <a:gd name="connsiteX17" fmla="*/ 64261 w 207146"/>
              <a:gd name="connsiteY17" fmla="*/ 46049 h 207146"/>
              <a:gd name="connsiteX18" fmla="*/ 46345 w 207146"/>
              <a:gd name="connsiteY18" fmla="*/ 63965 h 207146"/>
              <a:gd name="connsiteX19" fmla="*/ 176793 w 207146"/>
              <a:gd name="connsiteY19" fmla="*/ 176793 h 207146"/>
              <a:gd name="connsiteX20" fmla="*/ 145699 w 207146"/>
              <a:gd name="connsiteY20" fmla="*/ 176793 h 207146"/>
              <a:gd name="connsiteX21" fmla="*/ 145699 w 207146"/>
              <a:gd name="connsiteY21" fmla="*/ 122748 h 207146"/>
              <a:gd name="connsiteX22" fmla="*/ 130152 w 207146"/>
              <a:gd name="connsiteY22" fmla="*/ 101871 h 207146"/>
              <a:gd name="connsiteX23" fmla="*/ 111791 w 207146"/>
              <a:gd name="connsiteY23" fmla="*/ 123192 h 207146"/>
              <a:gd name="connsiteX24" fmla="*/ 111791 w 207146"/>
              <a:gd name="connsiteY24" fmla="*/ 176941 h 207146"/>
              <a:gd name="connsiteX25" fmla="*/ 80697 w 207146"/>
              <a:gd name="connsiteY25" fmla="*/ 176941 h 207146"/>
              <a:gd name="connsiteX26" fmla="*/ 80697 w 207146"/>
              <a:gd name="connsiteY26" fmla="*/ 77884 h 207146"/>
              <a:gd name="connsiteX27" fmla="*/ 110607 w 207146"/>
              <a:gd name="connsiteY27" fmla="*/ 77884 h 207146"/>
              <a:gd name="connsiteX28" fmla="*/ 110607 w 207146"/>
              <a:gd name="connsiteY28" fmla="*/ 91654 h 207146"/>
              <a:gd name="connsiteX29" fmla="*/ 111051 w 207146"/>
              <a:gd name="connsiteY29" fmla="*/ 91654 h 207146"/>
              <a:gd name="connsiteX30" fmla="*/ 140664 w 207146"/>
              <a:gd name="connsiteY30" fmla="*/ 75218 h 207146"/>
              <a:gd name="connsiteX31" fmla="*/ 176793 w 207146"/>
              <a:gd name="connsiteY31" fmla="*/ 115789 h 207146"/>
              <a:gd name="connsiteX32" fmla="*/ 176793 w 207146"/>
              <a:gd name="connsiteY32" fmla="*/ 177089 h 207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07146" h="207146">
                <a:moveTo>
                  <a:pt x="192044" y="0"/>
                </a:moveTo>
                <a:lnTo>
                  <a:pt x="15251" y="0"/>
                </a:lnTo>
                <a:cubicBezTo>
                  <a:pt x="6811" y="0"/>
                  <a:pt x="0" y="6811"/>
                  <a:pt x="0" y="15251"/>
                </a:cubicBezTo>
                <a:lnTo>
                  <a:pt x="0" y="191896"/>
                </a:lnTo>
                <a:cubicBezTo>
                  <a:pt x="0" y="200336"/>
                  <a:pt x="6811" y="207147"/>
                  <a:pt x="15251" y="207147"/>
                </a:cubicBezTo>
                <a:lnTo>
                  <a:pt x="191896" y="207147"/>
                </a:lnTo>
                <a:cubicBezTo>
                  <a:pt x="200336" y="207147"/>
                  <a:pt x="207147" y="200336"/>
                  <a:pt x="207147" y="191896"/>
                </a:cubicBezTo>
                <a:lnTo>
                  <a:pt x="207147" y="15251"/>
                </a:lnTo>
                <a:cubicBezTo>
                  <a:pt x="207147" y="6811"/>
                  <a:pt x="200336" y="0"/>
                  <a:pt x="191896" y="0"/>
                </a:cubicBezTo>
                <a:close/>
                <a:moveTo>
                  <a:pt x="61892" y="176645"/>
                </a:moveTo>
                <a:lnTo>
                  <a:pt x="30798" y="176645"/>
                </a:lnTo>
                <a:lnTo>
                  <a:pt x="30798" y="77587"/>
                </a:lnTo>
                <a:lnTo>
                  <a:pt x="61892" y="77587"/>
                </a:lnTo>
                <a:lnTo>
                  <a:pt x="61892" y="176645"/>
                </a:lnTo>
                <a:close/>
                <a:moveTo>
                  <a:pt x="46345" y="63965"/>
                </a:moveTo>
                <a:cubicBezTo>
                  <a:pt x="36425" y="63965"/>
                  <a:pt x="28429" y="56414"/>
                  <a:pt x="28429" y="46049"/>
                </a:cubicBezTo>
                <a:cubicBezTo>
                  <a:pt x="28429" y="35684"/>
                  <a:pt x="36425" y="28133"/>
                  <a:pt x="46345" y="28133"/>
                </a:cubicBezTo>
                <a:cubicBezTo>
                  <a:pt x="56266" y="28133"/>
                  <a:pt x="64261" y="35684"/>
                  <a:pt x="64261" y="46049"/>
                </a:cubicBezTo>
                <a:cubicBezTo>
                  <a:pt x="64261" y="56414"/>
                  <a:pt x="56266" y="63965"/>
                  <a:pt x="46345" y="63965"/>
                </a:cubicBezTo>
                <a:close/>
                <a:moveTo>
                  <a:pt x="176793" y="176793"/>
                </a:moveTo>
                <a:lnTo>
                  <a:pt x="145699" y="176793"/>
                </a:lnTo>
                <a:lnTo>
                  <a:pt x="145699" y="122748"/>
                </a:lnTo>
                <a:cubicBezTo>
                  <a:pt x="145699" y="106757"/>
                  <a:pt x="138888" y="101871"/>
                  <a:pt x="130152" y="101871"/>
                </a:cubicBezTo>
                <a:cubicBezTo>
                  <a:pt x="120971" y="101871"/>
                  <a:pt x="111791" y="108830"/>
                  <a:pt x="111791" y="123192"/>
                </a:cubicBezTo>
                <a:lnTo>
                  <a:pt x="111791" y="176941"/>
                </a:lnTo>
                <a:lnTo>
                  <a:pt x="80697" y="176941"/>
                </a:lnTo>
                <a:lnTo>
                  <a:pt x="80697" y="77884"/>
                </a:lnTo>
                <a:lnTo>
                  <a:pt x="110607" y="77884"/>
                </a:lnTo>
                <a:lnTo>
                  <a:pt x="110607" y="91654"/>
                </a:lnTo>
                <a:lnTo>
                  <a:pt x="111051" y="91654"/>
                </a:lnTo>
                <a:cubicBezTo>
                  <a:pt x="114012" y="85583"/>
                  <a:pt x="124525" y="75218"/>
                  <a:pt x="140664" y="75218"/>
                </a:cubicBezTo>
                <a:cubicBezTo>
                  <a:pt x="157988" y="75218"/>
                  <a:pt x="176793" y="85583"/>
                  <a:pt x="176793" y="115789"/>
                </a:cubicBezTo>
                <a:lnTo>
                  <a:pt x="176793" y="177089"/>
                </a:lnTo>
                <a:close/>
              </a:path>
            </a:pathLst>
          </a:custGeom>
          <a:solidFill>
            <a:srgbClr val="0077B5"/>
          </a:solidFill>
          <a:ln w="147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44A530-441A-2937-9A20-D05EFF740899}"/>
              </a:ext>
            </a:extLst>
          </p:cNvPr>
          <p:cNvCxnSpPr>
            <a:cxnSpLocks/>
          </p:cNvCxnSpPr>
          <p:nvPr userDrawn="1"/>
        </p:nvCxnSpPr>
        <p:spPr>
          <a:xfrm>
            <a:off x="2469922" y="3631050"/>
            <a:ext cx="0" cy="54864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070DF8-AC8F-E0D1-6890-C6CE330EEC6F}"/>
              </a:ext>
            </a:extLst>
          </p:cNvPr>
          <p:cNvSpPr txBox="1"/>
          <p:nvPr userDrawn="1"/>
        </p:nvSpPr>
        <p:spPr>
          <a:xfrm>
            <a:off x="2644938" y="3824579"/>
            <a:ext cx="11121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chemeClr val="tx2"/>
                </a:solidFill>
                <a:effectLst/>
                <a:ea typeface="Calibri" panose="020F0502020204030204" pitchFamily="34" charset="0"/>
              </a:rPr>
              <a:t>kpmg.com</a:t>
            </a:r>
          </a:p>
        </p:txBody>
      </p:sp>
    </p:spTree>
    <p:extLst>
      <p:ext uri="{BB962C8B-B14F-4D97-AF65-F5344CB8AC3E}">
        <p14:creationId xmlns:p14="http://schemas.microsoft.com/office/powerpoint/2010/main" val="4001472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3"/>
            <a:ext cx="839614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1"/>
            <a:ext cx="839614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4"/>
            <a:ext cx="839614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6"/>
            <a:ext cx="839614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09040-9C95-48FE-AA99-4757E8328519}"/>
              </a:ext>
            </a:extLst>
          </p:cNvPr>
          <p:cNvSpPr/>
          <p:nvPr userDrawn="1"/>
        </p:nvSpPr>
        <p:spPr>
          <a:xfrm>
            <a:off x="2992848" y="1732478"/>
            <a:ext cx="839614" cy="411225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118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210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3D312-00EF-44B5-9D91-290BE0E19654}"/>
              </a:ext>
            </a:extLst>
          </p:cNvPr>
          <p:cNvSpPr/>
          <p:nvPr userDrawn="1"/>
        </p:nvSpPr>
        <p:spPr>
          <a:xfrm>
            <a:off x="998351" y="3786711"/>
            <a:ext cx="839614" cy="411225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245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D98991-520C-4FD6-8B23-8732995E56B1}"/>
              </a:ext>
            </a:extLst>
          </p:cNvPr>
          <p:cNvSpPr/>
          <p:nvPr userDrawn="1"/>
        </p:nvSpPr>
        <p:spPr>
          <a:xfrm>
            <a:off x="998351" y="4301271"/>
            <a:ext cx="839614" cy="411225"/>
          </a:xfrm>
          <a:prstGeom prst="rect">
            <a:avLst/>
          </a:prstGeom>
          <a:solidFill>
            <a:srgbClr val="7213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114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234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A38B4C-5B80-413E-B283-1F1ADBFD09CD}"/>
              </a:ext>
            </a:extLst>
          </p:cNvPr>
          <p:cNvSpPr/>
          <p:nvPr userDrawn="1"/>
        </p:nvSpPr>
        <p:spPr>
          <a:xfrm>
            <a:off x="998351" y="4809439"/>
            <a:ext cx="839614" cy="411225"/>
          </a:xfrm>
          <a:prstGeom prst="rect">
            <a:avLst/>
          </a:prstGeom>
          <a:solidFill>
            <a:srgbClr val="FD3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2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Dark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2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2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30D78-5EDB-481E-BB6D-67D8689BCE11}"/>
              </a:ext>
            </a:extLst>
          </p:cNvPr>
          <p:cNvSpPr txBox="1"/>
          <p:nvPr userDrawn="1"/>
        </p:nvSpPr>
        <p:spPr>
          <a:xfrm>
            <a:off x="3971415" y="181727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Blue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2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1B4DF-404A-4544-B313-2720FCBDD0B4}"/>
              </a:ext>
            </a:extLst>
          </p:cNvPr>
          <p:cNvSpPr txBox="1"/>
          <p:nvPr userDrawn="1"/>
        </p:nvSpPr>
        <p:spPr>
          <a:xfrm>
            <a:off x="1921682" y="3874401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 Blue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DFA940-4699-43CF-A21A-AE4227704697}"/>
              </a:ext>
            </a:extLst>
          </p:cNvPr>
          <p:cNvSpPr txBox="1"/>
          <p:nvPr userDrawn="1"/>
        </p:nvSpPr>
        <p:spPr>
          <a:xfrm>
            <a:off x="1921682" y="438545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A40265-6498-4E16-877D-6BC9A8CE7DCA}"/>
              </a:ext>
            </a:extLst>
          </p:cNvPr>
          <p:cNvSpPr txBox="1"/>
          <p:nvPr userDrawn="1"/>
        </p:nvSpPr>
        <p:spPr>
          <a:xfrm>
            <a:off x="1921682" y="4896518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Pink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3028"/>
            <a:ext cx="839614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7590"/>
            <a:ext cx="839614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8" y="1330325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72151"/>
            <a:ext cx="839614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6713"/>
            <a:ext cx="839614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301273"/>
            <a:ext cx="839614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9441"/>
            <a:ext cx="839614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4001"/>
            <a:ext cx="839614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6" y="2341846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1"/>
            <a:ext cx="839614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3"/>
            <a:ext cx="839614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1" y="1330325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4"/>
            <a:ext cx="839614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6"/>
            <a:ext cx="839614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6"/>
            <a:ext cx="839614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79" y="285290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79" y="183078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79" y="3363960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79" y="3875017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79" y="234184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56172"/>
            <a:ext cx="839614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7" y="2656172"/>
            <a:ext cx="839614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0" y="2743862"/>
            <a:ext cx="1568421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053992" y="2743862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2"/>
            <a:ext cx="4047046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US" sz="1000" b="0" noProof="0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gradient, at 0% and 100% locations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midpoint is at 50%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gradient, never radial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/>
          <p:nvPr userDrawn="1"/>
        </p:nvSpPr>
        <p:spPr>
          <a:xfrm>
            <a:off x="5225411" y="4304594"/>
            <a:ext cx="839614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4" y="4389395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117D9B-6EF8-4B36-A112-FD6D19D0AE23}"/>
              </a:ext>
            </a:extLst>
          </p:cNvPr>
          <p:cNvSpPr txBox="1"/>
          <p:nvPr userDrawn="1"/>
        </p:nvSpPr>
        <p:spPr>
          <a:xfrm>
            <a:off x="7146554" y="3336981"/>
            <a:ext cx="1194238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629CA1F-9C19-4EBE-AACF-DD30D2A7CB9D}"/>
              </a:ext>
            </a:extLst>
          </p:cNvPr>
          <p:cNvSpPr>
            <a:spLocks/>
          </p:cNvSpPr>
          <p:nvPr userDrawn="1"/>
        </p:nvSpPr>
        <p:spPr>
          <a:xfrm>
            <a:off x="9353776" y="3589581"/>
            <a:ext cx="839614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8F50825-9522-489D-AFE6-03DCC983AE45}"/>
              </a:ext>
            </a:extLst>
          </p:cNvPr>
          <p:cNvSpPr>
            <a:spLocks/>
          </p:cNvSpPr>
          <p:nvPr userDrawn="1"/>
        </p:nvSpPr>
        <p:spPr>
          <a:xfrm>
            <a:off x="8262131" y="3589581"/>
            <a:ext cx="839614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20DF8B8-BB57-4FAB-8303-1EA0BDA6B7F5}"/>
              </a:ext>
            </a:extLst>
          </p:cNvPr>
          <p:cNvSpPr>
            <a:spLocks/>
          </p:cNvSpPr>
          <p:nvPr userDrawn="1"/>
        </p:nvSpPr>
        <p:spPr>
          <a:xfrm>
            <a:off x="7170486" y="3589581"/>
            <a:ext cx="839614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284CC6-D89E-4E2E-9C1A-D2D015D4CCE1}"/>
              </a:ext>
            </a:extLst>
          </p:cNvPr>
          <p:cNvSpPr txBox="1"/>
          <p:nvPr userDrawn="1"/>
        </p:nvSpPr>
        <p:spPr>
          <a:xfrm>
            <a:off x="7146553" y="4285684"/>
            <a:ext cx="4159622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blues, but they don’t have to be used all at once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light, mid, and dark tones within data sets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2E93FD9-5621-45B8-BDA7-4C88B41DB4D9}"/>
              </a:ext>
            </a:extLst>
          </p:cNvPr>
          <p:cNvCxnSpPr/>
          <p:nvPr userDrawn="1"/>
        </p:nvCxnSpPr>
        <p:spPr>
          <a:xfrm>
            <a:off x="7170486" y="324260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8F7303C-5EE8-4FA6-A437-87F2BF61E6C8}"/>
              </a:ext>
            </a:extLst>
          </p:cNvPr>
          <p:cNvCxnSpPr/>
          <p:nvPr userDrawn="1"/>
        </p:nvCxnSpPr>
        <p:spPr>
          <a:xfrm>
            <a:off x="7170486" y="4176642"/>
            <a:ext cx="40231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9C72177-73C5-408A-8C21-86379F35DFDA}"/>
              </a:ext>
            </a:extLst>
          </p:cNvPr>
          <p:cNvGrpSpPr/>
          <p:nvPr userDrawn="1"/>
        </p:nvGrpSpPr>
        <p:grpSpPr>
          <a:xfrm>
            <a:off x="7170486" y="5015319"/>
            <a:ext cx="4023114" cy="868052"/>
            <a:chOff x="6942744" y="5227726"/>
            <a:chExt cx="6397168" cy="1380293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9C4E567-3FDF-4915-8D1F-4D3869F8570F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DA33985-45D0-4046-B44C-8DCBCFFD86AC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0024D76-5422-4C07-A547-F2C593130265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6E42AD4-4E53-43DB-966B-14EA0ED3E458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123BFF0-C9BC-4A9F-8C1A-6677CDC1F631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B91896C-FA19-4C29-A6A4-8285D7F3418C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8E4376B-58CB-4B0E-AB7F-3AF61E7659F9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CCBC42E-797C-4CB6-8C59-2D6FCDDB1F33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91DA2AF-1629-48DB-9571-C0A4059F3B38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004D9F3-522B-4798-8584-5DAEBCA82D69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DFAE922-1756-4DBB-9867-8AF985CB3C58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FF5845-C594-4FAB-AA8F-EA33A333B321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DF8DBD9-3426-4B1A-A0E8-1F5F3DA02FE2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7F2702EE-4E6E-4980-B5D2-9FC76A136BA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42320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SU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781300" y="1332352"/>
            <a:ext cx="8407500" cy="4544573"/>
          </a:xfrm>
        </p:spPr>
        <p:txBody>
          <a:bodyPr/>
          <a:lstStyle>
            <a:lvl1pPr>
              <a:spcAft>
                <a:spcPts val="300"/>
              </a:spcAft>
              <a:defRPr sz="1000"/>
            </a:lvl1pPr>
            <a:lvl2pPr>
              <a:defRPr lang="en-US" sz="1000" kern="0" noProof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219456" indent="-219456">
              <a:defRPr sz="1000"/>
            </a:lvl3pPr>
            <a:lvl4pPr marL="356616" indent="-146304">
              <a:defRPr sz="1000"/>
            </a:lvl4pPr>
            <a:lvl5pPr marL="576072" indent="-219456">
              <a:defRPr sz="1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1003200" y="2837300"/>
            <a:ext cx="1549500" cy="3039625"/>
          </a:xfrm>
        </p:spPr>
        <p:txBody>
          <a:bodyPr/>
          <a:lstStyle>
            <a:lvl1pPr>
              <a:spcAft>
                <a:spcPts val="0"/>
              </a:spcAft>
              <a:defRPr sz="700"/>
            </a:lvl1pPr>
            <a:lvl2pPr>
              <a:spcAft>
                <a:spcPts val="0"/>
              </a:spcAft>
              <a:tabLst>
                <a:tab pos="228600" algn="l"/>
              </a:tabLst>
              <a:defRPr sz="700">
                <a:solidFill>
                  <a:schemeClr val="tx1"/>
                </a:solidFill>
              </a:defRPr>
            </a:lvl2pPr>
            <a:lvl3pPr marL="174625" indent="-174625">
              <a:spcAft>
                <a:spcPts val="0"/>
              </a:spcAft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667000" y="1332352"/>
            <a:ext cx="0" cy="4544573"/>
          </a:xfrm>
          <a:prstGeom prst="line">
            <a:avLst/>
          </a:prstGeom>
          <a:ln w="1270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003200" y="1004451"/>
            <a:ext cx="10195560" cy="169200"/>
          </a:xfrm>
        </p:spPr>
        <p:txBody>
          <a:bodyPr anchor="b"/>
          <a:lstStyle>
            <a:lvl1pPr>
              <a:spcAft>
                <a:spcPts val="0"/>
              </a:spcAft>
              <a:defRPr sz="1200"/>
            </a:lvl1pPr>
          </a:lstStyle>
          <a:p>
            <a:pPr lvl="0"/>
            <a:r>
              <a:rPr lang="en-US" noProof="0"/>
              <a:t>Super 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003300" y="1331913"/>
            <a:ext cx="1261872" cy="1402201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4034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338D"/>
                </a:solidFill>
                <a:latin typeface="KPMG Bold"/>
                <a:cs typeface="KPMG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C498D-1E97-127B-2B2E-68951C95C51F}"/>
              </a:ext>
            </a:extLst>
          </p:cNvPr>
          <p:cNvSpPr/>
          <p:nvPr userDrawn="1"/>
        </p:nvSpPr>
        <p:spPr>
          <a:xfrm>
            <a:off x="0" y="6474542"/>
            <a:ext cx="12192000" cy="391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da-DK" sz="1500" err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154D7-0C7B-D506-C110-DC78043ED0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995367" y="6635815"/>
            <a:ext cx="85913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2024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9" name="Graphic 8">
            <a:extLst>
              <a:ext uri="{FF2B5EF4-FFF2-40B4-BE49-F238E27FC236}">
                <a16:creationId xmlns:a16="http://schemas.microsoft.com/office/drawing/2014/main" id="{F3DD2F80-D18E-9E25-1445-17EA15AFF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2199" y="6621877"/>
            <a:ext cx="299327" cy="120208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E063A-B132-9A83-CB0D-D544BB9F2D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713720" y="6621855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8230F5-3D9A-6ED7-08CE-56CCDC08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11159" y="6593315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hape 8">
            <a:extLst>
              <a:ext uri="{FF2B5EF4-FFF2-40B4-BE49-F238E27FC236}">
                <a16:creationId xmlns:a16="http://schemas.microsoft.com/office/drawing/2014/main" id="{DFEC5ABB-7D4E-10E1-5A54-9B83B64D90E8}"/>
              </a:ext>
            </a:extLst>
          </p:cNvPr>
          <p:cNvSpPr txBox="1">
            <a:spLocks/>
          </p:cNvSpPr>
          <p:nvPr userDrawn="1"/>
        </p:nvSpPr>
        <p:spPr>
          <a:xfrm>
            <a:off x="11732099" y="6600295"/>
            <a:ext cx="242486" cy="146304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tx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tx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6802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F9B2A-A981-89E0-25E7-05846CD3D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41" r="34805"/>
          <a:stretch/>
        </p:blipFill>
        <p:spPr>
          <a:xfrm>
            <a:off x="0" y="573"/>
            <a:ext cx="579635" cy="68328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F52E40A-CC0B-65D2-8C61-EB313E99125F}"/>
              </a:ext>
            </a:extLst>
          </p:cNvPr>
          <p:cNvSpPr/>
          <p:nvPr userDrawn="1"/>
        </p:nvSpPr>
        <p:spPr>
          <a:xfrm>
            <a:off x="528320" y="573"/>
            <a:ext cx="3277345" cy="6850446"/>
          </a:xfrm>
          <a:custGeom>
            <a:avLst/>
            <a:gdLst/>
            <a:ahLst/>
            <a:cxnLst/>
            <a:rect l="l" t="t" r="r" b="b"/>
            <a:pathLst>
              <a:path w="11532870" h="11307445">
                <a:moveTo>
                  <a:pt x="0" y="11307142"/>
                </a:moveTo>
                <a:lnTo>
                  <a:pt x="11532291" y="11307142"/>
                </a:lnTo>
                <a:lnTo>
                  <a:pt x="11532291" y="0"/>
                </a:lnTo>
                <a:lnTo>
                  <a:pt x="0" y="0"/>
                </a:lnTo>
                <a:lnTo>
                  <a:pt x="0" y="11307142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2556219" cy="533400"/>
          </a:xfrm>
        </p:spPr>
        <p:txBody>
          <a:bodyPr/>
          <a:lstStyle>
            <a:lvl1pPr>
              <a:defRPr sz="3600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214AE4-D409-0EEB-0110-3C049911A068}"/>
              </a:ext>
            </a:extLst>
          </p:cNvPr>
          <p:cNvSpPr/>
          <p:nvPr userDrawn="1"/>
        </p:nvSpPr>
        <p:spPr>
          <a:xfrm>
            <a:off x="0" y="6474542"/>
            <a:ext cx="12192000" cy="391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da-DK" sz="150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56E49-6BF8-4066-90C5-0EAE4EADAE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/>
        </p:nvSpPr>
        <p:spPr>
          <a:xfrm>
            <a:off x="995367" y="6635815"/>
            <a:ext cx="85913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2024 KPMG LLP, a Delaware limited liability partnership and a member firm of the KPMG global organization of independent member firms affiliated with KPMG International Limited, a private English company limited by guarantee. All rights reserved. </a:t>
            </a:r>
          </a:p>
        </p:txBody>
      </p:sp>
      <p:sp>
        <p:nvSpPr>
          <p:cNvPr id="15" name="Graphic 8">
            <a:extLst>
              <a:ext uri="{FF2B5EF4-FFF2-40B4-BE49-F238E27FC236}">
                <a16:creationId xmlns:a16="http://schemas.microsoft.com/office/drawing/2014/main" id="{20C25517-886F-5656-2C21-7232AD8B9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2199" y="6621877"/>
            <a:ext cx="299327" cy="120208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AEB9EC-1F31-96D1-5179-CC3C88691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713720" y="6621855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870B26-2339-0F9F-B037-768D6F23E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711159" y="6593315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hape 8">
            <a:extLst>
              <a:ext uri="{FF2B5EF4-FFF2-40B4-BE49-F238E27FC236}">
                <a16:creationId xmlns:a16="http://schemas.microsoft.com/office/drawing/2014/main" id="{ADF0A240-8D7B-B65B-69D5-A5635FF2CD01}"/>
              </a:ext>
            </a:extLst>
          </p:cNvPr>
          <p:cNvSpPr txBox="1">
            <a:spLocks/>
          </p:cNvSpPr>
          <p:nvPr userDrawn="1"/>
        </p:nvSpPr>
        <p:spPr>
          <a:xfrm>
            <a:off x="11732099" y="6600295"/>
            <a:ext cx="242486" cy="146304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tx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tx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198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EC5F3F-6502-43AA-BB6C-FE67BA6E5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893" b="380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971550"/>
            <a:ext cx="7061787" cy="490537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860" y="2398601"/>
            <a:ext cx="5252400" cy="2367199"/>
          </a:xfrm>
          <a:noFill/>
        </p:spPr>
        <p:txBody>
          <a:bodyPr lIns="0" tIns="0" rIns="0" bIns="0" anchor="t" anchorCtr="0"/>
          <a:lstStyle>
            <a:lvl1pPr algn="l"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014AE30-3464-4B6F-AD2C-2AECE72501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860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26D1C61-DFFA-4616-9BF6-6877233CE1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9860" y="5046651"/>
            <a:ext cx="5252400" cy="507831"/>
          </a:xfrm>
        </p:spPr>
        <p:txBody>
          <a:bodyPr wrap="square" anchor="b"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216989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935A1578-15A7-4FE7-8BC2-3ADC725A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8C6F2B2-33A0-4BA9-B1CC-56BBBBC3D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8476" y="2520454"/>
            <a:ext cx="1199119" cy="377730"/>
            <a:chOff x="998476" y="2872145"/>
            <a:chExt cx="1199119" cy="37773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83CCCD9-08BC-4C7E-BC3C-26B23A768EF4}"/>
                </a:ext>
              </a:extLst>
            </p:cNvPr>
            <p:cNvSpPr/>
            <p:nvPr userDrawn="1"/>
          </p:nvSpPr>
          <p:spPr>
            <a:xfrm>
              <a:off x="1865195" y="29241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CA79D5A-BEEC-4AFB-884C-0AF3CCE2EB4E}"/>
                </a:ext>
              </a:extLst>
            </p:cNvPr>
            <p:cNvSpPr/>
            <p:nvPr userDrawn="1"/>
          </p:nvSpPr>
          <p:spPr>
            <a:xfrm>
              <a:off x="1025526" y="29241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  <p:pic>
          <p:nvPicPr>
            <p:cNvPr id="25" name="Picture 24" descr="Logo&#10;&#10;Description automatically generated">
              <a:extLst>
                <a:ext uri="{FF2B5EF4-FFF2-40B4-BE49-F238E27FC236}">
                  <a16:creationId xmlns:a16="http://schemas.microsoft.com/office/drawing/2014/main" id="{6C6E0619-A25D-4B29-8B75-C41BE46846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476" y="2884275"/>
              <a:ext cx="360000" cy="360000"/>
            </a:xfrm>
            <a:prstGeom prst="rect">
              <a:avLst/>
            </a:prstGeom>
          </p:spPr>
        </p:pic>
        <p:pic>
          <p:nvPicPr>
            <p:cNvPr id="26" name="Picture 25" descr="Icon&#10;&#10;Description automatically generated">
              <a:extLst>
                <a:ext uri="{FF2B5EF4-FFF2-40B4-BE49-F238E27FC236}">
                  <a16:creationId xmlns:a16="http://schemas.microsoft.com/office/drawing/2014/main" id="{6F7FC680-5D1E-4569-B405-8B3A9A144F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7595" y="2881529"/>
              <a:ext cx="360000" cy="361734"/>
            </a:xfrm>
            <a:prstGeom prst="rect">
              <a:avLst/>
            </a:prstGeom>
          </p:spPr>
        </p:pic>
        <p:sp>
          <p:nvSpPr>
            <p:cNvPr id="27" name="Rectangle 26">
              <a:hlinkClick r:id="rId6"/>
              <a:extLst>
                <a:ext uri="{FF2B5EF4-FFF2-40B4-BE49-F238E27FC236}">
                  <a16:creationId xmlns:a16="http://schemas.microsoft.com/office/drawing/2014/main" id="{A42E3944-C042-4550-8E65-87E4149C12F5}"/>
                </a:ext>
              </a:extLst>
            </p:cNvPr>
            <p:cNvSpPr/>
            <p:nvPr userDrawn="1"/>
          </p:nvSpPr>
          <p:spPr>
            <a:xfrm>
              <a:off x="998476" y="2881529"/>
              <a:ext cx="356182" cy="36834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685EEF7-9CB7-40CE-A680-8BB78293F33D}"/>
                </a:ext>
              </a:extLst>
            </p:cNvPr>
            <p:cNvGrpSpPr/>
            <p:nvPr userDrawn="1"/>
          </p:nvGrpSpPr>
          <p:grpSpPr>
            <a:xfrm>
              <a:off x="1414350" y="2872145"/>
              <a:ext cx="360000" cy="372130"/>
              <a:chOff x="1414350" y="2877356"/>
              <a:chExt cx="360000" cy="37213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BA0B502-E7E7-40D5-88B8-383F4A29CE34}"/>
                  </a:ext>
                </a:extLst>
              </p:cNvPr>
              <p:cNvSpPr/>
              <p:nvPr userDrawn="1"/>
            </p:nvSpPr>
            <p:spPr>
              <a:xfrm>
                <a:off x="1441950" y="2918577"/>
                <a:ext cx="304800" cy="2889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4610" tIns="54610" rIns="54610" bIns="54610" rtlCol="0" anchor="ctr"/>
              <a:lstStyle/>
              <a:p>
                <a:pPr algn="l"/>
                <a:endParaRPr lang="en-GB" sz="1500">
                  <a:solidFill>
                    <a:schemeClr val="bg1"/>
                  </a:solidFill>
                </a:endParaRPr>
              </a:p>
            </p:txBody>
          </p:sp>
          <p:pic>
            <p:nvPicPr>
              <p:cNvPr id="31" name="Picture 30" descr="Logo&#10;&#10;Description automatically generated">
                <a:extLst>
                  <a:ext uri="{FF2B5EF4-FFF2-40B4-BE49-F238E27FC236}">
                    <a16:creationId xmlns:a16="http://schemas.microsoft.com/office/drawing/2014/main" id="{DA1ECB49-8D4B-402E-BFD6-06D98704630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14350" y="2889486"/>
                <a:ext cx="360000" cy="360000"/>
              </a:xfrm>
              <a:prstGeom prst="rect">
                <a:avLst/>
              </a:prstGeom>
            </p:spPr>
          </p:pic>
          <p:sp>
            <p:nvSpPr>
              <p:cNvPr id="32" name="Rectangle 31">
                <a:hlinkClick r:id="rId8"/>
                <a:extLst>
                  <a:ext uri="{FF2B5EF4-FFF2-40B4-BE49-F238E27FC236}">
                    <a16:creationId xmlns:a16="http://schemas.microsoft.com/office/drawing/2014/main" id="{58E2C2A9-186F-4004-91A3-ECAB5E009F51}"/>
                  </a:ext>
                </a:extLst>
              </p:cNvPr>
              <p:cNvSpPr/>
              <p:nvPr userDrawn="1"/>
            </p:nvSpPr>
            <p:spPr>
              <a:xfrm>
                <a:off x="1417862" y="2877356"/>
                <a:ext cx="356182" cy="368346"/>
              </a:xfrm>
              <a:prstGeom prst="rect">
                <a:avLst/>
              </a:prstGeom>
              <a:solidFill>
                <a:schemeClr val="accent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4610" tIns="54610" rIns="54610" bIns="54610" rtlCol="0" anchor="ctr"/>
              <a:lstStyle/>
              <a:p>
                <a:pPr algn="l"/>
                <a:endParaRPr lang="en-GB" sz="15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Rectangle 28">
              <a:hlinkClick r:id="rId9"/>
              <a:extLst>
                <a:ext uri="{FF2B5EF4-FFF2-40B4-BE49-F238E27FC236}">
                  <a16:creationId xmlns:a16="http://schemas.microsoft.com/office/drawing/2014/main" id="{BE2192AC-51B3-49A3-85DB-1510B79795B3}"/>
                </a:ext>
              </a:extLst>
            </p:cNvPr>
            <p:cNvSpPr/>
            <p:nvPr userDrawn="1"/>
          </p:nvSpPr>
          <p:spPr>
            <a:xfrm>
              <a:off x="1837248" y="2881529"/>
              <a:ext cx="356182" cy="368346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8C97CF2-58B9-4D3E-A97E-A13E4A0D85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034005"/>
            <a:ext cx="2287588" cy="184666"/>
          </a:xfrm>
        </p:spPr>
        <p:txBody>
          <a:bodyPr wrap="square">
            <a:spAutoFit/>
          </a:bodyPr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9A60C8-E226-40C2-BA6E-FB0E5CD95EAF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89263" y="5750095"/>
            <a:ext cx="246221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6A431F5-5752-41D9-9BA1-05C9089BEE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336978"/>
            <a:ext cx="9360000" cy="1440000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0F2B2F76-409E-4474-B6EC-E952067E72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5363" y="5457825"/>
            <a:ext cx="9360000" cy="138499"/>
          </a:xfrm>
        </p:spPr>
        <p:txBody>
          <a:bodyPr wrap="square">
            <a:spAutoFit/>
          </a:bodyPr>
          <a:lstStyle>
            <a:lvl1pPr>
              <a:defRPr sz="900" b="0">
                <a:solidFill>
                  <a:schemeClr val="bg1"/>
                </a:solidFill>
              </a:defRPr>
            </a:lvl1pPr>
            <a:lvl2pPr>
              <a:defRPr sz="900" b="0"/>
            </a:lvl2pPr>
            <a:lvl3pPr>
              <a:defRPr sz="900" b="0"/>
            </a:lvl3pPr>
            <a:lvl4pPr>
              <a:defRPr sz="900" b="0"/>
            </a:lvl4pPr>
            <a:lvl5pPr>
              <a:defRPr sz="900" b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7461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314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62" y="1330325"/>
            <a:ext cx="10200683" cy="4546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9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9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4" y="6266997"/>
            <a:ext cx="46675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2025 KPMG LLP, a Delaware limited liability partnership and a member firm of the KPMG global organization of independent member firms affiliated with KPMG International Limited, a private English company limited by guarantee. All rights reserved. USCS024373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9AC77B96-D96C-4FA2-858B-DEE0A3A7B7B6}"/>
              </a:ext>
            </a:extLst>
          </p:cNvPr>
          <p:cNvSpPr/>
          <p:nvPr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80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41313" indent="-1651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2317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32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>
          <p15:clr>
            <a:srgbClr val="F26B43"/>
          </p15:clr>
        </p15:guide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image" Target="../media/image13.png"/><Relationship Id="rId3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image" Target="../media/image13.png"/><Relationship Id="rId3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6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3755-D09C-49DD-76E3-C7C62DFE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FF42CF06-5BF1-F18D-A347-F0816DB2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05" y="240551"/>
            <a:ext cx="10204450" cy="533400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Key Components of Databricks Architecture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ADC5DE4-1810-393B-038E-766DD96DC4D0}"/>
              </a:ext>
            </a:extLst>
          </p:cNvPr>
          <p:cNvGrpSpPr/>
          <p:nvPr/>
        </p:nvGrpSpPr>
        <p:grpSpPr>
          <a:xfrm>
            <a:off x="571959" y="1803259"/>
            <a:ext cx="11099784" cy="4559455"/>
            <a:chOff x="1209629" y="1655085"/>
            <a:chExt cx="9816881" cy="416597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198340-1E64-C8AF-82BE-AD4237C0D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423" t="3412" r="15320" b="37196"/>
            <a:stretch/>
          </p:blipFill>
          <p:spPr>
            <a:xfrm>
              <a:off x="4791907" y="2278737"/>
              <a:ext cx="1966594" cy="2281250"/>
            </a:xfrm>
            <a:custGeom>
              <a:avLst/>
              <a:gdLst>
                <a:gd name="connsiteX0" fmla="*/ 871535 w 1743070"/>
                <a:gd name="connsiteY0" fmla="*/ 0 h 2021962"/>
                <a:gd name="connsiteX1" fmla="*/ 1743070 w 1743070"/>
                <a:gd name="connsiteY1" fmla="*/ 524699 h 2021962"/>
                <a:gd name="connsiteX2" fmla="*/ 1743070 w 1743070"/>
                <a:gd name="connsiteY2" fmla="*/ 1497263 h 2021962"/>
                <a:gd name="connsiteX3" fmla="*/ 871535 w 1743070"/>
                <a:gd name="connsiteY3" fmla="*/ 2021962 h 2021962"/>
                <a:gd name="connsiteX4" fmla="*/ 0 w 1743070"/>
                <a:gd name="connsiteY4" fmla="*/ 1497263 h 2021962"/>
                <a:gd name="connsiteX5" fmla="*/ 0 w 1743070"/>
                <a:gd name="connsiteY5" fmla="*/ 524699 h 2021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3070" h="2021962">
                  <a:moveTo>
                    <a:pt x="871535" y="0"/>
                  </a:moveTo>
                  <a:lnTo>
                    <a:pt x="1743070" y="524699"/>
                  </a:lnTo>
                  <a:lnTo>
                    <a:pt x="1743070" y="1497263"/>
                  </a:lnTo>
                  <a:lnTo>
                    <a:pt x="871535" y="2021962"/>
                  </a:lnTo>
                  <a:lnTo>
                    <a:pt x="0" y="1497263"/>
                  </a:lnTo>
                  <a:lnTo>
                    <a:pt x="0" y="524699"/>
                  </a:lnTo>
                  <a:close/>
                </a:path>
              </a:pathLst>
            </a:custGeom>
          </p:spPr>
        </p:pic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401FA08D-8146-EF4C-2CDE-4241EA1422EE}"/>
                </a:ext>
              </a:extLst>
            </p:cNvPr>
            <p:cNvSpPr/>
            <p:nvPr/>
          </p:nvSpPr>
          <p:spPr>
            <a:xfrm rot="16200000">
              <a:off x="4400848" y="2202038"/>
              <a:ext cx="2748714" cy="2369580"/>
            </a:xfrm>
            <a:prstGeom prst="hexagon">
              <a:avLst>
                <a:gd name="adj" fmla="val 30102"/>
                <a:gd name="vf" fmla="val 115470"/>
              </a:avLst>
            </a:prstGeom>
            <a:noFill/>
            <a:ln w="38100">
              <a:solidFill>
                <a:srgbClr val="ACEA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469F1-1232-405B-F5A5-3A6C0E418506}"/>
                </a:ext>
              </a:extLst>
            </p:cNvPr>
            <p:cNvSpPr txBox="1"/>
            <p:nvPr/>
          </p:nvSpPr>
          <p:spPr>
            <a:xfrm>
              <a:off x="1354233" y="1655085"/>
              <a:ext cx="3157079" cy="8894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Data Architecture 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49E2"/>
                </a:solidFill>
                <a:effectLst/>
                <a:uLnTx/>
                <a:uFillTx/>
                <a:latin typeface="KPMG Bold"/>
                <a:ea typeface="+mn-ea"/>
                <a:cs typeface="+mn-cs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Data Modeling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Data Context and Semantics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Data Products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96EF3D-8BC4-71AF-C1B9-2E0928A29E01}"/>
                </a:ext>
              </a:extLst>
            </p:cNvPr>
            <p:cNvSpPr/>
            <p:nvPr/>
          </p:nvSpPr>
          <p:spPr>
            <a:xfrm>
              <a:off x="4486426" y="2615090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535DB6-E3C5-80C7-0081-7FEB83A815F7}"/>
                </a:ext>
              </a:extLst>
            </p:cNvPr>
            <p:cNvSpPr txBox="1"/>
            <p:nvPr/>
          </p:nvSpPr>
          <p:spPr>
            <a:xfrm>
              <a:off x="5051434" y="2819733"/>
              <a:ext cx="1464612" cy="10475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KPMG Bold"/>
                </a:rPr>
                <a:t>Databricks Architecture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PMG Bold"/>
                  <a:ea typeface="+mn-ea"/>
                  <a:cs typeface="+mn-cs"/>
                </a:rPr>
                <a:t>Components</a:t>
              </a:r>
              <a:endPara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PMG Bold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C1FF82-B8E5-8AC1-FA80-5F9853533E04}"/>
                </a:ext>
              </a:extLst>
            </p:cNvPr>
            <p:cNvSpPr txBox="1"/>
            <p:nvPr/>
          </p:nvSpPr>
          <p:spPr>
            <a:xfrm>
              <a:off x="1209629" y="2809099"/>
              <a:ext cx="2796612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GB" sz="2000" b="1" dirty="0">
                  <a:solidFill>
                    <a:srgbClr val="1E49E2"/>
                  </a:solidFill>
                  <a:latin typeface="KPMG Bold"/>
                </a:rPr>
                <a:t>Storage Architecture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ADLS Gen2 Design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Landing-Zone Structure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ADLS Access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Storage Management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6160D7-7D24-7F3B-D745-6C3DAE461372}"/>
                </a:ext>
              </a:extLst>
            </p:cNvPr>
            <p:cNvSpPr txBox="1"/>
            <p:nvPr/>
          </p:nvSpPr>
          <p:spPr>
            <a:xfrm>
              <a:off x="1233856" y="4192063"/>
              <a:ext cx="2955585" cy="16290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GB" sz="2000" b="1" dirty="0">
                  <a:solidFill>
                    <a:srgbClr val="1E49E2"/>
                  </a:solidFill>
                  <a:latin typeface="KPMG Bold"/>
                </a:rPr>
                <a:t>Governance, Security and Compliance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Unity Catalog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Identity and Access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Data Governance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Security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endParaRPr lang="en-GB" sz="2000" b="1" dirty="0">
                <a:solidFill>
                  <a:srgbClr val="1E49E2"/>
                </a:solidFill>
                <a:latin typeface="KPMG Bold"/>
              </a:endParaRPr>
            </a:p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724CECB-7063-DC74-9107-71F061A285DE}"/>
                </a:ext>
              </a:extLst>
            </p:cNvPr>
            <p:cNvSpPr/>
            <p:nvPr/>
          </p:nvSpPr>
          <p:spPr>
            <a:xfrm>
              <a:off x="4483533" y="3310261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03B469-ED5F-1F36-DE83-78665FF21E2A}"/>
                </a:ext>
              </a:extLst>
            </p:cNvPr>
            <p:cNvSpPr/>
            <p:nvPr/>
          </p:nvSpPr>
          <p:spPr>
            <a:xfrm>
              <a:off x="6932329" y="3343498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FF60F4-0233-90F3-C7FF-27F7B64C968D}"/>
                </a:ext>
              </a:extLst>
            </p:cNvPr>
            <p:cNvSpPr/>
            <p:nvPr/>
          </p:nvSpPr>
          <p:spPr>
            <a:xfrm>
              <a:off x="6899079" y="2615089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A771C77-7E7B-1604-7048-763C2FF75EC9}"/>
                </a:ext>
              </a:extLst>
            </p:cNvPr>
            <p:cNvSpPr/>
            <p:nvPr/>
          </p:nvSpPr>
          <p:spPr>
            <a:xfrm>
              <a:off x="4954924" y="4228258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FD0BBC-A41C-2480-76AE-91846FB8E572}"/>
                </a:ext>
              </a:extLst>
            </p:cNvPr>
            <p:cNvSpPr/>
            <p:nvPr/>
          </p:nvSpPr>
          <p:spPr>
            <a:xfrm>
              <a:off x="6455870" y="4228258"/>
              <a:ext cx="153134" cy="1531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5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E9DD9CD-86B0-97EE-A3F5-E464BD60A478}"/>
                </a:ext>
              </a:extLst>
            </p:cNvPr>
            <p:cNvGrpSpPr/>
            <p:nvPr/>
          </p:nvGrpSpPr>
          <p:grpSpPr>
            <a:xfrm>
              <a:off x="3674820" y="2483158"/>
              <a:ext cx="1264454" cy="2097711"/>
              <a:chOff x="3674820" y="2483158"/>
              <a:chExt cx="1264454" cy="2097711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F6D8615-7B14-D244-799D-CBECA2CA410A}"/>
                  </a:ext>
                </a:extLst>
              </p:cNvPr>
              <p:cNvSpPr/>
              <p:nvPr/>
            </p:nvSpPr>
            <p:spPr>
              <a:xfrm flipH="1">
                <a:off x="3792766" y="2483158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C8B4F2E-DE0D-6AB7-60FD-454A26874ABB}"/>
                  </a:ext>
                </a:extLst>
              </p:cNvPr>
              <p:cNvCxnSpPr/>
              <p:nvPr/>
            </p:nvCxnSpPr>
            <p:spPr>
              <a:xfrm flipH="1">
                <a:off x="3674820" y="3370429"/>
                <a:ext cx="808714" cy="0"/>
              </a:xfrm>
              <a:prstGeom prst="line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D9494E5-1C3B-C190-EE41-1CF10DFAD127}"/>
                  </a:ext>
                </a:extLst>
              </p:cNvPr>
              <p:cNvSpPr/>
              <p:nvPr/>
            </p:nvSpPr>
            <p:spPr>
              <a:xfrm flipH="1" flipV="1">
                <a:off x="4211431" y="4383642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EE6596B-E9FD-124D-20B5-8F30C81D8E07}"/>
                </a:ext>
              </a:extLst>
            </p:cNvPr>
            <p:cNvGrpSpPr/>
            <p:nvPr/>
          </p:nvGrpSpPr>
          <p:grpSpPr>
            <a:xfrm flipH="1">
              <a:off x="6611725" y="2392975"/>
              <a:ext cx="1282453" cy="2219592"/>
              <a:chOff x="4307281" y="2392975"/>
              <a:chExt cx="1282453" cy="2219592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897EC6A-9850-D3E9-184F-ADDB2DCE1525}"/>
                  </a:ext>
                </a:extLst>
              </p:cNvPr>
              <p:cNvSpPr/>
              <p:nvPr/>
            </p:nvSpPr>
            <p:spPr>
              <a:xfrm flipH="1">
                <a:off x="4421403" y="2392975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427056E-71AF-E4B2-39DB-02AE57384B63}"/>
                  </a:ext>
                </a:extLst>
              </p:cNvPr>
              <p:cNvCxnSpPr/>
              <p:nvPr/>
            </p:nvCxnSpPr>
            <p:spPr>
              <a:xfrm flipH="1">
                <a:off x="4307281" y="3461220"/>
                <a:ext cx="808715" cy="0"/>
              </a:xfrm>
              <a:prstGeom prst="line">
                <a:avLst/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85EF33D-4812-6B75-F0E6-5D0CEAE2C316}"/>
                  </a:ext>
                </a:extLst>
              </p:cNvPr>
              <p:cNvSpPr/>
              <p:nvPr/>
            </p:nvSpPr>
            <p:spPr>
              <a:xfrm flipH="1" flipV="1">
                <a:off x="4861891" y="4415340"/>
                <a:ext cx="727843" cy="197227"/>
              </a:xfrm>
              <a:custGeom>
                <a:avLst/>
                <a:gdLst>
                  <a:gd name="connsiteX0" fmla="*/ 0 w 3197111"/>
                  <a:gd name="connsiteY0" fmla="*/ 565744 h 565744"/>
                  <a:gd name="connsiteX1" fmla="*/ 565744 w 3197111"/>
                  <a:gd name="connsiteY1" fmla="*/ 0 h 565744"/>
                  <a:gd name="connsiteX2" fmla="*/ 3197111 w 3197111"/>
                  <a:gd name="connsiteY2" fmla="*/ 0 h 56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97111" h="565744">
                    <a:moveTo>
                      <a:pt x="0" y="565744"/>
                    </a:moveTo>
                    <a:lnTo>
                      <a:pt x="565744" y="0"/>
                    </a:lnTo>
                    <a:lnTo>
                      <a:pt x="3197111" y="0"/>
                    </a:lnTo>
                  </a:path>
                </a:pathLst>
              </a:cu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B4DC3-95C7-BAB4-944A-41EE64C497BA}"/>
                </a:ext>
              </a:extLst>
            </p:cNvPr>
            <p:cNvSpPr txBox="1"/>
            <p:nvPr/>
          </p:nvSpPr>
          <p:spPr>
            <a:xfrm>
              <a:off x="7783514" y="1655085"/>
              <a:ext cx="3173601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Data Ingestion and Processing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Batch Processing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Streaming Processing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Ingestion Technologies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Processing Controls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.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EB5FC2-1EC1-8F6C-F120-3FD26CB6CF66}"/>
                </a:ext>
              </a:extLst>
            </p:cNvPr>
            <p:cNvSpPr txBox="1"/>
            <p:nvPr/>
          </p:nvSpPr>
          <p:spPr>
            <a:xfrm>
              <a:off x="8046847" y="2875884"/>
              <a:ext cx="2979663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Medallion Architecture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Bronze Layer 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Silver Layer 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Gold Layer 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Delta Lake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.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21802FE-1561-045C-8642-D8FF697AC1FC}"/>
                </a:ext>
              </a:extLst>
            </p:cNvPr>
            <p:cNvSpPr txBox="1"/>
            <p:nvPr/>
          </p:nvSpPr>
          <p:spPr>
            <a:xfrm>
              <a:off x="7783513" y="4282555"/>
              <a:ext cx="3173601" cy="10869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lnSpc>
                  <a:spcPct val="110000"/>
                </a:lnSpc>
                <a:spcAft>
                  <a:spcPts val="300"/>
                </a:spcAft>
                <a:defRPr/>
              </a:pPr>
              <a:r>
                <a:rPr lang="en-US" sz="2000" b="1" dirty="0">
                  <a:solidFill>
                    <a:srgbClr val="1E49E2"/>
                  </a:solidFill>
                  <a:latin typeface="KPMG Bold"/>
                </a:rPr>
                <a:t>Platform and Compute Architecture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Environment Strategy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Workspace Design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Compute Design</a:t>
              </a:r>
            </a:p>
            <a:p>
              <a:pPr marL="171450" lvl="0" indent="-171450">
                <a:lnSpc>
                  <a:spcPct val="110000"/>
                </a:lnSpc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000000"/>
                  </a:solidFill>
                </a:rPr>
                <a:t>Compute Governance</a:t>
              </a:r>
              <a:endPara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FA6DB4E-0043-077F-8DAE-A886F1008B9F}"/>
              </a:ext>
            </a:extLst>
          </p:cNvPr>
          <p:cNvSpPr/>
          <p:nvPr/>
        </p:nvSpPr>
        <p:spPr>
          <a:xfrm>
            <a:off x="5647606" y="510689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416471-DD08-0674-F8C0-2439C862EDE4}"/>
              </a:ext>
            </a:extLst>
          </p:cNvPr>
          <p:cNvSpPr txBox="1"/>
          <p:nvPr/>
        </p:nvSpPr>
        <p:spPr>
          <a:xfrm>
            <a:off x="4337827" y="5308503"/>
            <a:ext cx="4331938" cy="11896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2000" b="1" dirty="0">
                <a:solidFill>
                  <a:srgbClr val="1E49E2"/>
                </a:solidFill>
                <a:latin typeface="KPMG Bold"/>
              </a:rPr>
              <a:t>Engineering, Deployment and Operation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Pipeline Framework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CI/CD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Orchestration</a:t>
            </a:r>
            <a:endParaRPr lang="en-US" sz="2000" b="1" dirty="0">
              <a:solidFill>
                <a:srgbClr val="1E49E2"/>
              </a:solidFill>
              <a:latin typeface="KPMG Bold"/>
            </a:endParaRPr>
          </a:p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6ADA7E-B1A0-B385-0D15-AD73B510ABC8}"/>
              </a:ext>
            </a:extLst>
          </p:cNvPr>
          <p:cNvSpPr txBox="1"/>
          <p:nvPr/>
        </p:nvSpPr>
        <p:spPr>
          <a:xfrm>
            <a:off x="4977334" y="729487"/>
            <a:ext cx="4331938" cy="14058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sz="2000" b="1" dirty="0">
                <a:solidFill>
                  <a:srgbClr val="1E49E2"/>
                </a:solidFill>
                <a:latin typeface="KPMG Bold"/>
              </a:rPr>
              <a:t>Quality, Monitoring and Cost Management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Data Quality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Reconciliation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Monitoring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</a:rPr>
              <a:t>Reliability and Recovery</a:t>
            </a:r>
          </a:p>
          <a:p>
            <a:pPr marL="171450" lvl="0" indent="-171450">
              <a:lnSpc>
                <a:spcPct val="11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GB" sz="1050" dirty="0">
                <a:solidFill>
                  <a:srgbClr val="000000"/>
                </a:solidFill>
              </a:rPr>
              <a:t>Cost Management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CDC91F-9B0D-9E77-6707-34F188AD6CB4}"/>
              </a:ext>
            </a:extLst>
          </p:cNvPr>
          <p:cNvSpPr/>
          <p:nvPr/>
        </p:nvSpPr>
        <p:spPr>
          <a:xfrm>
            <a:off x="5657257" y="210014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18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908" y="137161"/>
            <a:ext cx="87397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8D"/>
                </a:solidFill>
              </a:defRPr>
            </a:pPr>
            <a:r>
              <a:rPr sz="2400"/>
              <a:t>Databricks Architecture Considerations – Data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5908" y="700000"/>
            <a:ext cx="4150000" cy="2760000"/>
          </a:xfrm>
          <a:prstGeom prst="roundRect">
            <a:avLst>
              <a:gd name="adj" fmla="val 7000"/>
            </a:avLst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908" y="740000"/>
            <a:ext cx="3970000" cy="2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  <a:buNone/>
            </a:pPr>
            <a:r>
              <a:rPr sz="1600" b="1">
                <a:solidFill>
                  <a:srgbClr val="00338D"/>
                </a:solidFill>
              </a:rPr>
              <a:t>Data Architecture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Data Modeling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Conceptual, logical, and physical models organized by business domain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Tiered canonical model: OCSF/ECS for security data, governed native schemas for observability data, and a common metadata envelope on every table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Conformed dimensions (application, asset, user, environment)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Fact (event, metric) and dimension models; domain extension models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Data Context and Semantics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Business glossary and source → model → ontology mapping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Data contracts (ODCS): owner, schema, classification, SLA, retention, lineage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Data Products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Business-oriented Gold datasets and semantic (Genie) models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Named product owner, documented consumers, and published SLOs; defined criteria to promote Silver tables to data products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0000" y="700000"/>
            <a:ext cx="5720000" cy="2760000"/>
          </a:xfrm>
          <a:prstGeom prst="roundRect">
            <a:avLst>
              <a:gd name="adj" fmla="val 7000"/>
            </a:avLst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90000" y="740000"/>
            <a:ext cx="5540000" cy="2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  <a:buNone/>
            </a:pPr>
            <a:r>
              <a:rPr sz="1600" b="1">
                <a:solidFill>
                  <a:srgbClr val="00338D"/>
                </a:solidFill>
              </a:rPr>
              <a:t>Data Ingestion and Processing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Batch Processing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Scheduled file and database ingestion; historical backfill and migration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Incremental loads with high-water marks; idempotent re-runs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Streaming Processing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Near-real-time ingestion; event-time processing and late-arriving data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Latency tiers: hot (continuous), warm (micro-batch), cold (scheduled)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Ingestion Technologies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Auto Loader with Event Grid file notifications for ADLS landing files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Structured Streaming for Event Hubs and Kafka; Lakeflow Declarative Pipelines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Upstream routing and transport (e.g., Cribl Stream); Azure Data Factory or Lakeflow Connect for database and SaaS sources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Processing Controls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Checkpointing for exactly-once delivery; de-duplication keys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Additive schema evolution with rescued-data column; quarantine / dead-letter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908" y="3560000"/>
            <a:ext cx="4150000" cy="2640000"/>
          </a:xfrm>
          <a:prstGeom prst="roundRect">
            <a:avLst>
              <a:gd name="adj" fmla="val 7000"/>
            </a:avLst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908" y="3600000"/>
            <a:ext cx="3970000" cy="2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  <a:buNone/>
            </a:pPr>
            <a:r>
              <a:rPr sz="1600" b="1">
                <a:solidFill>
                  <a:srgbClr val="00338D"/>
                </a:solidFill>
              </a:rPr>
              <a:t>Storage Architecture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ADLS Gen2 Design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Separate storage accounts and containers by environment and data classification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Folders by data product / source family / date, not by source index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Landing-Zone Structure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Incoming, Validated, and Quarantine (rejected) paths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ADLS Access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Private endpoints; managed identities; separate writer and reader roles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00338D"/>
                </a:solidFill>
              </a:rPr>
              <a:t>Storage Management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Customer-managed keys in Azure Key Vault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Retention and lifecycle policies; WORM where regulated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Hot / Cool / Archive tiers for cold copies, not active Delta tables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Backup, recovery, and regional redundancy (ZRS / GRS)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3560000"/>
            <a:ext cx="5720000" cy="2640000"/>
          </a:xfrm>
          <a:prstGeom prst="roundRect">
            <a:avLst>
              <a:gd name="adj" fmla="val 7000"/>
            </a:avLst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0000" y="3600000"/>
            <a:ext cx="554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  <a:buNone/>
            </a:pPr>
            <a:r>
              <a:rPr sz="1600" b="1">
                <a:solidFill>
                  <a:srgbClr val="00338D"/>
                </a:solidFill>
              </a:rPr>
              <a:t>Medallion 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37BE99-1EF6-0D6D-5746-FCB5A86A35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423" t="3412" r="15320" b="37196"/>
          <a:stretch/>
        </p:blipFill>
        <p:spPr>
          <a:xfrm>
            <a:off x="4638506" y="2684543"/>
            <a:ext cx="1341712" cy="1338817"/>
          </a:xfrm>
          <a:custGeom>
            <a:avLst/>
            <a:gdLst>
              <a:gd name="connsiteX0" fmla="*/ 871535 w 1743070"/>
              <a:gd name="connsiteY0" fmla="*/ 0 h 2021962"/>
              <a:gd name="connsiteX1" fmla="*/ 1743070 w 1743070"/>
              <a:gd name="connsiteY1" fmla="*/ 524699 h 2021962"/>
              <a:gd name="connsiteX2" fmla="*/ 1743070 w 1743070"/>
              <a:gd name="connsiteY2" fmla="*/ 1497263 h 2021962"/>
              <a:gd name="connsiteX3" fmla="*/ 871535 w 1743070"/>
              <a:gd name="connsiteY3" fmla="*/ 2021962 h 2021962"/>
              <a:gd name="connsiteX4" fmla="*/ 0 w 1743070"/>
              <a:gd name="connsiteY4" fmla="*/ 1497263 h 2021962"/>
              <a:gd name="connsiteX5" fmla="*/ 0 w 1743070"/>
              <a:gd name="connsiteY5" fmla="*/ 524699 h 202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3070" h="2021962">
                <a:moveTo>
                  <a:pt x="871535" y="0"/>
                </a:moveTo>
                <a:lnTo>
                  <a:pt x="1743070" y="524699"/>
                </a:lnTo>
                <a:lnTo>
                  <a:pt x="1743070" y="1497263"/>
                </a:lnTo>
                <a:lnTo>
                  <a:pt x="871535" y="2021962"/>
                </a:lnTo>
                <a:lnTo>
                  <a:pt x="0" y="1497263"/>
                </a:lnTo>
                <a:lnTo>
                  <a:pt x="0" y="524699"/>
                </a:lnTo>
                <a:close/>
              </a:path>
            </a:pathLst>
          </a:cu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F0C5375-6807-D3E7-6C64-3292582E00FF}"/>
              </a:ext>
            </a:extLst>
          </p:cNvPr>
          <p:cNvSpPr txBox="1"/>
          <p:nvPr/>
        </p:nvSpPr>
        <p:spPr>
          <a:xfrm>
            <a:off x="4831234" y="3108960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Data 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Foundation</a:t>
            </a: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5EBDDBAD-1FA4-7397-EFB6-F3D97207A0D5}"/>
              </a:ext>
            </a:extLst>
          </p:cNvPr>
          <p:cNvSpPr/>
          <p:nvPr/>
        </p:nvSpPr>
        <p:spPr>
          <a:xfrm rot="16200000">
            <a:off x="4506953" y="2618952"/>
            <a:ext cx="1585049" cy="1469998"/>
          </a:xfrm>
          <a:prstGeom prst="hexagon">
            <a:avLst>
              <a:gd name="adj" fmla="val 30102"/>
              <a:gd name="vf" fmla="val 115470"/>
            </a:avLst>
          </a:prstGeom>
          <a:noFill/>
          <a:ln w="38100">
            <a:solidFill>
              <a:srgbClr val="ACE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223BD5-069D-D7F9-6424-D589D3A5C41D}"/>
              </a:ext>
            </a:extLst>
          </p:cNvPr>
          <p:cNvSpPr/>
          <p:nvPr/>
        </p:nvSpPr>
        <p:spPr>
          <a:xfrm>
            <a:off x="4477905" y="293713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EC173A-6476-6B5E-36B5-1E02C85F0972}"/>
              </a:ext>
            </a:extLst>
          </p:cNvPr>
          <p:cNvSpPr/>
          <p:nvPr/>
        </p:nvSpPr>
        <p:spPr>
          <a:xfrm>
            <a:off x="5947904" y="358567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AC39A9-1A1E-67A7-8958-84603D75B5DE}"/>
              </a:ext>
            </a:extLst>
          </p:cNvPr>
          <p:cNvSpPr/>
          <p:nvPr/>
        </p:nvSpPr>
        <p:spPr>
          <a:xfrm>
            <a:off x="5902047" y="293713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F03791-314F-FF76-54AC-441AE859B36F}"/>
              </a:ext>
            </a:extLst>
          </p:cNvPr>
          <p:cNvSpPr/>
          <p:nvPr/>
        </p:nvSpPr>
        <p:spPr>
          <a:xfrm>
            <a:off x="4477905" y="3566160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90000" y="3960000"/>
            <a:ext cx="1806666" cy="17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buNone/>
            </a:pPr>
            <a:r>
              <a:rPr sz="900" b="1">
                <a:solidFill>
                  <a:srgbClr val="00338D"/>
                </a:solidFill>
              </a:rPr>
              <a:t>Bronze Layer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Raw or near-raw payload preserved unmodified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Common metadata envelope (source and ingest timestamps, source family, lineage)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Source metadata promoted to columns; many sources consolidated into few governed tables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Append-only and replayable; Restricted 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666" y="3960000"/>
            <a:ext cx="1806666" cy="17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buNone/>
            </a:pPr>
            <a:r>
              <a:rPr sz="900" b="1">
                <a:solidFill>
                  <a:srgbClr val="00338D"/>
                </a:solidFill>
              </a:rPr>
              <a:t>Silver Layer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Enforce data contract and schema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Parse, normalize (OCSF or governed native), and enrich with conformed dimensions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Mask PHI / PII; de-duplicate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Quality expectations with quarantine; Internal classification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3332" y="3960000"/>
            <a:ext cx="1806666" cy="17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buNone/>
            </a:pPr>
            <a:r>
              <a:rPr sz="900" b="1">
                <a:solidFill>
                  <a:srgbClr val="00338D"/>
                </a:solidFill>
              </a:rPr>
              <a:t>Gold Layer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Business data products, KPIs, and aggregates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Semantic layer (Genie, BI) and AI feature sets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Team-owned workspaces read Silver and Gold, never Bronze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0000" y="5640000"/>
            <a:ext cx="5540000" cy="520000"/>
          </a:xfrm>
          <a:prstGeom prst="rect">
            <a:avLst/>
          </a:prstGeom>
          <a:noFill/>
        </p:spPr>
        <p:txBody>
          <a:bodyPr wrap="square" lIns="36000">
            <a:spAutoFit/>
          </a:bodyPr>
          <a:lstStyle/>
          <a:p>
            <a:pPr>
              <a:buNone/>
            </a:pPr>
            <a:r>
              <a:rPr sz="900" b="1">
                <a:solidFill>
                  <a:srgbClr val="00338D"/>
                </a:solidFill>
              </a:rPr>
              <a:t>Delta Lake</a:t>
            </a:r>
          </a:p>
          <a:p>
            <a:pPr marL="114300" indent="-114300">
              <a:buFont typeface="Arial"/>
              <a:buChar char="•"/>
            </a:pPr>
            <a:r>
              <a:rPr sz="900" b="0"/>
              <a:t>Open table format with ACID transactions; partition by event date, Liquid Clustering / Z-ordering, auto-compaction, 128–512 MB target file size; layer-specific retention; Unity Catalog lineage across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908" y="137161"/>
            <a:ext cx="101102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8D"/>
                </a:solidFill>
              </a:defRPr>
            </a:pPr>
            <a:r>
              <a:rPr sz="2400" dirty="0"/>
              <a:t>Databricks Architecture Considerations – Governance &amp;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5908" y="731520"/>
            <a:ext cx="4192971" cy="2046268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9" y="777240"/>
            <a:ext cx="3935693" cy="200054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Governance, Security and Compliance</a:t>
            </a:r>
          </a:p>
          <a:p>
            <a:pPr>
              <a:defRPr sz="900"/>
            </a:pPr>
            <a:r>
              <a:rPr sz="900" dirty="0"/>
              <a:t>Unity Catalog</a:t>
            </a:r>
            <a:br>
              <a:rPr sz="900" dirty="0"/>
            </a:br>
            <a:r>
              <a:rPr sz="900" dirty="0"/>
              <a:t>• Catalog and schema structure</a:t>
            </a:r>
            <a:br>
              <a:rPr sz="900" dirty="0"/>
            </a:br>
            <a:r>
              <a:rPr sz="900" dirty="0"/>
              <a:t>• Table and column ownership</a:t>
            </a:r>
            <a:br>
              <a:rPr sz="900" dirty="0"/>
            </a:br>
            <a:r>
              <a:rPr sz="900" dirty="0"/>
              <a:t>• Centralized permissions</a:t>
            </a:r>
            <a:br>
              <a:rPr sz="900" dirty="0"/>
            </a:br>
            <a:br>
              <a:rPr sz="900" dirty="0"/>
            </a:br>
            <a:r>
              <a:rPr sz="900" dirty="0"/>
              <a:t>Identity and Access</a:t>
            </a:r>
            <a:br>
              <a:rPr sz="900" dirty="0"/>
            </a:br>
            <a:r>
              <a:rPr sz="900" dirty="0"/>
              <a:t>• Microsoft Entra groups</a:t>
            </a:r>
            <a:br>
              <a:rPr sz="900" dirty="0"/>
            </a:br>
            <a:r>
              <a:rPr sz="900" dirty="0"/>
              <a:t>• Role-based access control</a:t>
            </a:r>
            <a:endParaRPr lang="en-US" sz="900" dirty="0">
              <a:cs typeface="Arial"/>
            </a:endParaRPr>
          </a:p>
          <a:p>
            <a:pPr>
              <a:defRPr sz="900"/>
            </a:pPr>
            <a:endParaRPr lang="en-US" sz="900" dirty="0">
              <a:cs typeface="Arial"/>
            </a:endParaRPr>
          </a:p>
          <a:p>
            <a:pPr>
              <a:defRPr sz="900"/>
            </a:pPr>
            <a:r>
              <a:rPr lang="en-US" sz="900" dirty="0"/>
              <a:t>Data Governance</a:t>
            </a:r>
            <a:endParaRPr lang="en-US" sz="900" dirty="0"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Business glossary</a:t>
            </a:r>
            <a:endParaRPr lang="en-US" sz="900" dirty="0"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Data ownership and stewardship</a:t>
            </a:r>
            <a:endParaRPr sz="900" dirty="0">
              <a:cs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15695" y="731520"/>
            <a:ext cx="4192971" cy="2046268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10948" y="777240"/>
            <a:ext cx="3644331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Platform and Compute Architecture</a:t>
            </a:r>
          </a:p>
          <a:p>
            <a:pPr>
              <a:defRPr sz="900"/>
            </a:pPr>
            <a:r>
              <a:rPr sz="900" dirty="0"/>
              <a:t>Environment Strategy</a:t>
            </a:r>
            <a:br>
              <a:rPr sz="900" dirty="0"/>
            </a:br>
            <a:r>
              <a:rPr sz="900" dirty="0"/>
              <a:t>• Development • Test • UAT • Production</a:t>
            </a:r>
            <a:br>
              <a:rPr sz="900" dirty="0"/>
            </a:br>
            <a:br>
              <a:rPr sz="900" dirty="0"/>
            </a:br>
            <a:r>
              <a:rPr sz="900" dirty="0"/>
              <a:t>Workspace Design</a:t>
            </a:r>
            <a:br>
              <a:rPr sz="900" dirty="0"/>
            </a:br>
            <a:r>
              <a:rPr sz="900" dirty="0"/>
              <a:t>• Workspace per environment</a:t>
            </a:r>
            <a:br>
              <a:rPr sz="900" dirty="0"/>
            </a:br>
            <a:br>
              <a:rPr sz="900" dirty="0"/>
            </a:br>
            <a:r>
              <a:rPr sz="900" dirty="0"/>
              <a:t>Compute Design</a:t>
            </a:r>
            <a:br>
              <a:rPr sz="900" dirty="0"/>
            </a:br>
            <a:r>
              <a:rPr sz="900" dirty="0"/>
              <a:t>• Job compute for scheduled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908" y="3657600"/>
            <a:ext cx="4437606" cy="23774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7349" y="3703320"/>
            <a:ext cx="4221027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Engineering, Deployment and Operations</a:t>
            </a:r>
          </a:p>
          <a:p>
            <a:pPr>
              <a:defRPr sz="900"/>
            </a:pPr>
            <a:r>
              <a:rPr sz="900" dirty="0"/>
              <a:t>Pipeline Framework</a:t>
            </a:r>
            <a:br>
              <a:rPr sz="900" dirty="0"/>
            </a:br>
            <a:r>
              <a:rPr sz="900" dirty="0"/>
              <a:t>• Standard pipeline templates</a:t>
            </a:r>
            <a:br>
              <a:rPr sz="900" dirty="0"/>
            </a:br>
            <a:r>
              <a:rPr sz="900" dirty="0"/>
              <a:t>• Parameterization and configuration</a:t>
            </a:r>
            <a:br>
              <a:rPr sz="900" dirty="0"/>
            </a:br>
            <a:br>
              <a:rPr sz="900" dirty="0"/>
            </a:br>
            <a:r>
              <a:rPr sz="900" dirty="0"/>
              <a:t>CI/CD</a:t>
            </a:r>
            <a:br>
              <a:rPr sz="900" dirty="0"/>
            </a:br>
            <a:r>
              <a:rPr sz="900" dirty="0"/>
              <a:t>• Git-based version control</a:t>
            </a:r>
            <a:br>
              <a:rPr sz="900" dirty="0"/>
            </a:br>
            <a:r>
              <a:rPr sz="900" dirty="0"/>
              <a:t>• Azure DevOps or GitHub</a:t>
            </a:r>
            <a:endParaRPr lang="en-US" sz="900" dirty="0"/>
          </a:p>
          <a:p>
            <a:pPr>
              <a:defRPr sz="900"/>
            </a:pPr>
            <a:endParaRPr lang="en-US" sz="900" dirty="0"/>
          </a:p>
          <a:p>
            <a:pPr>
              <a:defRPr sz="900"/>
            </a:pPr>
            <a:r>
              <a:rPr lang="en-US" sz="900" dirty="0"/>
              <a:t>Orchestration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Databricks Workflows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Pipeline dependencies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/>
            </a:pPr>
            <a:r>
              <a:rPr lang="en-US" sz="900" dirty="0"/>
              <a:t>Scheduling</a:t>
            </a:r>
            <a:endParaRPr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6219508" y="3657600"/>
            <a:ext cx="4437606" cy="2377440"/>
          </a:xfrm>
          <a:prstGeom prst="roundRect">
            <a:avLst/>
          </a:prstGeom>
          <a:solidFill>
            <a:srgbClr val="E6F2FF"/>
          </a:solidFill>
          <a:ln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0948" y="3703321"/>
            <a:ext cx="4289123" cy="15850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8D"/>
                </a:solidFill>
              </a:defRPr>
            </a:pPr>
            <a:r>
              <a:rPr sz="1600" dirty="0"/>
              <a:t>Quality, Monitoring and Cost Management</a:t>
            </a:r>
          </a:p>
          <a:p>
            <a:pPr>
              <a:defRPr sz="900"/>
            </a:pPr>
            <a:r>
              <a:rPr sz="900" dirty="0"/>
              <a:t>Data Quality</a:t>
            </a:r>
            <a:br>
              <a:rPr sz="900" dirty="0"/>
            </a:br>
            <a:r>
              <a:rPr sz="900" dirty="0"/>
              <a:t>• Completeness • Validity • Uniqueness</a:t>
            </a:r>
            <a:br>
              <a:rPr sz="900" dirty="0"/>
            </a:br>
            <a:br>
              <a:rPr sz="900" dirty="0"/>
            </a:br>
            <a:r>
              <a:rPr sz="900" dirty="0"/>
              <a:t>Monitoring</a:t>
            </a:r>
            <a:br>
              <a:rPr sz="900" dirty="0"/>
            </a:br>
            <a:r>
              <a:rPr sz="900" dirty="0"/>
              <a:t>• Pipeline health and duration</a:t>
            </a:r>
            <a:br>
              <a:rPr sz="900" dirty="0"/>
            </a:br>
            <a:r>
              <a:rPr sz="900" dirty="0"/>
              <a:t>• Data freshness</a:t>
            </a:r>
            <a:br>
              <a:rPr sz="900" dirty="0"/>
            </a:br>
            <a:br>
              <a:rPr sz="900" dirty="0"/>
            </a:br>
            <a:r>
              <a:rPr sz="900" dirty="0"/>
              <a:t>Cost Management</a:t>
            </a:r>
            <a:br>
              <a:rPr sz="900" dirty="0"/>
            </a:br>
            <a:r>
              <a:rPr sz="900" dirty="0"/>
              <a:t>• Compute auto-termination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46B270-11EC-D1EA-BCE1-1EC42A55E7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5423" t="3412" r="15320" b="37196"/>
          <a:stretch/>
        </p:blipFill>
        <p:spPr>
          <a:xfrm>
            <a:off x="4664271" y="2608385"/>
            <a:ext cx="1341712" cy="1338817"/>
          </a:xfrm>
          <a:custGeom>
            <a:avLst/>
            <a:gdLst>
              <a:gd name="connsiteX0" fmla="*/ 871535 w 1743070"/>
              <a:gd name="connsiteY0" fmla="*/ 0 h 2021962"/>
              <a:gd name="connsiteX1" fmla="*/ 1743070 w 1743070"/>
              <a:gd name="connsiteY1" fmla="*/ 524699 h 2021962"/>
              <a:gd name="connsiteX2" fmla="*/ 1743070 w 1743070"/>
              <a:gd name="connsiteY2" fmla="*/ 1497263 h 2021962"/>
              <a:gd name="connsiteX3" fmla="*/ 871535 w 1743070"/>
              <a:gd name="connsiteY3" fmla="*/ 2021962 h 2021962"/>
              <a:gd name="connsiteX4" fmla="*/ 0 w 1743070"/>
              <a:gd name="connsiteY4" fmla="*/ 1497263 h 2021962"/>
              <a:gd name="connsiteX5" fmla="*/ 0 w 1743070"/>
              <a:gd name="connsiteY5" fmla="*/ 524699 h 202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3070" h="2021962">
                <a:moveTo>
                  <a:pt x="871535" y="0"/>
                </a:moveTo>
                <a:lnTo>
                  <a:pt x="1743070" y="524699"/>
                </a:lnTo>
                <a:lnTo>
                  <a:pt x="1743070" y="1497263"/>
                </a:lnTo>
                <a:lnTo>
                  <a:pt x="871535" y="2021962"/>
                </a:lnTo>
                <a:lnTo>
                  <a:pt x="0" y="1497263"/>
                </a:lnTo>
                <a:lnTo>
                  <a:pt x="0" y="524699"/>
                </a:ln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1B1F87-8300-B3D8-B7BB-62715ABE2839}"/>
              </a:ext>
            </a:extLst>
          </p:cNvPr>
          <p:cNvSpPr txBox="1"/>
          <p:nvPr/>
        </p:nvSpPr>
        <p:spPr>
          <a:xfrm>
            <a:off x="4758393" y="2969257"/>
            <a:ext cx="914400" cy="9144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Governance 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&amp; Operations </a:t>
            </a:r>
            <a:r>
              <a:rPr lang="en-US" sz="1500" b="1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3D803C-9B29-71A8-B0CD-2124A5D8AE18}"/>
              </a:ext>
            </a:extLst>
          </p:cNvPr>
          <p:cNvSpPr/>
          <p:nvPr/>
        </p:nvSpPr>
        <p:spPr>
          <a:xfrm>
            <a:off x="6036285" y="363696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46CB0-D1A6-0E34-8D9B-8DA973920AE0}"/>
              </a:ext>
            </a:extLst>
          </p:cNvPr>
          <p:cNvSpPr/>
          <p:nvPr/>
        </p:nvSpPr>
        <p:spPr>
          <a:xfrm>
            <a:off x="6012393" y="2764135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BBFE0F-A287-BBD5-BC0F-159B113B5334}"/>
              </a:ext>
            </a:extLst>
          </p:cNvPr>
          <p:cNvSpPr/>
          <p:nvPr/>
        </p:nvSpPr>
        <p:spPr>
          <a:xfrm>
            <a:off x="4421993" y="359666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77EF66-5DD9-D4D6-06E1-55BCE7B23CFC}"/>
              </a:ext>
            </a:extLst>
          </p:cNvPr>
          <p:cNvSpPr/>
          <p:nvPr/>
        </p:nvSpPr>
        <p:spPr>
          <a:xfrm>
            <a:off x="4441472" y="2773932"/>
            <a:ext cx="173146" cy="1675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D0834F7D-F39E-B1DD-8AC5-FFE8DB76DA11}"/>
              </a:ext>
            </a:extLst>
          </p:cNvPr>
          <p:cNvSpPr/>
          <p:nvPr/>
        </p:nvSpPr>
        <p:spPr>
          <a:xfrm rot="16200000">
            <a:off x="4506181" y="2553251"/>
            <a:ext cx="1642056" cy="1477665"/>
          </a:xfrm>
          <a:prstGeom prst="hexagon">
            <a:avLst>
              <a:gd name="adj" fmla="val 30102"/>
              <a:gd name="vf" fmla="val 115470"/>
            </a:avLst>
          </a:prstGeom>
          <a:noFill/>
          <a:ln w="38100">
            <a:solidFill>
              <a:srgbClr val="ACEA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AAE3-1348-1178-2D71-98A59381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F240B7-E23C-8C7B-0CA0-47C35BD81FC0}"/>
              </a:ext>
            </a:extLst>
          </p:cNvPr>
          <p:cNvSpPr/>
          <p:nvPr/>
        </p:nvSpPr>
        <p:spPr>
          <a:xfrm>
            <a:off x="0" y="818896"/>
            <a:ext cx="12192000" cy="5078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03D8CC-BF83-F586-5B2D-7C3A55257F0C}"/>
              </a:ext>
            </a:extLst>
          </p:cNvPr>
          <p:cNvSpPr txBox="1"/>
          <p:nvPr/>
        </p:nvSpPr>
        <p:spPr>
          <a:xfrm>
            <a:off x="995363" y="1155047"/>
            <a:ext cx="4208793" cy="381643"/>
          </a:xfrm>
          <a:prstGeom prst="rect">
            <a:avLst/>
          </a:prstGeom>
          <a:solidFill>
            <a:srgbClr val="1E49E2"/>
          </a:solidFill>
        </p:spPr>
        <p:txBody>
          <a:bodyPr vert="horz" wrap="square" lIns="54864" tIns="54864" rIns="54864" bIns="54864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PMG Bold"/>
                <a:ea typeface="+mn-ea"/>
                <a:cs typeface="+mn-cs"/>
              </a:rPr>
              <a:t>Business-focused 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E08CF4E4-0BE2-9EDD-8804-92C0F54496EA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3868015" y="1231975"/>
          <a:ext cx="4472757" cy="4706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Oval 29">
            <a:extLst>
              <a:ext uri="{FF2B5EF4-FFF2-40B4-BE49-F238E27FC236}">
                <a16:creationId xmlns:a16="http://schemas.microsoft.com/office/drawing/2014/main" id="{4E60E64C-45D7-6F3B-49BB-D2BC79053CEB}"/>
              </a:ext>
            </a:extLst>
          </p:cNvPr>
          <p:cNvSpPr/>
          <p:nvPr/>
        </p:nvSpPr>
        <p:spPr>
          <a:xfrm>
            <a:off x="6638565" y="1825161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5601CED-CA0F-8BD8-23DD-42BC6327A82B}"/>
              </a:ext>
            </a:extLst>
          </p:cNvPr>
          <p:cNvSpPr/>
          <p:nvPr/>
        </p:nvSpPr>
        <p:spPr>
          <a:xfrm>
            <a:off x="7538292" y="2792644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4B631F-F503-5CC7-EB02-A6F73052D6B3}"/>
              </a:ext>
            </a:extLst>
          </p:cNvPr>
          <p:cNvSpPr/>
          <p:nvPr/>
        </p:nvSpPr>
        <p:spPr>
          <a:xfrm>
            <a:off x="7560299" y="4091449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A6E943E-9AF1-2353-64CA-C3FB14FB601E}"/>
              </a:ext>
            </a:extLst>
          </p:cNvPr>
          <p:cNvSpPr/>
          <p:nvPr/>
        </p:nvSpPr>
        <p:spPr>
          <a:xfrm>
            <a:off x="6638565" y="5061822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0E8F6FC-4AC8-C529-7DAD-08E851BE17AE}"/>
              </a:ext>
            </a:extLst>
          </p:cNvPr>
          <p:cNvCxnSpPr>
            <a:cxnSpLocks/>
          </p:cNvCxnSpPr>
          <p:nvPr/>
        </p:nvCxnSpPr>
        <p:spPr>
          <a:xfrm flipH="1">
            <a:off x="7057478" y="1950572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D8D0C5-C981-BDD4-79D3-09050CFDEA05}"/>
              </a:ext>
            </a:extLst>
          </p:cNvPr>
          <p:cNvCxnSpPr>
            <a:cxnSpLocks/>
          </p:cNvCxnSpPr>
          <p:nvPr/>
        </p:nvCxnSpPr>
        <p:spPr>
          <a:xfrm flipH="1">
            <a:off x="8004904" y="2943000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D46A618-A777-D8CA-A217-AC9C4F4B2E22}"/>
              </a:ext>
            </a:extLst>
          </p:cNvPr>
          <p:cNvCxnSpPr>
            <a:cxnSpLocks/>
          </p:cNvCxnSpPr>
          <p:nvPr/>
        </p:nvCxnSpPr>
        <p:spPr>
          <a:xfrm flipH="1">
            <a:off x="8004904" y="4260914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8B75F63-38EC-BBF6-132C-8C92CCDEAAD8}"/>
              </a:ext>
            </a:extLst>
          </p:cNvPr>
          <p:cNvCxnSpPr>
            <a:cxnSpLocks/>
          </p:cNvCxnSpPr>
          <p:nvPr/>
        </p:nvCxnSpPr>
        <p:spPr>
          <a:xfrm flipH="1">
            <a:off x="7057478" y="5264736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BBB917CB-6BE1-1A6F-C915-EA64A0FC2391}"/>
              </a:ext>
            </a:extLst>
          </p:cNvPr>
          <p:cNvSpPr/>
          <p:nvPr/>
        </p:nvSpPr>
        <p:spPr>
          <a:xfrm flipH="1">
            <a:off x="5296458" y="1827939"/>
            <a:ext cx="326611" cy="324952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F4F54FA-A393-D0B2-F291-0045666987B1}"/>
              </a:ext>
            </a:extLst>
          </p:cNvPr>
          <p:cNvSpPr/>
          <p:nvPr/>
        </p:nvSpPr>
        <p:spPr>
          <a:xfrm flipH="1">
            <a:off x="4396732" y="2795421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3301FE4-40EE-DD88-5368-04CE38BBC4B9}"/>
              </a:ext>
            </a:extLst>
          </p:cNvPr>
          <p:cNvSpPr/>
          <p:nvPr/>
        </p:nvSpPr>
        <p:spPr>
          <a:xfrm flipH="1">
            <a:off x="4374725" y="4094227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AC5E0EE-AFC5-935B-79A5-40028E1EE1D9}"/>
              </a:ext>
            </a:extLst>
          </p:cNvPr>
          <p:cNvSpPr/>
          <p:nvPr/>
        </p:nvSpPr>
        <p:spPr>
          <a:xfrm flipH="1">
            <a:off x="5296458" y="5064599"/>
            <a:ext cx="326611" cy="338928"/>
          </a:xfrm>
          <a:prstGeom prst="ellipse">
            <a:avLst/>
          </a:prstGeom>
          <a:solidFill>
            <a:schemeClr val="bg1"/>
          </a:solidFill>
          <a:ln w="6350">
            <a:solidFill>
              <a:srgbClr val="E5E5E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28C6C8E-755A-B3C4-7CAE-BA6B0480B44C}"/>
              </a:ext>
            </a:extLst>
          </p:cNvPr>
          <p:cNvCxnSpPr>
            <a:cxnSpLocks/>
          </p:cNvCxnSpPr>
          <p:nvPr/>
        </p:nvCxnSpPr>
        <p:spPr>
          <a:xfrm>
            <a:off x="4868288" y="1953349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AECA248-ADEA-B704-9006-5E9D2ABB32F2}"/>
              </a:ext>
            </a:extLst>
          </p:cNvPr>
          <p:cNvCxnSpPr>
            <a:cxnSpLocks/>
          </p:cNvCxnSpPr>
          <p:nvPr/>
        </p:nvCxnSpPr>
        <p:spPr>
          <a:xfrm>
            <a:off x="3920863" y="2945777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E4F0AE1-D8D1-A73B-A515-BBE9BA5CB380}"/>
              </a:ext>
            </a:extLst>
          </p:cNvPr>
          <p:cNvCxnSpPr>
            <a:cxnSpLocks/>
          </p:cNvCxnSpPr>
          <p:nvPr/>
        </p:nvCxnSpPr>
        <p:spPr>
          <a:xfrm>
            <a:off x="3920863" y="4263691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A95B8F-6F88-EC5C-12EC-2E40EF77C574}"/>
              </a:ext>
            </a:extLst>
          </p:cNvPr>
          <p:cNvCxnSpPr>
            <a:cxnSpLocks/>
          </p:cNvCxnSpPr>
          <p:nvPr/>
        </p:nvCxnSpPr>
        <p:spPr>
          <a:xfrm>
            <a:off x="4868288" y="5267513"/>
            <a:ext cx="335868" cy="0"/>
          </a:xfrm>
          <a:prstGeom prst="line">
            <a:avLst/>
          </a:prstGeom>
          <a:ln w="6350">
            <a:solidFill>
              <a:srgbClr val="0033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CE6ED4DF-6A4A-1243-F433-232420E2C286}"/>
              </a:ext>
            </a:extLst>
          </p:cNvPr>
          <p:cNvSpPr/>
          <p:nvPr/>
        </p:nvSpPr>
        <p:spPr>
          <a:xfrm>
            <a:off x="4970839" y="2451524"/>
            <a:ext cx="2267108" cy="2267107"/>
          </a:xfrm>
          <a:prstGeom prst="ellipse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5B65B1-6912-89CB-FEF7-4A0A6C3295CB}"/>
              </a:ext>
            </a:extLst>
          </p:cNvPr>
          <p:cNvCxnSpPr>
            <a:cxnSpLocks/>
          </p:cNvCxnSpPr>
          <p:nvPr/>
        </p:nvCxnSpPr>
        <p:spPr>
          <a:xfrm>
            <a:off x="6104393" y="1612215"/>
            <a:ext cx="0" cy="3968537"/>
          </a:xfrm>
          <a:prstGeom prst="line">
            <a:avLst/>
          </a:prstGeom>
          <a:ln w="19050" cap="flat" cmpd="sng" algn="ctr">
            <a:solidFill>
              <a:srgbClr val="00338D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44F0A05-74B5-C61D-E3C5-24465C0B22B6}"/>
              </a:ext>
            </a:extLst>
          </p:cNvPr>
          <p:cNvSpPr txBox="1"/>
          <p:nvPr/>
        </p:nvSpPr>
        <p:spPr>
          <a:xfrm>
            <a:off x="7499346" y="1493208"/>
            <a:ext cx="3558119" cy="85848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What source systems, Splunk indexes, and source types are in scope?</a:t>
            </a:r>
          </a:p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What are the historical volume, daily ingestion, peak event rate, event size, file count, and annual growth?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FD76F5-B6D5-76B4-6E77-29728DDD4F5D}"/>
              </a:ext>
            </a:extLst>
          </p:cNvPr>
          <p:cNvSpPr txBox="1"/>
          <p:nvPr/>
        </p:nvSpPr>
        <p:spPr>
          <a:xfrm>
            <a:off x="1724028" y="1653022"/>
            <a:ext cx="3079666" cy="6309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Establish the business owner, source owner, data steward, product owner, technical owner, and accountable consumer for each dataset.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89D6A8-7203-1484-8939-32AC2D84B284}"/>
              </a:ext>
            </a:extLst>
          </p:cNvPr>
          <p:cNvSpPr txBox="1"/>
          <p:nvPr/>
        </p:nvSpPr>
        <p:spPr>
          <a:xfrm>
            <a:off x="995363" y="3960113"/>
            <a:ext cx="2834592" cy="6309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Identify PII, PHI, PCI, confidential user activity, geographic residency, restricted security events, masking requirements, and approved consumer groups.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2FB173-B5D6-24C0-3C53-5BAA6EECEA3E}"/>
              </a:ext>
            </a:extLst>
          </p:cNvPr>
          <p:cNvSpPr txBox="1"/>
          <p:nvPr/>
        </p:nvSpPr>
        <p:spPr>
          <a:xfrm>
            <a:off x="8459750" y="2608376"/>
            <a:ext cx="2740063" cy="70645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How will data reach Databricks during and after migration?</a:t>
            </a:r>
          </a:p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What data contracts and schema-change controls currently exist?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066021-6655-7B0D-874B-837CACB43277}"/>
              </a:ext>
            </a:extLst>
          </p:cNvPr>
          <p:cNvSpPr txBox="1"/>
          <p:nvPr/>
        </p:nvSpPr>
        <p:spPr>
          <a:xfrm>
            <a:off x="8458766" y="3423380"/>
            <a:ext cx="3479234" cy="11676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100" kern="0" dirty="0">
                <a:solidFill>
                  <a:srgbClr val="000000"/>
                </a:solidFill>
              </a:rPr>
              <a:t>What should the target Azure and Databricks platform architecture be?</a:t>
            </a:r>
          </a:p>
          <a:p>
            <a:pPr lvl="0">
              <a:defRPr/>
            </a:pPr>
            <a:r>
              <a:rPr lang="en-US" sz="1100" kern="0" dirty="0">
                <a:solidFill>
                  <a:srgbClr val="000000"/>
                </a:solidFill>
              </a:rPr>
              <a:t>What is the required extraction interval: hourly, daily, or source-dependent?</a:t>
            </a:r>
          </a:p>
          <a:p>
            <a:pPr lvl="0">
              <a:defRPr/>
            </a:pPr>
            <a:r>
              <a:rPr lang="en-US" sz="1100" kern="0" dirty="0">
                <a:solidFill>
                  <a:srgbClr val="000000"/>
                </a:solidFill>
              </a:rPr>
              <a:t>How are duplicate and late-arriving events identified today?</a:t>
            </a:r>
            <a:endParaRPr kumimoji="0" lang="en-GB" sz="11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9756E-C720-9319-1391-995E3EB3F0EE}"/>
              </a:ext>
            </a:extLst>
          </p:cNvPr>
          <p:cNvSpPr txBox="1"/>
          <p:nvPr/>
        </p:nvSpPr>
        <p:spPr>
          <a:xfrm>
            <a:off x="995363" y="2551226"/>
            <a:ext cx="2834592" cy="8173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Agree on reconciliation tolerances for event counts, dashboards, KPIs, alerts, latency, and detection outcomes before Splunk workloads are retired.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B760B-03B0-6194-CBA3-95EE3C8FA32F}"/>
              </a:ext>
            </a:extLst>
          </p:cNvPr>
          <p:cNvSpPr txBox="1"/>
          <p:nvPr/>
        </p:nvSpPr>
        <p:spPr>
          <a:xfrm>
            <a:off x="7499347" y="4631319"/>
            <a:ext cx="4497920" cy="107163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GB" sz="1100" kern="0" dirty="0">
                <a:solidFill>
                  <a:srgbClr val="000000"/>
                </a:solidFill>
              </a:rPr>
              <a:t>Establish Microsoft Entra groups, managed identities, service principals, Unity </a:t>
            </a:r>
            <a:r>
              <a:rPr lang="en-GB" sz="1100" kern="0" dirty="0" err="1">
                <a:solidFill>
                  <a:srgbClr val="000000"/>
                </a:solidFill>
              </a:rPr>
              <a:t>Catalog</a:t>
            </a:r>
            <a:r>
              <a:rPr lang="en-GB" sz="1100" kern="0" dirty="0">
                <a:solidFill>
                  <a:srgbClr val="000000"/>
                </a:solidFill>
              </a:rPr>
              <a:t> permissions, row filters, column masks, classifications, lineage, secrets, and audit logging.</a:t>
            </a:r>
          </a:p>
          <a:p>
            <a:pPr lvl="0">
              <a:defRPr/>
            </a:pPr>
            <a:r>
              <a:rPr lang="en-GB" sz="1100" kern="0" dirty="0">
                <a:solidFill>
                  <a:srgbClr val="000000"/>
                </a:solidFill>
              </a:rPr>
              <a:t>Are serverless compute and serverless SQL Warehouses permitted?</a:t>
            </a:r>
          </a:p>
          <a:p>
            <a:pPr lvl="0">
              <a:defRPr/>
            </a:pPr>
            <a:r>
              <a:rPr lang="en-GB" sz="1100" kern="0" dirty="0">
                <a:solidFill>
                  <a:srgbClr val="000000"/>
                </a:solidFill>
              </a:rPr>
              <a:t>Which tools are mandated for CI/CD and infrastructure as code, such as Azure DevOps, GitHub, Terraform, or Bicep?</a:t>
            </a: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3DF08-1121-0A8C-7AC8-7577B2464C34}"/>
              </a:ext>
            </a:extLst>
          </p:cNvPr>
          <p:cNvSpPr txBox="1"/>
          <p:nvPr/>
        </p:nvSpPr>
        <p:spPr>
          <a:xfrm>
            <a:off x="1304926" y="4958656"/>
            <a:ext cx="3481906" cy="6309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>
              <a:defRPr/>
            </a:pPr>
            <a:r>
              <a:rPr lang="en-US" sz="1200" kern="0" dirty="0">
                <a:solidFill>
                  <a:srgbClr val="000000"/>
                </a:solidFill>
              </a:rPr>
              <a:t>Agree the business definitions, KPIs, and entities that must be consistent across security and observability data (glossary, canonical model, conformed dimensions).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C2795B-2D33-AE79-A655-A7A6BF2753AE}"/>
              </a:ext>
            </a:extLst>
          </p:cNvPr>
          <p:cNvSpPr>
            <a:spLocks noChangeAspect="1"/>
          </p:cNvSpPr>
          <p:nvPr/>
        </p:nvSpPr>
        <p:spPr>
          <a:xfrm>
            <a:off x="5400546" y="2881230"/>
            <a:ext cx="1407695" cy="140769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80E9C16-03F8-0BF4-3614-9F83611045A8}"/>
              </a:ext>
            </a:extLst>
          </p:cNvPr>
          <p:cNvCxnSpPr>
            <a:cxnSpLocks/>
          </p:cNvCxnSpPr>
          <p:nvPr/>
        </p:nvCxnSpPr>
        <p:spPr>
          <a:xfrm>
            <a:off x="4873051" y="2345871"/>
            <a:ext cx="733647" cy="74151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AACE95-6E41-B8F7-CE36-348201FB5E11}"/>
              </a:ext>
            </a:extLst>
          </p:cNvPr>
          <p:cNvCxnSpPr>
            <a:cxnSpLocks/>
          </p:cNvCxnSpPr>
          <p:nvPr/>
        </p:nvCxnSpPr>
        <p:spPr>
          <a:xfrm flipH="1">
            <a:off x="6602089" y="2345871"/>
            <a:ext cx="733646" cy="74151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9B31BAA-22F2-5F5A-8F3A-0ABF18833F73}"/>
              </a:ext>
            </a:extLst>
          </p:cNvPr>
          <p:cNvCxnSpPr>
            <a:cxnSpLocks/>
          </p:cNvCxnSpPr>
          <p:nvPr/>
        </p:nvCxnSpPr>
        <p:spPr>
          <a:xfrm flipV="1">
            <a:off x="4351403" y="3585078"/>
            <a:ext cx="1049143" cy="832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D69C54-09B9-FE1F-66C7-B88D63E52911}"/>
              </a:ext>
            </a:extLst>
          </p:cNvPr>
          <p:cNvCxnSpPr>
            <a:cxnSpLocks/>
          </p:cNvCxnSpPr>
          <p:nvPr/>
        </p:nvCxnSpPr>
        <p:spPr>
          <a:xfrm flipV="1">
            <a:off x="4868288" y="4082773"/>
            <a:ext cx="738410" cy="729829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6C58944-715B-F34A-4449-4095FD1EC794}"/>
              </a:ext>
            </a:extLst>
          </p:cNvPr>
          <p:cNvCxnSpPr>
            <a:cxnSpLocks/>
          </p:cNvCxnSpPr>
          <p:nvPr/>
        </p:nvCxnSpPr>
        <p:spPr>
          <a:xfrm flipH="1" flipV="1">
            <a:off x="6602089" y="4082773"/>
            <a:ext cx="738409" cy="729829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E27C65D-3628-DD68-A8EF-39DEDE190623}"/>
              </a:ext>
            </a:extLst>
          </p:cNvPr>
          <p:cNvCxnSpPr>
            <a:cxnSpLocks/>
          </p:cNvCxnSpPr>
          <p:nvPr/>
        </p:nvCxnSpPr>
        <p:spPr>
          <a:xfrm>
            <a:off x="6808241" y="3585078"/>
            <a:ext cx="10491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reeform 87">
            <a:extLst>
              <a:ext uri="{FF2B5EF4-FFF2-40B4-BE49-F238E27FC236}">
                <a16:creationId xmlns:a16="http://schemas.microsoft.com/office/drawing/2014/main" id="{2E5E009B-B0ED-C131-9F3F-FB536BCC97C3}"/>
              </a:ext>
            </a:extLst>
          </p:cNvPr>
          <p:cNvSpPr>
            <a:spLocks noChangeAspect="1"/>
          </p:cNvSpPr>
          <p:nvPr/>
        </p:nvSpPr>
        <p:spPr bwMode="auto">
          <a:xfrm>
            <a:off x="4411992" y="4175485"/>
            <a:ext cx="252077" cy="176413"/>
          </a:xfrm>
          <a:custGeom>
            <a:avLst/>
            <a:gdLst>
              <a:gd name="T0" fmla="*/ 203 w 252"/>
              <a:gd name="T1" fmla="*/ 68 h 176"/>
              <a:gd name="T2" fmla="*/ 126 w 252"/>
              <a:gd name="T3" fmla="*/ 0 h 176"/>
              <a:gd name="T4" fmla="*/ 49 w 252"/>
              <a:gd name="T5" fmla="*/ 68 h 176"/>
              <a:gd name="T6" fmla="*/ 0 w 252"/>
              <a:gd name="T7" fmla="*/ 122 h 176"/>
              <a:gd name="T8" fmla="*/ 54 w 252"/>
              <a:gd name="T9" fmla="*/ 176 h 176"/>
              <a:gd name="T10" fmla="*/ 198 w 252"/>
              <a:gd name="T11" fmla="*/ 176 h 176"/>
              <a:gd name="T12" fmla="*/ 252 w 252"/>
              <a:gd name="T13" fmla="*/ 122 h 176"/>
              <a:gd name="T14" fmla="*/ 203 w 252"/>
              <a:gd name="T15" fmla="*/ 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" h="176">
                <a:moveTo>
                  <a:pt x="203" y="68"/>
                </a:moveTo>
                <a:cubicBezTo>
                  <a:pt x="198" y="29"/>
                  <a:pt x="166" y="0"/>
                  <a:pt x="126" y="0"/>
                </a:cubicBezTo>
                <a:cubicBezTo>
                  <a:pt x="86" y="0"/>
                  <a:pt x="54" y="29"/>
                  <a:pt x="49" y="68"/>
                </a:cubicBezTo>
                <a:cubicBezTo>
                  <a:pt x="21" y="70"/>
                  <a:pt x="0" y="94"/>
                  <a:pt x="0" y="122"/>
                </a:cubicBezTo>
                <a:cubicBezTo>
                  <a:pt x="0" y="152"/>
                  <a:pt x="24" y="176"/>
                  <a:pt x="54" y="176"/>
                </a:cubicBezTo>
                <a:cubicBezTo>
                  <a:pt x="198" y="176"/>
                  <a:pt x="198" y="176"/>
                  <a:pt x="198" y="176"/>
                </a:cubicBezTo>
                <a:cubicBezTo>
                  <a:pt x="228" y="176"/>
                  <a:pt x="252" y="152"/>
                  <a:pt x="252" y="122"/>
                </a:cubicBezTo>
                <a:cubicBezTo>
                  <a:pt x="252" y="94"/>
                  <a:pt x="231" y="70"/>
                  <a:pt x="203" y="68"/>
                </a:cubicBezTo>
                <a:close/>
              </a:path>
            </a:pathLst>
          </a:custGeom>
          <a:noFill/>
          <a:ln w="6350" cap="flat">
            <a:solidFill>
              <a:srgbClr val="1E49E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C830764-3E6A-8F5D-524E-DE92EC089F03}"/>
              </a:ext>
            </a:extLst>
          </p:cNvPr>
          <p:cNvGrpSpPr>
            <a:grpSpLocks noChangeAspect="1"/>
          </p:cNvGrpSpPr>
          <p:nvPr/>
        </p:nvGrpSpPr>
        <p:grpSpPr>
          <a:xfrm>
            <a:off x="4473912" y="2899713"/>
            <a:ext cx="172251" cy="130344"/>
            <a:chOff x="4461518" y="3059430"/>
            <a:chExt cx="229266" cy="173488"/>
          </a:xfrm>
        </p:grpSpPr>
        <p:sp>
          <p:nvSpPr>
            <p:cNvPr id="69" name="Arrow: Chevron 68">
              <a:extLst>
                <a:ext uri="{FF2B5EF4-FFF2-40B4-BE49-F238E27FC236}">
                  <a16:creationId xmlns:a16="http://schemas.microsoft.com/office/drawing/2014/main" id="{6891114E-9054-7835-24BA-44C4763E560D}"/>
                </a:ext>
              </a:extLst>
            </p:cNvPr>
            <p:cNvSpPr/>
            <p:nvPr/>
          </p:nvSpPr>
          <p:spPr>
            <a:xfrm>
              <a:off x="4461518" y="3059430"/>
              <a:ext cx="138778" cy="173488"/>
            </a:xfrm>
            <a:prstGeom prst="chevron">
              <a:avLst/>
            </a:prstGeom>
            <a:noFill/>
            <a:ln w="6350">
              <a:solidFill>
                <a:srgbClr val="1E4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Arrow: Chevron 74">
              <a:extLst>
                <a:ext uri="{FF2B5EF4-FFF2-40B4-BE49-F238E27FC236}">
                  <a16:creationId xmlns:a16="http://schemas.microsoft.com/office/drawing/2014/main" id="{52E88CE8-1169-28DC-BBA3-39B20B5F858A}"/>
                </a:ext>
              </a:extLst>
            </p:cNvPr>
            <p:cNvSpPr/>
            <p:nvPr/>
          </p:nvSpPr>
          <p:spPr>
            <a:xfrm>
              <a:off x="4552006" y="3059430"/>
              <a:ext cx="138778" cy="173488"/>
            </a:xfrm>
            <a:prstGeom prst="chevron">
              <a:avLst/>
            </a:prstGeom>
            <a:noFill/>
            <a:ln w="6350">
              <a:solidFill>
                <a:srgbClr val="1E4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7" name="Group 157">
            <a:extLst>
              <a:ext uri="{FF2B5EF4-FFF2-40B4-BE49-F238E27FC236}">
                <a16:creationId xmlns:a16="http://schemas.microsoft.com/office/drawing/2014/main" id="{CCDFD6D9-7D1B-D439-D504-9E0CB3E2ECF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75819" y="1906899"/>
            <a:ext cx="167888" cy="167033"/>
            <a:chOff x="634" y="2216"/>
            <a:chExt cx="588" cy="585"/>
          </a:xfrm>
        </p:grpSpPr>
        <p:sp>
          <p:nvSpPr>
            <p:cNvPr id="78" name="Freeform 158">
              <a:extLst>
                <a:ext uri="{FF2B5EF4-FFF2-40B4-BE49-F238E27FC236}">
                  <a16:creationId xmlns:a16="http://schemas.microsoft.com/office/drawing/2014/main" id="{0BF1D33E-0CB4-2BA4-4EC9-2069C5258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" y="2216"/>
              <a:ext cx="588" cy="585"/>
            </a:xfrm>
            <a:custGeom>
              <a:avLst/>
              <a:gdLst>
                <a:gd name="T0" fmla="*/ 0 w 246"/>
                <a:gd name="T1" fmla="*/ 0 h 244"/>
                <a:gd name="T2" fmla="*/ 0 w 246"/>
                <a:gd name="T3" fmla="*/ 236 h 244"/>
                <a:gd name="T4" fmla="*/ 7 w 246"/>
                <a:gd name="T5" fmla="*/ 244 h 244"/>
                <a:gd name="T6" fmla="*/ 246 w 246"/>
                <a:gd name="T7" fmla="*/ 24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6" h="244">
                  <a:moveTo>
                    <a:pt x="0" y="0"/>
                  </a:moveTo>
                  <a:cubicBezTo>
                    <a:pt x="0" y="236"/>
                    <a:pt x="0" y="236"/>
                    <a:pt x="0" y="236"/>
                  </a:cubicBezTo>
                  <a:cubicBezTo>
                    <a:pt x="0" y="241"/>
                    <a:pt x="3" y="244"/>
                    <a:pt x="7" y="244"/>
                  </a:cubicBezTo>
                  <a:cubicBezTo>
                    <a:pt x="246" y="244"/>
                    <a:pt x="246" y="244"/>
                    <a:pt x="246" y="244"/>
                  </a:cubicBezTo>
                </a:path>
              </a:pathLst>
            </a:custGeom>
            <a:noFill/>
            <a:ln w="6350" cap="flat">
              <a:solidFill>
                <a:srgbClr val="1E49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 159">
              <a:extLst>
                <a:ext uri="{FF2B5EF4-FFF2-40B4-BE49-F238E27FC236}">
                  <a16:creationId xmlns:a16="http://schemas.microsoft.com/office/drawing/2014/main" id="{EB7C873B-9946-DE85-6FDA-270B92486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" y="2377"/>
              <a:ext cx="502" cy="280"/>
            </a:xfrm>
            <a:custGeom>
              <a:avLst/>
              <a:gdLst>
                <a:gd name="T0" fmla="*/ 0 w 502"/>
                <a:gd name="T1" fmla="*/ 280 h 280"/>
                <a:gd name="T2" fmla="*/ 165 w 502"/>
                <a:gd name="T3" fmla="*/ 127 h 280"/>
                <a:gd name="T4" fmla="*/ 270 w 502"/>
                <a:gd name="T5" fmla="*/ 232 h 280"/>
                <a:gd name="T6" fmla="*/ 502 w 502"/>
                <a:gd name="T7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2" h="280">
                  <a:moveTo>
                    <a:pt x="0" y="280"/>
                  </a:moveTo>
                  <a:lnTo>
                    <a:pt x="165" y="127"/>
                  </a:lnTo>
                  <a:lnTo>
                    <a:pt x="270" y="232"/>
                  </a:lnTo>
                  <a:lnTo>
                    <a:pt x="502" y="0"/>
                  </a:lnTo>
                </a:path>
              </a:pathLst>
            </a:custGeom>
            <a:noFill/>
            <a:ln w="6350" cap="flat">
              <a:solidFill>
                <a:srgbClr val="1E49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 160">
              <a:extLst>
                <a:ext uri="{FF2B5EF4-FFF2-40B4-BE49-F238E27FC236}">
                  <a16:creationId xmlns:a16="http://schemas.microsoft.com/office/drawing/2014/main" id="{D7049407-5054-B80A-D09A-0C7C32474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2377"/>
              <a:ext cx="194" cy="189"/>
            </a:xfrm>
            <a:custGeom>
              <a:avLst/>
              <a:gdLst>
                <a:gd name="T0" fmla="*/ 194 w 194"/>
                <a:gd name="T1" fmla="*/ 189 h 189"/>
                <a:gd name="T2" fmla="*/ 194 w 194"/>
                <a:gd name="T3" fmla="*/ 0 h 189"/>
                <a:gd name="T4" fmla="*/ 0 w 194"/>
                <a:gd name="T5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4" h="189">
                  <a:moveTo>
                    <a:pt x="194" y="189"/>
                  </a:moveTo>
                  <a:lnTo>
                    <a:pt x="194" y="0"/>
                  </a:ln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rgbClr val="1E49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81" name="Group 189">
            <a:extLst>
              <a:ext uri="{FF2B5EF4-FFF2-40B4-BE49-F238E27FC236}">
                <a16:creationId xmlns:a16="http://schemas.microsoft.com/office/drawing/2014/main" id="{B905D4C0-8D12-4548-5B8F-16455CCDC25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48984" y="5116822"/>
            <a:ext cx="221559" cy="234482"/>
            <a:chOff x="5069" y="2408"/>
            <a:chExt cx="583" cy="617"/>
          </a:xfrm>
        </p:grpSpPr>
        <p:sp>
          <p:nvSpPr>
            <p:cNvPr id="82" name="Freeform 190">
              <a:extLst>
                <a:ext uri="{FF2B5EF4-FFF2-40B4-BE49-F238E27FC236}">
                  <a16:creationId xmlns:a16="http://schemas.microsoft.com/office/drawing/2014/main" id="{6C09E05F-6E4B-D21B-F21A-A68880588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3" y="2619"/>
              <a:ext cx="212" cy="208"/>
            </a:xfrm>
            <a:custGeom>
              <a:avLst/>
              <a:gdLst>
                <a:gd name="T0" fmla="*/ 7 w 89"/>
                <a:gd name="T1" fmla="*/ 0 h 87"/>
                <a:gd name="T2" fmla="*/ 82 w 89"/>
                <a:gd name="T3" fmla="*/ 0 h 87"/>
                <a:gd name="T4" fmla="*/ 89 w 89"/>
                <a:gd name="T5" fmla="*/ 7 h 87"/>
                <a:gd name="T6" fmla="*/ 89 w 89"/>
                <a:gd name="T7" fmla="*/ 80 h 87"/>
                <a:gd name="T8" fmla="*/ 82 w 89"/>
                <a:gd name="T9" fmla="*/ 87 h 87"/>
                <a:gd name="T10" fmla="*/ 7 w 89"/>
                <a:gd name="T11" fmla="*/ 87 h 87"/>
                <a:gd name="T12" fmla="*/ 0 w 89"/>
                <a:gd name="T13" fmla="*/ 80 h 87"/>
                <a:gd name="T14" fmla="*/ 0 w 89"/>
                <a:gd name="T15" fmla="*/ 7 h 87"/>
                <a:gd name="T16" fmla="*/ 7 w 89"/>
                <a:gd name="T17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87">
                  <a:moveTo>
                    <a:pt x="7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85" y="0"/>
                    <a:pt x="89" y="3"/>
                    <a:pt x="89" y="7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4"/>
                    <a:pt x="85" y="87"/>
                    <a:pt x="82" y="8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3" y="87"/>
                    <a:pt x="0" y="84"/>
                    <a:pt x="0" y="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lose/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Line 191">
              <a:extLst>
                <a:ext uri="{FF2B5EF4-FFF2-40B4-BE49-F238E27FC236}">
                  <a16:creationId xmlns:a16="http://schemas.microsoft.com/office/drawing/2014/main" id="{6B7BE653-0B8E-FAB2-2675-BB5ACD709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3" y="2573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Line 192">
              <a:extLst>
                <a:ext uri="{FF2B5EF4-FFF2-40B4-BE49-F238E27FC236}">
                  <a16:creationId xmlns:a16="http://schemas.microsoft.com/office/drawing/2014/main" id="{8642CAD0-3036-E81A-ADBF-F6B6D86EC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8" y="2573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Line 193">
              <a:extLst>
                <a:ext uri="{FF2B5EF4-FFF2-40B4-BE49-F238E27FC236}">
                  <a16:creationId xmlns:a16="http://schemas.microsoft.com/office/drawing/2014/main" id="{CDDCAC6F-0492-AC94-8626-BE4DC7139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3" y="2829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Line 194">
              <a:extLst>
                <a:ext uri="{FF2B5EF4-FFF2-40B4-BE49-F238E27FC236}">
                  <a16:creationId xmlns:a16="http://schemas.microsoft.com/office/drawing/2014/main" id="{C9DE040E-D041-491F-3E0F-F6A17F2D5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8" y="2829"/>
              <a:ext cx="0" cy="43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Line 195">
              <a:extLst>
                <a:ext uri="{FF2B5EF4-FFF2-40B4-BE49-F238E27FC236}">
                  <a16:creationId xmlns:a16="http://schemas.microsoft.com/office/drawing/2014/main" id="{A8FF4244-6047-43B4-075C-3951FBB81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2776"/>
              <a:ext cx="40" cy="0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Line 196">
              <a:extLst>
                <a:ext uri="{FF2B5EF4-FFF2-40B4-BE49-F238E27FC236}">
                  <a16:creationId xmlns:a16="http://schemas.microsoft.com/office/drawing/2014/main" id="{E74CB0E5-3DD3-302D-43DD-AA8A728DF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" y="2669"/>
              <a:ext cx="40" cy="0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 197">
              <a:extLst>
                <a:ext uri="{FF2B5EF4-FFF2-40B4-BE49-F238E27FC236}">
                  <a16:creationId xmlns:a16="http://schemas.microsoft.com/office/drawing/2014/main" id="{68149161-8283-3FF6-8B87-EA1482228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561"/>
              <a:ext cx="43" cy="91"/>
            </a:xfrm>
            <a:custGeom>
              <a:avLst/>
              <a:gdLst>
                <a:gd name="T0" fmla="*/ 0 w 43"/>
                <a:gd name="T1" fmla="*/ 91 h 91"/>
                <a:gd name="T2" fmla="*/ 43 w 43"/>
                <a:gd name="T3" fmla="*/ 91 h 91"/>
                <a:gd name="T4" fmla="*/ 43 w 43"/>
                <a:gd name="T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91">
                  <a:moveTo>
                    <a:pt x="0" y="91"/>
                  </a:moveTo>
                  <a:lnTo>
                    <a:pt x="43" y="91"/>
                  </a:lnTo>
                  <a:lnTo>
                    <a:pt x="43" y="0"/>
                  </a:lnTo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Oval 198">
              <a:extLst>
                <a:ext uri="{FF2B5EF4-FFF2-40B4-BE49-F238E27FC236}">
                  <a16:creationId xmlns:a16="http://schemas.microsoft.com/office/drawing/2014/main" id="{F02BAC94-56F4-0514-0E83-B7DA0EF71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5" y="2487"/>
              <a:ext cx="74" cy="74"/>
            </a:xfrm>
            <a:prstGeom prst="ellips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Oval 199">
              <a:extLst>
                <a:ext uri="{FF2B5EF4-FFF2-40B4-BE49-F238E27FC236}">
                  <a16:creationId xmlns:a16="http://schemas.microsoft.com/office/drawing/2014/main" id="{D4AE3CBB-C66B-3A35-DD48-4FE595B44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8" y="2685"/>
              <a:ext cx="74" cy="75"/>
            </a:xfrm>
            <a:prstGeom prst="ellips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 200">
              <a:extLst>
                <a:ext uri="{FF2B5EF4-FFF2-40B4-BE49-F238E27FC236}">
                  <a16:creationId xmlns:a16="http://schemas.microsoft.com/office/drawing/2014/main" id="{D3020CE3-3FD9-3195-5FEB-DCF4662B8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793"/>
              <a:ext cx="43" cy="91"/>
            </a:xfrm>
            <a:custGeom>
              <a:avLst/>
              <a:gdLst>
                <a:gd name="T0" fmla="*/ 0 w 43"/>
                <a:gd name="T1" fmla="*/ 0 h 91"/>
                <a:gd name="T2" fmla="*/ 43 w 43"/>
                <a:gd name="T3" fmla="*/ 0 h 91"/>
                <a:gd name="T4" fmla="*/ 43 w 43"/>
                <a:gd name="T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91">
                  <a:moveTo>
                    <a:pt x="0" y="0"/>
                  </a:moveTo>
                  <a:lnTo>
                    <a:pt x="43" y="0"/>
                  </a:lnTo>
                  <a:lnTo>
                    <a:pt x="43" y="91"/>
                  </a:lnTo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Oval 201">
              <a:extLst>
                <a:ext uri="{FF2B5EF4-FFF2-40B4-BE49-F238E27FC236}">
                  <a16:creationId xmlns:a16="http://schemas.microsoft.com/office/drawing/2014/main" id="{50B1E29D-3B39-1846-96BF-67032C11E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5" y="2886"/>
              <a:ext cx="74" cy="74"/>
            </a:xfrm>
            <a:prstGeom prst="ellips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Line 202">
              <a:extLst>
                <a:ext uri="{FF2B5EF4-FFF2-40B4-BE49-F238E27FC236}">
                  <a16:creationId xmlns:a16="http://schemas.microsoft.com/office/drawing/2014/main" id="{1EFE4506-39B7-D164-9280-012B3B59E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8" y="2724"/>
              <a:ext cx="100" cy="0"/>
            </a:xfrm>
            <a:prstGeom prst="line">
              <a:avLst/>
            </a:pr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 203">
              <a:extLst>
                <a:ext uri="{FF2B5EF4-FFF2-40B4-BE49-F238E27FC236}">
                  <a16:creationId xmlns:a16="http://schemas.microsoft.com/office/drawing/2014/main" id="{457CB621-4E65-FE3B-713B-565C28021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9" y="2408"/>
              <a:ext cx="359" cy="617"/>
            </a:xfrm>
            <a:custGeom>
              <a:avLst/>
              <a:gdLst>
                <a:gd name="T0" fmla="*/ 150 w 150"/>
                <a:gd name="T1" fmla="*/ 25 h 258"/>
                <a:gd name="T2" fmla="*/ 150 w 150"/>
                <a:gd name="T3" fmla="*/ 4 h 258"/>
                <a:gd name="T4" fmla="*/ 146 w 150"/>
                <a:gd name="T5" fmla="*/ 0 h 258"/>
                <a:gd name="T6" fmla="*/ 112 w 150"/>
                <a:gd name="T7" fmla="*/ 0 h 258"/>
                <a:gd name="T8" fmla="*/ 108 w 150"/>
                <a:gd name="T9" fmla="*/ 4 h 258"/>
                <a:gd name="T10" fmla="*/ 108 w 150"/>
                <a:gd name="T11" fmla="*/ 22 h 258"/>
                <a:gd name="T12" fmla="*/ 105 w 150"/>
                <a:gd name="T13" fmla="*/ 26 h 258"/>
                <a:gd name="T14" fmla="*/ 73 w 150"/>
                <a:gd name="T15" fmla="*/ 39 h 258"/>
                <a:gd name="T16" fmla="*/ 68 w 150"/>
                <a:gd name="T17" fmla="*/ 39 h 258"/>
                <a:gd name="T18" fmla="*/ 55 w 150"/>
                <a:gd name="T19" fmla="*/ 26 h 258"/>
                <a:gd name="T20" fmla="*/ 50 w 150"/>
                <a:gd name="T21" fmla="*/ 26 h 258"/>
                <a:gd name="T22" fmla="*/ 26 w 150"/>
                <a:gd name="T23" fmla="*/ 50 h 258"/>
                <a:gd name="T24" fmla="*/ 25 w 150"/>
                <a:gd name="T25" fmla="*/ 56 h 258"/>
                <a:gd name="T26" fmla="*/ 26 w 150"/>
                <a:gd name="T27" fmla="*/ 56 h 258"/>
                <a:gd name="T28" fmla="*/ 38 w 150"/>
                <a:gd name="T29" fmla="*/ 68 h 258"/>
                <a:gd name="T30" fmla="*/ 38 w 150"/>
                <a:gd name="T31" fmla="*/ 73 h 258"/>
                <a:gd name="T32" fmla="*/ 25 w 150"/>
                <a:gd name="T33" fmla="*/ 105 h 258"/>
                <a:gd name="T34" fmla="*/ 21 w 150"/>
                <a:gd name="T35" fmla="*/ 108 h 258"/>
                <a:gd name="T36" fmla="*/ 4 w 150"/>
                <a:gd name="T37" fmla="*/ 108 h 258"/>
                <a:gd name="T38" fmla="*/ 0 w 150"/>
                <a:gd name="T39" fmla="*/ 112 h 258"/>
                <a:gd name="T40" fmla="*/ 0 w 150"/>
                <a:gd name="T41" fmla="*/ 146 h 258"/>
                <a:gd name="T42" fmla="*/ 4 w 150"/>
                <a:gd name="T43" fmla="*/ 150 h 258"/>
                <a:gd name="T44" fmla="*/ 21 w 150"/>
                <a:gd name="T45" fmla="*/ 150 h 258"/>
                <a:gd name="T46" fmla="*/ 25 w 150"/>
                <a:gd name="T47" fmla="*/ 153 h 258"/>
                <a:gd name="T48" fmla="*/ 38 w 150"/>
                <a:gd name="T49" fmla="*/ 186 h 258"/>
                <a:gd name="T50" fmla="*/ 38 w 150"/>
                <a:gd name="T51" fmla="*/ 191 h 258"/>
                <a:gd name="T52" fmla="*/ 26 w 150"/>
                <a:gd name="T53" fmla="*/ 203 h 258"/>
                <a:gd name="T54" fmla="*/ 26 w 150"/>
                <a:gd name="T55" fmla="*/ 208 h 258"/>
                <a:gd name="T56" fmla="*/ 50 w 150"/>
                <a:gd name="T57" fmla="*/ 232 h 258"/>
                <a:gd name="T58" fmla="*/ 55 w 150"/>
                <a:gd name="T59" fmla="*/ 232 h 258"/>
                <a:gd name="T60" fmla="*/ 67 w 150"/>
                <a:gd name="T61" fmla="*/ 220 h 258"/>
                <a:gd name="T62" fmla="*/ 72 w 150"/>
                <a:gd name="T63" fmla="*/ 220 h 258"/>
                <a:gd name="T64" fmla="*/ 105 w 150"/>
                <a:gd name="T65" fmla="*/ 233 h 258"/>
                <a:gd name="T66" fmla="*/ 108 w 150"/>
                <a:gd name="T67" fmla="*/ 237 h 258"/>
                <a:gd name="T68" fmla="*/ 108 w 150"/>
                <a:gd name="T69" fmla="*/ 254 h 258"/>
                <a:gd name="T70" fmla="*/ 112 w 150"/>
                <a:gd name="T71" fmla="*/ 258 h 258"/>
                <a:gd name="T72" fmla="*/ 146 w 150"/>
                <a:gd name="T73" fmla="*/ 258 h 258"/>
                <a:gd name="T74" fmla="*/ 150 w 150"/>
                <a:gd name="T75" fmla="*/ 254 h 258"/>
                <a:gd name="T76" fmla="*/ 150 w 150"/>
                <a:gd name="T77" fmla="*/ 23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0" h="258">
                  <a:moveTo>
                    <a:pt x="150" y="25"/>
                  </a:moveTo>
                  <a:cubicBezTo>
                    <a:pt x="150" y="4"/>
                    <a:pt x="150" y="4"/>
                    <a:pt x="150" y="4"/>
                  </a:cubicBezTo>
                  <a:cubicBezTo>
                    <a:pt x="150" y="2"/>
                    <a:pt x="148" y="0"/>
                    <a:pt x="146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0" y="0"/>
                    <a:pt x="108" y="2"/>
                    <a:pt x="108" y="4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4"/>
                    <a:pt x="106" y="26"/>
                    <a:pt x="105" y="26"/>
                  </a:cubicBezTo>
                  <a:cubicBezTo>
                    <a:pt x="93" y="29"/>
                    <a:pt x="82" y="33"/>
                    <a:pt x="73" y="39"/>
                  </a:cubicBezTo>
                  <a:cubicBezTo>
                    <a:pt x="71" y="40"/>
                    <a:pt x="69" y="40"/>
                    <a:pt x="68" y="39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54" y="25"/>
                    <a:pt x="51" y="25"/>
                    <a:pt x="50" y="26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4" y="52"/>
                    <a:pt x="24" y="54"/>
                    <a:pt x="25" y="56"/>
                  </a:cubicBezTo>
                  <a:cubicBezTo>
                    <a:pt x="26" y="56"/>
                    <a:pt x="26" y="56"/>
                    <a:pt x="26" y="5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9" y="70"/>
                    <a:pt x="39" y="71"/>
                    <a:pt x="38" y="73"/>
                  </a:cubicBezTo>
                  <a:cubicBezTo>
                    <a:pt x="32" y="83"/>
                    <a:pt x="28" y="94"/>
                    <a:pt x="25" y="105"/>
                  </a:cubicBezTo>
                  <a:cubicBezTo>
                    <a:pt x="25" y="107"/>
                    <a:pt x="23" y="108"/>
                    <a:pt x="21" y="108"/>
                  </a:cubicBezTo>
                  <a:cubicBezTo>
                    <a:pt x="4" y="108"/>
                    <a:pt x="4" y="108"/>
                    <a:pt x="4" y="108"/>
                  </a:cubicBezTo>
                  <a:cubicBezTo>
                    <a:pt x="2" y="108"/>
                    <a:pt x="0" y="110"/>
                    <a:pt x="0" y="112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8"/>
                    <a:pt x="2" y="150"/>
                    <a:pt x="4" y="150"/>
                  </a:cubicBezTo>
                  <a:cubicBezTo>
                    <a:pt x="21" y="150"/>
                    <a:pt x="21" y="150"/>
                    <a:pt x="21" y="150"/>
                  </a:cubicBezTo>
                  <a:cubicBezTo>
                    <a:pt x="23" y="150"/>
                    <a:pt x="25" y="151"/>
                    <a:pt x="25" y="153"/>
                  </a:cubicBezTo>
                  <a:cubicBezTo>
                    <a:pt x="28" y="165"/>
                    <a:pt x="32" y="176"/>
                    <a:pt x="38" y="186"/>
                  </a:cubicBezTo>
                  <a:cubicBezTo>
                    <a:pt x="39" y="187"/>
                    <a:pt x="39" y="189"/>
                    <a:pt x="38" y="191"/>
                  </a:cubicBezTo>
                  <a:cubicBezTo>
                    <a:pt x="26" y="203"/>
                    <a:pt x="26" y="203"/>
                    <a:pt x="26" y="203"/>
                  </a:cubicBezTo>
                  <a:cubicBezTo>
                    <a:pt x="24" y="204"/>
                    <a:pt x="24" y="207"/>
                    <a:pt x="26" y="208"/>
                  </a:cubicBezTo>
                  <a:cubicBezTo>
                    <a:pt x="50" y="232"/>
                    <a:pt x="50" y="232"/>
                    <a:pt x="50" y="232"/>
                  </a:cubicBezTo>
                  <a:cubicBezTo>
                    <a:pt x="51" y="234"/>
                    <a:pt x="54" y="234"/>
                    <a:pt x="55" y="232"/>
                  </a:cubicBezTo>
                  <a:cubicBezTo>
                    <a:pt x="67" y="220"/>
                    <a:pt x="67" y="220"/>
                    <a:pt x="67" y="220"/>
                  </a:cubicBezTo>
                  <a:cubicBezTo>
                    <a:pt x="69" y="219"/>
                    <a:pt x="71" y="219"/>
                    <a:pt x="72" y="220"/>
                  </a:cubicBezTo>
                  <a:cubicBezTo>
                    <a:pt x="82" y="226"/>
                    <a:pt x="93" y="230"/>
                    <a:pt x="105" y="233"/>
                  </a:cubicBezTo>
                  <a:cubicBezTo>
                    <a:pt x="107" y="234"/>
                    <a:pt x="108" y="235"/>
                    <a:pt x="108" y="237"/>
                  </a:cubicBezTo>
                  <a:cubicBezTo>
                    <a:pt x="108" y="254"/>
                    <a:pt x="108" y="254"/>
                    <a:pt x="108" y="254"/>
                  </a:cubicBezTo>
                  <a:cubicBezTo>
                    <a:pt x="108" y="256"/>
                    <a:pt x="110" y="258"/>
                    <a:pt x="112" y="258"/>
                  </a:cubicBezTo>
                  <a:cubicBezTo>
                    <a:pt x="146" y="258"/>
                    <a:pt x="146" y="258"/>
                    <a:pt x="146" y="258"/>
                  </a:cubicBezTo>
                  <a:cubicBezTo>
                    <a:pt x="148" y="258"/>
                    <a:pt x="150" y="256"/>
                    <a:pt x="150" y="254"/>
                  </a:cubicBezTo>
                  <a:cubicBezTo>
                    <a:pt x="150" y="234"/>
                    <a:pt x="150" y="234"/>
                    <a:pt x="150" y="234"/>
                  </a:cubicBezTo>
                </a:path>
              </a:pathLst>
            </a:custGeom>
            <a:noFill/>
            <a:ln w="6350" cap="sq">
              <a:solidFill>
                <a:srgbClr val="1E49E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024F28B-A437-4E5A-0B1F-881342CC7DA0}"/>
              </a:ext>
            </a:extLst>
          </p:cNvPr>
          <p:cNvGrpSpPr>
            <a:grpSpLocks noChangeAspect="1"/>
          </p:cNvGrpSpPr>
          <p:nvPr/>
        </p:nvGrpSpPr>
        <p:grpSpPr>
          <a:xfrm>
            <a:off x="6720681" y="5126949"/>
            <a:ext cx="162378" cy="208674"/>
            <a:chOff x="13741400" y="5718175"/>
            <a:chExt cx="746125" cy="958850"/>
          </a:xfrm>
        </p:grpSpPr>
        <p:sp>
          <p:nvSpPr>
            <p:cNvPr id="98" name="Freeform 238">
              <a:extLst>
                <a:ext uri="{FF2B5EF4-FFF2-40B4-BE49-F238E27FC236}">
                  <a16:creationId xmlns:a16="http://schemas.microsoft.com/office/drawing/2014/main" id="{0E4E3579-C1E5-8951-EFEC-590A4DF44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41400" y="6037263"/>
              <a:ext cx="746125" cy="639762"/>
            </a:xfrm>
            <a:custGeom>
              <a:avLst/>
              <a:gdLst>
                <a:gd name="T0" fmla="*/ 168 w 196"/>
                <a:gd name="T1" fmla="*/ 169 h 169"/>
                <a:gd name="T2" fmla="*/ 29 w 196"/>
                <a:gd name="T3" fmla="*/ 169 h 169"/>
                <a:gd name="T4" fmla="*/ 0 w 196"/>
                <a:gd name="T5" fmla="*/ 141 h 169"/>
                <a:gd name="T6" fmla="*/ 0 w 196"/>
                <a:gd name="T7" fmla="*/ 28 h 169"/>
                <a:gd name="T8" fmla="*/ 29 w 196"/>
                <a:gd name="T9" fmla="*/ 0 h 169"/>
                <a:gd name="T10" fmla="*/ 168 w 196"/>
                <a:gd name="T11" fmla="*/ 0 h 169"/>
                <a:gd name="T12" fmla="*/ 196 w 196"/>
                <a:gd name="T13" fmla="*/ 28 h 169"/>
                <a:gd name="T14" fmla="*/ 196 w 196"/>
                <a:gd name="T15" fmla="*/ 141 h 169"/>
                <a:gd name="T16" fmla="*/ 168 w 196"/>
                <a:gd name="T17" fmla="*/ 169 h 169"/>
                <a:gd name="T18" fmla="*/ 168 w 196"/>
                <a:gd name="T19" fmla="*/ 169 h 169"/>
                <a:gd name="T20" fmla="*/ 168 w 196"/>
                <a:gd name="T21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" h="169">
                  <a:moveTo>
                    <a:pt x="168" y="169"/>
                  </a:moveTo>
                  <a:cubicBezTo>
                    <a:pt x="29" y="169"/>
                    <a:pt x="29" y="169"/>
                    <a:pt x="29" y="169"/>
                  </a:cubicBezTo>
                  <a:cubicBezTo>
                    <a:pt x="13" y="169"/>
                    <a:pt x="0" y="156"/>
                    <a:pt x="0" y="14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83" y="0"/>
                    <a:pt x="196" y="12"/>
                    <a:pt x="196" y="28"/>
                  </a:cubicBezTo>
                  <a:cubicBezTo>
                    <a:pt x="196" y="141"/>
                    <a:pt x="196" y="141"/>
                    <a:pt x="196" y="141"/>
                  </a:cubicBezTo>
                  <a:cubicBezTo>
                    <a:pt x="196" y="156"/>
                    <a:pt x="183" y="169"/>
                    <a:pt x="168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68" y="169"/>
                    <a:pt x="168" y="169"/>
                    <a:pt x="168" y="169"/>
                  </a:cubicBezTo>
                  <a:close/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Freeform 239">
              <a:extLst>
                <a:ext uri="{FF2B5EF4-FFF2-40B4-BE49-F238E27FC236}">
                  <a16:creationId xmlns:a16="http://schemas.microsoft.com/office/drawing/2014/main" id="{3B44867B-7EA7-631A-B7FC-D7260540F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3638" y="5718175"/>
              <a:ext cx="509587" cy="319087"/>
            </a:xfrm>
            <a:custGeom>
              <a:avLst/>
              <a:gdLst>
                <a:gd name="T0" fmla="*/ 0 w 134"/>
                <a:gd name="T1" fmla="*/ 84 h 84"/>
                <a:gd name="T2" fmla="*/ 0 w 134"/>
                <a:gd name="T3" fmla="*/ 84 h 84"/>
                <a:gd name="T4" fmla="*/ 0 w 134"/>
                <a:gd name="T5" fmla="*/ 67 h 84"/>
                <a:gd name="T6" fmla="*/ 66 w 134"/>
                <a:gd name="T7" fmla="*/ 0 h 84"/>
                <a:gd name="T8" fmla="*/ 114 w 134"/>
                <a:gd name="T9" fmla="*/ 20 h 84"/>
                <a:gd name="T10" fmla="*/ 134 w 134"/>
                <a:gd name="T11" fmla="*/ 67 h 84"/>
                <a:gd name="T12" fmla="*/ 134 w 134"/>
                <a:gd name="T13" fmla="*/ 84 h 84"/>
                <a:gd name="T14" fmla="*/ 134 w 134"/>
                <a:gd name="T1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4" h="84">
                  <a:moveTo>
                    <a:pt x="0" y="84"/>
                  </a:moveTo>
                  <a:cubicBezTo>
                    <a:pt x="0" y="84"/>
                    <a:pt x="0" y="84"/>
                    <a:pt x="0" y="84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85" y="0"/>
                    <a:pt x="101" y="7"/>
                    <a:pt x="114" y="20"/>
                  </a:cubicBezTo>
                  <a:cubicBezTo>
                    <a:pt x="126" y="32"/>
                    <a:pt x="134" y="48"/>
                    <a:pt x="134" y="67"/>
                  </a:cubicBezTo>
                  <a:cubicBezTo>
                    <a:pt x="134" y="84"/>
                    <a:pt x="134" y="84"/>
                    <a:pt x="134" y="84"/>
                  </a:cubicBezTo>
                  <a:cubicBezTo>
                    <a:pt x="134" y="84"/>
                    <a:pt x="134" y="84"/>
                    <a:pt x="134" y="84"/>
                  </a:cubicBezTo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Freeform 240">
              <a:extLst>
                <a:ext uri="{FF2B5EF4-FFF2-40B4-BE49-F238E27FC236}">
                  <a16:creationId xmlns:a16="http://schemas.microsoft.com/office/drawing/2014/main" id="{D8610E90-BD0C-2AA0-71DF-74E39D4FC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375" y="6218238"/>
              <a:ext cx="133350" cy="276225"/>
            </a:xfrm>
            <a:custGeom>
              <a:avLst/>
              <a:gdLst>
                <a:gd name="T0" fmla="*/ 27 w 35"/>
                <a:gd name="T1" fmla="*/ 33 h 73"/>
                <a:gd name="T2" fmla="*/ 28 w 35"/>
                <a:gd name="T3" fmla="*/ 73 h 73"/>
                <a:gd name="T4" fmla="*/ 6 w 35"/>
                <a:gd name="T5" fmla="*/ 73 h 73"/>
                <a:gd name="T6" fmla="*/ 8 w 35"/>
                <a:gd name="T7" fmla="*/ 33 h 73"/>
                <a:gd name="T8" fmla="*/ 0 w 35"/>
                <a:gd name="T9" fmla="*/ 18 h 73"/>
                <a:gd name="T10" fmla="*/ 17 w 35"/>
                <a:gd name="T11" fmla="*/ 0 h 73"/>
                <a:gd name="T12" fmla="*/ 35 w 35"/>
                <a:gd name="T13" fmla="*/ 18 h 73"/>
                <a:gd name="T14" fmla="*/ 27 w 35"/>
                <a:gd name="T15" fmla="*/ 33 h 73"/>
                <a:gd name="T16" fmla="*/ 27 w 35"/>
                <a:gd name="T17" fmla="*/ 33 h 73"/>
                <a:gd name="T18" fmla="*/ 27 w 35"/>
                <a:gd name="T19" fmla="*/ 3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73">
                  <a:moveTo>
                    <a:pt x="27" y="33"/>
                  </a:moveTo>
                  <a:cubicBezTo>
                    <a:pt x="28" y="73"/>
                    <a:pt x="28" y="73"/>
                    <a:pt x="28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3" y="30"/>
                    <a:pt x="0" y="24"/>
                    <a:pt x="0" y="18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cubicBezTo>
                    <a:pt x="35" y="24"/>
                    <a:pt x="31" y="30"/>
                    <a:pt x="27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7" y="33"/>
                    <a:pt x="27" y="33"/>
                    <a:pt x="27" y="33"/>
                  </a:cubicBezTo>
                  <a:close/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1" name="Freeform 5">
            <a:extLst>
              <a:ext uri="{FF2B5EF4-FFF2-40B4-BE49-F238E27FC236}">
                <a16:creationId xmlns:a16="http://schemas.microsoft.com/office/drawing/2014/main" id="{77C31E85-3F36-B33F-8DB3-A19B6B0BC2A1}"/>
              </a:ext>
            </a:extLst>
          </p:cNvPr>
          <p:cNvSpPr>
            <a:spLocks noChangeAspect="1"/>
          </p:cNvSpPr>
          <p:nvPr/>
        </p:nvSpPr>
        <p:spPr bwMode="auto">
          <a:xfrm>
            <a:off x="7621512" y="4158304"/>
            <a:ext cx="204184" cy="205219"/>
          </a:xfrm>
          <a:custGeom>
            <a:avLst/>
            <a:gdLst>
              <a:gd name="T0" fmla="*/ 79 w 591"/>
              <a:gd name="T1" fmla="*/ 594 h 594"/>
              <a:gd name="T2" fmla="*/ 82 w 591"/>
              <a:gd name="T3" fmla="*/ 317 h 594"/>
              <a:gd name="T4" fmla="*/ 0 w 591"/>
              <a:gd name="T5" fmla="*/ 317 h 594"/>
              <a:gd name="T6" fmla="*/ 295 w 591"/>
              <a:gd name="T7" fmla="*/ 0 h 594"/>
              <a:gd name="T8" fmla="*/ 422 w 591"/>
              <a:gd name="T9" fmla="*/ 138 h 594"/>
              <a:gd name="T10" fmla="*/ 422 w 591"/>
              <a:gd name="T11" fmla="*/ 74 h 594"/>
              <a:gd name="T12" fmla="*/ 515 w 591"/>
              <a:gd name="T13" fmla="*/ 74 h 594"/>
              <a:gd name="T14" fmla="*/ 515 w 591"/>
              <a:gd name="T15" fmla="*/ 234 h 594"/>
              <a:gd name="T16" fmla="*/ 591 w 591"/>
              <a:gd name="T17" fmla="*/ 317 h 594"/>
              <a:gd name="T18" fmla="*/ 512 w 591"/>
              <a:gd name="T19" fmla="*/ 317 h 594"/>
              <a:gd name="T20" fmla="*/ 512 w 591"/>
              <a:gd name="T21" fmla="*/ 594 h 594"/>
              <a:gd name="T22" fmla="*/ 357 w 591"/>
              <a:gd name="T23" fmla="*/ 594 h 594"/>
              <a:gd name="T24" fmla="*/ 357 w 591"/>
              <a:gd name="T25" fmla="*/ 384 h 594"/>
              <a:gd name="T26" fmla="*/ 235 w 591"/>
              <a:gd name="T27" fmla="*/ 384 h 594"/>
              <a:gd name="T28" fmla="*/ 235 w 591"/>
              <a:gd name="T29" fmla="*/ 594 h 594"/>
              <a:gd name="T30" fmla="*/ 79 w 591"/>
              <a:gd name="T31" fmla="*/ 594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91" h="594">
                <a:moveTo>
                  <a:pt x="79" y="594"/>
                </a:moveTo>
                <a:lnTo>
                  <a:pt x="82" y="317"/>
                </a:lnTo>
                <a:lnTo>
                  <a:pt x="0" y="317"/>
                </a:lnTo>
                <a:lnTo>
                  <a:pt x="295" y="0"/>
                </a:lnTo>
                <a:lnTo>
                  <a:pt x="422" y="138"/>
                </a:lnTo>
                <a:lnTo>
                  <a:pt x="422" y="74"/>
                </a:lnTo>
                <a:lnTo>
                  <a:pt x="515" y="74"/>
                </a:lnTo>
                <a:lnTo>
                  <a:pt x="515" y="234"/>
                </a:lnTo>
                <a:lnTo>
                  <a:pt x="591" y="317"/>
                </a:lnTo>
                <a:lnTo>
                  <a:pt x="512" y="317"/>
                </a:lnTo>
                <a:lnTo>
                  <a:pt x="512" y="594"/>
                </a:lnTo>
                <a:lnTo>
                  <a:pt x="357" y="594"/>
                </a:lnTo>
                <a:lnTo>
                  <a:pt x="357" y="384"/>
                </a:lnTo>
                <a:lnTo>
                  <a:pt x="235" y="384"/>
                </a:lnTo>
                <a:lnTo>
                  <a:pt x="235" y="594"/>
                </a:lnTo>
                <a:lnTo>
                  <a:pt x="79" y="594"/>
                </a:lnTo>
                <a:close/>
              </a:path>
            </a:pathLst>
          </a:custGeom>
          <a:noFill/>
          <a:ln w="6350" cap="sq">
            <a:solidFill>
              <a:srgbClr val="00338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6" name="Group 138">
            <a:extLst>
              <a:ext uri="{FF2B5EF4-FFF2-40B4-BE49-F238E27FC236}">
                <a16:creationId xmlns:a16="http://schemas.microsoft.com/office/drawing/2014/main" id="{A9C58984-4678-F009-7304-B5FA5397E56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94943" y="1890115"/>
            <a:ext cx="213855" cy="209020"/>
            <a:chOff x="5925" y="2590"/>
            <a:chExt cx="619" cy="605"/>
          </a:xfrm>
        </p:grpSpPr>
        <p:sp>
          <p:nvSpPr>
            <p:cNvPr id="107" name="Freeform 139">
              <a:extLst>
                <a:ext uri="{FF2B5EF4-FFF2-40B4-BE49-F238E27FC236}">
                  <a16:creationId xmlns:a16="http://schemas.microsoft.com/office/drawing/2014/main" id="{7A96F0FB-4F19-6DCB-2290-96DB6B793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7" y="2884"/>
              <a:ext cx="60" cy="311"/>
            </a:xfrm>
            <a:custGeom>
              <a:avLst/>
              <a:gdLst>
                <a:gd name="T0" fmla="*/ 12 w 25"/>
                <a:gd name="T1" fmla="*/ 130 h 130"/>
                <a:gd name="T2" fmla="*/ 2 w 25"/>
                <a:gd name="T3" fmla="*/ 88 h 130"/>
                <a:gd name="T4" fmla="*/ 11 w 25"/>
                <a:gd name="T5" fmla="*/ 44 h 130"/>
                <a:gd name="T6" fmla="*/ 25 w 25"/>
                <a:gd name="T7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30">
                  <a:moveTo>
                    <a:pt x="12" y="130"/>
                  </a:moveTo>
                  <a:cubicBezTo>
                    <a:pt x="8" y="116"/>
                    <a:pt x="4" y="102"/>
                    <a:pt x="2" y="88"/>
                  </a:cubicBezTo>
                  <a:cubicBezTo>
                    <a:pt x="0" y="73"/>
                    <a:pt x="2" y="64"/>
                    <a:pt x="11" y="44"/>
                  </a:cubicBezTo>
                  <a:cubicBezTo>
                    <a:pt x="18" y="30"/>
                    <a:pt x="22" y="15"/>
                    <a:pt x="25" y="0"/>
                  </a:cubicBezTo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Freeform 140">
              <a:extLst>
                <a:ext uri="{FF2B5EF4-FFF2-40B4-BE49-F238E27FC236}">
                  <a16:creationId xmlns:a16="http://schemas.microsoft.com/office/drawing/2014/main" id="{12A54CEB-140C-3F69-3B03-E938D37BC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" y="2597"/>
              <a:ext cx="337" cy="595"/>
            </a:xfrm>
            <a:custGeom>
              <a:avLst/>
              <a:gdLst>
                <a:gd name="T0" fmla="*/ 96 w 141"/>
                <a:gd name="T1" fmla="*/ 249 h 249"/>
                <a:gd name="T2" fmla="*/ 90 w 141"/>
                <a:gd name="T3" fmla="*/ 223 h 249"/>
                <a:gd name="T4" fmla="*/ 59 w 141"/>
                <a:gd name="T5" fmla="*/ 232 h 249"/>
                <a:gd name="T6" fmla="*/ 31 w 141"/>
                <a:gd name="T7" fmla="*/ 218 h 249"/>
                <a:gd name="T8" fmla="*/ 27 w 141"/>
                <a:gd name="T9" fmla="*/ 198 h 249"/>
                <a:gd name="T10" fmla="*/ 24 w 141"/>
                <a:gd name="T11" fmla="*/ 187 h 249"/>
                <a:gd name="T12" fmla="*/ 22 w 141"/>
                <a:gd name="T13" fmla="*/ 167 h 249"/>
                <a:gd name="T14" fmla="*/ 1 w 141"/>
                <a:gd name="T15" fmla="*/ 155 h 249"/>
                <a:gd name="T16" fmla="*/ 14 w 141"/>
                <a:gd name="T17" fmla="*/ 128 h 249"/>
                <a:gd name="T18" fmla="*/ 18 w 141"/>
                <a:gd name="T19" fmla="*/ 98 h 249"/>
                <a:gd name="T20" fmla="*/ 40 w 141"/>
                <a:gd name="T21" fmla="*/ 30 h 249"/>
                <a:gd name="T22" fmla="*/ 141 w 141"/>
                <a:gd name="T23" fmla="*/ 6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1" h="249">
                  <a:moveTo>
                    <a:pt x="96" y="249"/>
                  </a:moveTo>
                  <a:cubicBezTo>
                    <a:pt x="90" y="223"/>
                    <a:pt x="90" y="223"/>
                    <a:pt x="90" y="223"/>
                  </a:cubicBezTo>
                  <a:cubicBezTo>
                    <a:pt x="90" y="223"/>
                    <a:pt x="76" y="228"/>
                    <a:pt x="59" y="232"/>
                  </a:cubicBezTo>
                  <a:cubicBezTo>
                    <a:pt x="42" y="237"/>
                    <a:pt x="32" y="230"/>
                    <a:pt x="31" y="218"/>
                  </a:cubicBezTo>
                  <a:cubicBezTo>
                    <a:pt x="31" y="206"/>
                    <a:pt x="33" y="201"/>
                    <a:pt x="27" y="198"/>
                  </a:cubicBezTo>
                  <a:cubicBezTo>
                    <a:pt x="22" y="196"/>
                    <a:pt x="20" y="190"/>
                    <a:pt x="24" y="187"/>
                  </a:cubicBezTo>
                  <a:cubicBezTo>
                    <a:pt x="24" y="187"/>
                    <a:pt x="10" y="186"/>
                    <a:pt x="22" y="167"/>
                  </a:cubicBezTo>
                  <a:cubicBezTo>
                    <a:pt x="22" y="167"/>
                    <a:pt x="2" y="164"/>
                    <a:pt x="1" y="155"/>
                  </a:cubicBezTo>
                  <a:cubicBezTo>
                    <a:pt x="0" y="145"/>
                    <a:pt x="4" y="143"/>
                    <a:pt x="14" y="128"/>
                  </a:cubicBezTo>
                  <a:cubicBezTo>
                    <a:pt x="23" y="113"/>
                    <a:pt x="19" y="109"/>
                    <a:pt x="18" y="98"/>
                  </a:cubicBezTo>
                  <a:cubicBezTo>
                    <a:pt x="16" y="87"/>
                    <a:pt x="14" y="59"/>
                    <a:pt x="40" y="30"/>
                  </a:cubicBezTo>
                  <a:cubicBezTo>
                    <a:pt x="67" y="0"/>
                    <a:pt x="125" y="4"/>
                    <a:pt x="141" y="6"/>
                  </a:cubicBez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Freeform 141">
              <a:extLst>
                <a:ext uri="{FF2B5EF4-FFF2-40B4-BE49-F238E27FC236}">
                  <a16:creationId xmlns:a16="http://schemas.microsoft.com/office/drawing/2014/main" id="{EA6C520E-88EB-7B2F-75A9-9B9063C9E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7" y="2590"/>
              <a:ext cx="277" cy="275"/>
            </a:xfrm>
            <a:custGeom>
              <a:avLst/>
              <a:gdLst>
                <a:gd name="T0" fmla="*/ 55 w 116"/>
                <a:gd name="T1" fmla="*/ 0 h 115"/>
                <a:gd name="T2" fmla="*/ 49 w 116"/>
                <a:gd name="T3" fmla="*/ 6 h 115"/>
                <a:gd name="T4" fmla="*/ 35 w 116"/>
                <a:gd name="T5" fmla="*/ 15 h 115"/>
                <a:gd name="T6" fmla="*/ 29 w 116"/>
                <a:gd name="T7" fmla="*/ 14 h 115"/>
                <a:gd name="T8" fmla="*/ 20 w 116"/>
                <a:gd name="T9" fmla="*/ 14 h 115"/>
                <a:gd name="T10" fmla="*/ 15 w 116"/>
                <a:gd name="T11" fmla="*/ 28 h 115"/>
                <a:gd name="T12" fmla="*/ 16 w 116"/>
                <a:gd name="T13" fmla="*/ 34 h 115"/>
                <a:gd name="T14" fmla="*/ 6 w 116"/>
                <a:gd name="T15" fmla="*/ 48 h 115"/>
                <a:gd name="T16" fmla="*/ 1 w 116"/>
                <a:gd name="T17" fmla="*/ 54 h 115"/>
                <a:gd name="T18" fmla="*/ 1 w 116"/>
                <a:gd name="T19" fmla="*/ 61 h 115"/>
                <a:gd name="T20" fmla="*/ 7 w 116"/>
                <a:gd name="T21" fmla="*/ 67 h 115"/>
                <a:gd name="T22" fmla="*/ 12 w 116"/>
                <a:gd name="T23" fmla="*/ 71 h 115"/>
                <a:gd name="T24" fmla="*/ 15 w 116"/>
                <a:gd name="T25" fmla="*/ 87 h 115"/>
                <a:gd name="T26" fmla="*/ 15 w 116"/>
                <a:gd name="T27" fmla="*/ 95 h 115"/>
                <a:gd name="T28" fmla="*/ 28 w 116"/>
                <a:gd name="T29" fmla="*/ 100 h 115"/>
                <a:gd name="T30" fmla="*/ 28 w 116"/>
                <a:gd name="T31" fmla="*/ 100 h 115"/>
                <a:gd name="T32" fmla="*/ 45 w 116"/>
                <a:gd name="T33" fmla="*/ 103 h 115"/>
                <a:gd name="T34" fmla="*/ 49 w 116"/>
                <a:gd name="T35" fmla="*/ 109 h 115"/>
                <a:gd name="T36" fmla="*/ 55 w 116"/>
                <a:gd name="T37" fmla="*/ 115 h 115"/>
                <a:gd name="T38" fmla="*/ 68 w 116"/>
                <a:gd name="T39" fmla="*/ 109 h 115"/>
                <a:gd name="T40" fmla="*/ 68 w 116"/>
                <a:gd name="T41" fmla="*/ 109 h 115"/>
                <a:gd name="T42" fmla="*/ 81 w 116"/>
                <a:gd name="T43" fmla="*/ 100 h 115"/>
                <a:gd name="T44" fmla="*/ 88 w 116"/>
                <a:gd name="T45" fmla="*/ 101 h 115"/>
                <a:gd name="T46" fmla="*/ 96 w 116"/>
                <a:gd name="T47" fmla="*/ 101 h 115"/>
                <a:gd name="T48" fmla="*/ 101 w 116"/>
                <a:gd name="T49" fmla="*/ 87 h 115"/>
                <a:gd name="T50" fmla="*/ 101 w 116"/>
                <a:gd name="T51" fmla="*/ 87 h 115"/>
                <a:gd name="T52" fmla="*/ 104 w 116"/>
                <a:gd name="T53" fmla="*/ 71 h 115"/>
                <a:gd name="T54" fmla="*/ 110 w 116"/>
                <a:gd name="T55" fmla="*/ 67 h 115"/>
                <a:gd name="T56" fmla="*/ 116 w 116"/>
                <a:gd name="T57" fmla="*/ 54 h 115"/>
                <a:gd name="T58" fmla="*/ 110 w 116"/>
                <a:gd name="T59" fmla="*/ 48 h 115"/>
                <a:gd name="T60" fmla="*/ 100 w 116"/>
                <a:gd name="T61" fmla="*/ 35 h 115"/>
                <a:gd name="T62" fmla="*/ 101 w 116"/>
                <a:gd name="T63" fmla="*/ 28 h 115"/>
                <a:gd name="T64" fmla="*/ 101 w 116"/>
                <a:gd name="T65" fmla="*/ 19 h 115"/>
                <a:gd name="T66" fmla="*/ 88 w 116"/>
                <a:gd name="T67" fmla="*/ 14 h 115"/>
                <a:gd name="T68" fmla="*/ 88 w 116"/>
                <a:gd name="T69" fmla="*/ 14 h 115"/>
                <a:gd name="T70" fmla="*/ 72 w 116"/>
                <a:gd name="T71" fmla="*/ 11 h 115"/>
                <a:gd name="T72" fmla="*/ 68 w 116"/>
                <a:gd name="T73" fmla="*/ 6 h 115"/>
                <a:gd name="T74" fmla="*/ 62 w 116"/>
                <a:gd name="T7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5">
                  <a:moveTo>
                    <a:pt x="62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1" y="0"/>
                    <a:pt x="49" y="3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8"/>
                    <a:pt x="47" y="11"/>
                    <a:pt x="45" y="11"/>
                  </a:cubicBezTo>
                  <a:cubicBezTo>
                    <a:pt x="42" y="12"/>
                    <a:pt x="38" y="14"/>
                    <a:pt x="35" y="15"/>
                  </a:cubicBezTo>
                  <a:cubicBezTo>
                    <a:pt x="33" y="17"/>
                    <a:pt x="30" y="16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6" y="12"/>
                    <a:pt x="23" y="12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3" y="22"/>
                    <a:pt x="13" y="25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7" y="29"/>
                    <a:pt x="17" y="32"/>
                    <a:pt x="16" y="34"/>
                  </a:cubicBezTo>
                  <a:cubicBezTo>
                    <a:pt x="14" y="37"/>
                    <a:pt x="13" y="41"/>
                    <a:pt x="12" y="44"/>
                  </a:cubicBezTo>
                  <a:cubicBezTo>
                    <a:pt x="11" y="46"/>
                    <a:pt x="9" y="48"/>
                    <a:pt x="6" y="48"/>
                  </a:cubicBez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1" y="50"/>
                    <a:pt x="1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0" y="64"/>
                    <a:pt x="3" y="67"/>
                    <a:pt x="6" y="67"/>
                  </a:cubicBezTo>
                  <a:cubicBezTo>
                    <a:pt x="6" y="67"/>
                    <a:pt x="7" y="67"/>
                    <a:pt x="7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9" y="67"/>
                    <a:pt x="11" y="69"/>
                    <a:pt x="12" y="71"/>
                  </a:cubicBezTo>
                  <a:cubicBezTo>
                    <a:pt x="13" y="74"/>
                    <a:pt x="15" y="77"/>
                    <a:pt x="16" y="80"/>
                  </a:cubicBezTo>
                  <a:cubicBezTo>
                    <a:pt x="17" y="83"/>
                    <a:pt x="17" y="85"/>
                    <a:pt x="15" y="87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3" y="89"/>
                    <a:pt x="13" y="93"/>
                    <a:pt x="15" y="95"/>
                  </a:cubicBezTo>
                  <a:cubicBezTo>
                    <a:pt x="20" y="100"/>
                    <a:pt x="20" y="100"/>
                    <a:pt x="20" y="100"/>
                  </a:cubicBezTo>
                  <a:cubicBezTo>
                    <a:pt x="22" y="103"/>
                    <a:pt x="26" y="103"/>
                    <a:pt x="28" y="100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30" y="99"/>
                    <a:pt x="33" y="98"/>
                    <a:pt x="35" y="99"/>
                  </a:cubicBezTo>
                  <a:cubicBezTo>
                    <a:pt x="38" y="101"/>
                    <a:pt x="41" y="102"/>
                    <a:pt x="45" y="103"/>
                  </a:cubicBezTo>
                  <a:cubicBezTo>
                    <a:pt x="47" y="104"/>
                    <a:pt x="49" y="106"/>
                    <a:pt x="49" y="109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48" y="112"/>
                    <a:pt x="51" y="115"/>
                    <a:pt x="54" y="115"/>
                  </a:cubicBezTo>
                  <a:cubicBezTo>
                    <a:pt x="54" y="115"/>
                    <a:pt x="54" y="115"/>
                    <a:pt x="55" y="115"/>
                  </a:cubicBezTo>
                  <a:cubicBezTo>
                    <a:pt x="62" y="115"/>
                    <a:pt x="62" y="115"/>
                    <a:pt x="62" y="115"/>
                  </a:cubicBezTo>
                  <a:cubicBezTo>
                    <a:pt x="65" y="115"/>
                    <a:pt x="68" y="112"/>
                    <a:pt x="68" y="109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68" y="107"/>
                    <a:pt x="69" y="104"/>
                    <a:pt x="72" y="104"/>
                  </a:cubicBezTo>
                  <a:cubicBezTo>
                    <a:pt x="75" y="103"/>
                    <a:pt x="78" y="101"/>
                    <a:pt x="81" y="100"/>
                  </a:cubicBezTo>
                  <a:cubicBezTo>
                    <a:pt x="83" y="98"/>
                    <a:pt x="86" y="99"/>
                    <a:pt x="88" y="101"/>
                  </a:cubicBezTo>
                  <a:cubicBezTo>
                    <a:pt x="88" y="101"/>
                    <a:pt x="88" y="101"/>
                    <a:pt x="88" y="101"/>
                  </a:cubicBezTo>
                  <a:cubicBezTo>
                    <a:pt x="90" y="103"/>
                    <a:pt x="94" y="103"/>
                    <a:pt x="96" y="101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101" y="96"/>
                    <a:pt x="101" y="96"/>
                    <a:pt x="101" y="96"/>
                  </a:cubicBezTo>
                  <a:cubicBezTo>
                    <a:pt x="104" y="93"/>
                    <a:pt x="104" y="90"/>
                    <a:pt x="101" y="87"/>
                  </a:cubicBezTo>
                  <a:cubicBezTo>
                    <a:pt x="101" y="87"/>
                    <a:pt x="101" y="87"/>
                    <a:pt x="101" y="87"/>
                  </a:cubicBezTo>
                  <a:cubicBezTo>
                    <a:pt x="101" y="87"/>
                    <a:pt x="101" y="87"/>
                    <a:pt x="101" y="87"/>
                  </a:cubicBezTo>
                  <a:cubicBezTo>
                    <a:pt x="99" y="85"/>
                    <a:pt x="99" y="83"/>
                    <a:pt x="100" y="80"/>
                  </a:cubicBezTo>
                  <a:cubicBezTo>
                    <a:pt x="102" y="77"/>
                    <a:pt x="103" y="74"/>
                    <a:pt x="104" y="71"/>
                  </a:cubicBezTo>
                  <a:cubicBezTo>
                    <a:pt x="105" y="69"/>
                    <a:pt x="107" y="67"/>
                    <a:pt x="110" y="67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3" y="67"/>
                    <a:pt x="116" y="64"/>
                    <a:pt x="116" y="61"/>
                  </a:cubicBezTo>
                  <a:cubicBezTo>
                    <a:pt x="116" y="54"/>
                    <a:pt x="116" y="54"/>
                    <a:pt x="116" y="54"/>
                  </a:cubicBezTo>
                  <a:cubicBezTo>
                    <a:pt x="116" y="51"/>
                    <a:pt x="113" y="48"/>
                    <a:pt x="110" y="48"/>
                  </a:cubicBezTo>
                  <a:cubicBezTo>
                    <a:pt x="110" y="48"/>
                    <a:pt x="110" y="48"/>
                    <a:pt x="110" y="48"/>
                  </a:cubicBezTo>
                  <a:cubicBezTo>
                    <a:pt x="107" y="48"/>
                    <a:pt x="105" y="46"/>
                    <a:pt x="104" y="44"/>
                  </a:cubicBezTo>
                  <a:cubicBezTo>
                    <a:pt x="103" y="41"/>
                    <a:pt x="102" y="38"/>
                    <a:pt x="100" y="35"/>
                  </a:cubicBezTo>
                  <a:cubicBezTo>
                    <a:pt x="99" y="32"/>
                    <a:pt x="99" y="30"/>
                    <a:pt x="101" y="28"/>
                  </a:cubicBezTo>
                  <a:cubicBezTo>
                    <a:pt x="101" y="28"/>
                    <a:pt x="101" y="28"/>
                    <a:pt x="101" y="28"/>
                  </a:cubicBezTo>
                  <a:cubicBezTo>
                    <a:pt x="104" y="25"/>
                    <a:pt x="104" y="22"/>
                    <a:pt x="101" y="20"/>
                  </a:cubicBezTo>
                  <a:cubicBezTo>
                    <a:pt x="101" y="20"/>
                    <a:pt x="101" y="19"/>
                    <a:pt x="101" y="19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4" y="12"/>
                    <a:pt x="90" y="12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6" y="16"/>
                    <a:pt x="83" y="16"/>
                    <a:pt x="81" y="15"/>
                  </a:cubicBezTo>
                  <a:cubicBezTo>
                    <a:pt x="78" y="14"/>
                    <a:pt x="75" y="12"/>
                    <a:pt x="72" y="11"/>
                  </a:cubicBezTo>
                  <a:cubicBezTo>
                    <a:pt x="69" y="10"/>
                    <a:pt x="68" y="8"/>
                    <a:pt x="68" y="6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2"/>
                    <a:pt x="65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lose/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Freeform 142">
              <a:extLst>
                <a:ext uri="{FF2B5EF4-FFF2-40B4-BE49-F238E27FC236}">
                  <a16:creationId xmlns:a16="http://schemas.microsoft.com/office/drawing/2014/main" id="{93A99CAE-2A57-3112-E177-760CC3673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" y="2650"/>
              <a:ext cx="311" cy="346"/>
            </a:xfrm>
            <a:custGeom>
              <a:avLst/>
              <a:gdLst>
                <a:gd name="T0" fmla="*/ 88 w 130"/>
                <a:gd name="T1" fmla="*/ 8 h 145"/>
                <a:gd name="T2" fmla="*/ 88 w 130"/>
                <a:gd name="T3" fmla="*/ 8 h 145"/>
                <a:gd name="T4" fmla="*/ 82 w 130"/>
                <a:gd name="T5" fmla="*/ 1 h 145"/>
                <a:gd name="T6" fmla="*/ 82 w 130"/>
                <a:gd name="T7" fmla="*/ 1 h 145"/>
                <a:gd name="T8" fmla="*/ 72 w 130"/>
                <a:gd name="T9" fmla="*/ 0 h 145"/>
                <a:gd name="T10" fmla="*/ 65 w 130"/>
                <a:gd name="T11" fmla="*/ 7 h 145"/>
                <a:gd name="T12" fmla="*/ 65 w 130"/>
                <a:gd name="T13" fmla="*/ 7 h 145"/>
                <a:gd name="T14" fmla="*/ 65 w 130"/>
                <a:gd name="T15" fmla="*/ 7 h 145"/>
                <a:gd name="T16" fmla="*/ 59 w 130"/>
                <a:gd name="T17" fmla="*/ 14 h 145"/>
                <a:gd name="T18" fmla="*/ 47 w 130"/>
                <a:gd name="T19" fmla="*/ 18 h 145"/>
                <a:gd name="T20" fmla="*/ 39 w 130"/>
                <a:gd name="T21" fmla="*/ 16 h 145"/>
                <a:gd name="T22" fmla="*/ 39 w 130"/>
                <a:gd name="T23" fmla="*/ 16 h 145"/>
                <a:gd name="T24" fmla="*/ 28 w 130"/>
                <a:gd name="T25" fmla="*/ 16 h 145"/>
                <a:gd name="T26" fmla="*/ 21 w 130"/>
                <a:gd name="T27" fmla="*/ 22 h 145"/>
                <a:gd name="T28" fmla="*/ 21 w 130"/>
                <a:gd name="T29" fmla="*/ 32 h 145"/>
                <a:gd name="T30" fmla="*/ 21 w 130"/>
                <a:gd name="T31" fmla="*/ 32 h 145"/>
                <a:gd name="T32" fmla="*/ 21 w 130"/>
                <a:gd name="T33" fmla="*/ 32 h 145"/>
                <a:gd name="T34" fmla="*/ 22 w 130"/>
                <a:gd name="T35" fmla="*/ 41 h 145"/>
                <a:gd name="T36" fmla="*/ 16 w 130"/>
                <a:gd name="T37" fmla="*/ 52 h 145"/>
                <a:gd name="T38" fmla="*/ 9 w 130"/>
                <a:gd name="T39" fmla="*/ 57 h 145"/>
                <a:gd name="T40" fmla="*/ 9 w 130"/>
                <a:gd name="T41" fmla="*/ 57 h 145"/>
                <a:gd name="T42" fmla="*/ 1 w 130"/>
                <a:gd name="T43" fmla="*/ 64 h 145"/>
                <a:gd name="T44" fmla="*/ 1 w 130"/>
                <a:gd name="T45" fmla="*/ 64 h 145"/>
                <a:gd name="T46" fmla="*/ 1 w 130"/>
                <a:gd name="T47" fmla="*/ 73 h 145"/>
                <a:gd name="T48" fmla="*/ 7 w 130"/>
                <a:gd name="T49" fmla="*/ 81 h 145"/>
                <a:gd name="T50" fmla="*/ 7 w 130"/>
                <a:gd name="T51" fmla="*/ 81 h 145"/>
                <a:gd name="T52" fmla="*/ 14 w 130"/>
                <a:gd name="T53" fmla="*/ 86 h 145"/>
                <a:gd name="T54" fmla="*/ 18 w 130"/>
                <a:gd name="T55" fmla="*/ 98 h 145"/>
                <a:gd name="T56" fmla="*/ 16 w 130"/>
                <a:gd name="T57" fmla="*/ 107 h 145"/>
                <a:gd name="T58" fmla="*/ 16 w 130"/>
                <a:gd name="T59" fmla="*/ 107 h 145"/>
                <a:gd name="T60" fmla="*/ 16 w 130"/>
                <a:gd name="T61" fmla="*/ 117 h 145"/>
                <a:gd name="T62" fmla="*/ 16 w 130"/>
                <a:gd name="T63" fmla="*/ 117 h 145"/>
                <a:gd name="T64" fmla="*/ 22 w 130"/>
                <a:gd name="T65" fmla="*/ 124 h 145"/>
                <a:gd name="T66" fmla="*/ 32 w 130"/>
                <a:gd name="T67" fmla="*/ 125 h 145"/>
                <a:gd name="T68" fmla="*/ 32 w 130"/>
                <a:gd name="T69" fmla="*/ 125 h 145"/>
                <a:gd name="T70" fmla="*/ 41 w 130"/>
                <a:gd name="T71" fmla="*/ 124 h 145"/>
                <a:gd name="T72" fmla="*/ 53 w 130"/>
                <a:gd name="T73" fmla="*/ 129 h 145"/>
                <a:gd name="T74" fmla="*/ 57 w 130"/>
                <a:gd name="T75" fmla="*/ 137 h 145"/>
                <a:gd name="T76" fmla="*/ 57 w 130"/>
                <a:gd name="T77" fmla="*/ 137 h 145"/>
                <a:gd name="T78" fmla="*/ 64 w 130"/>
                <a:gd name="T79" fmla="*/ 145 h 145"/>
                <a:gd name="T80" fmla="*/ 73 w 130"/>
                <a:gd name="T81" fmla="*/ 145 h 145"/>
                <a:gd name="T82" fmla="*/ 81 w 130"/>
                <a:gd name="T83" fmla="*/ 138 h 145"/>
                <a:gd name="T84" fmla="*/ 81 w 130"/>
                <a:gd name="T85" fmla="*/ 138 h 145"/>
                <a:gd name="T86" fmla="*/ 81 w 130"/>
                <a:gd name="T87" fmla="*/ 138 h 145"/>
                <a:gd name="T88" fmla="*/ 87 w 130"/>
                <a:gd name="T89" fmla="*/ 131 h 145"/>
                <a:gd name="T90" fmla="*/ 99 w 130"/>
                <a:gd name="T91" fmla="*/ 127 h 145"/>
                <a:gd name="T92" fmla="*/ 107 w 130"/>
                <a:gd name="T93" fmla="*/ 129 h 145"/>
                <a:gd name="T94" fmla="*/ 107 w 130"/>
                <a:gd name="T95" fmla="*/ 129 h 145"/>
                <a:gd name="T96" fmla="*/ 118 w 130"/>
                <a:gd name="T97" fmla="*/ 129 h 145"/>
                <a:gd name="T98" fmla="*/ 118 w 130"/>
                <a:gd name="T99" fmla="*/ 129 h 145"/>
                <a:gd name="T100" fmla="*/ 124 w 130"/>
                <a:gd name="T101" fmla="*/ 123 h 145"/>
                <a:gd name="T102" fmla="*/ 125 w 130"/>
                <a:gd name="T103" fmla="*/ 113 h 145"/>
                <a:gd name="T104" fmla="*/ 125 w 130"/>
                <a:gd name="T105" fmla="*/ 113 h 145"/>
                <a:gd name="T106" fmla="*/ 125 w 130"/>
                <a:gd name="T107" fmla="*/ 113 h 145"/>
                <a:gd name="T108" fmla="*/ 124 w 130"/>
                <a:gd name="T109" fmla="*/ 104 h 145"/>
                <a:gd name="T110" fmla="*/ 130 w 130"/>
                <a:gd name="T111" fmla="*/ 9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30" h="145"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9" y="4"/>
                    <a:pt x="86" y="1"/>
                    <a:pt x="82" y="1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8" y="0"/>
                    <a:pt x="65" y="3"/>
                    <a:pt x="65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7"/>
                    <a:pt x="65" y="7"/>
                    <a:pt x="65" y="7"/>
                  </a:cubicBezTo>
                  <a:cubicBezTo>
                    <a:pt x="65" y="10"/>
                    <a:pt x="62" y="13"/>
                    <a:pt x="59" y="14"/>
                  </a:cubicBezTo>
                  <a:cubicBezTo>
                    <a:pt x="55" y="15"/>
                    <a:pt x="51" y="16"/>
                    <a:pt x="47" y="18"/>
                  </a:cubicBezTo>
                  <a:cubicBezTo>
                    <a:pt x="44" y="19"/>
                    <a:pt x="41" y="19"/>
                    <a:pt x="39" y="1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6" y="13"/>
                    <a:pt x="31" y="13"/>
                    <a:pt x="28" y="16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18" y="24"/>
                    <a:pt x="18" y="29"/>
                    <a:pt x="21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3" y="34"/>
                    <a:pt x="23" y="38"/>
                    <a:pt x="22" y="41"/>
                  </a:cubicBezTo>
                  <a:cubicBezTo>
                    <a:pt x="19" y="44"/>
                    <a:pt x="17" y="48"/>
                    <a:pt x="16" y="52"/>
                  </a:cubicBezTo>
                  <a:cubicBezTo>
                    <a:pt x="15" y="55"/>
                    <a:pt x="12" y="57"/>
                    <a:pt x="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5" y="57"/>
                    <a:pt x="1" y="60"/>
                    <a:pt x="1" y="64"/>
                  </a:cubicBezTo>
                  <a:cubicBezTo>
                    <a:pt x="1" y="64"/>
                    <a:pt x="1" y="64"/>
                    <a:pt x="1" y="64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77"/>
                    <a:pt x="3" y="81"/>
                    <a:pt x="7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11" y="81"/>
                    <a:pt x="13" y="83"/>
                    <a:pt x="14" y="86"/>
                  </a:cubicBezTo>
                  <a:cubicBezTo>
                    <a:pt x="15" y="90"/>
                    <a:pt x="16" y="95"/>
                    <a:pt x="18" y="98"/>
                  </a:cubicBezTo>
                  <a:cubicBezTo>
                    <a:pt x="20" y="101"/>
                    <a:pt x="19" y="105"/>
                    <a:pt x="16" y="107"/>
                  </a:cubicBezTo>
                  <a:cubicBezTo>
                    <a:pt x="16" y="107"/>
                    <a:pt x="16" y="107"/>
                    <a:pt x="16" y="107"/>
                  </a:cubicBezTo>
                  <a:cubicBezTo>
                    <a:pt x="13" y="110"/>
                    <a:pt x="13" y="114"/>
                    <a:pt x="16" y="117"/>
                  </a:cubicBezTo>
                  <a:cubicBezTo>
                    <a:pt x="16" y="117"/>
                    <a:pt x="16" y="117"/>
                    <a:pt x="16" y="117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25" y="127"/>
                    <a:pt x="29" y="127"/>
                    <a:pt x="32" y="125"/>
                  </a:cubicBezTo>
                  <a:cubicBezTo>
                    <a:pt x="32" y="125"/>
                    <a:pt x="32" y="125"/>
                    <a:pt x="32" y="125"/>
                  </a:cubicBezTo>
                  <a:cubicBezTo>
                    <a:pt x="35" y="123"/>
                    <a:pt x="38" y="122"/>
                    <a:pt x="41" y="124"/>
                  </a:cubicBezTo>
                  <a:cubicBezTo>
                    <a:pt x="45" y="126"/>
                    <a:pt x="49" y="128"/>
                    <a:pt x="53" y="129"/>
                  </a:cubicBezTo>
                  <a:cubicBezTo>
                    <a:pt x="56" y="131"/>
                    <a:pt x="58" y="134"/>
                    <a:pt x="57" y="137"/>
                  </a:cubicBezTo>
                  <a:cubicBezTo>
                    <a:pt x="57" y="137"/>
                    <a:pt x="57" y="137"/>
                    <a:pt x="57" y="137"/>
                  </a:cubicBezTo>
                  <a:cubicBezTo>
                    <a:pt x="57" y="141"/>
                    <a:pt x="60" y="144"/>
                    <a:pt x="64" y="145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7" y="145"/>
                    <a:pt x="81" y="142"/>
                    <a:pt x="81" y="138"/>
                  </a:cubicBezTo>
                  <a:cubicBezTo>
                    <a:pt x="81" y="138"/>
                    <a:pt x="81" y="138"/>
                    <a:pt x="81" y="138"/>
                  </a:cubicBezTo>
                  <a:cubicBezTo>
                    <a:pt x="81" y="138"/>
                    <a:pt x="81" y="138"/>
                    <a:pt x="81" y="138"/>
                  </a:cubicBezTo>
                  <a:cubicBezTo>
                    <a:pt x="81" y="135"/>
                    <a:pt x="84" y="132"/>
                    <a:pt x="87" y="131"/>
                  </a:cubicBezTo>
                  <a:cubicBezTo>
                    <a:pt x="91" y="130"/>
                    <a:pt x="95" y="129"/>
                    <a:pt x="99" y="127"/>
                  </a:cubicBezTo>
                  <a:cubicBezTo>
                    <a:pt x="102" y="126"/>
                    <a:pt x="105" y="126"/>
                    <a:pt x="107" y="129"/>
                  </a:cubicBezTo>
                  <a:cubicBezTo>
                    <a:pt x="107" y="129"/>
                    <a:pt x="107" y="129"/>
                    <a:pt x="107" y="129"/>
                  </a:cubicBezTo>
                  <a:cubicBezTo>
                    <a:pt x="110" y="132"/>
                    <a:pt x="115" y="132"/>
                    <a:pt x="118" y="129"/>
                  </a:cubicBezTo>
                  <a:cubicBezTo>
                    <a:pt x="118" y="129"/>
                    <a:pt x="118" y="129"/>
                    <a:pt x="118" y="129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7" y="121"/>
                    <a:pt x="128" y="116"/>
                    <a:pt x="125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3" y="111"/>
                    <a:pt x="123" y="107"/>
                    <a:pt x="124" y="104"/>
                  </a:cubicBezTo>
                  <a:cubicBezTo>
                    <a:pt x="127" y="101"/>
                    <a:pt x="128" y="97"/>
                    <a:pt x="130" y="93"/>
                  </a:cubicBez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Oval 143">
              <a:extLst>
                <a:ext uri="{FF2B5EF4-FFF2-40B4-BE49-F238E27FC236}">
                  <a16:creationId xmlns:a16="http://schemas.microsoft.com/office/drawing/2014/main" id="{DB099148-8060-A7C8-9D40-6E3831167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" y="2681"/>
              <a:ext cx="93" cy="93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Oval 144">
              <a:extLst>
                <a:ext uri="{FF2B5EF4-FFF2-40B4-BE49-F238E27FC236}">
                  <a16:creationId xmlns:a16="http://schemas.microsoft.com/office/drawing/2014/main" id="{4F8BA2CF-D646-032D-C43F-C334222EE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5" y="2762"/>
              <a:ext cx="119" cy="122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3" name="Group 99">
            <a:extLst>
              <a:ext uri="{FF2B5EF4-FFF2-40B4-BE49-F238E27FC236}">
                <a16:creationId xmlns:a16="http://schemas.microsoft.com/office/drawing/2014/main" id="{4C5ADEEB-8FBB-501A-87E9-52AB83C3E65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07845" y="2866785"/>
            <a:ext cx="187505" cy="190647"/>
            <a:chOff x="2932" y="1690"/>
            <a:chExt cx="597" cy="607"/>
          </a:xfrm>
        </p:grpSpPr>
        <p:sp>
          <p:nvSpPr>
            <p:cNvPr id="114" name="Oval 100">
              <a:extLst>
                <a:ext uri="{FF2B5EF4-FFF2-40B4-BE49-F238E27FC236}">
                  <a16:creationId xmlns:a16="http://schemas.microsoft.com/office/drawing/2014/main" id="{E7F08C35-D917-8959-79C2-0AFF1E52B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2106"/>
              <a:ext cx="193" cy="191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Oval 101">
              <a:extLst>
                <a:ext uri="{FF2B5EF4-FFF2-40B4-BE49-F238E27FC236}">
                  <a16:creationId xmlns:a16="http://schemas.microsoft.com/office/drawing/2014/main" id="{F585C5CF-0115-EE68-6216-7C61018AF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106"/>
              <a:ext cx="193" cy="191"/>
            </a:xfrm>
            <a:prstGeom prst="ellipse">
              <a:avLst/>
            </a:pr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Freeform 102">
              <a:extLst>
                <a:ext uri="{FF2B5EF4-FFF2-40B4-BE49-F238E27FC236}">
                  <a16:creationId xmlns:a16="http://schemas.microsoft.com/office/drawing/2014/main" id="{FAAC4D5E-753B-0D4A-4CB6-446B96C33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" y="1927"/>
              <a:ext cx="151" cy="74"/>
            </a:xfrm>
            <a:custGeom>
              <a:avLst/>
              <a:gdLst>
                <a:gd name="T0" fmla="*/ 0 w 151"/>
                <a:gd name="T1" fmla="*/ 74 h 74"/>
                <a:gd name="T2" fmla="*/ 77 w 151"/>
                <a:gd name="T3" fmla="*/ 0 h 74"/>
                <a:gd name="T4" fmla="*/ 151 w 151"/>
                <a:gd name="T5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74">
                  <a:moveTo>
                    <a:pt x="0" y="74"/>
                  </a:moveTo>
                  <a:lnTo>
                    <a:pt x="77" y="0"/>
                  </a:lnTo>
                  <a:lnTo>
                    <a:pt x="151" y="74"/>
                  </a:ln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Line 103">
              <a:extLst>
                <a:ext uri="{FF2B5EF4-FFF2-40B4-BE49-F238E27FC236}">
                  <a16:creationId xmlns:a16="http://schemas.microsoft.com/office/drawing/2014/main" id="{D2992BF1-8838-FA19-F3AD-76BAC2FD8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4" y="1927"/>
              <a:ext cx="0" cy="177"/>
            </a:xfrm>
            <a:prstGeom prst="line">
              <a:avLst/>
            </a:pr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8" name="Freeform 104">
              <a:extLst>
                <a:ext uri="{FF2B5EF4-FFF2-40B4-BE49-F238E27FC236}">
                  <a16:creationId xmlns:a16="http://schemas.microsoft.com/office/drawing/2014/main" id="{A4C3941F-99AA-26F1-4E6A-BFC3C7C77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2130"/>
              <a:ext cx="74" cy="150"/>
            </a:xfrm>
            <a:custGeom>
              <a:avLst/>
              <a:gdLst>
                <a:gd name="T0" fmla="*/ 0 w 74"/>
                <a:gd name="T1" fmla="*/ 0 h 150"/>
                <a:gd name="T2" fmla="*/ 74 w 74"/>
                <a:gd name="T3" fmla="*/ 74 h 150"/>
                <a:gd name="T4" fmla="*/ 0 w 74"/>
                <a:gd name="T5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150">
                  <a:moveTo>
                    <a:pt x="0" y="0"/>
                  </a:moveTo>
                  <a:lnTo>
                    <a:pt x="74" y="74"/>
                  </a:lnTo>
                  <a:lnTo>
                    <a:pt x="0" y="150"/>
                  </a:ln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9" name="Line 105">
              <a:extLst>
                <a:ext uri="{FF2B5EF4-FFF2-40B4-BE49-F238E27FC236}">
                  <a16:creationId xmlns:a16="http://schemas.microsoft.com/office/drawing/2014/main" id="{97D12F4C-B74B-0E63-EDC8-9CB6AA9F4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2204"/>
              <a:ext cx="165" cy="0"/>
            </a:xfrm>
            <a:prstGeom prst="line">
              <a:avLst/>
            </a:pr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Freeform 106">
              <a:extLst>
                <a:ext uri="{FF2B5EF4-FFF2-40B4-BE49-F238E27FC236}">
                  <a16:creationId xmlns:a16="http://schemas.microsoft.com/office/drawing/2014/main" id="{B80376B7-3448-3831-857F-FB810AC01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6" y="1690"/>
              <a:ext cx="263" cy="198"/>
            </a:xfrm>
            <a:custGeom>
              <a:avLst/>
              <a:gdLst>
                <a:gd name="T0" fmla="*/ 14 w 110"/>
                <a:gd name="T1" fmla="*/ 0 h 83"/>
                <a:gd name="T2" fmla="*/ 96 w 110"/>
                <a:gd name="T3" fmla="*/ 0 h 83"/>
                <a:gd name="T4" fmla="*/ 110 w 110"/>
                <a:gd name="T5" fmla="*/ 14 h 83"/>
                <a:gd name="T6" fmla="*/ 110 w 110"/>
                <a:gd name="T7" fmla="*/ 69 h 83"/>
                <a:gd name="T8" fmla="*/ 96 w 110"/>
                <a:gd name="T9" fmla="*/ 83 h 83"/>
                <a:gd name="T10" fmla="*/ 14 w 110"/>
                <a:gd name="T11" fmla="*/ 83 h 83"/>
                <a:gd name="T12" fmla="*/ 0 w 110"/>
                <a:gd name="T13" fmla="*/ 69 h 83"/>
                <a:gd name="T14" fmla="*/ 0 w 110"/>
                <a:gd name="T15" fmla="*/ 14 h 83"/>
                <a:gd name="T16" fmla="*/ 14 w 110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83">
                  <a:moveTo>
                    <a:pt x="14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103" y="0"/>
                    <a:pt x="110" y="6"/>
                    <a:pt x="110" y="14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6"/>
                    <a:pt x="103" y="83"/>
                    <a:pt x="96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7" y="83"/>
                    <a:pt x="0" y="76"/>
                    <a:pt x="0" y="69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4" y="0"/>
                  </a:cubicBezTo>
                  <a:close/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Freeform 107">
              <a:extLst>
                <a:ext uri="{FF2B5EF4-FFF2-40B4-BE49-F238E27FC236}">
                  <a16:creationId xmlns:a16="http://schemas.microsoft.com/office/drawing/2014/main" id="{737AAF58-4B8C-8D77-2484-28EFB2B0A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1776"/>
              <a:ext cx="251" cy="296"/>
            </a:xfrm>
            <a:custGeom>
              <a:avLst/>
              <a:gdLst>
                <a:gd name="T0" fmla="*/ 0 w 105"/>
                <a:gd name="T1" fmla="*/ 124 h 124"/>
                <a:gd name="T2" fmla="*/ 0 w 105"/>
                <a:gd name="T3" fmla="*/ 101 h 124"/>
                <a:gd name="T4" fmla="*/ 88 w 105"/>
                <a:gd name="T5" fmla="*/ 0 h 124"/>
                <a:gd name="T6" fmla="*/ 105 w 105"/>
                <a:gd name="T7" fmla="*/ 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124">
                  <a:moveTo>
                    <a:pt x="0" y="124"/>
                  </a:moveTo>
                  <a:cubicBezTo>
                    <a:pt x="0" y="115"/>
                    <a:pt x="0" y="109"/>
                    <a:pt x="0" y="101"/>
                  </a:cubicBezTo>
                  <a:cubicBezTo>
                    <a:pt x="0" y="50"/>
                    <a:pt x="37" y="0"/>
                    <a:pt x="88" y="0"/>
                  </a:cubicBezTo>
                  <a:cubicBezTo>
                    <a:pt x="94" y="0"/>
                    <a:pt x="100" y="1"/>
                    <a:pt x="105" y="2"/>
                  </a:cubicBezTo>
                </a:path>
              </a:pathLst>
            </a:custGeom>
            <a:noFill/>
            <a:ln w="6350" cap="flat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Freeform 108">
              <a:extLst>
                <a:ext uri="{FF2B5EF4-FFF2-40B4-BE49-F238E27FC236}">
                  <a16:creationId xmlns:a16="http://schemas.microsoft.com/office/drawing/2014/main" id="{F2BF514B-521A-B5CA-2A24-578E4A6B4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1994"/>
              <a:ext cx="151" cy="78"/>
            </a:xfrm>
            <a:custGeom>
              <a:avLst/>
              <a:gdLst>
                <a:gd name="T0" fmla="*/ 151 w 151"/>
                <a:gd name="T1" fmla="*/ 0 h 78"/>
                <a:gd name="T2" fmla="*/ 79 w 151"/>
                <a:gd name="T3" fmla="*/ 78 h 78"/>
                <a:gd name="T4" fmla="*/ 0 w 151"/>
                <a:gd name="T5" fmla="*/ 7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" h="78">
                  <a:moveTo>
                    <a:pt x="151" y="0"/>
                  </a:moveTo>
                  <a:lnTo>
                    <a:pt x="79" y="78"/>
                  </a:lnTo>
                  <a:lnTo>
                    <a:pt x="0" y="7"/>
                  </a:lnTo>
                </a:path>
              </a:pathLst>
            </a:custGeom>
            <a:noFill/>
            <a:ln w="6350" cap="sq">
              <a:solidFill>
                <a:srgbClr val="00338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05D7CC-013C-720A-C616-A5F1790196DC}"/>
              </a:ext>
            </a:extLst>
          </p:cNvPr>
          <p:cNvSpPr txBox="1"/>
          <p:nvPr/>
        </p:nvSpPr>
        <p:spPr>
          <a:xfrm>
            <a:off x="6991020" y="1155047"/>
            <a:ext cx="4208793" cy="381643"/>
          </a:xfrm>
          <a:prstGeom prst="rect">
            <a:avLst/>
          </a:prstGeom>
          <a:solidFill>
            <a:srgbClr val="00338D"/>
          </a:solidFill>
        </p:spPr>
        <p:txBody>
          <a:bodyPr vert="horz" wrap="square" lIns="54864" tIns="54864" rIns="54864" bIns="54864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PMG Bold"/>
                <a:ea typeface="+mn-ea"/>
                <a:cs typeface="+mn-cs"/>
              </a:rPr>
              <a:t>Tech-oriented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0B50E5-0DB4-0787-A990-22CA0B543816}"/>
              </a:ext>
            </a:extLst>
          </p:cNvPr>
          <p:cNvSpPr txBox="1">
            <a:spLocks/>
          </p:cNvSpPr>
          <p:nvPr/>
        </p:nvSpPr>
        <p:spPr>
          <a:xfrm>
            <a:off x="641605" y="240551"/>
            <a:ext cx="1020445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KPMG Bold"/>
                <a:ea typeface="+mj-ea"/>
                <a:cs typeface="+mj-cs"/>
              </a:rPr>
              <a:t>Key Client Questions </a:t>
            </a:r>
          </a:p>
        </p:txBody>
      </p:sp>
    </p:spTree>
    <p:extLst>
      <p:ext uri="{BB962C8B-B14F-4D97-AF65-F5344CB8AC3E}">
        <p14:creationId xmlns:p14="http://schemas.microsoft.com/office/powerpoint/2010/main" val="141198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0BD4-6B32-E57B-CADD-962D0661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4" y="431800"/>
            <a:ext cx="10204450" cy="1001074"/>
          </a:xfrm>
        </p:spPr>
        <p:txBody>
          <a:bodyPr anchor="t">
            <a:normAutofit/>
          </a:bodyPr>
          <a:lstStyle/>
          <a:p>
            <a:r>
              <a:rPr lang="en-US" dirty="0"/>
              <a:t>Assessment Interviews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1F3E52-3696-9E3B-FEE6-01DED4D1B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78785"/>
              </p:ext>
            </p:extLst>
          </p:nvPr>
        </p:nvGraphicFramePr>
        <p:xfrm>
          <a:off x="953028" y="992867"/>
          <a:ext cx="10629372" cy="4180264"/>
        </p:xfrm>
        <a:graphic>
          <a:graphicData uri="http://schemas.openxmlformats.org/drawingml/2006/table">
            <a:tbl>
              <a:tblPr firstRow="1" bandRow="1"/>
              <a:tblGrid>
                <a:gridCol w="244450">
                  <a:extLst>
                    <a:ext uri="{9D8B030D-6E8A-4147-A177-3AD203B41FA5}">
                      <a16:colId xmlns:a16="http://schemas.microsoft.com/office/drawing/2014/main" val="2143170604"/>
                    </a:ext>
                  </a:extLst>
                </a:gridCol>
                <a:gridCol w="2239269">
                  <a:extLst>
                    <a:ext uri="{9D8B030D-6E8A-4147-A177-3AD203B41FA5}">
                      <a16:colId xmlns:a16="http://schemas.microsoft.com/office/drawing/2014/main" val="4032219171"/>
                    </a:ext>
                  </a:extLst>
                </a:gridCol>
                <a:gridCol w="4200736">
                  <a:extLst>
                    <a:ext uri="{9D8B030D-6E8A-4147-A177-3AD203B41FA5}">
                      <a16:colId xmlns:a16="http://schemas.microsoft.com/office/drawing/2014/main" val="304694250"/>
                    </a:ext>
                  </a:extLst>
                </a:gridCol>
                <a:gridCol w="3335688">
                  <a:extLst>
                    <a:ext uri="{9D8B030D-6E8A-4147-A177-3AD203B41FA5}">
                      <a16:colId xmlns:a16="http://schemas.microsoft.com/office/drawing/2014/main" val="1287235985"/>
                    </a:ext>
                  </a:extLst>
                </a:gridCol>
                <a:gridCol w="609229">
                  <a:extLst>
                    <a:ext uri="{9D8B030D-6E8A-4147-A177-3AD203B41FA5}">
                      <a16:colId xmlns:a16="http://schemas.microsoft.com/office/drawing/2014/main" val="2473891680"/>
                    </a:ext>
                  </a:extLst>
                </a:gridCol>
              </a:tblGrid>
              <a:tr h="2537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#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Key role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Main assessment focus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Expected output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Name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624649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Business Sponsor / Product Owner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Business objectives, priority use cases, expected cost reduction, critical reports, migration scope, and success criteria.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Prioritized use cases, business KPIs, pilot scope, and approval criteria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340188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Splunk Administrator / Architect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Indexes, sourcetypes, volumes, retention, data inputs, CIM mappings, field extractions, dashboards, alerts, SPL searches, macros, and lookups.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Splunk asset inventory, dependency map, volume profile, and migration classification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961606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Azure Solution Architect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Azure subscription, region, resource groups, networking, private endpoints, ADLS Gen2, identities, encryption, and disaster recovery.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Azure landing-zone, network, security, storage, and recovery architecture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794731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Databricks Administrator / Architect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Workspaces, Unity Catalog, catalogs, schemas, external locations, compute policies, runtimes, Lakeflow, SQL Warehouses, and environment isolation.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Databricks platform, governance, compute, and medallion architecture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377576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 Architect / Data Modeler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Data contracts, business entities, canonical model, source-to-target mappings, ontology, Bronze/Silver/Gold structures, facts, and dimensions.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Conceptual, logical, canonical, physical, and Gold data-product models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21666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Security, Governance and Operations Lead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Access control, PII classification, retention, data quality, lineage, monitoring, RTO/RPO, support, CI/CD, audit, and compliance.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Security-control matrix, governance framework, operating model, and support RACI 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579650"/>
                  </a:ext>
                </a:extLst>
              </a:tr>
              <a:tr h="6544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7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Ingestion / Pipeline Engineer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Routing and transport (Cribl, NiFi), landing paths, Event Grid, Auto Loader configuration, schema evolution, quarantine, and late or duplicate events.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Ingestion flow and routing matrix, landing-zone design, and Bronze ingestion patterns</a:t>
                      </a:r>
                    </a:p>
                  </a:txBody>
                  <a:tcPr marL="4358" marR="4358" marT="4358" marB="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58" marR="4358" marT="4358" marB="0" anchor="b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579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9937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XOSmFUvW4LnwY.oUdLSA"/>
</p:tagLst>
</file>

<file path=ppt/theme/theme1.xml><?xml version="1.0" encoding="utf-8"?>
<a:theme xmlns:a="http://schemas.openxmlformats.org/drawingml/2006/main" name="KPMG Widescreen [16:9] Feb 2022">
  <a:themeElements>
    <a:clrScheme name="Custom Option">
      <a:dk1>
        <a:srgbClr val="000000"/>
      </a:dk1>
      <a:lt1>
        <a:sysClr val="window" lastClr="FFFFFF"/>
      </a:lt1>
      <a:dk2>
        <a:srgbClr val="00338D"/>
      </a:dk2>
      <a:lt2>
        <a:srgbClr val="ACEAFF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1E49E2"/>
      </a:hlink>
      <a:folHlink>
        <a:srgbClr val="098E80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alt">
      <a:srgbClr val="1E49E2"/>
    </a:custClr>
    <a:custClr name="Pacific Blue">
      <a:srgbClr val="00B8F5"/>
    </a:custClr>
    <a:custClr name="Purple">
      <a:srgbClr val="7213EA"/>
    </a:custClr>
    <a:custClr name="Dark Blue">
      <a:srgbClr val="0C233C"/>
    </a:custClr>
    <a:custClr name="Light Blue">
      <a:srgbClr val="ACEAFF"/>
    </a:custClr>
    <a:custClr name="Pink">
      <a:srgbClr val="FD349C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76D2FF"/>
    </a:custClr>
    <a:custClr name="Dark Purple">
      <a:srgbClr val="510DBC"/>
    </a:custClr>
    <a:custClr name="Light Purple">
      <a:srgbClr val="B497FF"/>
    </a:custClr>
    <a:custClr name="Dark Pink">
      <a:srgbClr val="AB0D82"/>
    </a:custClr>
    <a:custClr name="Light Pink">
      <a:srgbClr val="FFA3DA"/>
    </a:custClr>
    <a:custClr name="Dark Green">
      <a:srgbClr val="098E7E"/>
    </a:custClr>
    <a:custClr name="Green">
      <a:srgbClr val="00C0AE"/>
    </a:custClr>
    <a:custClr name="Light Green">
      <a:srgbClr val="63EBDA"/>
    </a:custClr>
    <a:custClr name="Blank">
      <a:srgbClr val="FFFFFF"/>
    </a:custClr>
    <a:custClr name="Blank">
      <a:srgbClr val="FFFFFF"/>
    </a:custClr>
    <a:custClr name="Gray 1">
      <a:srgbClr val="333333"/>
    </a:custClr>
    <a:custClr name="Gray 2">
      <a:srgbClr val="666666"/>
    </a:custClr>
    <a:custClr name="Gray 3">
      <a:srgbClr val="989898"/>
    </a:custClr>
    <a:custClr name="Gray 4">
      <a:srgbClr val="B2B2B2"/>
    </a:custClr>
    <a:custClr name="Gray 5">
      <a:srgbClr val="E5E5E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Presentation2" id="{1741BB20-3233-4F11-B6E7-0F2F697524A9}" vid="{DFB94998-4A28-4CBD-A32F-F16AE289C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797DACBF0ED840964C449C451EBAF7" ma:contentTypeVersion="5" ma:contentTypeDescription="Create a new document." ma:contentTypeScope="" ma:versionID="dbea2240cc4598634e522fb4f56809a4">
  <xsd:schema xmlns:xsd="http://www.w3.org/2001/XMLSchema" xmlns:xs="http://www.w3.org/2001/XMLSchema" xmlns:p="http://schemas.microsoft.com/office/2006/metadata/properties" xmlns:ns2="83db9aeb-b617-41c3-b1a0-193712c5e5a9" xmlns:ns3="637e7792-5899-42ed-b7a6-370913e99a51" targetNamespace="http://schemas.microsoft.com/office/2006/metadata/properties" ma:root="true" ma:fieldsID="135ed8d462a2bd0b9a46ab04803e58e0" ns2:_="" ns3:_="">
    <xsd:import namespace="83db9aeb-b617-41c3-b1a0-193712c5e5a9"/>
    <xsd:import namespace="637e7792-5899-42ed-b7a6-370913e99a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db9aeb-b617-41c3-b1a0-193712c5e5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e7792-5899-42ed-b7a6-370913e99a5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B9C66D-5A3C-4C67-8FC6-66E1F17595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db9aeb-b617-41c3-b1a0-193712c5e5a9"/>
    <ds:schemaRef ds:uri="637e7792-5899-42ed-b7a6-370913e99a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AC1DE3-04E3-413B-829B-8F91F8245B0C}">
  <ds:schemaRefs>
    <ds:schemaRef ds:uri="http://www.w3.org/XML/1998/namespace"/>
    <ds:schemaRef ds:uri="637e7792-5899-42ed-b7a6-370913e99a51"/>
    <ds:schemaRef ds:uri="http://schemas.openxmlformats.org/package/2006/metadata/core-properties"/>
    <ds:schemaRef ds:uri="http://schemas.microsoft.com/office/infopath/2007/PartnerControls"/>
    <ds:schemaRef ds:uri="83db9aeb-b617-41c3-b1a0-193712c5e5a9"/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4BFA713-C47E-4E7D-B7E8-4F0B5E62F73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1035</Words>
  <Application>Microsoft Office PowerPoint</Application>
  <PresentationFormat>Widescreen</PresentationFormat>
  <Paragraphs>135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KPMG Widescreen [16:9] Feb 2022</vt:lpstr>
      <vt:lpstr>Key Components of Databricks Architecture</vt:lpstr>
      <vt:lpstr>PowerPoint Presentation</vt:lpstr>
      <vt:lpstr>PowerPoint Presentation</vt:lpstr>
      <vt:lpstr>PowerPoint Presentation</vt:lpstr>
      <vt:lpstr>Assessment Interviews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Kalidindi, Naga Mahendra V</dc:creator>
  <cp:lastModifiedBy>Ranjan, Ravi</cp:lastModifiedBy>
  <cp:revision>10</cp:revision>
  <dcterms:created xsi:type="dcterms:W3CDTF">2026-09-23T14:37:16Z</dcterms:created>
  <dcterms:modified xsi:type="dcterms:W3CDTF">2026-09-24T14:17:36Z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0x0101002B797DACBF0ED840964C449C451EBAF7</vt:lpwstr>
  </property>
</Properties>
</file>