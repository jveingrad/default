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we start from how the data will be used and work backwards to how it should be landed and shaped. Counts quoted in this deck are proposals from the Workstream B1, B2, C and D methodology documents and need CVS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B1 section 2 (12,910 sourcetypes to ~250-300 families), B2 section 4 (925 indexes to ~25-50 Bronze tables; four consolidation patterns), C section 1 and 3 (18-22 templates, 240-320 instantiations converging on 68-150 physical Silver tables across 9 domains; 12 Gold products). Granularity is not lost by consolidating: it moves from table names into columns and into Silver.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B1 section 2.2 and 2.3.2 (K8s family collapse), B2 sections 2.2, 4.2, 5.4 (Cribl functions, four Bronze patterns, tiering with 60-70% compute reduction), B1 section 3 (ODCS contract). Open item to raise: B2-012 asks how "raw payload unmodified" squares with Cribl enrichment, timestamp normalization, filtering and masking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 section 2.2 (tiered canonical approach, answering the request for an approach beyond OCSF, which is security-only), 2.4 (15 conformed dimensions, SCD Type 2 for application, asset, service, CI, business unit), 3.1 (templates), 4.3 and 5.1 (quality framework, masking). Proposed counts need CVS approval; the masking location (Cribl Guard vs Silver) is an open conflict between B1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walkthrough section 9 (user populations; most queries 0-30 days; ~100 core metrics), B1 section 2.4 (15,159 active scheduled searches, 12,667 disabled, 38%), D section 7.3 (16 accelerated data models; hard dependency on C for pre-aggregated Silver/Gold), C sections 6 and 7 (data product promotion, Gold guardrail: no Bronze access). Persona-to-layer mapping is our proposal, not a documented CVS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register items A-009/B2-021/C-030 (masking), A-005/C-034 (catalog model), C-001 (OCSF scope), C-027 (ES pre-aggregates) and the tiering decision in B2 section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601200" cy="164592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931920"/>
            <a:ext cx="960120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97280"/>
          </a:xfrm>
          <a:prstGeom prst="rect">
            <a:avLst/>
          </a:prstGeom>
          <a:noFill/>
          <a:ln/>
        </p:spPr>
        <p:txBody>
          <a:bodyPr wrap="square" rtlCol="0"/>
          <a:lstStyle>
            <a:lvl1pPr indent="0" marL="0">
              <a:buNone/>
              <a:defRPr lang="en-US" sz="2800" b="1" dirty="0">
                <a:solidFill>
                  <a:schemeClr val="accent1"/>
                </a:solidFill>
              </a:defRPr>
            </a:lvl1pPr>
          </a:lstStyle>
          <a:p>
            <a:pPr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KPMG  |  CVS Health  |  Workshop discussion draft</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601200" cy="1645920"/>
          </a:xfrm>
          <a:prstGeom prst="rect">
            <a:avLst/>
          </a:prstGeom>
          <a:noFill/>
          <a:ln/>
        </p:spPr>
        <p:txBody>
          <a:bodyPr wrap="square" lIns="0" tIns="0" rIns="0" bIns="0" rtlCol="0" anchor="t"/>
          <a:lstStyle/>
          <a:p>
            <a:pPr algn="l" indent="0" marL="0">
              <a:buNone/>
            </a:pPr>
            <a:r>
              <a:rPr lang="en-US" sz="4400" b="1" dirty="0">
                <a:solidFill>
                  <a:schemeClr val="bg1"/>
                </a:solidFill>
              </a:rPr>
              <a:t>Guiding principles: from analytics outputs to data inputs</a:t>
            </a:r>
            <a:endParaRPr lang="en-US" sz="4400" dirty="0"/>
          </a:p>
        </p:txBody>
      </p:sp>
      <p:sp>
        <p:nvSpPr>
          <p:cNvPr id="3" name="Text 0"/>
          <p:cNvSpPr/>
          <p:nvPr>
            <p:ph idx="101" type="body" hasCustomPrompt="1"/>
          </p:nvPr>
        </p:nvSpPr>
        <p:spPr>
          <a:xfrm>
            <a:off x="731520" y="3931920"/>
            <a:ext cx="9601200" cy="914400"/>
          </a:xfrm>
          <a:prstGeom prst="rect">
            <a:avLst/>
          </a:prstGeom>
          <a:noFill/>
          <a:ln/>
        </p:spPr>
        <p:txBody>
          <a:bodyPr wrap="square" lIns="0" tIns="0" rIns="0" bIns="0" rtlCol="0"/>
          <a:lstStyle/>
          <a:p>
            <a:pPr algn="l" indent="0" marL="0">
              <a:buNone/>
            </a:pPr>
            <a:r>
              <a:rPr lang="en-US" sz="2000" dirty="0">
                <a:solidFill>
                  <a:schemeClr val="bg2"/>
                </a:solidFill>
              </a:rPr>
              <a:t>Ingestion, transformation and analytics</a:t>
            </a:r>
            <a:endParaRPr lang="en-US" sz="2000" dirty="0"/>
          </a:p>
          <a:p>
            <a:pPr algn="l" indent="0" marL="0">
              <a:buNone/>
            </a:pPr>
            <a:r>
              <a:rPr lang="en-US" sz="2000" dirty="0">
                <a:solidFill>
                  <a:schemeClr val="bg2"/>
                </a:solidFill>
              </a:rPr>
              <a:t>Structuring data to balance efficiency with granularity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37160"/>
            <a:ext cx="5486400" cy="274320"/>
          </a:xfrm>
          <a:prstGeom prst="rect">
            <a:avLst/>
          </a:prstGeom>
          <a:noFill/>
          <a:ln/>
        </p:spPr>
        <p:txBody>
          <a:bodyPr wrap="square" lIns="0" tIns="0" rIns="0" bIns="0" rtlCol="0" anchor="ctr"/>
          <a:lstStyle/>
          <a:p>
            <a:pPr indent="0" marL="0">
              <a:buNone/>
            </a:pPr>
            <a:r>
              <a:rPr lang="en-US" sz="1200" b="1" dirty="0">
                <a:solidFill>
                  <a:schemeClr val="accent2"/>
                </a:solidFill>
              </a:rPr>
              <a:t>THE CORE IDEA</a:t>
            </a:r>
            <a:endParaRPr lang="en-US" sz="1200" dirty="0"/>
          </a:p>
        </p:txBody>
      </p:sp>
      <p:sp>
        <p:nvSpPr>
          <p:cNvPr id="3" name="Text 0"/>
          <p:cNvSpPr/>
          <p:nvPr>
            <p:ph idx="100" type="title" hasCustomPrompt="1"/>
          </p:nvPr>
        </p:nvSpPr>
        <p:spPr>
          <a:xfrm>
            <a:off x="548640" y="365760"/>
            <a:ext cx="11064240" cy="1097280"/>
          </a:xfrm>
          <a:prstGeom prst="rect">
            <a:avLst/>
          </a:prstGeom>
          <a:noFill/>
          <a:ln/>
        </p:spPr>
        <p:txBody>
          <a:bodyPr wrap="square" lIns="0" tIns="0" rIns="0" bIns="0" rtlCol="0" anchor="t"/>
          <a:lstStyle/>
          <a:p>
            <a:pPr algn="l" indent="0" marL="0">
              <a:buNone/>
            </a:pPr>
            <a:r>
              <a:rPr lang="en-US" sz="2800" b="1" dirty="0">
                <a:solidFill>
                  <a:schemeClr val="accent1"/>
                </a:solidFill>
              </a:rPr>
              <a:t>Structure inputs from the outputs back: coarse where it saves cost, granular where analytics need detail</a:t>
            </a:r>
            <a:endParaRPr lang="en-US" sz="2800" dirty="0"/>
          </a:p>
        </p:txBody>
      </p:sp>
      <p:sp>
        <p:nvSpPr>
          <p:cNvPr id="4" name="col-Sources"/>
          <p:cNvSpPr/>
          <p:nvPr/>
        </p:nvSpPr>
        <p:spPr>
          <a:xfrm>
            <a:off x="548640" y="1691640"/>
            <a:ext cx="2606040" cy="4526280"/>
          </a:xfrm>
          <a:prstGeom prst="rect">
            <a:avLst/>
          </a:prstGeom>
          <a:solidFill>
            <a:schemeClr val="bg2"/>
          </a:solidFill>
          <a:ln w="12700">
            <a:solidFill>
              <a:schemeClr val="bg2"/>
            </a:solidFill>
            <a:prstDash val="solid"/>
          </a:ln>
        </p:spPr>
      </p:sp>
      <p:sp>
        <p:nvSpPr>
          <p:cNvPr id="5" name="Text 3"/>
          <p:cNvSpPr txBox="1"/>
          <p:nvPr/>
        </p:nvSpPr>
        <p:spPr>
          <a:xfrm>
            <a:off x="731520" y="1783080"/>
            <a:ext cx="2240280" cy="274320"/>
          </a:xfrm>
          <a:prstGeom prst="rect">
            <a:avLst/>
          </a:prstGeom>
          <a:noFill/>
          <a:ln/>
        </p:spPr>
        <p:txBody>
          <a:bodyPr wrap="square" lIns="0" tIns="0" rIns="0" bIns="0" rtlCol="0" anchor="ctr"/>
          <a:lstStyle/>
          <a:p>
            <a:pPr indent="0" marL="0">
              <a:buNone/>
            </a:pPr>
            <a:r>
              <a:rPr lang="en-US" sz="1200" b="1" dirty="0">
                <a:solidFill>
                  <a:schemeClr val="accent2"/>
                </a:solidFill>
              </a:rPr>
              <a:t>SOURCES</a:t>
            </a:r>
            <a:endParaRPr lang="en-US" sz="1200" dirty="0"/>
          </a:p>
        </p:txBody>
      </p:sp>
      <p:sp>
        <p:nvSpPr>
          <p:cNvPr id="6" name="Text 4"/>
          <p:cNvSpPr txBox="1"/>
          <p:nvPr/>
        </p:nvSpPr>
        <p:spPr>
          <a:xfrm>
            <a:off x="731520" y="2057400"/>
            <a:ext cx="2240280" cy="640080"/>
          </a:xfrm>
          <a:prstGeom prst="rect">
            <a:avLst/>
          </a:prstGeom>
          <a:noFill/>
          <a:ln/>
        </p:spPr>
        <p:txBody>
          <a:bodyPr wrap="square" lIns="0" tIns="0" rIns="0" bIns="0" rtlCol="0" anchor="ctr"/>
          <a:lstStyle/>
          <a:p>
            <a:pPr indent="0" marL="0">
              <a:buNone/>
            </a:pPr>
            <a:r>
              <a:rPr lang="en-US" sz="4000" b="1" dirty="0">
                <a:solidFill>
                  <a:schemeClr val="accent1"/>
                </a:solidFill>
              </a:rPr>
              <a:t>12,910</a:t>
            </a:r>
            <a:endParaRPr lang="en-US" sz="4000" dirty="0"/>
          </a:p>
        </p:txBody>
      </p:sp>
      <p:sp>
        <p:nvSpPr>
          <p:cNvPr id="7" name="Text 5"/>
          <p:cNvSpPr txBox="1"/>
          <p:nvPr/>
        </p:nvSpPr>
        <p:spPr>
          <a:xfrm>
            <a:off x="731520" y="2697480"/>
            <a:ext cx="2240280" cy="457200"/>
          </a:xfrm>
          <a:prstGeom prst="rect">
            <a:avLst/>
          </a:prstGeom>
          <a:noFill/>
          <a:ln/>
        </p:spPr>
        <p:txBody>
          <a:bodyPr wrap="square" lIns="0" tIns="0" rIns="0" bIns="0" rtlCol="0" anchor="t"/>
          <a:lstStyle/>
          <a:p>
            <a:pPr indent="0" marL="0">
              <a:buNone/>
            </a:pPr>
            <a:r>
              <a:rPr lang="en-US" sz="1400" dirty="0">
                <a:solidFill>
                  <a:schemeClr val="tx1"/>
                </a:solidFill>
              </a:rPr>
              <a:t>Splunk sourcetypes</a:t>
            </a:r>
            <a:endParaRPr lang="en-US" sz="1400" dirty="0"/>
          </a:p>
        </p:txBody>
      </p:sp>
      <p:sp>
        <p:nvSpPr>
          <p:cNvPr id="8" name="Text 6"/>
          <p:cNvSpPr txBox="1"/>
          <p:nvPr/>
        </p:nvSpPr>
        <p:spPr>
          <a:xfrm>
            <a:off x="731520" y="333756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Efficient (coarse)</a:t>
            </a:r>
            <a:endParaRPr lang="en-US" sz="1200" dirty="0"/>
          </a:p>
        </p:txBody>
      </p:sp>
      <p:sp>
        <p:nvSpPr>
          <p:cNvPr id="9" name="Text 7"/>
          <p:cNvSpPr txBox="1"/>
          <p:nvPr/>
        </p:nvSpPr>
        <p:spPr>
          <a:xfrm>
            <a:off x="731520" y="3611880"/>
            <a:ext cx="2240280" cy="868680"/>
          </a:xfrm>
          <a:prstGeom prst="rect">
            <a:avLst/>
          </a:prstGeom>
          <a:noFill/>
          <a:ln/>
        </p:spPr>
        <p:txBody>
          <a:bodyPr wrap="square" lIns="0" tIns="0" rIns="0" bIns="0" rtlCol="0" anchor="t"/>
          <a:lstStyle/>
          <a:p>
            <a:pPr indent="0" marL="0">
              <a:buNone/>
            </a:pPr>
            <a:r>
              <a:rPr lang="en-US" sz="1400" dirty="0">
                <a:solidFill>
                  <a:schemeClr val="tx1"/>
                </a:solidFill>
              </a:rPr>
              <a:t>Grouped into ~250–300 source families</a:t>
            </a:r>
            <a:endParaRPr lang="en-US" sz="1400" dirty="0"/>
          </a:p>
        </p:txBody>
      </p:sp>
      <p:sp>
        <p:nvSpPr>
          <p:cNvPr id="10" name="Text 8"/>
          <p:cNvSpPr txBox="1"/>
          <p:nvPr/>
        </p:nvSpPr>
        <p:spPr>
          <a:xfrm>
            <a:off x="731520" y="457200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Granular (detail kept)</a:t>
            </a:r>
            <a:endParaRPr lang="en-US" sz="1200" dirty="0"/>
          </a:p>
        </p:txBody>
      </p:sp>
      <p:sp>
        <p:nvSpPr>
          <p:cNvPr id="11" name="Text 9"/>
          <p:cNvSpPr txBox="1"/>
          <p:nvPr/>
        </p:nvSpPr>
        <p:spPr>
          <a:xfrm>
            <a:off x="731520" y="4846320"/>
            <a:ext cx="2240280" cy="1188720"/>
          </a:xfrm>
          <a:prstGeom prst="rect">
            <a:avLst/>
          </a:prstGeom>
          <a:noFill/>
          <a:ln/>
        </p:spPr>
        <p:txBody>
          <a:bodyPr wrap="square" lIns="0" tIns="0" rIns="0" bIns="0" rtlCol="0" anchor="t"/>
          <a:lstStyle/>
          <a:p>
            <a:pPr indent="0" marL="0">
              <a:buNone/>
            </a:pPr>
            <a:r>
              <a:rPr lang="en-US" sz="1400" dirty="0">
                <a:solidFill>
                  <a:schemeClr val="tx1"/>
                </a:solidFill>
              </a:rPr>
              <a:t>Every field stays in the raw event</a:t>
            </a:r>
            <a:endParaRPr lang="en-US" sz="1400" dirty="0"/>
          </a:p>
        </p:txBody>
      </p:sp>
      <p:sp>
        <p:nvSpPr>
          <p:cNvPr id="12" name="col-Bronze"/>
          <p:cNvSpPr/>
          <p:nvPr/>
        </p:nvSpPr>
        <p:spPr>
          <a:xfrm>
            <a:off x="3383280" y="1691640"/>
            <a:ext cx="2606040" cy="4526280"/>
          </a:xfrm>
          <a:prstGeom prst="rect">
            <a:avLst/>
          </a:prstGeom>
          <a:solidFill>
            <a:schemeClr val="bg2"/>
          </a:solidFill>
          <a:ln w="12700">
            <a:solidFill>
              <a:schemeClr val="bg2"/>
            </a:solidFill>
            <a:prstDash val="solid"/>
          </a:ln>
        </p:spPr>
      </p:sp>
      <p:sp>
        <p:nvSpPr>
          <p:cNvPr id="13" name="Text 11"/>
          <p:cNvSpPr txBox="1"/>
          <p:nvPr/>
        </p:nvSpPr>
        <p:spPr>
          <a:xfrm>
            <a:off x="3566160" y="1783080"/>
            <a:ext cx="2240280" cy="274320"/>
          </a:xfrm>
          <a:prstGeom prst="rect">
            <a:avLst/>
          </a:prstGeom>
          <a:noFill/>
          <a:ln/>
        </p:spPr>
        <p:txBody>
          <a:bodyPr wrap="square" lIns="0" tIns="0" rIns="0" bIns="0" rtlCol="0" anchor="ctr"/>
          <a:lstStyle/>
          <a:p>
            <a:pPr indent="0" marL="0">
              <a:buNone/>
            </a:pPr>
            <a:r>
              <a:rPr lang="en-US" sz="1200" b="1" dirty="0">
                <a:solidFill>
                  <a:schemeClr val="accent2"/>
                </a:solidFill>
              </a:rPr>
              <a:t>BRONZE</a:t>
            </a:r>
            <a:endParaRPr lang="en-US" sz="1200" dirty="0"/>
          </a:p>
        </p:txBody>
      </p:sp>
      <p:sp>
        <p:nvSpPr>
          <p:cNvPr id="14" name="Text 12"/>
          <p:cNvSpPr txBox="1"/>
          <p:nvPr/>
        </p:nvSpPr>
        <p:spPr>
          <a:xfrm>
            <a:off x="3566160" y="2057400"/>
            <a:ext cx="2240280" cy="640080"/>
          </a:xfrm>
          <a:prstGeom prst="rect">
            <a:avLst/>
          </a:prstGeom>
          <a:noFill/>
          <a:ln/>
        </p:spPr>
        <p:txBody>
          <a:bodyPr wrap="square" lIns="0" tIns="0" rIns="0" bIns="0" rtlCol="0" anchor="ctr"/>
          <a:lstStyle/>
          <a:p>
            <a:pPr indent="0" marL="0">
              <a:buNone/>
            </a:pPr>
            <a:r>
              <a:rPr lang="en-US" sz="4000" b="1" dirty="0">
                <a:solidFill>
                  <a:schemeClr val="accent1"/>
                </a:solidFill>
              </a:rPr>
              <a:t>~25–50</a:t>
            </a:r>
            <a:endParaRPr lang="en-US" sz="4000" dirty="0"/>
          </a:p>
        </p:txBody>
      </p:sp>
      <p:sp>
        <p:nvSpPr>
          <p:cNvPr id="15" name="Text 13"/>
          <p:cNvSpPr txBox="1"/>
          <p:nvPr/>
        </p:nvSpPr>
        <p:spPr>
          <a:xfrm>
            <a:off x="3566160" y="2697480"/>
            <a:ext cx="2240280" cy="457200"/>
          </a:xfrm>
          <a:prstGeom prst="rect">
            <a:avLst/>
          </a:prstGeom>
          <a:noFill/>
          <a:ln/>
        </p:spPr>
        <p:txBody>
          <a:bodyPr wrap="square" lIns="0" tIns="0" rIns="0" bIns="0" rtlCol="0" anchor="t"/>
          <a:lstStyle/>
          <a:p>
            <a:pPr indent="0" marL="0">
              <a:buNone/>
            </a:pPr>
            <a:r>
              <a:rPr lang="en-US" sz="1400" dirty="0">
                <a:solidFill>
                  <a:schemeClr val="tx1"/>
                </a:solidFill>
              </a:rPr>
              <a:t>Bronze tables</a:t>
            </a:r>
            <a:endParaRPr lang="en-US" sz="1400" dirty="0"/>
          </a:p>
        </p:txBody>
      </p:sp>
      <p:sp>
        <p:nvSpPr>
          <p:cNvPr id="16" name="Text 14"/>
          <p:cNvSpPr txBox="1"/>
          <p:nvPr/>
        </p:nvSpPr>
        <p:spPr>
          <a:xfrm>
            <a:off x="3566160" y="333756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Efficient (coarse)</a:t>
            </a:r>
            <a:endParaRPr lang="en-US" sz="1200" dirty="0"/>
          </a:p>
        </p:txBody>
      </p:sp>
      <p:sp>
        <p:nvSpPr>
          <p:cNvPr id="17" name="Text 15"/>
          <p:cNvSpPr txBox="1"/>
          <p:nvPr/>
        </p:nvSpPr>
        <p:spPr>
          <a:xfrm>
            <a:off x="3566160" y="3611880"/>
            <a:ext cx="2240280" cy="868680"/>
          </a:xfrm>
          <a:prstGeom prst="rect">
            <a:avLst/>
          </a:prstGeom>
          <a:noFill/>
          <a:ln/>
        </p:spPr>
        <p:txBody>
          <a:bodyPr wrap="square" lIns="0" tIns="0" rIns="0" bIns="0" rtlCol="0" anchor="t"/>
          <a:lstStyle/>
          <a:p>
            <a:pPr indent="0" marL="0">
              <a:buNone/>
            </a:pPr>
            <a:r>
              <a:rPr lang="en-US" sz="1400" dirty="0">
                <a:solidFill>
                  <a:schemeClr val="tx1"/>
                </a:solidFill>
              </a:rPr>
              <a:t>One table per family group, not per sourcetype</a:t>
            </a:r>
            <a:endParaRPr lang="en-US" sz="1400" dirty="0"/>
          </a:p>
        </p:txBody>
      </p:sp>
      <p:sp>
        <p:nvSpPr>
          <p:cNvPr id="18" name="Text 16"/>
          <p:cNvSpPr txBox="1"/>
          <p:nvPr/>
        </p:nvSpPr>
        <p:spPr>
          <a:xfrm>
            <a:off x="3566160" y="457200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Granular (detail kept)</a:t>
            </a:r>
            <a:endParaRPr lang="en-US" sz="1200" dirty="0"/>
          </a:p>
        </p:txBody>
      </p:sp>
      <p:sp>
        <p:nvSpPr>
          <p:cNvPr id="19" name="Text 17"/>
          <p:cNvSpPr txBox="1"/>
          <p:nvPr/>
        </p:nvSpPr>
        <p:spPr>
          <a:xfrm>
            <a:off x="3566160" y="4846320"/>
            <a:ext cx="2240280" cy="1188720"/>
          </a:xfrm>
          <a:prstGeom prst="rect">
            <a:avLst/>
          </a:prstGeom>
          <a:noFill/>
          <a:ln/>
        </p:spPr>
        <p:txBody>
          <a:bodyPr wrap="square" lIns="0" tIns="0" rIns="0" bIns="0" rtlCol="0" anchor="t"/>
          <a:lstStyle/>
          <a:p>
            <a:pPr indent="0" marL="0">
              <a:buNone/>
            </a:pPr>
            <a:r>
              <a:rPr lang="en-US" sz="1400" dirty="0">
                <a:solidFill>
                  <a:schemeClr val="tx1"/>
                </a:solidFill>
              </a:rPr>
              <a:t>Deployment, cluster and host kept as columns</a:t>
            </a:r>
            <a:endParaRPr lang="en-US" sz="1400" dirty="0"/>
          </a:p>
        </p:txBody>
      </p:sp>
      <p:sp>
        <p:nvSpPr>
          <p:cNvPr id="20" name="col-Silver"/>
          <p:cNvSpPr/>
          <p:nvPr/>
        </p:nvSpPr>
        <p:spPr>
          <a:xfrm>
            <a:off x="6217920" y="1691640"/>
            <a:ext cx="2606040" cy="4526280"/>
          </a:xfrm>
          <a:prstGeom prst="rect">
            <a:avLst/>
          </a:prstGeom>
          <a:solidFill>
            <a:schemeClr val="bg2"/>
          </a:solidFill>
          <a:ln w="12700">
            <a:solidFill>
              <a:schemeClr val="bg2"/>
            </a:solidFill>
            <a:prstDash val="solid"/>
          </a:ln>
        </p:spPr>
      </p:sp>
      <p:sp>
        <p:nvSpPr>
          <p:cNvPr id="21" name="Text 19"/>
          <p:cNvSpPr txBox="1"/>
          <p:nvPr/>
        </p:nvSpPr>
        <p:spPr>
          <a:xfrm>
            <a:off x="6400800" y="1783080"/>
            <a:ext cx="2240280" cy="274320"/>
          </a:xfrm>
          <a:prstGeom prst="rect">
            <a:avLst/>
          </a:prstGeom>
          <a:noFill/>
          <a:ln/>
        </p:spPr>
        <p:txBody>
          <a:bodyPr wrap="square" lIns="0" tIns="0" rIns="0" bIns="0" rtlCol="0" anchor="ctr"/>
          <a:lstStyle/>
          <a:p>
            <a:pPr indent="0" marL="0">
              <a:buNone/>
            </a:pPr>
            <a:r>
              <a:rPr lang="en-US" sz="1200" b="1" dirty="0">
                <a:solidFill>
                  <a:schemeClr val="accent2"/>
                </a:solidFill>
              </a:rPr>
              <a:t>SILVER</a:t>
            </a:r>
            <a:endParaRPr lang="en-US" sz="1200" dirty="0"/>
          </a:p>
        </p:txBody>
      </p:sp>
      <p:sp>
        <p:nvSpPr>
          <p:cNvPr id="22" name="Text 20"/>
          <p:cNvSpPr txBox="1"/>
          <p:nvPr/>
        </p:nvSpPr>
        <p:spPr>
          <a:xfrm>
            <a:off x="6400800" y="2057400"/>
            <a:ext cx="2240280" cy="640080"/>
          </a:xfrm>
          <a:prstGeom prst="rect">
            <a:avLst/>
          </a:prstGeom>
          <a:noFill/>
          <a:ln/>
        </p:spPr>
        <p:txBody>
          <a:bodyPr wrap="square" lIns="0" tIns="0" rIns="0" bIns="0" rtlCol="0" anchor="ctr"/>
          <a:lstStyle/>
          <a:p>
            <a:pPr indent="0" marL="0">
              <a:buNone/>
            </a:pPr>
            <a:r>
              <a:rPr lang="en-US" sz="4000" b="1" dirty="0">
                <a:solidFill>
                  <a:schemeClr val="accent1"/>
                </a:solidFill>
              </a:rPr>
              <a:t>68–150</a:t>
            </a:r>
            <a:endParaRPr lang="en-US" sz="4000" dirty="0"/>
          </a:p>
        </p:txBody>
      </p:sp>
      <p:sp>
        <p:nvSpPr>
          <p:cNvPr id="23" name="Text 21"/>
          <p:cNvSpPr txBox="1"/>
          <p:nvPr/>
        </p:nvSpPr>
        <p:spPr>
          <a:xfrm>
            <a:off x="6400800" y="2697480"/>
            <a:ext cx="2240280" cy="457200"/>
          </a:xfrm>
          <a:prstGeom prst="rect">
            <a:avLst/>
          </a:prstGeom>
          <a:noFill/>
          <a:ln/>
        </p:spPr>
        <p:txBody>
          <a:bodyPr wrap="square" lIns="0" tIns="0" rIns="0" bIns="0" rtlCol="0" anchor="t"/>
          <a:lstStyle/>
          <a:p>
            <a:pPr indent="0" marL="0">
              <a:buNone/>
            </a:pPr>
            <a:r>
              <a:rPr lang="en-US" sz="1400" dirty="0">
                <a:solidFill>
                  <a:schemeClr val="tx1"/>
                </a:solidFill>
              </a:rPr>
              <a:t>Silver tables, 9 domains</a:t>
            </a:r>
            <a:endParaRPr lang="en-US" sz="1400" dirty="0"/>
          </a:p>
        </p:txBody>
      </p:sp>
      <p:sp>
        <p:nvSpPr>
          <p:cNvPr id="24" name="Text 22"/>
          <p:cNvSpPr txBox="1"/>
          <p:nvPr/>
        </p:nvSpPr>
        <p:spPr>
          <a:xfrm>
            <a:off x="6400800" y="333756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Efficient (coarse)</a:t>
            </a:r>
            <a:endParaRPr lang="en-US" sz="1200" dirty="0"/>
          </a:p>
        </p:txBody>
      </p:sp>
      <p:sp>
        <p:nvSpPr>
          <p:cNvPr id="25" name="Text 23"/>
          <p:cNvSpPr txBox="1"/>
          <p:nvPr/>
        </p:nvSpPr>
        <p:spPr>
          <a:xfrm>
            <a:off x="6400800" y="3611880"/>
            <a:ext cx="2240280" cy="868680"/>
          </a:xfrm>
          <a:prstGeom prst="rect">
            <a:avLst/>
          </a:prstGeom>
          <a:noFill/>
          <a:ln/>
        </p:spPr>
        <p:txBody>
          <a:bodyPr wrap="square" lIns="0" tIns="0" rIns="0" bIns="0" rtlCol="0" anchor="t"/>
          <a:lstStyle/>
          <a:p>
            <a:pPr indent="0" marL="0">
              <a:buNone/>
            </a:pPr>
            <a:r>
              <a:rPr lang="en-US" sz="1400" dirty="0">
                <a:solidFill>
                  <a:schemeClr val="tx1"/>
                </a:solidFill>
              </a:rPr>
              <a:t>Built from 18–22 reusable templates</a:t>
            </a:r>
            <a:endParaRPr lang="en-US" sz="1400" dirty="0"/>
          </a:p>
        </p:txBody>
      </p:sp>
      <p:sp>
        <p:nvSpPr>
          <p:cNvPr id="26" name="Text 24"/>
          <p:cNvSpPr txBox="1"/>
          <p:nvPr/>
        </p:nvSpPr>
        <p:spPr>
          <a:xfrm>
            <a:off x="6400800" y="457200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Granular (detail kept)</a:t>
            </a:r>
            <a:endParaRPr lang="en-US" sz="1200" dirty="0"/>
          </a:p>
        </p:txBody>
      </p:sp>
      <p:sp>
        <p:nvSpPr>
          <p:cNvPr id="27" name="Text 25"/>
          <p:cNvSpPr txBox="1"/>
          <p:nvPr/>
        </p:nvSpPr>
        <p:spPr>
          <a:xfrm>
            <a:off x="6400800" y="4846320"/>
            <a:ext cx="2240280" cy="1188720"/>
          </a:xfrm>
          <a:prstGeom prst="rect">
            <a:avLst/>
          </a:prstGeom>
          <a:noFill/>
          <a:ln/>
        </p:spPr>
        <p:txBody>
          <a:bodyPr wrap="square" lIns="0" tIns="0" rIns="0" bIns="0" rtlCol="0" anchor="t"/>
          <a:lstStyle/>
          <a:p>
            <a:pPr indent="0" marL="0">
              <a:buNone/>
            </a:pPr>
            <a:r>
              <a:rPr lang="en-US" sz="1400" dirty="0">
                <a:solidFill>
                  <a:schemeClr val="tx1"/>
                </a:solidFill>
              </a:rPr>
              <a:t>Event-level, normalized, joined to 15 shared dimensions</a:t>
            </a:r>
            <a:endParaRPr lang="en-US" sz="1400" dirty="0"/>
          </a:p>
        </p:txBody>
      </p:sp>
      <p:sp>
        <p:nvSpPr>
          <p:cNvPr id="28" name="col-Gold"/>
          <p:cNvSpPr/>
          <p:nvPr/>
        </p:nvSpPr>
        <p:spPr>
          <a:xfrm>
            <a:off x="9052560" y="1691640"/>
            <a:ext cx="2606040" cy="4526280"/>
          </a:xfrm>
          <a:prstGeom prst="rect">
            <a:avLst/>
          </a:prstGeom>
          <a:solidFill>
            <a:schemeClr val="bg2"/>
          </a:solidFill>
          <a:ln w="12700">
            <a:solidFill>
              <a:schemeClr val="bg2"/>
            </a:solidFill>
            <a:prstDash val="solid"/>
          </a:ln>
        </p:spPr>
      </p:sp>
      <p:sp>
        <p:nvSpPr>
          <p:cNvPr id="29" name="Text 27"/>
          <p:cNvSpPr txBox="1"/>
          <p:nvPr/>
        </p:nvSpPr>
        <p:spPr>
          <a:xfrm>
            <a:off x="9235440" y="1783080"/>
            <a:ext cx="2240280" cy="274320"/>
          </a:xfrm>
          <a:prstGeom prst="rect">
            <a:avLst/>
          </a:prstGeom>
          <a:noFill/>
          <a:ln/>
        </p:spPr>
        <p:txBody>
          <a:bodyPr wrap="square" lIns="0" tIns="0" rIns="0" bIns="0" rtlCol="0" anchor="ctr"/>
          <a:lstStyle/>
          <a:p>
            <a:pPr indent="0" marL="0">
              <a:buNone/>
            </a:pPr>
            <a:r>
              <a:rPr lang="en-US" sz="1200" b="1" dirty="0">
                <a:solidFill>
                  <a:schemeClr val="accent2"/>
                </a:solidFill>
              </a:rPr>
              <a:t>GOLD</a:t>
            </a:r>
            <a:endParaRPr lang="en-US" sz="1200" dirty="0"/>
          </a:p>
        </p:txBody>
      </p:sp>
      <p:sp>
        <p:nvSpPr>
          <p:cNvPr id="30" name="Text 28"/>
          <p:cNvSpPr txBox="1"/>
          <p:nvPr/>
        </p:nvSpPr>
        <p:spPr>
          <a:xfrm>
            <a:off x="9235440" y="2057400"/>
            <a:ext cx="2240280" cy="640080"/>
          </a:xfrm>
          <a:prstGeom prst="rect">
            <a:avLst/>
          </a:prstGeom>
          <a:noFill/>
          <a:ln/>
        </p:spPr>
        <p:txBody>
          <a:bodyPr wrap="square" lIns="0" tIns="0" rIns="0" bIns="0" rtlCol="0" anchor="ctr"/>
          <a:lstStyle/>
          <a:p>
            <a:pPr indent="0" marL="0">
              <a:buNone/>
            </a:pPr>
            <a:r>
              <a:rPr lang="en-US" sz="4000" b="1" dirty="0">
                <a:solidFill>
                  <a:schemeClr val="accent1"/>
                </a:solidFill>
              </a:rPr>
              <a:t>12</a:t>
            </a:r>
            <a:endParaRPr lang="en-US" sz="4000" dirty="0"/>
          </a:p>
        </p:txBody>
      </p:sp>
      <p:sp>
        <p:nvSpPr>
          <p:cNvPr id="31" name="Text 29"/>
          <p:cNvSpPr txBox="1"/>
          <p:nvPr/>
        </p:nvSpPr>
        <p:spPr>
          <a:xfrm>
            <a:off x="9235440" y="2697480"/>
            <a:ext cx="2240280" cy="457200"/>
          </a:xfrm>
          <a:prstGeom prst="rect">
            <a:avLst/>
          </a:prstGeom>
          <a:noFill/>
          <a:ln/>
        </p:spPr>
        <p:txBody>
          <a:bodyPr wrap="square" lIns="0" tIns="0" rIns="0" bIns="0" rtlCol="0" anchor="t"/>
          <a:lstStyle/>
          <a:p>
            <a:pPr indent="0" marL="0">
              <a:buNone/>
            </a:pPr>
            <a:r>
              <a:rPr lang="en-US" sz="1400" dirty="0">
                <a:solidFill>
                  <a:schemeClr val="tx1"/>
                </a:solidFill>
              </a:rPr>
              <a:t>Gold products</a:t>
            </a:r>
            <a:endParaRPr lang="en-US" sz="1400" dirty="0"/>
          </a:p>
        </p:txBody>
      </p:sp>
      <p:sp>
        <p:nvSpPr>
          <p:cNvPr id="32" name="Text 30"/>
          <p:cNvSpPr txBox="1"/>
          <p:nvPr/>
        </p:nvSpPr>
        <p:spPr>
          <a:xfrm>
            <a:off x="9235440" y="333756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Efficient (coarse)</a:t>
            </a:r>
            <a:endParaRPr lang="en-US" sz="1200" dirty="0"/>
          </a:p>
        </p:txBody>
      </p:sp>
      <p:sp>
        <p:nvSpPr>
          <p:cNvPr id="33" name="Text 31"/>
          <p:cNvSpPr txBox="1"/>
          <p:nvPr/>
        </p:nvSpPr>
        <p:spPr>
          <a:xfrm>
            <a:off x="9235440" y="3611880"/>
            <a:ext cx="2240280" cy="868680"/>
          </a:xfrm>
          <a:prstGeom prst="rect">
            <a:avLst/>
          </a:prstGeom>
          <a:noFill/>
          <a:ln/>
        </p:spPr>
        <p:txBody>
          <a:bodyPr wrap="square" lIns="0" tIns="0" rIns="0" bIns="0" rtlCol="0" anchor="t"/>
          <a:lstStyle/>
          <a:p>
            <a:pPr indent="0" marL="0">
              <a:buNone/>
            </a:pPr>
            <a:r>
              <a:rPr lang="en-US" sz="1400" dirty="0">
                <a:solidFill>
                  <a:schemeClr val="tx1"/>
                </a:solidFill>
              </a:rPr>
              <a:t>Pre-aggregated for the most-queried views</a:t>
            </a:r>
            <a:endParaRPr lang="en-US" sz="1400" dirty="0"/>
          </a:p>
        </p:txBody>
      </p:sp>
      <p:sp>
        <p:nvSpPr>
          <p:cNvPr id="34" name="Text 32"/>
          <p:cNvSpPr txBox="1"/>
          <p:nvPr/>
        </p:nvSpPr>
        <p:spPr>
          <a:xfrm>
            <a:off x="9235440" y="4572000"/>
            <a:ext cx="2240280" cy="274320"/>
          </a:xfrm>
          <a:prstGeom prst="rect">
            <a:avLst/>
          </a:prstGeom>
          <a:noFill/>
          <a:ln/>
        </p:spPr>
        <p:txBody>
          <a:bodyPr wrap="square" lIns="0" tIns="0" rIns="0" bIns="0" rtlCol="0" anchor="ctr"/>
          <a:lstStyle/>
          <a:p>
            <a:pPr indent="0" marL="0">
              <a:buNone/>
            </a:pPr>
            <a:r>
              <a:rPr lang="en-US" sz="1200" b="1" dirty="0">
                <a:solidFill>
                  <a:schemeClr val="accent1"/>
                </a:solidFill>
              </a:rPr>
              <a:t>Granular (detail kept)</a:t>
            </a:r>
            <a:endParaRPr lang="en-US" sz="1200" dirty="0"/>
          </a:p>
        </p:txBody>
      </p:sp>
      <p:sp>
        <p:nvSpPr>
          <p:cNvPr id="35" name="Text 33"/>
          <p:cNvSpPr txBox="1"/>
          <p:nvPr/>
        </p:nvSpPr>
        <p:spPr>
          <a:xfrm>
            <a:off x="9235440" y="4846320"/>
            <a:ext cx="2240280" cy="1188720"/>
          </a:xfrm>
          <a:prstGeom prst="rect">
            <a:avLst/>
          </a:prstGeom>
          <a:noFill/>
          <a:ln/>
        </p:spPr>
        <p:txBody>
          <a:bodyPr wrap="square" lIns="0" tIns="0" rIns="0" bIns="0" rtlCol="0" anchor="t"/>
          <a:lstStyle/>
          <a:p>
            <a:pPr indent="0" marL="0">
              <a:buNone/>
            </a:pPr>
            <a:r>
              <a:rPr lang="en-US" sz="1400" dirty="0">
                <a:solidFill>
                  <a:schemeClr val="tx1"/>
                </a:solidFill>
              </a:rPr>
              <a:t>Drill through to Silver for event detail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37160"/>
            <a:ext cx="5486400" cy="274320"/>
          </a:xfrm>
          <a:prstGeom prst="rect">
            <a:avLst/>
          </a:prstGeom>
          <a:noFill/>
          <a:ln/>
        </p:spPr>
        <p:txBody>
          <a:bodyPr wrap="square" lIns="0" tIns="0" rIns="0" bIns="0" rtlCol="0" anchor="ctr"/>
          <a:lstStyle/>
          <a:p>
            <a:pPr indent="0" marL="0">
              <a:buNone/>
            </a:pPr>
            <a:r>
              <a:rPr lang="en-US" sz="1200" b="1" dirty="0">
                <a:solidFill>
                  <a:schemeClr val="accent2"/>
                </a:solidFill>
              </a:rPr>
              <a:t>STEP 1  |  INGESTION</a:t>
            </a:r>
            <a:endParaRPr lang="en-US" sz="1200" dirty="0"/>
          </a:p>
        </p:txBody>
      </p:sp>
      <p:sp>
        <p:nvSpPr>
          <p:cNvPr id="3" name="Text 0"/>
          <p:cNvSpPr/>
          <p:nvPr>
            <p:ph idx="100" type="title" hasCustomPrompt="1"/>
          </p:nvPr>
        </p:nvSpPr>
        <p:spPr>
          <a:xfrm>
            <a:off x="548640" y="365760"/>
            <a:ext cx="11064240" cy="1097280"/>
          </a:xfrm>
          <a:prstGeom prst="rect">
            <a:avLst/>
          </a:prstGeom>
          <a:noFill/>
          <a:ln/>
        </p:spPr>
        <p:txBody>
          <a:bodyPr wrap="square" lIns="0" tIns="0" rIns="0" bIns="0" rtlCol="0" anchor="t"/>
          <a:lstStyle/>
          <a:p>
            <a:pPr algn="l" indent="0" marL="0">
              <a:buNone/>
            </a:pPr>
            <a:r>
              <a:rPr lang="en-US" sz="2800" b="1" dirty="0">
                <a:solidFill>
                  <a:schemeClr val="accent1"/>
                </a:solidFill>
              </a:rPr>
              <a:t>Land everything once, cheaply and unmodified, and keep detail as columns</a:t>
            </a:r>
            <a:endParaRPr lang="en-US" sz="2800" dirty="0"/>
          </a:p>
        </p:txBody>
      </p:sp>
      <p:sp>
        <p:nvSpPr>
          <p:cNvPr id="4" name="num-1"/>
          <p:cNvSpPr/>
          <p:nvPr/>
        </p:nvSpPr>
        <p:spPr>
          <a:xfrm>
            <a:off x="548640" y="173736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691640"/>
            <a:ext cx="6309360" cy="365760"/>
          </a:xfrm>
          <a:prstGeom prst="rect">
            <a:avLst/>
          </a:prstGeom>
          <a:noFill/>
          <a:ln/>
        </p:spPr>
        <p:txBody>
          <a:bodyPr wrap="square" lIns="0" tIns="0" rIns="0" bIns="0" rtlCol="0" anchor="ctr"/>
          <a:lstStyle/>
          <a:p>
            <a:pPr indent="0" marL="0">
              <a:buNone/>
            </a:pPr>
            <a:r>
              <a:rPr lang="en-US" sz="1800" b="1" dirty="0">
                <a:solidFill>
                  <a:schemeClr val="accent1"/>
                </a:solidFill>
              </a:rPr>
              <a:t>Consolidate by family, keep detail as columns</a:t>
            </a:r>
            <a:endParaRPr lang="en-US" sz="1800" dirty="0"/>
          </a:p>
        </p:txBody>
      </p:sp>
      <p:sp>
        <p:nvSpPr>
          <p:cNvPr id="7" name="Text 5"/>
          <p:cNvSpPr txBox="1"/>
          <p:nvPr/>
        </p:nvSpPr>
        <p:spPr>
          <a:xfrm>
            <a:off x="1234440" y="2075688"/>
            <a:ext cx="6309360" cy="685800"/>
          </a:xfrm>
          <a:prstGeom prst="rect">
            <a:avLst/>
          </a:prstGeom>
          <a:noFill/>
          <a:ln/>
        </p:spPr>
        <p:txBody>
          <a:bodyPr wrap="square" lIns="0" tIns="0" rIns="0" bIns="0" rtlCol="0" anchor="t"/>
          <a:lstStyle/>
          <a:p>
            <a:pPr indent="0" marL="0">
              <a:buNone/>
            </a:pPr>
            <a:r>
              <a:rPr lang="en-US" sz="1400" dirty="0">
                <a:solidFill>
                  <a:schemeClr val="tx1"/>
                </a:solidFill>
              </a:rPr>
              <a:t>Group sourcetypes into a few governed Bronze tables. Deployment, namespace, cluster and environment become columns, not tables.</a:t>
            </a:r>
            <a:endParaRPr lang="en-US" sz="1400" dirty="0"/>
          </a:p>
        </p:txBody>
      </p:sp>
      <p:sp>
        <p:nvSpPr>
          <p:cNvPr id="8" name="num-2"/>
          <p:cNvSpPr/>
          <p:nvPr/>
        </p:nvSpPr>
        <p:spPr>
          <a:xfrm>
            <a:off x="548640" y="2880360"/>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234440" y="2834640"/>
            <a:ext cx="6309360" cy="365760"/>
          </a:xfrm>
          <a:prstGeom prst="rect">
            <a:avLst/>
          </a:prstGeom>
          <a:noFill/>
          <a:ln/>
        </p:spPr>
        <p:txBody>
          <a:bodyPr wrap="square" lIns="0" tIns="0" rIns="0" bIns="0" rtlCol="0" anchor="ctr"/>
          <a:lstStyle/>
          <a:p>
            <a:pPr indent="0" marL="0">
              <a:buNone/>
            </a:pPr>
            <a:r>
              <a:rPr lang="en-US" sz="1800" b="1" dirty="0">
                <a:solidFill>
                  <a:schemeClr val="accent1"/>
                </a:solidFill>
              </a:rPr>
              <a:t>Land raw and replayable</a:t>
            </a:r>
            <a:endParaRPr lang="en-US" sz="1800" dirty="0"/>
          </a:p>
        </p:txBody>
      </p:sp>
      <p:sp>
        <p:nvSpPr>
          <p:cNvPr id="11" name="Text 9"/>
          <p:cNvSpPr txBox="1"/>
          <p:nvPr/>
        </p:nvSpPr>
        <p:spPr>
          <a:xfrm>
            <a:off x="1234440" y="3218688"/>
            <a:ext cx="6309360" cy="685800"/>
          </a:xfrm>
          <a:prstGeom prst="rect">
            <a:avLst/>
          </a:prstGeom>
          <a:noFill/>
          <a:ln/>
        </p:spPr>
        <p:txBody>
          <a:bodyPr wrap="square" lIns="0" tIns="0" rIns="0" bIns="0" rtlCol="0" anchor="t"/>
          <a:lstStyle/>
          <a:p>
            <a:pPr indent="0" marL="0">
              <a:buNone/>
            </a:pPr>
            <a:r>
              <a:rPr lang="en-US" sz="1400" dirty="0">
                <a:solidFill>
                  <a:schemeClr val="tx1"/>
                </a:solidFill>
              </a:rPr>
              <a:t>Bronze is the unmodified system of record. Routing, compression and approved filtering only; business logic waits for Silver.</a:t>
            </a:r>
            <a:endParaRPr lang="en-US" sz="1400" dirty="0"/>
          </a:p>
        </p:txBody>
      </p:sp>
      <p:sp>
        <p:nvSpPr>
          <p:cNvPr id="12" name="num-3"/>
          <p:cNvSpPr/>
          <p:nvPr/>
        </p:nvSpPr>
        <p:spPr>
          <a:xfrm>
            <a:off x="548640" y="402336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023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234440" y="3977640"/>
            <a:ext cx="6309360" cy="365760"/>
          </a:xfrm>
          <a:prstGeom prst="rect">
            <a:avLst/>
          </a:prstGeom>
          <a:noFill/>
          <a:ln/>
        </p:spPr>
        <p:txBody>
          <a:bodyPr wrap="square" lIns="0" tIns="0" rIns="0" bIns="0" rtlCol="0" anchor="ctr"/>
          <a:lstStyle/>
          <a:p>
            <a:pPr indent="0" marL="0">
              <a:buNone/>
            </a:pPr>
            <a:r>
              <a:rPr lang="en-US" sz="1800" b="1" dirty="0">
                <a:solidFill>
                  <a:schemeClr val="accent1"/>
                </a:solidFill>
              </a:rPr>
              <a:t>Tier by the latency analytics need</a:t>
            </a:r>
            <a:endParaRPr lang="en-US" sz="1800" dirty="0"/>
          </a:p>
        </p:txBody>
      </p:sp>
      <p:sp>
        <p:nvSpPr>
          <p:cNvPr id="15" name="Text 13"/>
          <p:cNvSpPr txBox="1"/>
          <p:nvPr/>
        </p:nvSpPr>
        <p:spPr>
          <a:xfrm>
            <a:off x="1234440" y="4361688"/>
            <a:ext cx="6309360" cy="685800"/>
          </a:xfrm>
          <a:prstGeom prst="rect">
            <a:avLst/>
          </a:prstGeom>
          <a:noFill/>
          <a:ln/>
        </p:spPr>
        <p:txBody>
          <a:bodyPr wrap="square" lIns="0" tIns="0" rIns="0" bIns="0" rtlCol="0" anchor="t"/>
          <a:lstStyle/>
          <a:p>
            <a:pPr indent="0" marL="0">
              <a:buNone/>
            </a:pPr>
            <a:r>
              <a:rPr lang="en-US" sz="1400" dirty="0">
                <a:solidFill>
                  <a:schemeClr val="tx1"/>
                </a:solidFill>
              </a:rPr>
              <a:t>Hot (continuous), warm (15 minutes) and cold (daily) follow the contract SLA, not a default to streaming.</a:t>
            </a:r>
            <a:endParaRPr lang="en-US" sz="1400" dirty="0"/>
          </a:p>
        </p:txBody>
      </p:sp>
      <p:sp>
        <p:nvSpPr>
          <p:cNvPr id="16" name="num-4"/>
          <p:cNvSpPr/>
          <p:nvPr/>
        </p:nvSpPr>
        <p:spPr>
          <a:xfrm>
            <a:off x="548640" y="516636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548640" y="5166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1234440" y="5120640"/>
            <a:ext cx="6309360" cy="365760"/>
          </a:xfrm>
          <a:prstGeom prst="rect">
            <a:avLst/>
          </a:prstGeom>
          <a:noFill/>
          <a:ln/>
        </p:spPr>
        <p:txBody>
          <a:bodyPr wrap="square" lIns="0" tIns="0" rIns="0" bIns="0" rtlCol="0" anchor="ctr"/>
          <a:lstStyle/>
          <a:p>
            <a:pPr indent="0" marL="0">
              <a:buNone/>
            </a:pPr>
            <a:r>
              <a:rPr lang="en-US" sz="1800" b="1" dirty="0">
                <a:solidFill>
                  <a:schemeClr val="accent1"/>
                </a:solidFill>
              </a:rPr>
              <a:t>No contract, no ingestion</a:t>
            </a:r>
            <a:endParaRPr lang="en-US" sz="1800" dirty="0"/>
          </a:p>
        </p:txBody>
      </p:sp>
      <p:sp>
        <p:nvSpPr>
          <p:cNvPr id="19" name="Text 17"/>
          <p:cNvSpPr txBox="1"/>
          <p:nvPr/>
        </p:nvSpPr>
        <p:spPr>
          <a:xfrm>
            <a:off x="1234440" y="5504688"/>
            <a:ext cx="6309360" cy="685800"/>
          </a:xfrm>
          <a:prstGeom prst="rect">
            <a:avLst/>
          </a:prstGeom>
          <a:noFill/>
          <a:ln/>
        </p:spPr>
        <p:txBody>
          <a:bodyPr wrap="square" lIns="0" tIns="0" rIns="0" bIns="0" rtlCol="0" anchor="t"/>
          <a:lstStyle/>
          <a:p>
            <a:pPr indent="0" marL="0">
              <a:buNone/>
            </a:pPr>
            <a:r>
              <a:rPr lang="en-US" sz="1400" dirty="0">
                <a:solidFill>
                  <a:schemeClr val="tx1"/>
                </a:solidFill>
              </a:rPr>
              <a:t>Each family has a registered contract naming owner, classification, schema and Bronze target before it activates.</a:t>
            </a:r>
            <a:endParaRPr lang="en-US" sz="1400" dirty="0"/>
          </a:p>
        </p:txBody>
      </p:sp>
      <p:sp>
        <p:nvSpPr>
          <p:cNvPr id="20" name="stat-panel"/>
          <p:cNvSpPr/>
          <p:nvPr/>
        </p:nvSpPr>
        <p:spPr>
          <a:xfrm>
            <a:off x="8138160" y="1691640"/>
            <a:ext cx="3520440" cy="4526280"/>
          </a:xfrm>
          <a:prstGeom prst="rect">
            <a:avLst/>
          </a:prstGeom>
          <a:solidFill>
            <a:schemeClr val="bg2"/>
          </a:solidFill>
          <a:ln w="12700">
            <a:solidFill>
              <a:schemeClr val="bg2"/>
            </a:solidFill>
            <a:prstDash val="solid"/>
          </a:ln>
        </p:spPr>
      </p:sp>
      <p:sp>
        <p:nvSpPr>
          <p:cNvPr id="21" name="Text 19"/>
          <p:cNvSpPr txBox="1"/>
          <p:nvPr/>
        </p:nvSpPr>
        <p:spPr>
          <a:xfrm>
            <a:off x="8366760" y="1874520"/>
            <a:ext cx="3108960" cy="822960"/>
          </a:xfrm>
          <a:prstGeom prst="rect">
            <a:avLst/>
          </a:prstGeom>
          <a:noFill/>
          <a:ln/>
        </p:spPr>
        <p:txBody>
          <a:bodyPr wrap="square" lIns="0" tIns="0" rIns="0" bIns="0" rtlCol="0" anchor="ctr"/>
          <a:lstStyle/>
          <a:p>
            <a:pPr indent="0" marL="0">
              <a:buNone/>
            </a:pPr>
            <a:r>
              <a:rPr lang="en-US" sz="5400" b="1" dirty="0">
                <a:solidFill>
                  <a:schemeClr val="accent1"/>
                </a:solidFill>
              </a:rPr>
              <a:t>84%</a:t>
            </a:r>
            <a:endParaRPr lang="en-US" sz="5400" dirty="0"/>
          </a:p>
        </p:txBody>
      </p:sp>
      <p:sp>
        <p:nvSpPr>
          <p:cNvPr id="22" name="Text 20"/>
          <p:cNvSpPr txBox="1"/>
          <p:nvPr/>
        </p:nvSpPr>
        <p:spPr>
          <a:xfrm>
            <a:off x="8366760" y="2697480"/>
            <a:ext cx="3108960" cy="1097280"/>
          </a:xfrm>
          <a:prstGeom prst="rect">
            <a:avLst/>
          </a:prstGeom>
          <a:noFill/>
          <a:ln/>
        </p:spPr>
        <p:txBody>
          <a:bodyPr wrap="square" lIns="0" tIns="0" rIns="0" bIns="0" rtlCol="0" anchor="t"/>
          <a:lstStyle/>
          <a:p>
            <a:pPr indent="0" marL="0">
              <a:buNone/>
            </a:pPr>
            <a:r>
              <a:rPr lang="en-US" sz="1400" dirty="0">
                <a:solidFill>
                  <a:schemeClr val="tx1"/>
                </a:solidFill>
              </a:rPr>
              <a:t>of sourcetypes are Kubernetes deployment names. 10,790 of them collapse to ~40 families.</a:t>
            </a:r>
            <a:endParaRPr lang="en-US" sz="1400" dirty="0"/>
          </a:p>
        </p:txBody>
      </p:sp>
      <p:sp>
        <p:nvSpPr>
          <p:cNvPr id="23" name="Text 21"/>
          <p:cNvSpPr txBox="1"/>
          <p:nvPr/>
        </p:nvSpPr>
        <p:spPr>
          <a:xfrm>
            <a:off x="8366760" y="3931920"/>
            <a:ext cx="3108960" cy="822960"/>
          </a:xfrm>
          <a:prstGeom prst="rect">
            <a:avLst/>
          </a:prstGeom>
          <a:noFill/>
          <a:ln/>
        </p:spPr>
        <p:txBody>
          <a:bodyPr wrap="square" lIns="0" tIns="0" rIns="0" bIns="0" rtlCol="0" anchor="ctr"/>
          <a:lstStyle/>
          <a:p>
            <a:pPr indent="0" marL="0">
              <a:buNone/>
            </a:pPr>
            <a:r>
              <a:rPr lang="en-US" sz="5400" b="1" dirty="0">
                <a:solidFill>
                  <a:schemeClr val="accent1"/>
                </a:solidFill>
              </a:rPr>
              <a:t>60–70%</a:t>
            </a:r>
            <a:endParaRPr lang="en-US" sz="5400" dirty="0"/>
          </a:p>
        </p:txBody>
      </p:sp>
      <p:sp>
        <p:nvSpPr>
          <p:cNvPr id="24" name="Text 22"/>
          <p:cNvSpPr txBox="1"/>
          <p:nvPr/>
        </p:nvSpPr>
        <p:spPr>
          <a:xfrm>
            <a:off x="8366760" y="4754880"/>
            <a:ext cx="3108960" cy="1188720"/>
          </a:xfrm>
          <a:prstGeom prst="rect">
            <a:avLst/>
          </a:prstGeom>
          <a:noFill/>
          <a:ln/>
        </p:spPr>
        <p:txBody>
          <a:bodyPr wrap="square" lIns="0" tIns="0" rIns="0" bIns="0" rtlCol="0" anchor="t"/>
          <a:lstStyle/>
          <a:p>
            <a:pPr indent="0" marL="0">
              <a:buNone/>
            </a:pPr>
            <a:r>
              <a:rPr lang="en-US" sz="1400" dirty="0">
                <a:solidFill>
                  <a:schemeClr val="tx1"/>
                </a:solidFill>
              </a:rPr>
              <a:t>less Databricks compute from hot, warm and cold tiering than running everything continuously.</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37160"/>
            <a:ext cx="5486400" cy="274320"/>
          </a:xfrm>
          <a:prstGeom prst="rect">
            <a:avLst/>
          </a:prstGeom>
          <a:noFill/>
          <a:ln/>
        </p:spPr>
        <p:txBody>
          <a:bodyPr wrap="square" lIns="0" tIns="0" rIns="0" bIns="0" rtlCol="0" anchor="ctr"/>
          <a:lstStyle/>
          <a:p>
            <a:pPr indent="0" marL="0">
              <a:buNone/>
            </a:pPr>
            <a:r>
              <a:rPr lang="en-US" sz="1200" b="1" dirty="0">
                <a:solidFill>
                  <a:schemeClr val="accent2"/>
                </a:solidFill>
              </a:rPr>
              <a:t>STEP 2  |  TRANSFORMATION</a:t>
            </a:r>
            <a:endParaRPr lang="en-US" sz="1200" dirty="0"/>
          </a:p>
        </p:txBody>
      </p:sp>
      <p:sp>
        <p:nvSpPr>
          <p:cNvPr id="3" name="Text 0"/>
          <p:cNvSpPr/>
          <p:nvPr>
            <p:ph idx="100" type="title" hasCustomPrompt="1"/>
          </p:nvPr>
        </p:nvSpPr>
        <p:spPr>
          <a:xfrm>
            <a:off x="548640" y="365760"/>
            <a:ext cx="11064240" cy="1097280"/>
          </a:xfrm>
          <a:prstGeom prst="rect">
            <a:avLst/>
          </a:prstGeom>
          <a:noFill/>
          <a:ln/>
        </p:spPr>
        <p:txBody>
          <a:bodyPr wrap="square" lIns="0" tIns="0" rIns="0" bIns="0" rtlCol="0" anchor="t"/>
          <a:lstStyle/>
          <a:p>
            <a:pPr algn="l" indent="0" marL="0">
              <a:buNone/>
            </a:pPr>
            <a:r>
              <a:rPr lang="en-US" sz="2800" b="1" dirty="0">
                <a:solidFill>
                  <a:schemeClr val="accent1"/>
                </a:solidFill>
              </a:rPr>
              <a:t>Shape the data once for reuse, and normalize only where the analytics need it</a:t>
            </a:r>
            <a:endParaRPr lang="en-US" sz="2800" dirty="0"/>
          </a:p>
        </p:txBody>
      </p:sp>
      <p:sp>
        <p:nvSpPr>
          <p:cNvPr id="4" name="card-1"/>
          <p:cNvSpPr/>
          <p:nvPr/>
        </p:nvSpPr>
        <p:spPr>
          <a:xfrm>
            <a:off x="548640" y="1691640"/>
            <a:ext cx="3611880" cy="2103120"/>
          </a:xfrm>
          <a:prstGeom prst="rect">
            <a:avLst/>
          </a:prstGeom>
          <a:solidFill>
            <a:schemeClr val="bg2"/>
          </a:solidFill>
          <a:ln w="12700">
            <a:solidFill>
              <a:schemeClr val="bg2"/>
            </a:solidFill>
            <a:prstDash val="solid"/>
          </a:ln>
        </p:spPr>
      </p:sp>
      <p:sp>
        <p:nvSpPr>
          <p:cNvPr id="5" name="num-1"/>
          <p:cNvSpPr/>
          <p:nvPr/>
        </p:nvSpPr>
        <p:spPr>
          <a:xfrm>
            <a:off x="731520" y="187452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731520" y="18745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280160" y="1856232"/>
            <a:ext cx="2743200" cy="502920"/>
          </a:xfrm>
          <a:prstGeom prst="rect">
            <a:avLst/>
          </a:prstGeom>
          <a:noFill/>
          <a:ln/>
        </p:spPr>
        <p:txBody>
          <a:bodyPr wrap="square" lIns="0" tIns="0" rIns="0" bIns="0" rtlCol="0" anchor="ctr"/>
          <a:lstStyle/>
          <a:p>
            <a:pPr indent="0" marL="0">
              <a:buNone/>
            </a:pPr>
            <a:r>
              <a:rPr lang="en-US" sz="1600" b="1" dirty="0">
                <a:solidFill>
                  <a:schemeClr val="accent1"/>
                </a:solidFill>
              </a:rPr>
              <a:t>Normalize by need</a:t>
            </a:r>
            <a:endParaRPr lang="en-US" sz="1600" dirty="0"/>
          </a:p>
        </p:txBody>
      </p:sp>
      <p:sp>
        <p:nvSpPr>
          <p:cNvPr id="8" name="Text 6"/>
          <p:cNvSpPr txBox="1"/>
          <p:nvPr/>
        </p:nvSpPr>
        <p:spPr>
          <a:xfrm>
            <a:off x="731520" y="2468880"/>
            <a:ext cx="3246120" cy="1234440"/>
          </a:xfrm>
          <a:prstGeom prst="rect">
            <a:avLst/>
          </a:prstGeom>
          <a:noFill/>
          <a:ln/>
        </p:spPr>
        <p:txBody>
          <a:bodyPr wrap="square" lIns="0" tIns="0" rIns="0" bIns="0" rtlCol="0" anchor="t"/>
          <a:lstStyle/>
          <a:p>
            <a:pPr indent="0" marL="0">
              <a:buNone/>
            </a:pPr>
            <a:r>
              <a:rPr lang="en-US" sz="1400" dirty="0">
                <a:solidFill>
                  <a:schemeClr val="tx1"/>
                </a:solidFill>
              </a:rPr>
              <a:t>Full OCSF for security data that needs cross-domain detection; governed native schema for observability data.</a:t>
            </a:r>
            <a:endParaRPr lang="en-US" sz="1400" dirty="0"/>
          </a:p>
        </p:txBody>
      </p:sp>
      <p:sp>
        <p:nvSpPr>
          <p:cNvPr id="9" name="card-2"/>
          <p:cNvSpPr/>
          <p:nvPr/>
        </p:nvSpPr>
        <p:spPr>
          <a:xfrm>
            <a:off x="4343400" y="1691640"/>
            <a:ext cx="3611880" cy="2103120"/>
          </a:xfrm>
          <a:prstGeom prst="rect">
            <a:avLst/>
          </a:prstGeom>
          <a:solidFill>
            <a:schemeClr val="bg2"/>
          </a:solidFill>
          <a:ln w="12700">
            <a:solidFill>
              <a:schemeClr val="bg2"/>
            </a:solidFill>
            <a:prstDash val="solid"/>
          </a:ln>
        </p:spPr>
      </p:sp>
      <p:sp>
        <p:nvSpPr>
          <p:cNvPr id="10" name="num-2"/>
          <p:cNvSpPr/>
          <p:nvPr/>
        </p:nvSpPr>
        <p:spPr>
          <a:xfrm>
            <a:off x="4526280" y="1874520"/>
            <a:ext cx="411480" cy="411480"/>
          </a:xfrm>
          <a:prstGeom prst="ellipse">
            <a:avLst/>
          </a:prstGeom>
          <a:solidFill>
            <a:schemeClr val="accent1"/>
          </a:solidFill>
          <a:ln w="12700">
            <a:solidFill>
              <a:schemeClr val="accent1"/>
            </a:solidFill>
            <a:prstDash val="solid"/>
          </a:ln>
        </p:spPr>
      </p:sp>
      <p:sp>
        <p:nvSpPr>
          <p:cNvPr id="11" name="Text 9"/>
          <p:cNvSpPr txBox="1"/>
          <p:nvPr/>
        </p:nvSpPr>
        <p:spPr>
          <a:xfrm>
            <a:off x="4526280" y="18745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074920" y="1856232"/>
            <a:ext cx="2743200" cy="502920"/>
          </a:xfrm>
          <a:prstGeom prst="rect">
            <a:avLst/>
          </a:prstGeom>
          <a:noFill/>
          <a:ln/>
        </p:spPr>
        <p:txBody>
          <a:bodyPr wrap="square" lIns="0" tIns="0" rIns="0" bIns="0" rtlCol="0" anchor="ctr"/>
          <a:lstStyle/>
          <a:p>
            <a:pPr indent="0" marL="0">
              <a:buNone/>
            </a:pPr>
            <a:r>
              <a:rPr lang="en-US" sz="1600" b="1" dirty="0">
                <a:solidFill>
                  <a:schemeClr val="accent1"/>
                </a:solidFill>
              </a:rPr>
              <a:t>Templates, not one-off pipelines</a:t>
            </a:r>
            <a:endParaRPr lang="en-US" sz="1600" dirty="0"/>
          </a:p>
        </p:txBody>
      </p:sp>
      <p:sp>
        <p:nvSpPr>
          <p:cNvPr id="13" name="Text 11"/>
          <p:cNvSpPr txBox="1"/>
          <p:nvPr/>
        </p:nvSpPr>
        <p:spPr>
          <a:xfrm>
            <a:off x="4526280" y="2468880"/>
            <a:ext cx="3246120" cy="1234440"/>
          </a:xfrm>
          <a:prstGeom prst="rect">
            <a:avLst/>
          </a:prstGeom>
          <a:noFill/>
          <a:ln/>
        </p:spPr>
        <p:txBody>
          <a:bodyPr wrap="square" lIns="0" tIns="0" rIns="0" bIns="0" rtlCol="0" anchor="t"/>
          <a:lstStyle/>
          <a:p>
            <a:pPr indent="0" marL="0">
              <a:buNone/>
            </a:pPr>
            <a:r>
              <a:rPr lang="en-US" sz="1400" dirty="0">
                <a:solidFill>
                  <a:schemeClr val="tx1"/>
                </a:solidFill>
              </a:rPr>
              <a:t>18–22 parameterized templates, configured from the contract, yield 240–320 pipeline instances.</a:t>
            </a:r>
            <a:endParaRPr lang="en-US" sz="1400" dirty="0"/>
          </a:p>
        </p:txBody>
      </p:sp>
      <p:sp>
        <p:nvSpPr>
          <p:cNvPr id="14" name="card-3"/>
          <p:cNvSpPr/>
          <p:nvPr/>
        </p:nvSpPr>
        <p:spPr>
          <a:xfrm>
            <a:off x="548640" y="3977640"/>
            <a:ext cx="3611880" cy="2103120"/>
          </a:xfrm>
          <a:prstGeom prst="rect">
            <a:avLst/>
          </a:prstGeom>
          <a:solidFill>
            <a:schemeClr val="bg2"/>
          </a:solidFill>
          <a:ln w="12700">
            <a:solidFill>
              <a:schemeClr val="bg2"/>
            </a:solidFill>
            <a:prstDash val="solid"/>
          </a:ln>
        </p:spPr>
      </p:sp>
      <p:sp>
        <p:nvSpPr>
          <p:cNvPr id="15" name="num-3"/>
          <p:cNvSpPr/>
          <p:nvPr/>
        </p:nvSpPr>
        <p:spPr>
          <a:xfrm>
            <a:off x="731520" y="4160520"/>
            <a:ext cx="411480" cy="411480"/>
          </a:xfrm>
          <a:prstGeom prst="ellipse">
            <a:avLst/>
          </a:prstGeom>
          <a:solidFill>
            <a:schemeClr val="accent1"/>
          </a:solidFill>
          <a:ln w="12700">
            <a:solidFill>
              <a:schemeClr val="accent1"/>
            </a:solidFill>
            <a:prstDash val="solid"/>
          </a:ln>
        </p:spPr>
      </p:sp>
      <p:sp>
        <p:nvSpPr>
          <p:cNvPr id="16" name="Text 14"/>
          <p:cNvSpPr txBox="1"/>
          <p:nvPr/>
        </p:nvSpPr>
        <p:spPr>
          <a:xfrm>
            <a:off x="731520" y="41605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280160" y="4142232"/>
            <a:ext cx="2743200" cy="502920"/>
          </a:xfrm>
          <a:prstGeom prst="rect">
            <a:avLst/>
          </a:prstGeom>
          <a:noFill/>
          <a:ln/>
        </p:spPr>
        <p:txBody>
          <a:bodyPr wrap="square" lIns="0" tIns="0" rIns="0" bIns="0" rtlCol="0" anchor="ctr"/>
          <a:lstStyle/>
          <a:p>
            <a:pPr indent="0" marL="0">
              <a:buNone/>
            </a:pPr>
            <a:r>
              <a:rPr lang="en-US" sz="1600" b="1" dirty="0">
                <a:solidFill>
                  <a:schemeClr val="accent1"/>
                </a:solidFill>
              </a:rPr>
              <a:t>Conform shared context once</a:t>
            </a:r>
            <a:endParaRPr lang="en-US" sz="1600" dirty="0"/>
          </a:p>
        </p:txBody>
      </p:sp>
      <p:sp>
        <p:nvSpPr>
          <p:cNvPr id="18" name="Text 16"/>
          <p:cNvSpPr txBox="1"/>
          <p:nvPr/>
        </p:nvSpPr>
        <p:spPr>
          <a:xfrm>
            <a:off x="731520" y="4754880"/>
            <a:ext cx="3246120" cy="1234440"/>
          </a:xfrm>
          <a:prstGeom prst="rect">
            <a:avLst/>
          </a:prstGeom>
          <a:noFill/>
          <a:ln/>
        </p:spPr>
        <p:txBody>
          <a:bodyPr wrap="square" lIns="0" tIns="0" rIns="0" bIns="0" rtlCol="0" anchor="t"/>
          <a:lstStyle/>
          <a:p>
            <a:pPr indent="0" marL="0">
              <a:buNone/>
            </a:pPr>
            <a:r>
              <a:rPr lang="en-US" sz="1400" dirty="0">
                <a:solidFill>
                  <a:schemeClr val="tx1"/>
                </a:solidFill>
              </a:rPr>
              <a:t>15 shared dimensions (application, asset, user, environment) with history, joined in Silver.</a:t>
            </a:r>
            <a:endParaRPr lang="en-US" sz="1400" dirty="0"/>
          </a:p>
        </p:txBody>
      </p:sp>
      <p:sp>
        <p:nvSpPr>
          <p:cNvPr id="19" name="card-4"/>
          <p:cNvSpPr/>
          <p:nvPr/>
        </p:nvSpPr>
        <p:spPr>
          <a:xfrm>
            <a:off x="4343400" y="3977640"/>
            <a:ext cx="3611880" cy="2103120"/>
          </a:xfrm>
          <a:prstGeom prst="rect">
            <a:avLst/>
          </a:prstGeom>
          <a:solidFill>
            <a:schemeClr val="bg2"/>
          </a:solidFill>
          <a:ln w="12700">
            <a:solidFill>
              <a:schemeClr val="bg2"/>
            </a:solidFill>
            <a:prstDash val="solid"/>
          </a:ln>
        </p:spPr>
      </p:sp>
      <p:sp>
        <p:nvSpPr>
          <p:cNvPr id="20" name="num-4"/>
          <p:cNvSpPr/>
          <p:nvPr/>
        </p:nvSpPr>
        <p:spPr>
          <a:xfrm>
            <a:off x="4526280" y="4160520"/>
            <a:ext cx="411480" cy="411480"/>
          </a:xfrm>
          <a:prstGeom prst="ellipse">
            <a:avLst/>
          </a:prstGeom>
          <a:solidFill>
            <a:schemeClr val="accent1"/>
          </a:solidFill>
          <a:ln w="12700">
            <a:solidFill>
              <a:schemeClr val="accent1"/>
            </a:solidFill>
            <a:prstDash val="solid"/>
          </a:ln>
        </p:spPr>
      </p:sp>
      <p:sp>
        <p:nvSpPr>
          <p:cNvPr id="21" name="Text 19"/>
          <p:cNvSpPr txBox="1"/>
          <p:nvPr/>
        </p:nvSpPr>
        <p:spPr>
          <a:xfrm>
            <a:off x="4526280" y="41605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5074920" y="4142232"/>
            <a:ext cx="2743200" cy="502920"/>
          </a:xfrm>
          <a:prstGeom prst="rect">
            <a:avLst/>
          </a:prstGeom>
          <a:noFill/>
          <a:ln/>
        </p:spPr>
        <p:txBody>
          <a:bodyPr wrap="square" lIns="0" tIns="0" rIns="0" bIns="0" rtlCol="0" anchor="ctr"/>
          <a:lstStyle/>
          <a:p>
            <a:pPr indent="0" marL="0">
              <a:buNone/>
            </a:pPr>
            <a:r>
              <a:rPr lang="en-US" sz="1600" b="1" dirty="0">
                <a:solidFill>
                  <a:schemeClr val="accent1"/>
                </a:solidFill>
              </a:rPr>
              <a:t>Build quality and protection in</a:t>
            </a:r>
            <a:endParaRPr lang="en-US" sz="1600" dirty="0"/>
          </a:p>
        </p:txBody>
      </p:sp>
      <p:sp>
        <p:nvSpPr>
          <p:cNvPr id="23" name="Text 21"/>
          <p:cNvSpPr txBox="1"/>
          <p:nvPr/>
        </p:nvSpPr>
        <p:spPr>
          <a:xfrm>
            <a:off x="4526280" y="4754880"/>
            <a:ext cx="3246120" cy="1234440"/>
          </a:xfrm>
          <a:prstGeom prst="rect">
            <a:avLst/>
          </a:prstGeom>
          <a:noFill/>
          <a:ln/>
        </p:spPr>
        <p:txBody>
          <a:bodyPr wrap="square" lIns="0" tIns="0" rIns="0" bIns="0" rtlCol="0" anchor="t"/>
          <a:lstStyle/>
          <a:p>
            <a:pPr indent="0" marL="0">
              <a:buNone/>
            </a:pPr>
            <a:r>
              <a:rPr lang="en-US" sz="1400" dirty="0">
                <a:solidFill>
                  <a:schemeClr val="tx1"/>
                </a:solidFill>
              </a:rPr>
              <a:t>Failed expectations quarantine records; PHI and PII are masked before consumption.</a:t>
            </a:r>
            <a:endParaRPr lang="en-US" sz="1400" dirty="0"/>
          </a:p>
        </p:txBody>
      </p:sp>
      <p:sp>
        <p:nvSpPr>
          <p:cNvPr id="24" name="Text 22"/>
          <p:cNvSpPr txBox="1"/>
          <p:nvPr/>
        </p:nvSpPr>
        <p:spPr>
          <a:xfrm>
            <a:off x="8412480" y="1691640"/>
            <a:ext cx="3246120" cy="320040"/>
          </a:xfrm>
          <a:prstGeom prst="rect">
            <a:avLst/>
          </a:prstGeom>
          <a:noFill/>
          <a:ln/>
        </p:spPr>
        <p:txBody>
          <a:bodyPr wrap="square" lIns="0" tIns="0" rIns="0" bIns="0" rtlCol="0" anchor="ctr"/>
          <a:lstStyle/>
          <a:p>
            <a:pPr indent="0" marL="0">
              <a:buNone/>
            </a:pPr>
            <a:r>
              <a:rPr lang="en-US" sz="1600" b="1" dirty="0">
                <a:solidFill>
                  <a:schemeClr val="accent1"/>
                </a:solidFill>
              </a:rPr>
              <a:t>Three-tier model</a:t>
            </a:r>
            <a:endParaRPr lang="en-US" sz="1600" dirty="0"/>
          </a:p>
        </p:txBody>
      </p:sp>
      <p:sp>
        <p:nvSpPr>
          <p:cNvPr id="25" name="tier-3"/>
          <p:cNvSpPr/>
          <p:nvPr/>
        </p:nvSpPr>
        <p:spPr>
          <a:xfrm>
            <a:off x="8412480" y="2148840"/>
            <a:ext cx="3246120" cy="1234440"/>
          </a:xfrm>
          <a:prstGeom prst="rect">
            <a:avLst/>
          </a:prstGeom>
          <a:solidFill>
            <a:schemeClr val="accent6"/>
          </a:solidFill>
          <a:ln w="12700">
            <a:solidFill>
              <a:schemeClr val="accent6"/>
            </a:solidFill>
            <a:prstDash val="solid"/>
          </a:ln>
        </p:spPr>
      </p:sp>
      <p:sp>
        <p:nvSpPr>
          <p:cNvPr id="26" name="Text 24"/>
          <p:cNvSpPr txBox="1"/>
          <p:nvPr/>
        </p:nvSpPr>
        <p:spPr>
          <a:xfrm>
            <a:off x="8549640" y="2148840"/>
            <a:ext cx="2971800" cy="1234440"/>
          </a:xfrm>
          <a:prstGeom prst="rect">
            <a:avLst/>
          </a:prstGeom>
          <a:noFill/>
          <a:ln/>
        </p:spPr>
        <p:txBody>
          <a:bodyPr wrap="square" lIns="0" tIns="0" rIns="0" bIns="0" rtlCol="0" anchor="ctr"/>
          <a:lstStyle/>
          <a:p>
            <a:pPr indent="0" marL="0">
              <a:buNone/>
            </a:pPr>
            <a:r>
              <a:rPr lang="en-US" sz="1400" b="1" dirty="0">
                <a:solidFill>
                  <a:schemeClr val="tx1"/>
                </a:solidFill>
              </a:rPr>
              <a:t>Tier 3  Common metadata envelope</a:t>
            </a:r>
            <a:endParaRPr lang="en-US" sz="1400" dirty="0"/>
          </a:p>
          <a:p>
            <a:pPr indent="0" marL="0">
              <a:buNone/>
            </a:pPr>
            <a:r>
              <a:rPr lang="en-US" sz="1400" dirty="0">
                <a:solidFill>
                  <a:schemeClr val="tx1"/>
                </a:solidFill>
              </a:rPr>
              <a:t>On every table, both tiers below</a:t>
            </a:r>
            <a:endParaRPr lang="en-US" sz="1400" dirty="0"/>
          </a:p>
        </p:txBody>
      </p:sp>
      <p:sp>
        <p:nvSpPr>
          <p:cNvPr id="27" name="tier-2"/>
          <p:cNvSpPr/>
          <p:nvPr/>
        </p:nvSpPr>
        <p:spPr>
          <a:xfrm>
            <a:off x="8412480" y="3520440"/>
            <a:ext cx="3246120" cy="1234440"/>
          </a:xfrm>
          <a:prstGeom prst="rect">
            <a:avLst/>
          </a:prstGeom>
          <a:solidFill>
            <a:schemeClr val="accent2"/>
          </a:solidFill>
          <a:ln w="12700">
            <a:solidFill>
              <a:schemeClr val="accent2"/>
            </a:solidFill>
            <a:prstDash val="solid"/>
          </a:ln>
        </p:spPr>
      </p:sp>
      <p:sp>
        <p:nvSpPr>
          <p:cNvPr id="28" name="Text 26"/>
          <p:cNvSpPr txBox="1"/>
          <p:nvPr/>
        </p:nvSpPr>
        <p:spPr>
          <a:xfrm>
            <a:off x="8549640" y="3520440"/>
            <a:ext cx="2971800" cy="1234440"/>
          </a:xfrm>
          <a:prstGeom prst="rect">
            <a:avLst/>
          </a:prstGeom>
          <a:noFill/>
          <a:ln/>
        </p:spPr>
        <p:txBody>
          <a:bodyPr wrap="square" lIns="0" tIns="0" rIns="0" bIns="0" rtlCol="0" anchor="ctr"/>
          <a:lstStyle/>
          <a:p>
            <a:pPr indent="0" marL="0">
              <a:buNone/>
            </a:pPr>
            <a:r>
              <a:rPr lang="en-US" sz="1400" b="1" dirty="0">
                <a:solidFill>
                  <a:schemeClr val="bg1"/>
                </a:solidFill>
              </a:rPr>
              <a:t>Tier 2  Governed native schema</a:t>
            </a:r>
            <a:endParaRPr lang="en-US" sz="1400" dirty="0"/>
          </a:p>
          <a:p>
            <a:pPr indent="0" marL="0">
              <a:buNone/>
            </a:pPr>
            <a:r>
              <a:rPr lang="en-US" sz="1400" dirty="0">
                <a:solidFill>
                  <a:schemeClr val="bg1"/>
                </a:solidFill>
              </a:rPr>
              <a:t>Observability: VMware, K8s app logs, databases</a:t>
            </a:r>
            <a:endParaRPr lang="en-US" sz="1400" dirty="0"/>
          </a:p>
        </p:txBody>
      </p:sp>
      <p:sp>
        <p:nvSpPr>
          <p:cNvPr id="29" name="tier-1"/>
          <p:cNvSpPr/>
          <p:nvPr/>
        </p:nvSpPr>
        <p:spPr>
          <a:xfrm>
            <a:off x="8412480" y="4892040"/>
            <a:ext cx="3246120" cy="1234440"/>
          </a:xfrm>
          <a:prstGeom prst="rect">
            <a:avLst/>
          </a:prstGeom>
          <a:solidFill>
            <a:schemeClr val="accent1"/>
          </a:solidFill>
          <a:ln w="12700">
            <a:solidFill>
              <a:schemeClr val="accent1"/>
            </a:solidFill>
            <a:prstDash val="solid"/>
          </a:ln>
        </p:spPr>
      </p:sp>
      <p:sp>
        <p:nvSpPr>
          <p:cNvPr id="30" name="Text 28"/>
          <p:cNvSpPr txBox="1"/>
          <p:nvPr/>
        </p:nvSpPr>
        <p:spPr>
          <a:xfrm>
            <a:off x="8549640" y="4892040"/>
            <a:ext cx="2971800" cy="1234440"/>
          </a:xfrm>
          <a:prstGeom prst="rect">
            <a:avLst/>
          </a:prstGeom>
          <a:noFill/>
          <a:ln/>
        </p:spPr>
        <p:txBody>
          <a:bodyPr wrap="square" lIns="0" tIns="0" rIns="0" bIns="0" rtlCol="0" anchor="ctr"/>
          <a:lstStyle/>
          <a:p>
            <a:pPr indent="0" marL="0">
              <a:buNone/>
            </a:pPr>
            <a:r>
              <a:rPr lang="en-US" sz="1400" b="1" dirty="0">
                <a:solidFill>
                  <a:schemeClr val="bg1"/>
                </a:solidFill>
              </a:rPr>
              <a:t>Tier 1  Full canonical (OCSF/ECS)</a:t>
            </a:r>
            <a:endParaRPr lang="en-US" sz="1400" dirty="0"/>
          </a:p>
          <a:p>
            <a:pPr indent="0" marL="0">
              <a:buNone/>
            </a:pPr>
            <a:r>
              <a:rPr lang="en-US" sz="1400" dirty="0">
                <a:solidFill>
                  <a:schemeClr val="bg1"/>
                </a:solidFill>
              </a:rPr>
              <a:t>Security: firewall, endpoint, identity</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37160"/>
            <a:ext cx="5486400" cy="274320"/>
          </a:xfrm>
          <a:prstGeom prst="rect">
            <a:avLst/>
          </a:prstGeom>
          <a:noFill/>
          <a:ln/>
        </p:spPr>
        <p:txBody>
          <a:bodyPr wrap="square" lIns="0" tIns="0" rIns="0" bIns="0" rtlCol="0" anchor="ctr"/>
          <a:lstStyle/>
          <a:p>
            <a:pPr indent="0" marL="0">
              <a:buNone/>
            </a:pPr>
            <a:r>
              <a:rPr lang="en-US" sz="1200" b="1" dirty="0">
                <a:solidFill>
                  <a:schemeClr val="accent2"/>
                </a:solidFill>
              </a:rPr>
              <a:t>STEP 3  |  ANALYTICS</a:t>
            </a:r>
            <a:endParaRPr lang="en-US" sz="1200" dirty="0"/>
          </a:p>
        </p:txBody>
      </p:sp>
      <p:sp>
        <p:nvSpPr>
          <p:cNvPr id="3" name="Text 0"/>
          <p:cNvSpPr/>
          <p:nvPr>
            <p:ph idx="100" type="title" hasCustomPrompt="1"/>
          </p:nvPr>
        </p:nvSpPr>
        <p:spPr>
          <a:xfrm>
            <a:off x="548640" y="365760"/>
            <a:ext cx="11064240" cy="1097280"/>
          </a:xfrm>
          <a:prstGeom prst="rect">
            <a:avLst/>
          </a:prstGeom>
          <a:noFill/>
          <a:ln/>
        </p:spPr>
        <p:txBody>
          <a:bodyPr wrap="square" lIns="0" tIns="0" rIns="0" bIns="0" rtlCol="0" anchor="t"/>
          <a:lstStyle/>
          <a:p>
            <a:pPr algn="l" indent="0" marL="0">
              <a:buNone/>
            </a:pPr>
            <a:r>
              <a:rPr lang="en-US" sz="2800" b="1" dirty="0">
                <a:solidFill>
                  <a:schemeClr val="accent1"/>
                </a:solidFill>
              </a:rPr>
              <a:t>Design from real usage, serve each persona at the right layer, and keep detail one click away</a:t>
            </a:r>
            <a:endParaRPr lang="en-US" sz="2800" dirty="0"/>
          </a:p>
        </p:txBody>
      </p:sp>
      <p:sp>
        <p:nvSpPr>
          <p:cNvPr id="4" name="Text 2"/>
          <p:cNvSpPr txBox="1"/>
          <p:nvPr/>
        </p:nvSpPr>
        <p:spPr>
          <a:xfrm>
            <a:off x="548640" y="1691640"/>
            <a:ext cx="4572000" cy="320040"/>
          </a:xfrm>
          <a:prstGeom prst="rect">
            <a:avLst/>
          </a:prstGeom>
          <a:noFill/>
          <a:ln/>
        </p:spPr>
        <p:txBody>
          <a:bodyPr wrap="square" lIns="0" tIns="0" rIns="0" bIns="0" rtlCol="0" anchor="ctr"/>
          <a:lstStyle/>
          <a:p>
            <a:pPr indent="0" marL="0">
              <a:buNone/>
            </a:pPr>
            <a:r>
              <a:rPr lang="en-US" sz="1600" b="1" dirty="0">
                <a:solidFill>
                  <a:schemeClr val="accent1"/>
                </a:solidFill>
              </a:rPr>
              <a:t>Who consumes, and from where</a:t>
            </a:r>
            <a:endParaRPr lang="en-US" sz="1600" dirty="0"/>
          </a:p>
        </p:txBody>
      </p:sp>
      <p:sp>
        <p:nvSpPr>
          <p:cNvPr id="5" name="persona-1"/>
          <p:cNvSpPr/>
          <p:nvPr/>
        </p:nvSpPr>
        <p:spPr>
          <a:xfrm>
            <a:off x="548640" y="2148840"/>
            <a:ext cx="4663440" cy="868680"/>
          </a:xfrm>
          <a:prstGeom prst="rect">
            <a:avLst/>
          </a:prstGeom>
          <a:solidFill>
            <a:schemeClr val="bg2"/>
          </a:solidFill>
          <a:ln w="12700">
            <a:solidFill>
              <a:schemeClr val="bg2"/>
            </a:solidFill>
            <a:prstDash val="solid"/>
          </a:ln>
        </p:spPr>
      </p:sp>
      <p:sp>
        <p:nvSpPr>
          <p:cNvPr id="6" name="Text 4"/>
          <p:cNvSpPr txBox="1"/>
          <p:nvPr/>
        </p:nvSpPr>
        <p:spPr>
          <a:xfrm>
            <a:off x="685800" y="2148840"/>
            <a:ext cx="1325880" cy="868680"/>
          </a:xfrm>
          <a:prstGeom prst="rect">
            <a:avLst/>
          </a:prstGeom>
          <a:noFill/>
          <a:ln/>
        </p:spPr>
        <p:txBody>
          <a:bodyPr wrap="square" lIns="0" tIns="0" rIns="0" bIns="0" rtlCol="0" anchor="ctr"/>
          <a:lstStyle/>
          <a:p>
            <a:pPr indent="0" marL="0">
              <a:buNone/>
            </a:pPr>
            <a:r>
              <a:rPr lang="en-US" sz="2200" b="1" dirty="0">
                <a:solidFill>
                  <a:schemeClr val="accent1"/>
                </a:solidFill>
              </a:rPr>
              <a:t>~100</a:t>
            </a:r>
            <a:endParaRPr lang="en-US" sz="2200" dirty="0"/>
          </a:p>
        </p:txBody>
      </p:sp>
      <p:sp>
        <p:nvSpPr>
          <p:cNvPr id="7" name="Text 5"/>
          <p:cNvSpPr txBox="1"/>
          <p:nvPr/>
        </p:nvSpPr>
        <p:spPr>
          <a:xfrm>
            <a:off x="2057400" y="2148840"/>
            <a:ext cx="3108960" cy="868680"/>
          </a:xfrm>
          <a:prstGeom prst="rect">
            <a:avLst/>
          </a:prstGeom>
          <a:noFill/>
          <a:ln/>
        </p:spPr>
        <p:txBody>
          <a:bodyPr wrap="square" lIns="0" tIns="0" rIns="0" bIns="0" rtlCol="0" anchor="ctr"/>
          <a:lstStyle/>
          <a:p>
            <a:pPr indent="0" marL="0">
              <a:buNone/>
            </a:pPr>
            <a:r>
              <a:rPr lang="en-US" sz="1400" b="1" dirty="0">
                <a:solidFill>
                  <a:schemeClr val="tx1"/>
                </a:solidFill>
              </a:rPr>
              <a:t>Security analysts</a:t>
            </a:r>
            <a:endParaRPr lang="en-US" sz="1400" dirty="0"/>
          </a:p>
          <a:p>
            <a:pPr indent="0" marL="0">
              <a:buNone/>
            </a:pPr>
            <a:r>
              <a:rPr lang="en-US" sz="1400" dirty="0">
                <a:solidFill>
                  <a:schemeClr val="tx1"/>
                </a:solidFill>
              </a:rPr>
              <a:t>Silver event detail + Gold</a:t>
            </a:r>
            <a:endParaRPr lang="en-US" sz="1400" dirty="0"/>
          </a:p>
        </p:txBody>
      </p:sp>
      <p:sp>
        <p:nvSpPr>
          <p:cNvPr id="8" name="persona-2"/>
          <p:cNvSpPr/>
          <p:nvPr/>
        </p:nvSpPr>
        <p:spPr>
          <a:xfrm>
            <a:off x="548640" y="3154680"/>
            <a:ext cx="4663440" cy="868680"/>
          </a:xfrm>
          <a:prstGeom prst="rect">
            <a:avLst/>
          </a:prstGeom>
          <a:solidFill>
            <a:schemeClr val="bg2"/>
          </a:solidFill>
          <a:ln w="12700">
            <a:solidFill>
              <a:schemeClr val="bg2"/>
            </a:solidFill>
            <a:prstDash val="solid"/>
          </a:ln>
        </p:spPr>
      </p:sp>
      <p:sp>
        <p:nvSpPr>
          <p:cNvPr id="9" name="Text 7"/>
          <p:cNvSpPr txBox="1"/>
          <p:nvPr/>
        </p:nvSpPr>
        <p:spPr>
          <a:xfrm>
            <a:off x="685800" y="3154680"/>
            <a:ext cx="1325880" cy="868680"/>
          </a:xfrm>
          <a:prstGeom prst="rect">
            <a:avLst/>
          </a:prstGeom>
          <a:noFill/>
          <a:ln/>
        </p:spPr>
        <p:txBody>
          <a:bodyPr wrap="square" lIns="0" tIns="0" rIns="0" bIns="0" rtlCol="0" anchor="ctr"/>
          <a:lstStyle/>
          <a:p>
            <a:pPr indent="0" marL="0">
              <a:buNone/>
            </a:pPr>
            <a:r>
              <a:rPr lang="en-US" sz="2200" b="1" dirty="0">
                <a:solidFill>
                  <a:schemeClr val="accent1"/>
                </a:solidFill>
              </a:rPr>
              <a:t>~150</a:t>
            </a:r>
            <a:endParaRPr lang="en-US" sz="2200" dirty="0"/>
          </a:p>
        </p:txBody>
      </p:sp>
      <p:sp>
        <p:nvSpPr>
          <p:cNvPr id="10" name="Text 8"/>
          <p:cNvSpPr txBox="1"/>
          <p:nvPr/>
        </p:nvSpPr>
        <p:spPr>
          <a:xfrm>
            <a:off x="2057400" y="3154680"/>
            <a:ext cx="3108960" cy="868680"/>
          </a:xfrm>
          <a:prstGeom prst="rect">
            <a:avLst/>
          </a:prstGeom>
          <a:noFill/>
          <a:ln/>
        </p:spPr>
        <p:txBody>
          <a:bodyPr wrap="square" lIns="0" tIns="0" rIns="0" bIns="0" rtlCol="0" anchor="ctr"/>
          <a:lstStyle/>
          <a:p>
            <a:pPr indent="0" marL="0">
              <a:buNone/>
            </a:pPr>
            <a:r>
              <a:rPr lang="en-US" sz="1400" b="1" dirty="0">
                <a:solidFill>
                  <a:schemeClr val="tx1"/>
                </a:solidFill>
              </a:rPr>
              <a:t>Power users</a:t>
            </a:r>
            <a:endParaRPr lang="en-US" sz="1400" dirty="0"/>
          </a:p>
          <a:p>
            <a:pPr indent="0" marL="0">
              <a:buNone/>
            </a:pPr>
            <a:r>
              <a:rPr lang="en-US" sz="1400" dirty="0">
                <a:solidFill>
                  <a:schemeClr val="tx1"/>
                </a:solidFill>
              </a:rPr>
              <a:t>Silver via SQL and notebooks</a:t>
            </a:r>
            <a:endParaRPr lang="en-US" sz="1400" dirty="0"/>
          </a:p>
        </p:txBody>
      </p:sp>
      <p:sp>
        <p:nvSpPr>
          <p:cNvPr id="11" name="persona-3"/>
          <p:cNvSpPr/>
          <p:nvPr/>
        </p:nvSpPr>
        <p:spPr>
          <a:xfrm>
            <a:off x="548640" y="4160520"/>
            <a:ext cx="4663440" cy="868680"/>
          </a:xfrm>
          <a:prstGeom prst="rect">
            <a:avLst/>
          </a:prstGeom>
          <a:solidFill>
            <a:schemeClr val="bg2"/>
          </a:solidFill>
          <a:ln w="12700">
            <a:solidFill>
              <a:schemeClr val="bg2"/>
            </a:solidFill>
            <a:prstDash val="solid"/>
          </a:ln>
        </p:spPr>
      </p:sp>
      <p:sp>
        <p:nvSpPr>
          <p:cNvPr id="12" name="Text 10"/>
          <p:cNvSpPr txBox="1"/>
          <p:nvPr/>
        </p:nvSpPr>
        <p:spPr>
          <a:xfrm>
            <a:off x="685800" y="4160520"/>
            <a:ext cx="1325880" cy="868680"/>
          </a:xfrm>
          <a:prstGeom prst="rect">
            <a:avLst/>
          </a:prstGeom>
          <a:noFill/>
          <a:ln/>
        </p:spPr>
        <p:txBody>
          <a:bodyPr wrap="square" lIns="0" tIns="0" rIns="0" bIns="0" rtlCol="0" anchor="ctr"/>
          <a:lstStyle/>
          <a:p>
            <a:pPr indent="0" marL="0">
              <a:buNone/>
            </a:pPr>
            <a:r>
              <a:rPr lang="en-US" sz="2200" b="1" dirty="0">
                <a:solidFill>
                  <a:schemeClr val="accent1"/>
                </a:solidFill>
              </a:rPr>
              <a:t>~7,000</a:t>
            </a:r>
            <a:endParaRPr lang="en-US" sz="2200" dirty="0"/>
          </a:p>
        </p:txBody>
      </p:sp>
      <p:sp>
        <p:nvSpPr>
          <p:cNvPr id="13" name="Text 11"/>
          <p:cNvSpPr txBox="1"/>
          <p:nvPr/>
        </p:nvSpPr>
        <p:spPr>
          <a:xfrm>
            <a:off x="2057400" y="4160520"/>
            <a:ext cx="3108960" cy="868680"/>
          </a:xfrm>
          <a:prstGeom prst="rect">
            <a:avLst/>
          </a:prstGeom>
          <a:noFill/>
          <a:ln/>
        </p:spPr>
        <p:txBody>
          <a:bodyPr wrap="square" lIns="0" tIns="0" rIns="0" bIns="0" rtlCol="0" anchor="ctr"/>
          <a:lstStyle/>
          <a:p>
            <a:pPr indent="0" marL="0">
              <a:buNone/>
            </a:pPr>
            <a:r>
              <a:rPr lang="en-US" sz="1400" b="1" dirty="0">
                <a:solidFill>
                  <a:schemeClr val="tx1"/>
                </a:solidFill>
              </a:rPr>
              <a:t>Observability consumers</a:t>
            </a:r>
            <a:endParaRPr lang="en-US" sz="1400" dirty="0"/>
          </a:p>
          <a:p>
            <a:pPr indent="0" marL="0">
              <a:buNone/>
            </a:pPr>
            <a:r>
              <a:rPr lang="en-US" sz="1400" dirty="0">
                <a:solidFill>
                  <a:schemeClr val="tx1"/>
                </a:solidFill>
              </a:rPr>
              <a:t>Gold dashboards and Genie</a:t>
            </a:r>
            <a:endParaRPr lang="en-US" sz="1400" dirty="0"/>
          </a:p>
        </p:txBody>
      </p:sp>
      <p:sp>
        <p:nvSpPr>
          <p:cNvPr id="14" name="persona-4"/>
          <p:cNvSpPr/>
          <p:nvPr/>
        </p:nvSpPr>
        <p:spPr>
          <a:xfrm>
            <a:off x="548640" y="5166360"/>
            <a:ext cx="4663440" cy="868680"/>
          </a:xfrm>
          <a:prstGeom prst="rect">
            <a:avLst/>
          </a:prstGeom>
          <a:solidFill>
            <a:schemeClr val="bg2"/>
          </a:solidFill>
          <a:ln w="12700">
            <a:solidFill>
              <a:schemeClr val="bg2"/>
            </a:solidFill>
            <a:prstDash val="solid"/>
          </a:ln>
        </p:spPr>
      </p:sp>
      <p:sp>
        <p:nvSpPr>
          <p:cNvPr id="15" name="Text 13"/>
          <p:cNvSpPr txBox="1"/>
          <p:nvPr/>
        </p:nvSpPr>
        <p:spPr>
          <a:xfrm>
            <a:off x="685800" y="5166360"/>
            <a:ext cx="1325880" cy="868680"/>
          </a:xfrm>
          <a:prstGeom prst="rect">
            <a:avLst/>
          </a:prstGeom>
          <a:noFill/>
          <a:ln/>
        </p:spPr>
        <p:txBody>
          <a:bodyPr wrap="square" lIns="0" tIns="0" rIns="0" bIns="0" rtlCol="0" anchor="ctr"/>
          <a:lstStyle/>
          <a:p>
            <a:pPr indent="0" marL="0">
              <a:buNone/>
            </a:pPr>
            <a:r>
              <a:rPr lang="en-US" sz="2200" b="1" dirty="0">
                <a:solidFill>
                  <a:schemeClr val="accent1"/>
                </a:solidFill>
              </a:rPr>
              <a:t>~2,750</a:t>
            </a:r>
            <a:endParaRPr lang="en-US" sz="2200" dirty="0"/>
          </a:p>
        </p:txBody>
      </p:sp>
      <p:sp>
        <p:nvSpPr>
          <p:cNvPr id="16" name="Text 14"/>
          <p:cNvSpPr txBox="1"/>
          <p:nvPr/>
        </p:nvSpPr>
        <p:spPr>
          <a:xfrm>
            <a:off x="2057400" y="5166360"/>
            <a:ext cx="3108960" cy="868680"/>
          </a:xfrm>
          <a:prstGeom prst="rect">
            <a:avLst/>
          </a:prstGeom>
          <a:noFill/>
          <a:ln/>
        </p:spPr>
        <p:txBody>
          <a:bodyPr wrap="square" lIns="0" tIns="0" rIns="0" bIns="0" rtlCol="0" anchor="ctr"/>
          <a:lstStyle/>
          <a:p>
            <a:pPr indent="0" marL="0">
              <a:buNone/>
            </a:pPr>
            <a:r>
              <a:rPr lang="en-US" sz="1400" b="1" dirty="0">
                <a:solidFill>
                  <a:schemeClr val="tx1"/>
                </a:solidFill>
              </a:rPr>
              <a:t>Occasional and read-only</a:t>
            </a:r>
            <a:endParaRPr lang="en-US" sz="1400" dirty="0"/>
          </a:p>
          <a:p>
            <a:pPr indent="0" marL="0">
              <a:buNone/>
            </a:pPr>
            <a:r>
              <a:rPr lang="en-US" sz="1400" dirty="0">
                <a:solidFill>
                  <a:schemeClr val="tx1"/>
                </a:solidFill>
              </a:rPr>
              <a:t>Gold dashboards</a:t>
            </a:r>
            <a:endParaRPr lang="en-US" sz="1400" dirty="0"/>
          </a:p>
        </p:txBody>
      </p:sp>
      <p:sp>
        <p:nvSpPr>
          <p:cNvPr id="17" name="num-1"/>
          <p:cNvSpPr/>
          <p:nvPr/>
        </p:nvSpPr>
        <p:spPr>
          <a:xfrm>
            <a:off x="5669280" y="1737360"/>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566928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9" name="Text 17"/>
          <p:cNvSpPr txBox="1"/>
          <p:nvPr/>
        </p:nvSpPr>
        <p:spPr>
          <a:xfrm>
            <a:off x="6355080" y="1691640"/>
            <a:ext cx="5303520" cy="365760"/>
          </a:xfrm>
          <a:prstGeom prst="rect">
            <a:avLst/>
          </a:prstGeom>
          <a:noFill/>
          <a:ln/>
        </p:spPr>
        <p:txBody>
          <a:bodyPr wrap="square" lIns="0" tIns="0" rIns="0" bIns="0" rtlCol="0" anchor="ctr"/>
          <a:lstStyle/>
          <a:p>
            <a:pPr indent="0" marL="0">
              <a:buNone/>
            </a:pPr>
            <a:r>
              <a:rPr lang="en-US" sz="1800" b="1" dirty="0">
                <a:solidFill>
                  <a:schemeClr val="accent1"/>
                </a:solidFill>
              </a:rPr>
              <a:t>Start from usage</a:t>
            </a:r>
            <a:endParaRPr lang="en-US" sz="1800" dirty="0"/>
          </a:p>
        </p:txBody>
      </p:sp>
      <p:sp>
        <p:nvSpPr>
          <p:cNvPr id="20" name="Text 18"/>
          <p:cNvSpPr txBox="1"/>
          <p:nvPr/>
        </p:nvSpPr>
        <p:spPr>
          <a:xfrm>
            <a:off x="6355080" y="2075688"/>
            <a:ext cx="5303520" cy="731520"/>
          </a:xfrm>
          <a:prstGeom prst="rect">
            <a:avLst/>
          </a:prstGeom>
          <a:noFill/>
          <a:ln/>
        </p:spPr>
        <p:txBody>
          <a:bodyPr wrap="square" lIns="0" tIns="0" rIns="0" bIns="0" rtlCol="0" anchor="t"/>
          <a:lstStyle/>
          <a:p>
            <a:pPr indent="0" marL="0">
              <a:buNone/>
            </a:pPr>
            <a:r>
              <a:rPr lang="en-US" sz="1400" dirty="0">
                <a:solidFill>
                  <a:schemeClr val="tx1"/>
                </a:solidFill>
              </a:rPr>
              <a:t>Most queries hit the last 0–30 days. Migrate the 15,159 active searches; retire the 12,667 disabled.</a:t>
            </a:r>
            <a:endParaRPr lang="en-US" sz="1400" dirty="0"/>
          </a:p>
        </p:txBody>
      </p:sp>
      <p:sp>
        <p:nvSpPr>
          <p:cNvPr id="21" name="num-2"/>
          <p:cNvSpPr/>
          <p:nvPr/>
        </p:nvSpPr>
        <p:spPr>
          <a:xfrm>
            <a:off x="5669280" y="2880360"/>
            <a:ext cx="457200" cy="457200"/>
          </a:xfrm>
          <a:prstGeom prst="ellipse">
            <a:avLst/>
          </a:prstGeom>
          <a:solidFill>
            <a:schemeClr val="accent1"/>
          </a:solidFill>
          <a:ln w="12700">
            <a:solidFill>
              <a:schemeClr val="accent1"/>
            </a:solidFill>
            <a:prstDash val="solid"/>
          </a:ln>
        </p:spPr>
      </p:sp>
      <p:sp>
        <p:nvSpPr>
          <p:cNvPr id="22" name="Text 20"/>
          <p:cNvSpPr txBox="1"/>
          <p:nvPr/>
        </p:nvSpPr>
        <p:spPr>
          <a:xfrm>
            <a:off x="566928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3" name="Text 21"/>
          <p:cNvSpPr txBox="1"/>
          <p:nvPr/>
        </p:nvSpPr>
        <p:spPr>
          <a:xfrm>
            <a:off x="6355080" y="2834640"/>
            <a:ext cx="5303520" cy="365760"/>
          </a:xfrm>
          <a:prstGeom prst="rect">
            <a:avLst/>
          </a:prstGeom>
          <a:noFill/>
          <a:ln/>
        </p:spPr>
        <p:txBody>
          <a:bodyPr wrap="square" lIns="0" tIns="0" rIns="0" bIns="0" rtlCol="0" anchor="ctr"/>
          <a:lstStyle/>
          <a:p>
            <a:pPr indent="0" marL="0">
              <a:buNone/>
            </a:pPr>
            <a:r>
              <a:rPr lang="en-US" sz="1800" b="1" dirty="0">
                <a:solidFill>
                  <a:schemeClr val="accent1"/>
                </a:solidFill>
              </a:rPr>
              <a:t>Serve by persona</a:t>
            </a:r>
            <a:endParaRPr lang="en-US" sz="1800" dirty="0"/>
          </a:p>
        </p:txBody>
      </p:sp>
      <p:sp>
        <p:nvSpPr>
          <p:cNvPr id="24" name="Text 22"/>
          <p:cNvSpPr txBox="1"/>
          <p:nvPr/>
        </p:nvSpPr>
        <p:spPr>
          <a:xfrm>
            <a:off x="6355080" y="3218688"/>
            <a:ext cx="5303520" cy="731520"/>
          </a:xfrm>
          <a:prstGeom prst="rect">
            <a:avLst/>
          </a:prstGeom>
          <a:noFill/>
          <a:ln/>
        </p:spPr>
        <p:txBody>
          <a:bodyPr wrap="square" lIns="0" tIns="0" rIns="0" bIns="0" rtlCol="0" anchor="t"/>
          <a:lstStyle/>
          <a:p>
            <a:pPr indent="0" marL="0">
              <a:buNone/>
            </a:pPr>
            <a:r>
              <a:rPr lang="en-US" sz="1400" dirty="0">
                <a:solidFill>
                  <a:schemeClr val="tx1"/>
                </a:solidFill>
              </a:rPr>
              <a:t>Granular Silver for investigators, curated Gold and Genie for the broad base. No direct Bronze access.</a:t>
            </a:r>
            <a:endParaRPr lang="en-US" sz="1400" dirty="0"/>
          </a:p>
        </p:txBody>
      </p:sp>
      <p:sp>
        <p:nvSpPr>
          <p:cNvPr id="25" name="num-3"/>
          <p:cNvSpPr/>
          <p:nvPr/>
        </p:nvSpPr>
        <p:spPr>
          <a:xfrm>
            <a:off x="5669280" y="4023360"/>
            <a:ext cx="457200" cy="457200"/>
          </a:xfrm>
          <a:prstGeom prst="ellipse">
            <a:avLst/>
          </a:prstGeom>
          <a:solidFill>
            <a:schemeClr val="accent1"/>
          </a:solidFill>
          <a:ln w="12700">
            <a:solidFill>
              <a:schemeClr val="accent1"/>
            </a:solidFill>
            <a:prstDash val="solid"/>
          </a:ln>
        </p:spPr>
      </p:sp>
      <p:sp>
        <p:nvSpPr>
          <p:cNvPr id="26" name="Text 24"/>
          <p:cNvSpPr txBox="1"/>
          <p:nvPr/>
        </p:nvSpPr>
        <p:spPr>
          <a:xfrm>
            <a:off x="5669280" y="4023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Text 25"/>
          <p:cNvSpPr txBox="1"/>
          <p:nvPr/>
        </p:nvSpPr>
        <p:spPr>
          <a:xfrm>
            <a:off x="6355080" y="3977640"/>
            <a:ext cx="5303520" cy="365760"/>
          </a:xfrm>
          <a:prstGeom prst="rect">
            <a:avLst/>
          </a:prstGeom>
          <a:noFill/>
          <a:ln/>
        </p:spPr>
        <p:txBody>
          <a:bodyPr wrap="square" lIns="0" tIns="0" rIns="0" bIns="0" rtlCol="0" anchor="ctr"/>
          <a:lstStyle/>
          <a:p>
            <a:pPr indent="0" marL="0">
              <a:buNone/>
            </a:pPr>
            <a:r>
              <a:rPr lang="en-US" sz="1800" b="1" dirty="0">
                <a:solidFill>
                  <a:schemeClr val="accent1"/>
                </a:solidFill>
              </a:rPr>
              <a:t>Pre-compute what is asked most</a:t>
            </a:r>
            <a:endParaRPr lang="en-US" sz="1800" dirty="0"/>
          </a:p>
        </p:txBody>
      </p:sp>
      <p:sp>
        <p:nvSpPr>
          <p:cNvPr id="28" name="Text 26"/>
          <p:cNvSpPr txBox="1"/>
          <p:nvPr/>
        </p:nvSpPr>
        <p:spPr>
          <a:xfrm>
            <a:off x="6355080" y="4361688"/>
            <a:ext cx="5303520" cy="731520"/>
          </a:xfrm>
          <a:prstGeom prst="rect">
            <a:avLst/>
          </a:prstGeom>
          <a:noFill/>
          <a:ln/>
        </p:spPr>
        <p:txBody>
          <a:bodyPr wrap="square" lIns="0" tIns="0" rIns="0" bIns="0" rtlCol="0" anchor="t"/>
          <a:lstStyle/>
          <a:p>
            <a:pPr indent="0" marL="0">
              <a:buNone/>
            </a:pPr>
            <a:r>
              <a:rPr lang="en-US" sz="1400" dirty="0">
                <a:solidFill>
                  <a:schemeClr val="tx1"/>
                </a:solidFill>
              </a:rPr>
              <a:t>The 16 accelerated ES data models need pre-aggregated Silver or Gold before correlation searches move.</a:t>
            </a:r>
            <a:endParaRPr lang="en-US" sz="1400" dirty="0"/>
          </a:p>
        </p:txBody>
      </p:sp>
      <p:sp>
        <p:nvSpPr>
          <p:cNvPr id="29" name="num-4"/>
          <p:cNvSpPr/>
          <p:nvPr/>
        </p:nvSpPr>
        <p:spPr>
          <a:xfrm>
            <a:off x="5669280" y="5166360"/>
            <a:ext cx="457200" cy="457200"/>
          </a:xfrm>
          <a:prstGeom prst="ellipse">
            <a:avLst/>
          </a:prstGeom>
          <a:solidFill>
            <a:schemeClr val="accent1"/>
          </a:solidFill>
          <a:ln w="12700">
            <a:solidFill>
              <a:schemeClr val="accent1"/>
            </a:solidFill>
            <a:prstDash val="solid"/>
          </a:ln>
        </p:spPr>
      </p:sp>
      <p:sp>
        <p:nvSpPr>
          <p:cNvPr id="30" name="Text 28"/>
          <p:cNvSpPr txBox="1"/>
          <p:nvPr/>
        </p:nvSpPr>
        <p:spPr>
          <a:xfrm>
            <a:off x="5669280" y="5166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1" name="Text 29"/>
          <p:cNvSpPr txBox="1"/>
          <p:nvPr/>
        </p:nvSpPr>
        <p:spPr>
          <a:xfrm>
            <a:off x="6355080" y="5120640"/>
            <a:ext cx="5303520" cy="365760"/>
          </a:xfrm>
          <a:prstGeom prst="rect">
            <a:avLst/>
          </a:prstGeom>
          <a:noFill/>
          <a:ln/>
        </p:spPr>
        <p:txBody>
          <a:bodyPr wrap="square" lIns="0" tIns="0" rIns="0" bIns="0" rtlCol="0" anchor="ctr"/>
          <a:lstStyle/>
          <a:p>
            <a:pPr indent="0" marL="0">
              <a:buNone/>
            </a:pPr>
            <a:r>
              <a:rPr lang="en-US" sz="1800" b="1" dirty="0">
                <a:solidFill>
                  <a:schemeClr val="accent1"/>
                </a:solidFill>
              </a:rPr>
              <a:t>Products with owners and SLOs</a:t>
            </a:r>
            <a:endParaRPr lang="en-US" sz="1800" dirty="0"/>
          </a:p>
        </p:txBody>
      </p:sp>
      <p:sp>
        <p:nvSpPr>
          <p:cNvPr id="32" name="Text 30"/>
          <p:cNvSpPr txBox="1"/>
          <p:nvPr/>
        </p:nvSpPr>
        <p:spPr>
          <a:xfrm>
            <a:off x="6355080" y="5504688"/>
            <a:ext cx="5303520" cy="731520"/>
          </a:xfrm>
          <a:prstGeom prst="rect">
            <a:avLst/>
          </a:prstGeom>
          <a:noFill/>
          <a:ln/>
        </p:spPr>
        <p:txBody>
          <a:bodyPr wrap="square" lIns="0" tIns="0" rIns="0" bIns="0" rtlCol="0" anchor="t"/>
          <a:lstStyle/>
          <a:p>
            <a:pPr indent="0" marL="0">
              <a:buNone/>
            </a:pPr>
            <a:r>
              <a:rPr lang="en-US" sz="1400" dirty="0">
                <a:solidFill>
                  <a:schemeClr val="tx1"/>
                </a:solidFill>
              </a:rPr>
              <a:t>A Silver table becomes a data product only with a named consumer, owner and published SLOs.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37160"/>
            <a:ext cx="5486400" cy="274320"/>
          </a:xfrm>
          <a:prstGeom prst="rect">
            <a:avLst/>
          </a:prstGeom>
          <a:noFill/>
          <a:ln/>
        </p:spPr>
        <p:txBody>
          <a:bodyPr wrap="square" lIns="0" tIns="0" rIns="0" bIns="0" rtlCol="0" anchor="ctr"/>
          <a:lstStyle/>
          <a:p>
            <a:pPr indent="0" marL="0">
              <a:buNone/>
            </a:pPr>
            <a:r>
              <a:rPr lang="en-US" sz="1200" b="1" dirty="0">
                <a:solidFill>
                  <a:schemeClr val="accent2"/>
                </a:solidFill>
              </a:rPr>
              <a:t>FOR DISCUSSION</a:t>
            </a:r>
            <a:endParaRPr lang="en-US" sz="1200" dirty="0"/>
          </a:p>
        </p:txBody>
      </p:sp>
      <p:sp>
        <p:nvSpPr>
          <p:cNvPr id="3" name="Text 0"/>
          <p:cNvSpPr/>
          <p:nvPr>
            <p:ph idx="100" type="title" hasCustomPrompt="1"/>
          </p:nvPr>
        </p:nvSpPr>
        <p:spPr>
          <a:xfrm>
            <a:off x="548640" y="365760"/>
            <a:ext cx="11064240" cy="1097280"/>
          </a:xfrm>
          <a:prstGeom prst="rect">
            <a:avLst/>
          </a:prstGeom>
          <a:noFill/>
          <a:ln/>
        </p:spPr>
        <p:txBody>
          <a:bodyPr wrap="square" lIns="0" tIns="0" rIns="0" bIns="0" rtlCol="0" anchor="t"/>
          <a:lstStyle/>
          <a:p>
            <a:pPr algn="l" indent="0" marL="0">
              <a:buNone/>
            </a:pPr>
            <a:r>
              <a:rPr lang="en-US" sz="2800" b="1" dirty="0">
                <a:solidFill>
                  <a:schemeClr val="accent1"/>
                </a:solidFill>
              </a:rPr>
              <a:t>What we want to settle in the workshop</a:t>
            </a:r>
            <a:endParaRPr lang="en-US" sz="2800" dirty="0"/>
          </a:p>
        </p:txBody>
      </p:sp>
      <p:sp>
        <p:nvSpPr>
          <p:cNvPr id="4" name="num-1"/>
          <p:cNvSpPr/>
          <p:nvPr/>
        </p:nvSpPr>
        <p:spPr>
          <a:xfrm>
            <a:off x="548640" y="1819656"/>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48640" y="18196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691640"/>
            <a:ext cx="5852160" cy="731520"/>
          </a:xfrm>
          <a:prstGeom prst="rect">
            <a:avLst/>
          </a:prstGeom>
          <a:noFill/>
          <a:ln/>
        </p:spPr>
        <p:txBody>
          <a:bodyPr wrap="square" lIns="0" tIns="0" rIns="0" bIns="0" rtlCol="0" anchor="ctr"/>
          <a:lstStyle/>
          <a:p>
            <a:pPr indent="0" marL="0">
              <a:buNone/>
            </a:pPr>
            <a:r>
              <a:rPr lang="en-US" sz="1600" b="1" dirty="0">
                <a:solidFill>
                  <a:schemeClr val="accent1"/>
                </a:solidFill>
              </a:rPr>
              <a:t>Which outputs are Tier 1 (hot)?</a:t>
            </a:r>
            <a:endParaRPr lang="en-US" sz="1600" dirty="0"/>
          </a:p>
        </p:txBody>
      </p:sp>
      <p:sp>
        <p:nvSpPr>
          <p:cNvPr id="7" name="why-1"/>
          <p:cNvSpPr/>
          <p:nvPr/>
        </p:nvSpPr>
        <p:spPr>
          <a:xfrm>
            <a:off x="7315200" y="1691640"/>
            <a:ext cx="4343400" cy="731520"/>
          </a:xfrm>
          <a:prstGeom prst="rect">
            <a:avLst/>
          </a:prstGeom>
          <a:solidFill>
            <a:schemeClr val="bg2"/>
          </a:solidFill>
          <a:ln w="12700">
            <a:solidFill>
              <a:schemeClr val="bg2"/>
            </a:solidFill>
            <a:prstDash val="solid"/>
          </a:ln>
        </p:spPr>
      </p:sp>
      <p:sp>
        <p:nvSpPr>
          <p:cNvPr id="8" name="Text 6"/>
          <p:cNvSpPr txBox="1"/>
          <p:nvPr/>
        </p:nvSpPr>
        <p:spPr>
          <a:xfrm>
            <a:off x="7452360" y="1691640"/>
            <a:ext cx="4069080" cy="731520"/>
          </a:xfrm>
          <a:prstGeom prst="rect">
            <a:avLst/>
          </a:prstGeom>
          <a:noFill/>
          <a:ln/>
        </p:spPr>
        <p:txBody>
          <a:bodyPr wrap="square" lIns="0" tIns="0" rIns="0" bIns="0" rtlCol="0" anchor="ctr"/>
          <a:lstStyle/>
          <a:p>
            <a:pPr indent="0" marL="0">
              <a:buNone/>
            </a:pPr>
            <a:r>
              <a:rPr lang="en-US" sz="1400" dirty="0">
                <a:solidFill>
                  <a:schemeClr val="tx1"/>
                </a:solidFill>
              </a:rPr>
              <a:t>Sets latency tier, compute cost and Bronze priority.</a:t>
            </a:r>
            <a:endParaRPr lang="en-US" sz="1400" dirty="0"/>
          </a:p>
        </p:txBody>
      </p:sp>
      <p:sp>
        <p:nvSpPr>
          <p:cNvPr id="9" name="num-2"/>
          <p:cNvSpPr/>
          <p:nvPr/>
        </p:nvSpPr>
        <p:spPr>
          <a:xfrm>
            <a:off x="548640" y="2715768"/>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27157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234440" y="2587752"/>
            <a:ext cx="5852160" cy="731520"/>
          </a:xfrm>
          <a:prstGeom prst="rect">
            <a:avLst/>
          </a:prstGeom>
          <a:noFill/>
          <a:ln/>
        </p:spPr>
        <p:txBody>
          <a:bodyPr wrap="square" lIns="0" tIns="0" rIns="0" bIns="0" rtlCol="0" anchor="ctr"/>
          <a:lstStyle/>
          <a:p>
            <a:pPr indent="0" marL="0">
              <a:buNone/>
            </a:pPr>
            <a:r>
              <a:rPr lang="en-US" sz="1600" b="1" dirty="0">
                <a:solidFill>
                  <a:schemeClr val="accent1"/>
                </a:solidFill>
              </a:rPr>
              <a:t>Is OCSF needed for all security sources, or only selected cross-domain use cases?</a:t>
            </a:r>
            <a:endParaRPr lang="en-US" sz="1600" dirty="0"/>
          </a:p>
        </p:txBody>
      </p:sp>
      <p:sp>
        <p:nvSpPr>
          <p:cNvPr id="12" name="why-2"/>
          <p:cNvSpPr/>
          <p:nvPr/>
        </p:nvSpPr>
        <p:spPr>
          <a:xfrm>
            <a:off x="7315200" y="2587752"/>
            <a:ext cx="4343400" cy="731520"/>
          </a:xfrm>
          <a:prstGeom prst="rect">
            <a:avLst/>
          </a:prstGeom>
          <a:solidFill>
            <a:schemeClr val="bg2"/>
          </a:solidFill>
          <a:ln w="12700">
            <a:solidFill>
              <a:schemeClr val="bg2"/>
            </a:solidFill>
            <a:prstDash val="solid"/>
          </a:ln>
        </p:spPr>
      </p:sp>
      <p:sp>
        <p:nvSpPr>
          <p:cNvPr id="13" name="Text 11"/>
          <p:cNvSpPr txBox="1"/>
          <p:nvPr/>
        </p:nvSpPr>
        <p:spPr>
          <a:xfrm>
            <a:off x="7452360" y="2587752"/>
            <a:ext cx="4069080" cy="731520"/>
          </a:xfrm>
          <a:prstGeom prst="rect">
            <a:avLst/>
          </a:prstGeom>
          <a:noFill/>
          <a:ln/>
        </p:spPr>
        <p:txBody>
          <a:bodyPr wrap="square" lIns="0" tIns="0" rIns="0" bIns="0" rtlCol="0" anchor="ctr"/>
          <a:lstStyle/>
          <a:p>
            <a:pPr indent="0" marL="0">
              <a:buNone/>
            </a:pPr>
            <a:r>
              <a:rPr lang="en-US" sz="1400" dirty="0">
                <a:solidFill>
                  <a:schemeClr val="tx1"/>
                </a:solidFill>
              </a:rPr>
              <a:t>Drives Silver effort and template count.</a:t>
            </a:r>
            <a:endParaRPr lang="en-US" sz="1400" dirty="0"/>
          </a:p>
        </p:txBody>
      </p:sp>
      <p:sp>
        <p:nvSpPr>
          <p:cNvPr id="14" name="num-3"/>
          <p:cNvSpPr/>
          <p:nvPr/>
        </p:nvSpPr>
        <p:spPr>
          <a:xfrm>
            <a:off x="548640" y="361188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234440" y="3483864"/>
            <a:ext cx="5852160" cy="731520"/>
          </a:xfrm>
          <a:prstGeom prst="rect">
            <a:avLst/>
          </a:prstGeom>
          <a:noFill/>
          <a:ln/>
        </p:spPr>
        <p:txBody>
          <a:bodyPr wrap="square" lIns="0" tIns="0" rIns="0" bIns="0" rtlCol="0" anchor="ctr"/>
          <a:lstStyle/>
          <a:p>
            <a:pPr indent="0" marL="0">
              <a:buNone/>
            </a:pPr>
            <a:r>
              <a:rPr lang="en-US" sz="1600" b="1" dirty="0">
                <a:solidFill>
                  <a:schemeClr val="accent1"/>
                </a:solidFill>
              </a:rPr>
              <a:t>Where is PHI and PII masked, and what does Bronze contain?</a:t>
            </a:r>
            <a:endParaRPr lang="en-US" sz="1600" dirty="0"/>
          </a:p>
        </p:txBody>
      </p:sp>
      <p:sp>
        <p:nvSpPr>
          <p:cNvPr id="17" name="why-3"/>
          <p:cNvSpPr/>
          <p:nvPr/>
        </p:nvSpPr>
        <p:spPr>
          <a:xfrm>
            <a:off x="7315200" y="3483864"/>
            <a:ext cx="4343400" cy="731520"/>
          </a:xfrm>
          <a:prstGeom prst="rect">
            <a:avLst/>
          </a:prstGeom>
          <a:solidFill>
            <a:schemeClr val="bg2"/>
          </a:solidFill>
          <a:ln w="12700">
            <a:solidFill>
              <a:schemeClr val="bg2"/>
            </a:solidFill>
            <a:prstDash val="solid"/>
          </a:ln>
        </p:spPr>
      </p:sp>
      <p:sp>
        <p:nvSpPr>
          <p:cNvPr id="18" name="Text 16"/>
          <p:cNvSpPr txBox="1"/>
          <p:nvPr/>
        </p:nvSpPr>
        <p:spPr>
          <a:xfrm>
            <a:off x="7452360" y="3483864"/>
            <a:ext cx="4069080" cy="731520"/>
          </a:xfrm>
          <a:prstGeom prst="rect">
            <a:avLst/>
          </a:prstGeom>
          <a:noFill/>
          <a:ln/>
        </p:spPr>
        <p:txBody>
          <a:bodyPr wrap="square" lIns="0" tIns="0" rIns="0" bIns="0" rtlCol="0" anchor="ctr"/>
          <a:lstStyle/>
          <a:p>
            <a:pPr indent="0" marL="0">
              <a:buNone/>
            </a:pPr>
            <a:r>
              <a:rPr lang="en-US" sz="1400" dirty="0">
                <a:solidFill>
                  <a:schemeClr val="tx1"/>
                </a:solidFill>
              </a:rPr>
              <a:t>Walkthrough and B1 say Cribl; C says Silver. Sets Bronze classification.</a:t>
            </a:r>
            <a:endParaRPr lang="en-US" sz="1400" dirty="0"/>
          </a:p>
        </p:txBody>
      </p:sp>
      <p:sp>
        <p:nvSpPr>
          <p:cNvPr id="19" name="num-4"/>
          <p:cNvSpPr/>
          <p:nvPr/>
        </p:nvSpPr>
        <p:spPr>
          <a:xfrm>
            <a:off x="548640" y="4507992"/>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548640" y="45079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234440" y="4379976"/>
            <a:ext cx="5852160" cy="731520"/>
          </a:xfrm>
          <a:prstGeom prst="rect">
            <a:avLst/>
          </a:prstGeom>
          <a:noFill/>
          <a:ln/>
        </p:spPr>
        <p:txBody>
          <a:bodyPr wrap="square" lIns="0" tIns="0" rIns="0" bIns="0" rtlCol="0" anchor="ctr"/>
          <a:lstStyle/>
          <a:p>
            <a:pPr indent="0" marL="0">
              <a:buNone/>
            </a:pPr>
            <a:r>
              <a:rPr lang="en-US" sz="1600" b="1" dirty="0">
                <a:solidFill>
                  <a:schemeClr val="accent1"/>
                </a:solidFill>
              </a:rPr>
              <a:t>Which pre-aggregates must exist before ES query migration?</a:t>
            </a:r>
            <a:endParaRPr lang="en-US" sz="1600" dirty="0"/>
          </a:p>
        </p:txBody>
      </p:sp>
      <p:sp>
        <p:nvSpPr>
          <p:cNvPr id="22" name="why-4"/>
          <p:cNvSpPr/>
          <p:nvPr/>
        </p:nvSpPr>
        <p:spPr>
          <a:xfrm>
            <a:off x="7315200" y="4379976"/>
            <a:ext cx="4343400" cy="731520"/>
          </a:xfrm>
          <a:prstGeom prst="rect">
            <a:avLst/>
          </a:prstGeom>
          <a:solidFill>
            <a:schemeClr val="bg2"/>
          </a:solidFill>
          <a:ln w="12700">
            <a:solidFill>
              <a:schemeClr val="bg2"/>
            </a:solidFill>
            <a:prstDash val="solid"/>
          </a:ln>
        </p:spPr>
      </p:sp>
      <p:sp>
        <p:nvSpPr>
          <p:cNvPr id="23" name="Text 21"/>
          <p:cNvSpPr txBox="1"/>
          <p:nvPr/>
        </p:nvSpPr>
        <p:spPr>
          <a:xfrm>
            <a:off x="7452360" y="4379976"/>
            <a:ext cx="4069080" cy="731520"/>
          </a:xfrm>
          <a:prstGeom prst="rect">
            <a:avLst/>
          </a:prstGeom>
          <a:noFill/>
          <a:ln/>
        </p:spPr>
        <p:txBody>
          <a:bodyPr wrap="square" lIns="0" tIns="0" rIns="0" bIns="0" rtlCol="0" anchor="ctr"/>
          <a:lstStyle/>
          <a:p>
            <a:pPr indent="0" marL="0">
              <a:buNone/>
            </a:pPr>
            <a:r>
              <a:rPr lang="en-US" sz="1400" dirty="0">
                <a:solidFill>
                  <a:schemeClr val="tx1"/>
                </a:solidFill>
              </a:rPr>
              <a:t>Hard dependency between Workstreams C and D.</a:t>
            </a:r>
            <a:endParaRPr lang="en-US" sz="1400" dirty="0"/>
          </a:p>
        </p:txBody>
      </p:sp>
      <p:sp>
        <p:nvSpPr>
          <p:cNvPr id="24" name="num-5"/>
          <p:cNvSpPr/>
          <p:nvPr/>
        </p:nvSpPr>
        <p:spPr>
          <a:xfrm>
            <a:off x="548640" y="5404104"/>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548640" y="54041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1234440" y="5276088"/>
            <a:ext cx="5852160" cy="731520"/>
          </a:xfrm>
          <a:prstGeom prst="rect">
            <a:avLst/>
          </a:prstGeom>
          <a:noFill/>
          <a:ln/>
        </p:spPr>
        <p:txBody>
          <a:bodyPr wrap="square" lIns="0" tIns="0" rIns="0" bIns="0" rtlCol="0" anchor="ctr"/>
          <a:lstStyle/>
          <a:p>
            <a:pPr indent="0" marL="0">
              <a:buNone/>
            </a:pPr>
            <a:r>
              <a:rPr lang="en-US" sz="1600" b="1" dirty="0">
                <a:solidFill>
                  <a:schemeClr val="accent1"/>
                </a:solidFill>
              </a:rPr>
              <a:t>One catalog per domain, or by environment type?</a:t>
            </a:r>
            <a:endParaRPr lang="en-US" sz="1600" dirty="0"/>
          </a:p>
        </p:txBody>
      </p:sp>
      <p:sp>
        <p:nvSpPr>
          <p:cNvPr id="27" name="why-5"/>
          <p:cNvSpPr/>
          <p:nvPr/>
        </p:nvSpPr>
        <p:spPr>
          <a:xfrm>
            <a:off x="7315200" y="5276088"/>
            <a:ext cx="4343400" cy="731520"/>
          </a:xfrm>
          <a:prstGeom prst="rect">
            <a:avLst/>
          </a:prstGeom>
          <a:solidFill>
            <a:schemeClr val="bg2"/>
          </a:solidFill>
          <a:ln w="12700">
            <a:solidFill>
              <a:schemeClr val="bg2"/>
            </a:solidFill>
            <a:prstDash val="solid"/>
          </a:ln>
        </p:spPr>
      </p:sp>
      <p:sp>
        <p:nvSpPr>
          <p:cNvPr id="28" name="Text 26"/>
          <p:cNvSpPr txBox="1"/>
          <p:nvPr/>
        </p:nvSpPr>
        <p:spPr>
          <a:xfrm>
            <a:off x="7452360" y="5276088"/>
            <a:ext cx="4069080" cy="731520"/>
          </a:xfrm>
          <a:prstGeom prst="rect">
            <a:avLst/>
          </a:prstGeom>
          <a:noFill/>
          <a:ln/>
        </p:spPr>
        <p:txBody>
          <a:bodyPr wrap="square" lIns="0" tIns="0" rIns="0" bIns="0" rtlCol="0" anchor="ctr"/>
          <a:lstStyle/>
          <a:p>
            <a:pPr indent="0" marL="0">
              <a:buNone/>
            </a:pPr>
            <a:r>
              <a:rPr lang="en-US" sz="1400" dirty="0">
                <a:solidFill>
                  <a:schemeClr val="tx1"/>
                </a:solidFill>
              </a:rPr>
              <a:t>Walkthrough and C propose different structures.</a:t>
            </a:r>
            <a:endParaRPr lang="en-US" sz="1400" dirty="0"/>
          </a:p>
        </p:txBody>
      </p:sp>
      <p:sp>
        <p:nvSpPr>
          <p:cNvPr id="29" name="Text 27"/>
          <p:cNvSpPr txBox="1"/>
          <p:nvPr/>
        </p:nvSpPr>
        <p:spPr>
          <a:xfrm>
            <a:off x="548640" y="612648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Counts shown are proposals from the methodology documents and need CVS approval.</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KPMG Workshop">
  <a:themeElements>
    <a:clrScheme name="KPMG Workshop">
      <a:dk1>
        <a:srgbClr val="1F2937"/>
      </a:dk1>
      <a:lt1>
        <a:srgbClr val="FFFFFF"/>
      </a:lt1>
      <a:dk2>
        <a:srgbClr val="00338D"/>
      </a:dk2>
      <a:lt2>
        <a:srgbClr val="EAF0FA"/>
      </a:lt2>
      <a:accent1>
        <a:srgbClr val="00338D"/>
      </a:accent1>
      <a:accent2>
        <a:srgbClr val="0091DA"/>
      </a:accent2>
      <a:accent3>
        <a:srgbClr val="483698"/>
      </a:accent3>
      <a:accent4>
        <a:srgbClr val="00A3A1"/>
      </a:accent4>
      <a:accent5>
        <a:srgbClr val="6B7280"/>
      </a:accent5>
      <a:accent6>
        <a:srgbClr val="C7D6F0"/>
      </a:accent6>
      <a:hlink>
        <a:srgbClr val="0091DA"/>
      </a:hlink>
      <a:folHlink>
        <a:srgbClr val="483698"/>
      </a:folHlink>
    </a:clrScheme>
    <a:fontScheme name="KPMG Worksho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2026-10-13T14:31:27Z</dcterms:created>
  <dcterms:modified xsi:type="dcterms:W3CDTF">2026-10-13T14:31:27Z</dcterms:modified>
</cp:coreProperties>
</file>