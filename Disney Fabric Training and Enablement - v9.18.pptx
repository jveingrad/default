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
  </p:notesMasterIdLst>
  <p:sldIdLst>
    <p:sldId id="281" r:id="rId5"/>
    <p:sldId id="278"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B71869-155D-BE4E-4D42-6254A0D20142}" name="Hanson, Max A" initials="HM" userId="S::mahanson@kpmg.com::c3c5d76b-1419-4396-890e-db5fed01c2f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8D"/>
    <a:srgbClr val="005E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p:cViewPr varScale="1">
        <p:scale>
          <a:sx n="143" d="100"/>
          <a:sy n="143" d="100"/>
        </p:scale>
        <p:origin x="12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ridan, Jack" userId="d0194f0e-edca-4d51-8263-e3fc5dbdcfa2" providerId="ADAL" clId="{647304D9-8AA5-40A0-A766-8E9CF048A9B0}"/>
    <pc:docChg chg="delSld delSection modSection">
      <pc:chgData name="Sheridan, Jack" userId="d0194f0e-edca-4d51-8263-e3fc5dbdcfa2" providerId="ADAL" clId="{647304D9-8AA5-40A0-A766-8E9CF048A9B0}" dt="2026-09-18T19:43:34.304" v="9" actId="17853"/>
      <pc:docMkLst>
        <pc:docMk/>
      </pc:docMkLst>
      <pc:sldChg chg="del">
        <pc:chgData name="Sheridan, Jack" userId="d0194f0e-edca-4d51-8263-e3fc5dbdcfa2" providerId="ADAL" clId="{647304D9-8AA5-40A0-A766-8E9CF048A9B0}" dt="2026-09-18T19:43:31.362" v="8" actId="47"/>
        <pc:sldMkLst>
          <pc:docMk/>
          <pc:sldMk cId="0" sldId="256"/>
        </pc:sldMkLst>
      </pc:sldChg>
      <pc:sldChg chg="del">
        <pc:chgData name="Sheridan, Jack" userId="d0194f0e-edca-4d51-8263-e3fc5dbdcfa2" providerId="ADAL" clId="{647304D9-8AA5-40A0-A766-8E9CF048A9B0}" dt="2026-09-18T19:43:30.963" v="7" actId="47"/>
        <pc:sldMkLst>
          <pc:docMk/>
          <pc:sldMk cId="0" sldId="257"/>
        </pc:sldMkLst>
      </pc:sldChg>
      <pc:sldChg chg="del">
        <pc:chgData name="Sheridan, Jack" userId="d0194f0e-edca-4d51-8263-e3fc5dbdcfa2" providerId="ADAL" clId="{647304D9-8AA5-40A0-A766-8E9CF048A9B0}" dt="2026-09-18T19:43:30.732" v="6" actId="47"/>
        <pc:sldMkLst>
          <pc:docMk/>
          <pc:sldMk cId="0" sldId="258"/>
        </pc:sldMkLst>
      </pc:sldChg>
      <pc:sldChg chg="del">
        <pc:chgData name="Sheridan, Jack" userId="d0194f0e-edca-4d51-8263-e3fc5dbdcfa2" providerId="ADAL" clId="{647304D9-8AA5-40A0-A766-8E9CF048A9B0}" dt="2026-09-18T19:43:30.546" v="5" actId="47"/>
        <pc:sldMkLst>
          <pc:docMk/>
          <pc:sldMk cId="0" sldId="259"/>
        </pc:sldMkLst>
      </pc:sldChg>
      <pc:sldChg chg="del">
        <pc:chgData name="Sheridan, Jack" userId="d0194f0e-edca-4d51-8263-e3fc5dbdcfa2" providerId="ADAL" clId="{647304D9-8AA5-40A0-A766-8E9CF048A9B0}" dt="2026-09-18T19:43:30.202" v="4" actId="47"/>
        <pc:sldMkLst>
          <pc:docMk/>
          <pc:sldMk cId="0" sldId="276"/>
        </pc:sldMkLst>
      </pc:sldChg>
      <pc:sldChg chg="del">
        <pc:chgData name="Sheridan, Jack" userId="d0194f0e-edca-4d51-8263-e3fc5dbdcfa2" providerId="ADAL" clId="{647304D9-8AA5-40A0-A766-8E9CF048A9B0}" dt="2026-09-18T19:43:29.897" v="3" actId="47"/>
        <pc:sldMkLst>
          <pc:docMk/>
          <pc:sldMk cId="3217638690" sldId="277"/>
        </pc:sldMkLst>
      </pc:sldChg>
      <pc:sldChg chg="del">
        <pc:chgData name="Sheridan, Jack" userId="d0194f0e-edca-4d51-8263-e3fc5dbdcfa2" providerId="ADAL" clId="{647304D9-8AA5-40A0-A766-8E9CF048A9B0}" dt="2026-09-18T19:43:29.372" v="1" actId="47"/>
        <pc:sldMkLst>
          <pc:docMk/>
          <pc:sldMk cId="0" sldId="279"/>
        </pc:sldMkLst>
      </pc:sldChg>
      <pc:sldChg chg="del">
        <pc:chgData name="Sheridan, Jack" userId="d0194f0e-edca-4d51-8263-e3fc5dbdcfa2" providerId="ADAL" clId="{647304D9-8AA5-40A0-A766-8E9CF048A9B0}" dt="2026-09-18T19:43:29.644" v="2" actId="47"/>
        <pc:sldMkLst>
          <pc:docMk/>
          <pc:sldMk cId="0"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4422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0338D"/>
          </a:solidFill>
          <a:ln/>
        </p:spPr>
        <p:txBody>
          <a:bodyPr/>
          <a:lstStyle/>
          <a:p>
            <a:endParaRPr lang="en-US"/>
          </a:p>
        </p:txBody>
      </p:sp>
      <p:sp>
        <p:nvSpPr>
          <p:cNvPr id="3" name="Text 1"/>
          <p:cNvSpPr/>
          <p:nvPr/>
        </p:nvSpPr>
        <p:spPr>
          <a:xfrm>
            <a:off x="457200" y="118872"/>
            <a:ext cx="8138160" cy="694944"/>
          </a:xfrm>
          <a:prstGeom prst="rect">
            <a:avLst/>
          </a:prstGeom>
          <a:noFill/>
          <a:ln/>
        </p:spPr>
        <p:txBody>
          <a:bodyPr wrap="square" lIns="0" tIns="0" rIns="0" bIns="0" rtlCol="0" anchor="ctr"/>
          <a:lstStyle/>
          <a:p>
            <a:pPr marL="0" indent="0">
              <a:lnSpc>
                <a:spcPts val="2200"/>
              </a:lnSpc>
              <a:buNone/>
            </a:pPr>
            <a:r>
              <a:rPr lang="en-US" sz="1800" b="1" dirty="0">
                <a:solidFill>
                  <a:srgbClr val="FFFFFF"/>
                </a:solidFill>
                <a:latin typeface="Arial" pitchFamily="34" charset="0"/>
                <a:ea typeface="Arial" pitchFamily="34" charset="-122"/>
                <a:cs typeface="Arial" pitchFamily="34" charset="-120"/>
              </a:rPr>
              <a:t>Microsoft Fabric &amp; DevOps enablement</a:t>
            </a:r>
            <a:endParaRPr lang="en-US" sz="1800" dirty="0"/>
          </a:p>
          <a:p>
            <a:pPr marL="0" indent="0">
              <a:lnSpc>
                <a:spcPts val="2200"/>
              </a:lnSpc>
              <a:buNone/>
            </a:pPr>
            <a:r>
              <a:rPr lang="en-US" sz="1800" b="1" dirty="0">
                <a:solidFill>
                  <a:srgbClr val="FFFFFF"/>
                </a:solidFill>
                <a:latin typeface="Arial" pitchFamily="34" charset="0"/>
                <a:ea typeface="Arial" pitchFamily="34" charset="-122"/>
                <a:cs typeface="Arial" pitchFamily="34" charset="-120"/>
              </a:rPr>
              <a:t>Proposed agenda  ·  two days, extending to three if needed</a:t>
            </a:r>
            <a:endParaRPr lang="en-US" sz="1800" dirty="0"/>
          </a:p>
        </p:txBody>
      </p:sp>
      <p:sp>
        <p:nvSpPr>
          <p:cNvPr id="4" name="Text 2"/>
          <p:cNvSpPr/>
          <p:nvPr/>
        </p:nvSpPr>
        <p:spPr>
          <a:xfrm>
            <a:off x="8229600" y="329184"/>
            <a:ext cx="3502152" cy="274320"/>
          </a:xfrm>
          <a:prstGeom prst="rect">
            <a:avLst/>
          </a:prstGeom>
          <a:noFill/>
          <a:ln/>
        </p:spPr>
        <p:txBody>
          <a:bodyPr wrap="square" lIns="0" tIns="0" rIns="0" bIns="0" rtlCol="0" anchor="ctr"/>
          <a:lstStyle/>
          <a:p>
            <a:pPr marL="0" indent="0" algn="r">
              <a:buNone/>
            </a:pPr>
            <a:r>
              <a:rPr lang="en-US" sz="1050" b="1" dirty="0">
                <a:solidFill>
                  <a:srgbClr val="8FB8E8"/>
                </a:solidFill>
                <a:latin typeface="Arial" pitchFamily="34" charset="0"/>
                <a:ea typeface="Arial" pitchFamily="34" charset="-122"/>
                <a:cs typeface="Arial" pitchFamily="34" charset="-120"/>
              </a:rPr>
              <a:t>KPMG  ·  Disney Tax Data Management &amp; Innovation</a:t>
            </a:r>
            <a:endParaRPr lang="en-US" sz="1050" dirty="0"/>
          </a:p>
        </p:txBody>
      </p:sp>
      <p:sp>
        <p:nvSpPr>
          <p:cNvPr id="5" name="Shape 3"/>
          <p:cNvSpPr/>
          <p:nvPr/>
        </p:nvSpPr>
        <p:spPr>
          <a:xfrm>
            <a:off x="457200" y="1042416"/>
            <a:ext cx="11274552" cy="274320"/>
          </a:xfrm>
          <a:prstGeom prst="rect">
            <a:avLst/>
          </a:prstGeom>
          <a:solidFill>
            <a:srgbClr val="F4F7FB"/>
          </a:solidFill>
          <a:ln/>
        </p:spPr>
        <p:txBody>
          <a:bodyPr/>
          <a:lstStyle/>
          <a:p>
            <a:endParaRPr lang="en-US"/>
          </a:p>
        </p:txBody>
      </p:sp>
      <p:sp>
        <p:nvSpPr>
          <p:cNvPr id="6" name="Shape 4"/>
          <p:cNvSpPr/>
          <p:nvPr/>
        </p:nvSpPr>
        <p:spPr>
          <a:xfrm>
            <a:off x="457200" y="1042416"/>
            <a:ext cx="41148" cy="274320"/>
          </a:xfrm>
          <a:prstGeom prst="rect">
            <a:avLst/>
          </a:prstGeom>
          <a:solidFill>
            <a:srgbClr val="1E49E2"/>
          </a:solidFill>
          <a:ln/>
        </p:spPr>
        <p:txBody>
          <a:bodyPr/>
          <a:lstStyle/>
          <a:p>
            <a:endParaRPr lang="en-US"/>
          </a:p>
        </p:txBody>
      </p:sp>
      <p:sp>
        <p:nvSpPr>
          <p:cNvPr id="7" name="Text 5"/>
          <p:cNvSpPr/>
          <p:nvPr/>
        </p:nvSpPr>
        <p:spPr>
          <a:xfrm>
            <a:off x="603504" y="1083564"/>
            <a:ext cx="10981944" cy="201168"/>
          </a:xfrm>
          <a:prstGeom prst="rect">
            <a:avLst/>
          </a:prstGeom>
          <a:noFill/>
          <a:ln/>
        </p:spPr>
        <p:txBody>
          <a:bodyPr wrap="square" lIns="0" tIns="0" rIns="0" bIns="0" rtlCol="0" anchor="ctr"/>
          <a:lstStyle/>
          <a:p>
            <a:pPr marL="0" indent="0">
              <a:buNone/>
            </a:pPr>
            <a:r>
              <a:rPr lang="en-US" sz="940" b="1" dirty="0">
                <a:solidFill>
                  <a:srgbClr val="0B2265"/>
                </a:solidFill>
                <a:latin typeface="Arial" pitchFamily="34" charset="0"/>
                <a:ea typeface="Arial" pitchFamily="34" charset="-122"/>
                <a:cs typeface="Arial" pitchFamily="34" charset="-120"/>
              </a:rPr>
              <a:t>Scoped as two days. </a:t>
            </a:r>
            <a:r>
              <a:rPr lang="en-US" sz="940" dirty="0">
                <a:solidFill>
                  <a:srgbClr val="0B2265"/>
                </a:solidFill>
                <a:latin typeface="Arial" pitchFamily="34" charset="0"/>
                <a:ea typeface="Arial" pitchFamily="34" charset="-122"/>
                <a:cs typeface="Arial" pitchFamily="34" charset="-120"/>
              </a:rPr>
              <a:t>This can extend into a third day as the material comes together — we would rather add time than rush the concepts.</a:t>
            </a:r>
            <a:endParaRPr lang="en-US" sz="940" dirty="0"/>
          </a:p>
        </p:txBody>
      </p:sp>
      <p:sp>
        <p:nvSpPr>
          <p:cNvPr id="8" name="Text 6"/>
          <p:cNvSpPr/>
          <p:nvPr/>
        </p:nvSpPr>
        <p:spPr>
          <a:xfrm>
            <a:off x="457200" y="1463040"/>
            <a:ext cx="4304995" cy="219456"/>
          </a:xfrm>
          <a:prstGeom prst="rect">
            <a:avLst/>
          </a:prstGeom>
          <a:noFill/>
          <a:ln/>
        </p:spPr>
        <p:txBody>
          <a:bodyPr wrap="square" lIns="0" tIns="0" rIns="0" bIns="0" rtlCol="0" anchor="ctr"/>
          <a:lstStyle/>
          <a:p>
            <a:pPr marL="0" indent="0">
              <a:buNone/>
            </a:pPr>
            <a:r>
              <a:rPr lang="en-US" sz="1000" b="1" kern="0" spc="100" dirty="0">
                <a:solidFill>
                  <a:srgbClr val="00338D"/>
                </a:solidFill>
                <a:latin typeface="Arial" pitchFamily="34" charset="0"/>
                <a:ea typeface="Arial" pitchFamily="34" charset="-122"/>
                <a:cs typeface="Arial" pitchFamily="34" charset="-120"/>
              </a:rPr>
              <a:t>DAY ONE</a:t>
            </a:r>
            <a:endParaRPr lang="en-US" sz="1000" dirty="0"/>
          </a:p>
        </p:txBody>
      </p:sp>
      <p:sp>
        <p:nvSpPr>
          <p:cNvPr id="9" name="Text 7"/>
          <p:cNvSpPr/>
          <p:nvPr/>
        </p:nvSpPr>
        <p:spPr>
          <a:xfrm>
            <a:off x="457200" y="1682496"/>
            <a:ext cx="4304995" cy="274320"/>
          </a:xfrm>
          <a:prstGeom prst="rect">
            <a:avLst/>
          </a:prstGeom>
          <a:noFill/>
          <a:ln/>
        </p:spPr>
        <p:txBody>
          <a:bodyPr wrap="square" lIns="0" tIns="0" rIns="0" bIns="0" rtlCol="0" anchor="ctr"/>
          <a:lstStyle/>
          <a:p>
            <a:pPr marL="0" indent="0">
              <a:buNone/>
            </a:pPr>
            <a:r>
              <a:rPr lang="en-US" sz="1400" b="1" dirty="0">
                <a:solidFill>
                  <a:srgbClr val="1A1A2E"/>
                </a:solidFill>
                <a:latin typeface="Arial" pitchFamily="34" charset="0"/>
                <a:ea typeface="Arial" pitchFamily="34" charset="-122"/>
                <a:cs typeface="Arial" pitchFamily="34" charset="-120"/>
              </a:rPr>
              <a:t>Foundations</a:t>
            </a:r>
            <a:endParaRPr lang="en-US" sz="1400" dirty="0"/>
          </a:p>
        </p:txBody>
      </p:sp>
      <p:sp>
        <p:nvSpPr>
          <p:cNvPr id="10" name="Text 8"/>
          <p:cNvSpPr/>
          <p:nvPr/>
        </p:nvSpPr>
        <p:spPr>
          <a:xfrm>
            <a:off x="457200" y="1975104"/>
            <a:ext cx="4304995" cy="402336"/>
          </a:xfrm>
          <a:prstGeom prst="rect">
            <a:avLst/>
          </a:prstGeom>
          <a:noFill/>
          <a:ln/>
        </p:spPr>
        <p:txBody>
          <a:bodyPr wrap="square" lIns="0" tIns="0" rIns="0" bIns="0" rtlCol="0" anchor="ctr"/>
          <a:lstStyle/>
          <a:p>
            <a:pPr marL="0" indent="0">
              <a:lnSpc>
                <a:spcPts val="1050"/>
              </a:lnSpc>
              <a:buNone/>
            </a:pPr>
            <a:r>
              <a:rPr lang="en-US" sz="860" dirty="0">
                <a:solidFill>
                  <a:srgbClr val="5A6472"/>
                </a:solidFill>
                <a:latin typeface="Arial" pitchFamily="34" charset="0"/>
                <a:ea typeface="Arial" pitchFamily="34" charset="-122"/>
                <a:cs typeface="Arial" pitchFamily="34" charset="-120"/>
              </a:rPr>
              <a:t>Shared vocabulary, then the SQL and Python baseline the team will build on.</a:t>
            </a:r>
            <a:endParaRPr lang="en-US" sz="860" dirty="0"/>
          </a:p>
        </p:txBody>
      </p:sp>
      <p:sp>
        <p:nvSpPr>
          <p:cNvPr id="11" name="Shape 9"/>
          <p:cNvSpPr/>
          <p:nvPr/>
        </p:nvSpPr>
        <p:spPr>
          <a:xfrm>
            <a:off x="457200" y="2377440"/>
            <a:ext cx="4304995" cy="32004"/>
          </a:xfrm>
          <a:prstGeom prst="rect">
            <a:avLst/>
          </a:prstGeom>
          <a:solidFill>
            <a:srgbClr val="00338D"/>
          </a:solidFill>
          <a:ln/>
        </p:spPr>
        <p:txBody>
          <a:bodyPr/>
          <a:lstStyle/>
          <a:p>
            <a:endParaRPr lang="en-US"/>
          </a:p>
        </p:txBody>
      </p:sp>
      <p:sp>
        <p:nvSpPr>
          <p:cNvPr id="12" name="Text 10"/>
          <p:cNvSpPr/>
          <p:nvPr/>
        </p:nvSpPr>
        <p:spPr>
          <a:xfrm>
            <a:off x="5182819" y="1463040"/>
            <a:ext cx="6548933" cy="219456"/>
          </a:xfrm>
          <a:prstGeom prst="rect">
            <a:avLst/>
          </a:prstGeom>
          <a:noFill/>
          <a:ln/>
        </p:spPr>
        <p:txBody>
          <a:bodyPr wrap="square" lIns="0" tIns="0" rIns="0" bIns="0" rtlCol="0" anchor="ctr"/>
          <a:lstStyle/>
          <a:p>
            <a:pPr marL="0" indent="0">
              <a:buNone/>
            </a:pPr>
            <a:r>
              <a:rPr lang="en-US" sz="1000" b="1" kern="0" spc="100" dirty="0">
                <a:solidFill>
                  <a:srgbClr val="00338D"/>
                </a:solidFill>
                <a:latin typeface="Arial" pitchFamily="34" charset="0"/>
                <a:ea typeface="Arial" pitchFamily="34" charset="-122"/>
                <a:cs typeface="Arial" pitchFamily="34" charset="-120"/>
              </a:rPr>
              <a:t>DAY TWO</a:t>
            </a:r>
            <a:endParaRPr lang="en-US" sz="1000" dirty="0"/>
          </a:p>
        </p:txBody>
      </p:sp>
      <p:sp>
        <p:nvSpPr>
          <p:cNvPr id="13" name="Text 11"/>
          <p:cNvSpPr/>
          <p:nvPr/>
        </p:nvSpPr>
        <p:spPr>
          <a:xfrm>
            <a:off x="5182819" y="1682496"/>
            <a:ext cx="6548933" cy="274320"/>
          </a:xfrm>
          <a:prstGeom prst="rect">
            <a:avLst/>
          </a:prstGeom>
          <a:noFill/>
          <a:ln/>
        </p:spPr>
        <p:txBody>
          <a:bodyPr wrap="square" lIns="0" tIns="0" rIns="0" bIns="0" rtlCol="0" anchor="ctr"/>
          <a:lstStyle/>
          <a:p>
            <a:pPr marL="0" indent="0">
              <a:buNone/>
            </a:pPr>
            <a:r>
              <a:rPr lang="en-US" sz="1400" b="1" dirty="0">
                <a:solidFill>
                  <a:srgbClr val="1A1A2E"/>
                </a:solidFill>
                <a:latin typeface="Arial" pitchFamily="34" charset="0"/>
                <a:ea typeface="Arial" pitchFamily="34" charset="-122"/>
                <a:cs typeface="Arial" pitchFamily="34" charset="-120"/>
              </a:rPr>
              <a:t>Building, shipping and consuming</a:t>
            </a:r>
            <a:endParaRPr lang="en-US" sz="1400" dirty="0"/>
          </a:p>
        </p:txBody>
      </p:sp>
      <p:sp>
        <p:nvSpPr>
          <p:cNvPr id="14" name="Text 12"/>
          <p:cNvSpPr/>
          <p:nvPr/>
        </p:nvSpPr>
        <p:spPr>
          <a:xfrm>
            <a:off x="5182819" y="1975104"/>
            <a:ext cx="6548933" cy="402336"/>
          </a:xfrm>
          <a:prstGeom prst="rect">
            <a:avLst/>
          </a:prstGeom>
          <a:noFill/>
          <a:ln/>
        </p:spPr>
        <p:txBody>
          <a:bodyPr wrap="square" lIns="0" tIns="0" rIns="0" bIns="0" rtlCol="0" anchor="ctr"/>
          <a:lstStyle/>
          <a:p>
            <a:pPr marL="0" indent="0">
              <a:lnSpc>
                <a:spcPts val="1050"/>
              </a:lnSpc>
              <a:buNone/>
            </a:pPr>
            <a:r>
              <a:rPr lang="en-US" sz="860" dirty="0">
                <a:solidFill>
                  <a:srgbClr val="5A6472"/>
                </a:solidFill>
                <a:latin typeface="Arial" pitchFamily="34" charset="0"/>
                <a:ea typeface="Arial" pitchFamily="34" charset="-122"/>
                <a:cs typeface="Arial" pitchFamily="34" charset="-120"/>
              </a:rPr>
              <a:t>Hands-on workflow development, the AI-assisted way of working, and how solutions reach production and the people who use them.</a:t>
            </a:r>
            <a:endParaRPr lang="en-US" sz="860" dirty="0"/>
          </a:p>
        </p:txBody>
      </p:sp>
      <p:sp>
        <p:nvSpPr>
          <p:cNvPr id="15" name="Shape 13"/>
          <p:cNvSpPr/>
          <p:nvPr/>
        </p:nvSpPr>
        <p:spPr>
          <a:xfrm>
            <a:off x="5182819" y="2377440"/>
            <a:ext cx="6548933" cy="32004"/>
          </a:xfrm>
          <a:prstGeom prst="rect">
            <a:avLst/>
          </a:prstGeom>
          <a:solidFill>
            <a:srgbClr val="00338D"/>
          </a:solidFill>
          <a:ln/>
        </p:spPr>
        <p:txBody>
          <a:bodyPr/>
          <a:lstStyle/>
          <a:p>
            <a:endParaRPr lang="en-US"/>
          </a:p>
        </p:txBody>
      </p:sp>
      <p:sp>
        <p:nvSpPr>
          <p:cNvPr id="16" name="Shape 14"/>
          <p:cNvSpPr/>
          <p:nvPr/>
        </p:nvSpPr>
        <p:spPr>
          <a:xfrm>
            <a:off x="4967021" y="1463040"/>
            <a:ext cx="10973" cy="4187952"/>
          </a:xfrm>
          <a:prstGeom prst="rect">
            <a:avLst/>
          </a:prstGeom>
          <a:solidFill>
            <a:srgbClr val="D5DCE8"/>
          </a:solidFill>
          <a:ln/>
        </p:spPr>
        <p:txBody>
          <a:bodyPr/>
          <a:lstStyle/>
          <a:p>
            <a:endParaRPr lang="en-US"/>
          </a:p>
        </p:txBody>
      </p:sp>
      <p:sp>
        <p:nvSpPr>
          <p:cNvPr id="17" name="Text 15"/>
          <p:cNvSpPr/>
          <p:nvPr/>
        </p:nvSpPr>
        <p:spPr>
          <a:xfrm>
            <a:off x="457200" y="2414016"/>
            <a:ext cx="2061058" cy="384048"/>
          </a:xfrm>
          <a:prstGeom prst="rect">
            <a:avLst/>
          </a:prstGeom>
          <a:noFill/>
          <a:ln/>
        </p:spPr>
        <p:txBody>
          <a:bodyPr wrap="square" lIns="0" tIns="0" rIns="0" bIns="0" rtlCol="0" anchor="ctr"/>
          <a:lstStyle/>
          <a:p>
            <a:pPr marL="0" indent="0">
              <a:buNone/>
            </a:pPr>
            <a:r>
              <a:rPr lang="en-US" sz="2500" b="1" dirty="0">
                <a:solidFill>
                  <a:srgbClr val="1E49E2"/>
                </a:solidFill>
                <a:latin typeface="Arial" pitchFamily="34" charset="0"/>
                <a:ea typeface="Arial" pitchFamily="34" charset="-122"/>
                <a:cs typeface="Arial" pitchFamily="34" charset="-120"/>
              </a:rPr>
              <a:t>01</a:t>
            </a:r>
            <a:endParaRPr lang="en-US" sz="2500" dirty="0"/>
          </a:p>
        </p:txBody>
      </p:sp>
      <p:sp>
        <p:nvSpPr>
          <p:cNvPr id="18" name="Text 16"/>
          <p:cNvSpPr/>
          <p:nvPr/>
        </p:nvSpPr>
        <p:spPr>
          <a:xfrm>
            <a:off x="457200" y="2816352"/>
            <a:ext cx="2061058" cy="548640"/>
          </a:xfrm>
          <a:prstGeom prst="rect">
            <a:avLst/>
          </a:prstGeom>
          <a:noFill/>
          <a:ln/>
        </p:spPr>
        <p:txBody>
          <a:bodyPr wrap="square" lIns="0" tIns="0" rIns="0" bIns="0" rtlCol="0" anchor="ctr"/>
          <a:lstStyle/>
          <a:p>
            <a:pPr marL="0" indent="0">
              <a:lnSpc>
                <a:spcPts val="1350"/>
              </a:lnSpc>
              <a:buNone/>
            </a:pPr>
            <a:r>
              <a:rPr lang="en-US" sz="1120" b="1" dirty="0">
                <a:solidFill>
                  <a:srgbClr val="0B2265"/>
                </a:solidFill>
                <a:latin typeface="Arial" pitchFamily="34" charset="0"/>
                <a:ea typeface="Arial" pitchFamily="34" charset="-122"/>
                <a:cs typeface="Arial" pitchFamily="34" charset="-120"/>
              </a:rPr>
              <a:t>Fabric Foundations</a:t>
            </a:r>
            <a:endParaRPr lang="en-US" sz="1120" dirty="0"/>
          </a:p>
          <a:p>
            <a:pPr marL="0" indent="0">
              <a:lnSpc>
                <a:spcPts val="1350"/>
              </a:lnSpc>
              <a:buNone/>
            </a:pPr>
            <a:r>
              <a:rPr lang="en-US" sz="1120" b="1" dirty="0">
                <a:solidFill>
                  <a:srgbClr val="0B2265"/>
                </a:solidFill>
                <a:latin typeface="Arial" pitchFamily="34" charset="0"/>
                <a:ea typeface="Arial" pitchFamily="34" charset="-122"/>
                <a:cs typeface="Arial" pitchFamily="34" charset="-120"/>
              </a:rPr>
              <a:t>&amp; Architecture</a:t>
            </a:r>
            <a:endParaRPr lang="en-US" sz="1120" dirty="0"/>
          </a:p>
        </p:txBody>
      </p:sp>
      <p:sp>
        <p:nvSpPr>
          <p:cNvPr id="19" name="Text 17"/>
          <p:cNvSpPr/>
          <p:nvPr/>
        </p:nvSpPr>
        <p:spPr>
          <a:xfrm>
            <a:off x="457200" y="3346704"/>
            <a:ext cx="2061058" cy="384048"/>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Common ground for a room that mixes tax professionals with technologists.</a:t>
            </a:r>
            <a:endParaRPr lang="en-US" sz="800" dirty="0"/>
          </a:p>
        </p:txBody>
      </p:sp>
      <p:sp>
        <p:nvSpPr>
          <p:cNvPr id="20" name="Text 18"/>
          <p:cNvSpPr/>
          <p:nvPr/>
        </p:nvSpPr>
        <p:spPr>
          <a:xfrm>
            <a:off x="457200" y="374904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What Fabric looks like at Disney</a:t>
            </a:r>
            <a:endParaRPr lang="en-US" sz="920" dirty="0"/>
          </a:p>
        </p:txBody>
      </p:sp>
      <p:sp>
        <p:nvSpPr>
          <p:cNvPr id="21" name="Text 19"/>
          <p:cNvSpPr/>
          <p:nvPr/>
        </p:nvSpPr>
        <p:spPr>
          <a:xfrm>
            <a:off x="457200" y="400964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The environment your team works in, and how it is set up</a:t>
            </a:r>
            <a:endParaRPr lang="en-US" sz="880" dirty="0"/>
          </a:p>
        </p:txBody>
      </p:sp>
      <p:sp>
        <p:nvSpPr>
          <p:cNvPr id="22" name="Text 20"/>
          <p:cNvSpPr/>
          <p:nvPr/>
        </p:nvSpPr>
        <p:spPr>
          <a:xfrm>
            <a:off x="457200" y="429768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Alteryx migration strategy</a:t>
            </a:r>
            <a:endParaRPr lang="en-US" sz="920" dirty="0"/>
          </a:p>
        </p:txBody>
      </p:sp>
      <p:sp>
        <p:nvSpPr>
          <p:cNvPr id="23" name="Text 21"/>
          <p:cNvSpPr/>
          <p:nvPr/>
        </p:nvSpPr>
        <p:spPr>
          <a:xfrm>
            <a:off x="457200" y="455828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How the workflow estate moves across, with terms mapped back to Alteryx</a:t>
            </a:r>
            <a:endParaRPr lang="en-US" sz="880" dirty="0"/>
          </a:p>
        </p:txBody>
      </p:sp>
      <p:sp>
        <p:nvSpPr>
          <p:cNvPr id="24" name="Text 22"/>
          <p:cNvSpPr/>
          <p:nvPr/>
        </p:nvSpPr>
        <p:spPr>
          <a:xfrm>
            <a:off x="457200" y="484632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Lakehouse and OneLake</a:t>
            </a:r>
            <a:endParaRPr lang="en-US" sz="920" dirty="0"/>
          </a:p>
        </p:txBody>
      </p:sp>
      <p:sp>
        <p:nvSpPr>
          <p:cNvPr id="25" name="Text 23"/>
          <p:cNvSpPr/>
          <p:nvPr/>
        </p:nvSpPr>
        <p:spPr>
          <a:xfrm>
            <a:off x="457200" y="510692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Workspaces, tables and shortcuts, and how data is organised</a:t>
            </a:r>
            <a:endParaRPr lang="en-US" sz="880" dirty="0"/>
          </a:p>
        </p:txBody>
      </p:sp>
      <p:sp>
        <p:nvSpPr>
          <p:cNvPr id="26" name="Text 24"/>
          <p:cNvSpPr/>
          <p:nvPr/>
        </p:nvSpPr>
        <p:spPr>
          <a:xfrm>
            <a:off x="2701138" y="2414016"/>
            <a:ext cx="2061058" cy="384048"/>
          </a:xfrm>
          <a:prstGeom prst="rect">
            <a:avLst/>
          </a:prstGeom>
          <a:noFill/>
          <a:ln/>
        </p:spPr>
        <p:txBody>
          <a:bodyPr wrap="square" lIns="0" tIns="0" rIns="0" bIns="0" rtlCol="0" anchor="ctr"/>
          <a:lstStyle/>
          <a:p>
            <a:pPr marL="0" indent="0">
              <a:buNone/>
            </a:pPr>
            <a:r>
              <a:rPr lang="en-US" sz="2500" b="1" dirty="0">
                <a:solidFill>
                  <a:srgbClr val="1E49E2"/>
                </a:solidFill>
                <a:latin typeface="Arial" pitchFamily="34" charset="0"/>
                <a:ea typeface="Arial" pitchFamily="34" charset="-122"/>
                <a:cs typeface="Arial" pitchFamily="34" charset="-120"/>
              </a:rPr>
              <a:t>02</a:t>
            </a:r>
            <a:endParaRPr lang="en-US" sz="2500" dirty="0"/>
          </a:p>
        </p:txBody>
      </p:sp>
      <p:sp>
        <p:nvSpPr>
          <p:cNvPr id="27" name="Text 25"/>
          <p:cNvSpPr/>
          <p:nvPr/>
        </p:nvSpPr>
        <p:spPr>
          <a:xfrm>
            <a:off x="2701138" y="2816352"/>
            <a:ext cx="2061058" cy="548640"/>
          </a:xfrm>
          <a:prstGeom prst="rect">
            <a:avLst/>
          </a:prstGeom>
          <a:noFill/>
          <a:ln/>
        </p:spPr>
        <p:txBody>
          <a:bodyPr wrap="square" lIns="0" tIns="0" rIns="0" bIns="0" rtlCol="0" anchor="ctr"/>
          <a:lstStyle/>
          <a:p>
            <a:pPr marL="0" indent="0">
              <a:lnSpc>
                <a:spcPts val="1350"/>
              </a:lnSpc>
              <a:buNone/>
            </a:pPr>
            <a:r>
              <a:rPr lang="en-US" sz="1120" b="1" dirty="0">
                <a:solidFill>
                  <a:srgbClr val="0B2265"/>
                </a:solidFill>
                <a:latin typeface="Arial" pitchFamily="34" charset="0"/>
                <a:ea typeface="Arial" pitchFamily="34" charset="-122"/>
                <a:cs typeface="Arial" pitchFamily="34" charset="-120"/>
              </a:rPr>
              <a:t>SQL, Python &amp;</a:t>
            </a:r>
            <a:endParaRPr lang="en-US" sz="1120" dirty="0"/>
          </a:p>
          <a:p>
            <a:pPr marL="0" indent="0">
              <a:lnSpc>
                <a:spcPts val="1350"/>
              </a:lnSpc>
              <a:buNone/>
            </a:pPr>
            <a:r>
              <a:rPr lang="en-US" sz="1120" b="1" dirty="0">
                <a:solidFill>
                  <a:srgbClr val="0B2265"/>
                </a:solidFill>
                <a:latin typeface="Arial" pitchFamily="34" charset="0"/>
                <a:ea typeface="Arial" pitchFamily="34" charset="-122"/>
                <a:cs typeface="Arial" pitchFamily="34" charset="-120"/>
              </a:rPr>
              <a:t>Data Engineering</a:t>
            </a:r>
            <a:endParaRPr lang="en-US" sz="1120" dirty="0"/>
          </a:p>
        </p:txBody>
      </p:sp>
      <p:sp>
        <p:nvSpPr>
          <p:cNvPr id="28" name="Text 26"/>
          <p:cNvSpPr/>
          <p:nvPr/>
        </p:nvSpPr>
        <p:spPr>
          <a:xfrm>
            <a:off x="2701138" y="3346704"/>
            <a:ext cx="2061058" cy="384048"/>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The baseline skillset, pitched for a non-developer audience. Exercises throughout.</a:t>
            </a:r>
            <a:endParaRPr lang="en-US" sz="800" dirty="0"/>
          </a:p>
        </p:txBody>
      </p:sp>
      <p:sp>
        <p:nvSpPr>
          <p:cNvPr id="29" name="Text 27"/>
          <p:cNvSpPr/>
          <p:nvPr/>
        </p:nvSpPr>
        <p:spPr>
          <a:xfrm>
            <a:off x="2701138" y="374904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SQL fundamentals</a:t>
            </a:r>
            <a:endParaRPr lang="en-US" sz="920" dirty="0"/>
          </a:p>
        </p:txBody>
      </p:sp>
      <p:sp>
        <p:nvSpPr>
          <p:cNvPr id="30" name="Text 28"/>
          <p:cNvSpPr/>
          <p:nvPr/>
        </p:nvSpPr>
        <p:spPr>
          <a:xfrm>
            <a:off x="2701138" y="400964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Querying concepts and basic data modelling, with practical exercises</a:t>
            </a:r>
            <a:endParaRPr lang="en-US" sz="880" dirty="0"/>
          </a:p>
        </p:txBody>
      </p:sp>
      <p:sp>
        <p:nvSpPr>
          <p:cNvPr id="31" name="Text 29"/>
          <p:cNvSpPr/>
          <p:nvPr/>
        </p:nvSpPr>
        <p:spPr>
          <a:xfrm>
            <a:off x="2701138" y="429768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Python fundamentals</a:t>
            </a:r>
            <a:endParaRPr lang="en-US" sz="920" dirty="0"/>
          </a:p>
        </p:txBody>
      </p:sp>
      <p:sp>
        <p:nvSpPr>
          <p:cNvPr id="32" name="Text 30"/>
          <p:cNvSpPr/>
          <p:nvPr/>
        </p:nvSpPr>
        <p:spPr>
          <a:xfrm>
            <a:off x="2701138" y="455828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Python basics and working with data in common Fabric scenarios</a:t>
            </a:r>
            <a:endParaRPr lang="en-US" sz="880" dirty="0"/>
          </a:p>
        </p:txBody>
      </p:sp>
      <p:sp>
        <p:nvSpPr>
          <p:cNvPr id="33" name="Text 31"/>
          <p:cNvSpPr/>
          <p:nvPr/>
        </p:nvSpPr>
        <p:spPr>
          <a:xfrm>
            <a:off x="2701138" y="484632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Medallion architecture</a:t>
            </a:r>
            <a:endParaRPr lang="en-US" sz="920" dirty="0"/>
          </a:p>
        </p:txBody>
      </p:sp>
      <p:sp>
        <p:nvSpPr>
          <p:cNvPr id="34" name="Text 32"/>
          <p:cNvSpPr/>
          <p:nvPr/>
        </p:nvSpPr>
        <p:spPr>
          <a:xfrm>
            <a:off x="2701138" y="510692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Bronze, silver and gold layers, and what belongs at each stage</a:t>
            </a:r>
            <a:endParaRPr lang="en-US" sz="880" dirty="0"/>
          </a:p>
        </p:txBody>
      </p:sp>
      <p:sp>
        <p:nvSpPr>
          <p:cNvPr id="35" name="Text 33"/>
          <p:cNvSpPr/>
          <p:nvPr/>
        </p:nvSpPr>
        <p:spPr>
          <a:xfrm>
            <a:off x="5182819" y="2414016"/>
            <a:ext cx="2061058" cy="384048"/>
          </a:xfrm>
          <a:prstGeom prst="rect">
            <a:avLst/>
          </a:prstGeom>
          <a:noFill/>
          <a:ln/>
        </p:spPr>
        <p:txBody>
          <a:bodyPr wrap="square" lIns="0" tIns="0" rIns="0" bIns="0" rtlCol="0" anchor="ctr"/>
          <a:lstStyle/>
          <a:p>
            <a:pPr marL="0" indent="0">
              <a:buNone/>
            </a:pPr>
            <a:r>
              <a:rPr lang="en-US" sz="2500" b="1" dirty="0">
                <a:solidFill>
                  <a:srgbClr val="1E49E2"/>
                </a:solidFill>
                <a:latin typeface="Arial" pitchFamily="34" charset="0"/>
                <a:ea typeface="Arial" pitchFamily="34" charset="-122"/>
                <a:cs typeface="Arial" pitchFamily="34" charset="-120"/>
              </a:rPr>
              <a:t>03</a:t>
            </a:r>
            <a:endParaRPr lang="en-US" sz="2500" dirty="0"/>
          </a:p>
        </p:txBody>
      </p:sp>
      <p:sp>
        <p:nvSpPr>
          <p:cNvPr id="36" name="Text 34"/>
          <p:cNvSpPr/>
          <p:nvPr/>
        </p:nvSpPr>
        <p:spPr>
          <a:xfrm>
            <a:off x="5182819" y="2816352"/>
            <a:ext cx="2061058" cy="548640"/>
          </a:xfrm>
          <a:prstGeom prst="rect">
            <a:avLst/>
          </a:prstGeom>
          <a:noFill/>
          <a:ln/>
        </p:spPr>
        <p:txBody>
          <a:bodyPr wrap="square" lIns="0" tIns="0" rIns="0" bIns="0" rtlCol="0" anchor="ctr"/>
          <a:lstStyle/>
          <a:p>
            <a:pPr marL="0" indent="0">
              <a:lnSpc>
                <a:spcPts val="1350"/>
              </a:lnSpc>
              <a:buNone/>
            </a:pPr>
            <a:r>
              <a:rPr lang="en-US" sz="1120" b="1" dirty="0">
                <a:solidFill>
                  <a:srgbClr val="0B2265"/>
                </a:solidFill>
                <a:latin typeface="Arial" pitchFamily="34" charset="0"/>
                <a:ea typeface="Arial" pitchFamily="34" charset="-122"/>
                <a:cs typeface="Arial" pitchFamily="34" charset="-120"/>
              </a:rPr>
              <a:t>Hands-On Labs &amp;</a:t>
            </a:r>
            <a:endParaRPr lang="en-US" sz="1120" dirty="0"/>
          </a:p>
          <a:p>
            <a:pPr marL="0" indent="0">
              <a:lnSpc>
                <a:spcPts val="1350"/>
              </a:lnSpc>
              <a:buNone/>
            </a:pPr>
            <a:r>
              <a:rPr lang="en-US" sz="1120" b="1" dirty="0">
                <a:solidFill>
                  <a:srgbClr val="0B2265"/>
                </a:solidFill>
                <a:latin typeface="Arial" pitchFamily="34" charset="0"/>
                <a:ea typeface="Arial" pitchFamily="34" charset="-122"/>
                <a:cs typeface="Arial" pitchFamily="34" charset="-120"/>
              </a:rPr>
              <a:t>Workflow Development</a:t>
            </a:r>
            <a:endParaRPr lang="en-US" sz="1120" dirty="0"/>
          </a:p>
        </p:txBody>
      </p:sp>
      <p:sp>
        <p:nvSpPr>
          <p:cNvPr id="37" name="Text 35"/>
          <p:cNvSpPr/>
          <p:nvPr/>
        </p:nvSpPr>
        <p:spPr>
          <a:xfrm>
            <a:off x="5182819" y="3346704"/>
            <a:ext cx="2061058" cy="384048"/>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The bridge between Fabric and application development, through to what the business sees.</a:t>
            </a:r>
            <a:endParaRPr lang="en-US" sz="800" dirty="0"/>
          </a:p>
        </p:txBody>
      </p:sp>
      <p:sp>
        <p:nvSpPr>
          <p:cNvPr id="38" name="Text 36"/>
          <p:cNvSpPr/>
          <p:nvPr/>
        </p:nvSpPr>
        <p:spPr>
          <a:xfrm>
            <a:off x="5182819" y="374904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Notebook-centric development</a:t>
            </a:r>
            <a:endParaRPr lang="en-US" sz="920" dirty="0"/>
          </a:p>
        </p:txBody>
      </p:sp>
      <p:sp>
        <p:nvSpPr>
          <p:cNvPr id="39" name="Text 37"/>
          <p:cNvSpPr/>
          <p:nvPr/>
        </p:nvSpPr>
        <p:spPr>
          <a:xfrm>
            <a:off x="5182819" y="400964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Notebooks as the primary build pattern, ETL and orchestration</a:t>
            </a:r>
            <a:endParaRPr lang="en-US" sz="880" dirty="0"/>
          </a:p>
        </p:txBody>
      </p:sp>
      <p:sp>
        <p:nvSpPr>
          <p:cNvPr id="40" name="Text 38"/>
          <p:cNvSpPr/>
          <p:nvPr/>
        </p:nvSpPr>
        <p:spPr>
          <a:xfrm>
            <a:off x="5182819" y="429768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Lab: migrate a real workflow</a:t>
            </a:r>
            <a:endParaRPr lang="en-US" sz="920" dirty="0"/>
          </a:p>
        </p:txBody>
      </p:sp>
      <p:sp>
        <p:nvSpPr>
          <p:cNvPr id="41" name="Text 39"/>
          <p:cNvSpPr/>
          <p:nvPr/>
        </p:nvSpPr>
        <p:spPr>
          <a:xfrm>
            <a:off x="5182819" y="455828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Take one of your Alteryx workflows through to a working Fabric build</a:t>
            </a:r>
            <a:endParaRPr lang="en-US" sz="880" dirty="0"/>
          </a:p>
        </p:txBody>
      </p:sp>
      <p:sp>
        <p:nvSpPr>
          <p:cNvPr id="42" name="Text 40"/>
          <p:cNvSpPr/>
          <p:nvPr/>
        </p:nvSpPr>
        <p:spPr>
          <a:xfrm>
            <a:off x="5182819" y="484632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Portal-driven execution</a:t>
            </a:r>
            <a:endParaRPr lang="en-US" sz="920" dirty="0"/>
          </a:p>
        </p:txBody>
      </p:sp>
      <p:sp>
        <p:nvSpPr>
          <p:cNvPr id="43" name="Text 41"/>
          <p:cNvSpPr/>
          <p:nvPr/>
        </p:nvSpPr>
        <p:spPr>
          <a:xfrm>
            <a:off x="5182819" y="510692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Users supply inputs and parameters, notebooks run in the background</a:t>
            </a:r>
            <a:endParaRPr lang="en-US" sz="880" dirty="0"/>
          </a:p>
        </p:txBody>
      </p:sp>
      <p:sp>
        <p:nvSpPr>
          <p:cNvPr id="44" name="Text 42"/>
          <p:cNvSpPr/>
          <p:nvPr/>
        </p:nvSpPr>
        <p:spPr>
          <a:xfrm>
            <a:off x="5182819" y="539496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Power BI, Power Query and Excel</a:t>
            </a:r>
            <a:endParaRPr lang="en-US" sz="920" dirty="0"/>
          </a:p>
        </p:txBody>
      </p:sp>
      <p:sp>
        <p:nvSpPr>
          <p:cNvPr id="45" name="Text 43"/>
          <p:cNvSpPr/>
          <p:nvPr/>
        </p:nvSpPr>
        <p:spPr>
          <a:xfrm>
            <a:off x="5182819" y="565556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Connecting to Fabric, semantic models, consumption patterns</a:t>
            </a:r>
            <a:endParaRPr lang="en-US" sz="880" dirty="0"/>
          </a:p>
        </p:txBody>
      </p:sp>
      <p:sp>
        <p:nvSpPr>
          <p:cNvPr id="46" name="Text 44"/>
          <p:cNvSpPr/>
          <p:nvPr/>
        </p:nvSpPr>
        <p:spPr>
          <a:xfrm>
            <a:off x="7426757" y="2414016"/>
            <a:ext cx="2061058" cy="384048"/>
          </a:xfrm>
          <a:prstGeom prst="rect">
            <a:avLst/>
          </a:prstGeom>
          <a:noFill/>
          <a:ln/>
        </p:spPr>
        <p:txBody>
          <a:bodyPr wrap="square" lIns="0" tIns="0" rIns="0" bIns="0" rtlCol="0" anchor="ctr"/>
          <a:lstStyle/>
          <a:p>
            <a:pPr marL="0" indent="0">
              <a:buNone/>
            </a:pPr>
            <a:r>
              <a:rPr lang="en-US" sz="2500" b="1" dirty="0">
                <a:solidFill>
                  <a:srgbClr val="1E49E2"/>
                </a:solidFill>
                <a:latin typeface="Arial" pitchFamily="34" charset="0"/>
                <a:ea typeface="Arial" pitchFamily="34" charset="-122"/>
                <a:cs typeface="Arial" pitchFamily="34" charset="-120"/>
              </a:rPr>
              <a:t>04</a:t>
            </a:r>
            <a:endParaRPr lang="en-US" sz="2500" dirty="0"/>
          </a:p>
        </p:txBody>
      </p:sp>
      <p:sp>
        <p:nvSpPr>
          <p:cNvPr id="47" name="Text 45"/>
          <p:cNvSpPr/>
          <p:nvPr/>
        </p:nvSpPr>
        <p:spPr>
          <a:xfrm>
            <a:off x="7426757" y="2816352"/>
            <a:ext cx="2061058" cy="548640"/>
          </a:xfrm>
          <a:prstGeom prst="rect">
            <a:avLst/>
          </a:prstGeom>
          <a:noFill/>
          <a:ln/>
        </p:spPr>
        <p:txBody>
          <a:bodyPr wrap="square" lIns="0" tIns="0" rIns="0" bIns="0" rtlCol="0" anchor="ctr"/>
          <a:lstStyle/>
          <a:p>
            <a:pPr marL="0" indent="0">
              <a:lnSpc>
                <a:spcPts val="1350"/>
              </a:lnSpc>
              <a:buNone/>
            </a:pPr>
            <a:r>
              <a:rPr lang="en-US" sz="1120" b="1" dirty="0">
                <a:solidFill>
                  <a:srgbClr val="0B2265"/>
                </a:solidFill>
                <a:latin typeface="Arial" pitchFamily="34" charset="0"/>
                <a:ea typeface="Arial" pitchFamily="34" charset="-122"/>
                <a:cs typeface="Arial" pitchFamily="34" charset="-120"/>
              </a:rPr>
              <a:t>DevOps, Governance, VS Code &amp; Git</a:t>
            </a:r>
            <a:endParaRPr lang="en-US" sz="1120" dirty="0"/>
          </a:p>
        </p:txBody>
      </p:sp>
      <p:sp>
        <p:nvSpPr>
          <p:cNvPr id="48" name="Text 46"/>
          <p:cNvSpPr/>
          <p:nvPr/>
        </p:nvSpPr>
        <p:spPr>
          <a:xfrm>
            <a:off x="7426757" y="3346704"/>
            <a:ext cx="2061058" cy="384048"/>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How AI is used to create and accelerate Fabric development work.</a:t>
            </a:r>
            <a:endParaRPr lang="en-US" sz="800" dirty="0"/>
          </a:p>
        </p:txBody>
      </p:sp>
      <p:sp>
        <p:nvSpPr>
          <p:cNvPr id="49" name="Text 47"/>
          <p:cNvSpPr/>
          <p:nvPr/>
        </p:nvSpPr>
        <p:spPr>
          <a:xfrm>
            <a:off x="7426757" y="374904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AI-generated Python and SQL</a:t>
            </a:r>
            <a:endParaRPr lang="en-US" sz="920" dirty="0"/>
          </a:p>
        </p:txBody>
      </p:sp>
      <p:sp>
        <p:nvSpPr>
          <p:cNvPr id="50" name="Text 48"/>
          <p:cNvSpPr/>
          <p:nvPr/>
        </p:nvSpPr>
        <p:spPr>
          <a:xfrm>
            <a:off x="7426757" y="400964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Practical prompting, and agent-assisted app development</a:t>
            </a:r>
            <a:endParaRPr lang="en-US" sz="880" dirty="0"/>
          </a:p>
        </p:txBody>
      </p:sp>
      <p:sp>
        <p:nvSpPr>
          <p:cNvPr id="51" name="Text 49"/>
          <p:cNvSpPr/>
          <p:nvPr/>
        </p:nvSpPr>
        <p:spPr>
          <a:xfrm>
            <a:off x="7426757" y="4347972"/>
            <a:ext cx="2061058" cy="274320"/>
          </a:xfrm>
          <a:prstGeom prst="rect">
            <a:avLst/>
          </a:prstGeom>
          <a:noFill/>
          <a:ln/>
        </p:spPr>
        <p:txBody>
          <a:bodyPr wrap="square" lIns="0" tIns="0" rIns="0" bIns="0" rtlCol="0" anchor="ctr"/>
          <a:lstStyle/>
          <a:p>
            <a:pPr>
              <a:lnSpc>
                <a:spcPts val="1080"/>
              </a:lnSpc>
            </a:pPr>
            <a:r>
              <a:rPr lang="en-US" sz="920" b="1" dirty="0">
                <a:solidFill>
                  <a:srgbClr val="1A1A2E"/>
                </a:solidFill>
                <a:latin typeface="Arial" pitchFamily="34" charset="0"/>
                <a:ea typeface="Arial" pitchFamily="34" charset="-122"/>
                <a:cs typeface="Arial" pitchFamily="34" charset="-120"/>
              </a:rPr>
              <a:t>Release and environments</a:t>
            </a:r>
            <a:endParaRPr lang="en-US" sz="920" dirty="0"/>
          </a:p>
        </p:txBody>
      </p:sp>
      <p:sp>
        <p:nvSpPr>
          <p:cNvPr id="52" name="Text 50"/>
          <p:cNvSpPr/>
          <p:nvPr/>
        </p:nvSpPr>
        <p:spPr>
          <a:xfrm>
            <a:off x="7426757" y="4558284"/>
            <a:ext cx="2061058" cy="402336"/>
          </a:xfrm>
          <a:prstGeom prst="rect">
            <a:avLst/>
          </a:prstGeom>
          <a:noFill/>
          <a:ln/>
        </p:spPr>
        <p:txBody>
          <a:bodyPr wrap="square" lIns="0" tIns="0" rIns="0" bIns="0" rtlCol="0" anchor="ctr"/>
          <a:lstStyle/>
          <a:p>
            <a:pPr>
              <a:lnSpc>
                <a:spcPts val="1060"/>
              </a:lnSpc>
            </a:pPr>
            <a:r>
              <a:rPr lang="en-US" sz="900" dirty="0">
                <a:solidFill>
                  <a:srgbClr val="000000"/>
                </a:solidFill>
                <a:latin typeface="Arial" pitchFamily="34" charset="0"/>
                <a:ea typeface="Arial" pitchFamily="34" charset="-122"/>
                <a:cs typeface="Arial" pitchFamily="34" charset="-120"/>
              </a:rPr>
              <a:t>Dev, test and production, and the paved road for shipping changes</a:t>
            </a:r>
            <a:endParaRPr lang="en-US" sz="900" dirty="0"/>
          </a:p>
        </p:txBody>
      </p:sp>
      <p:sp>
        <p:nvSpPr>
          <p:cNvPr id="53" name="Text 51"/>
          <p:cNvSpPr/>
          <p:nvPr/>
        </p:nvSpPr>
        <p:spPr>
          <a:xfrm>
            <a:off x="7426757" y="487754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VS Code as the workbench</a:t>
            </a:r>
            <a:endParaRPr lang="en-US" sz="920" dirty="0"/>
          </a:p>
        </p:txBody>
      </p:sp>
      <p:sp>
        <p:nvSpPr>
          <p:cNvPr id="54" name="Text 52"/>
          <p:cNvSpPr/>
          <p:nvPr/>
        </p:nvSpPr>
        <p:spPr>
          <a:xfrm>
            <a:off x="7426757" y="513814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Lakehouse connection, notebook development, deployment and Git</a:t>
            </a:r>
            <a:endParaRPr lang="en-US" sz="880" dirty="0"/>
          </a:p>
        </p:txBody>
      </p:sp>
      <p:sp>
        <p:nvSpPr>
          <p:cNvPr id="55" name="Text 53"/>
          <p:cNvSpPr/>
          <p:nvPr/>
        </p:nvSpPr>
        <p:spPr>
          <a:xfrm>
            <a:off x="9670694" y="2414016"/>
            <a:ext cx="2061058" cy="384048"/>
          </a:xfrm>
          <a:prstGeom prst="rect">
            <a:avLst/>
          </a:prstGeom>
          <a:noFill/>
          <a:ln/>
        </p:spPr>
        <p:txBody>
          <a:bodyPr wrap="square" lIns="0" tIns="0" rIns="0" bIns="0" rtlCol="0" anchor="ctr"/>
          <a:lstStyle/>
          <a:p>
            <a:pPr marL="0" indent="0">
              <a:buNone/>
            </a:pPr>
            <a:r>
              <a:rPr lang="en-US" sz="2500" b="1" dirty="0">
                <a:solidFill>
                  <a:srgbClr val="1E49E2"/>
                </a:solidFill>
                <a:latin typeface="Arial" pitchFamily="34" charset="0"/>
                <a:ea typeface="Arial" pitchFamily="34" charset="-122"/>
                <a:cs typeface="Arial" pitchFamily="34" charset="-120"/>
              </a:rPr>
              <a:t>05</a:t>
            </a:r>
            <a:endParaRPr lang="en-US" sz="2500" dirty="0"/>
          </a:p>
        </p:txBody>
      </p:sp>
      <p:sp>
        <p:nvSpPr>
          <p:cNvPr id="56" name="Text 54"/>
          <p:cNvSpPr/>
          <p:nvPr/>
        </p:nvSpPr>
        <p:spPr>
          <a:xfrm>
            <a:off x="9670694" y="2816352"/>
            <a:ext cx="2061058" cy="548640"/>
          </a:xfrm>
          <a:prstGeom prst="rect">
            <a:avLst/>
          </a:prstGeom>
          <a:noFill/>
          <a:ln/>
        </p:spPr>
        <p:txBody>
          <a:bodyPr wrap="square" lIns="0" tIns="0" rIns="0" bIns="0" rtlCol="0" anchor="ctr"/>
          <a:lstStyle/>
          <a:p>
            <a:pPr marL="0" indent="0">
              <a:lnSpc>
                <a:spcPts val="1350"/>
              </a:lnSpc>
              <a:buNone/>
            </a:pPr>
            <a:r>
              <a:rPr lang="en-US" sz="1120" b="1" dirty="0">
                <a:solidFill>
                  <a:srgbClr val="0B2265"/>
                </a:solidFill>
                <a:latin typeface="Arial" pitchFamily="34" charset="0"/>
                <a:ea typeface="Arial" pitchFamily="34" charset="-122"/>
                <a:cs typeface="Arial" pitchFamily="34" charset="-120"/>
              </a:rPr>
              <a:t>Deployment &amp; Production Readiness</a:t>
            </a:r>
            <a:endParaRPr lang="en-US" sz="1120" dirty="0"/>
          </a:p>
        </p:txBody>
      </p:sp>
      <p:sp>
        <p:nvSpPr>
          <p:cNvPr id="57" name="Text 55"/>
          <p:cNvSpPr/>
          <p:nvPr/>
        </p:nvSpPr>
        <p:spPr>
          <a:xfrm>
            <a:off x="9670694" y="3346704"/>
            <a:ext cx="2061058" cy="384048"/>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Awareness of the lifecycle rather than operational ownership for every attendee.</a:t>
            </a:r>
            <a:endParaRPr lang="en-US" sz="800" dirty="0"/>
          </a:p>
        </p:txBody>
      </p:sp>
      <p:sp>
        <p:nvSpPr>
          <p:cNvPr id="58" name="Text 56"/>
          <p:cNvSpPr/>
          <p:nvPr/>
        </p:nvSpPr>
        <p:spPr>
          <a:xfrm>
            <a:off x="9670694" y="374904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Git and source control</a:t>
            </a:r>
            <a:endParaRPr lang="en-US" sz="920" dirty="0"/>
          </a:p>
        </p:txBody>
      </p:sp>
      <p:sp>
        <p:nvSpPr>
          <p:cNvPr id="59" name="Text 57"/>
          <p:cNvSpPr/>
          <p:nvPr/>
        </p:nvSpPr>
        <p:spPr>
          <a:xfrm>
            <a:off x="9670694" y="400964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Branching, promotion, and why source control matters</a:t>
            </a:r>
            <a:endParaRPr lang="en-US" sz="880" dirty="0"/>
          </a:p>
        </p:txBody>
      </p:sp>
      <p:sp>
        <p:nvSpPr>
          <p:cNvPr id="60" name="Text 58"/>
          <p:cNvSpPr/>
          <p:nvPr/>
        </p:nvSpPr>
        <p:spPr>
          <a:xfrm>
            <a:off x="9670694" y="429768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The promotion process</a:t>
            </a:r>
            <a:endParaRPr lang="en-US" sz="920" dirty="0"/>
          </a:p>
        </p:txBody>
      </p:sp>
      <p:sp>
        <p:nvSpPr>
          <p:cNvPr id="61" name="Text 59"/>
          <p:cNvSpPr/>
          <p:nvPr/>
        </p:nvSpPr>
        <p:spPr>
          <a:xfrm>
            <a:off x="9670694" y="455828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The lifecycle end to end, the approval gates and realistic timelines</a:t>
            </a:r>
            <a:endParaRPr lang="en-US" sz="880" dirty="0"/>
          </a:p>
        </p:txBody>
      </p:sp>
      <p:sp>
        <p:nvSpPr>
          <p:cNvPr id="62" name="Text 60"/>
          <p:cNvSpPr/>
          <p:nvPr/>
        </p:nvSpPr>
        <p:spPr>
          <a:xfrm>
            <a:off x="9670694" y="4846320"/>
            <a:ext cx="2061058" cy="274320"/>
          </a:xfrm>
          <a:prstGeom prst="rect">
            <a:avLst/>
          </a:prstGeom>
          <a:noFill/>
          <a:ln/>
        </p:spPr>
        <p:txBody>
          <a:bodyPr wrap="square" lIns="0" tIns="0" rIns="0" bIns="0" rtlCol="0" anchor="ctr"/>
          <a:lstStyle/>
          <a:p>
            <a:pPr marL="0" indent="0">
              <a:lnSpc>
                <a:spcPts val="1100"/>
              </a:lnSpc>
              <a:buNone/>
            </a:pPr>
            <a:r>
              <a:rPr lang="en-US" sz="920" b="1" dirty="0">
                <a:solidFill>
                  <a:srgbClr val="1A1A2E"/>
                </a:solidFill>
                <a:latin typeface="Arial" pitchFamily="34" charset="0"/>
                <a:ea typeface="Arial" pitchFamily="34" charset="-122"/>
                <a:cs typeface="Arial" pitchFamily="34" charset="-120"/>
              </a:rPr>
              <a:t>Working with Enterprise Tech</a:t>
            </a:r>
            <a:endParaRPr lang="en-US" sz="920" dirty="0"/>
          </a:p>
        </p:txBody>
      </p:sp>
      <p:sp>
        <p:nvSpPr>
          <p:cNvPr id="63" name="Text 61"/>
          <p:cNvSpPr/>
          <p:nvPr/>
        </p:nvSpPr>
        <p:spPr>
          <a:xfrm>
            <a:off x="9670694" y="5106924"/>
            <a:ext cx="2061058" cy="402336"/>
          </a:xfrm>
          <a:prstGeom prst="rect">
            <a:avLst/>
          </a:prstGeom>
          <a:noFill/>
          <a:ln/>
        </p:spPr>
        <p:txBody>
          <a:bodyPr wrap="square" lIns="0" tIns="0" rIns="0" bIns="0" rtlCol="0" anchor="ctr"/>
          <a:lstStyle/>
          <a:p>
            <a:pPr marL="0" indent="0">
              <a:lnSpc>
                <a:spcPts val="1080"/>
              </a:lnSpc>
              <a:buNone/>
            </a:pPr>
            <a:r>
              <a:rPr lang="en-US" sz="880" dirty="0">
                <a:solidFill>
                  <a:srgbClr val="000000"/>
                </a:solidFill>
                <a:latin typeface="Arial" pitchFamily="34" charset="0"/>
                <a:ea typeface="Arial" pitchFamily="34" charset="-122"/>
                <a:cs typeface="Arial" pitchFamily="34" charset="-120"/>
              </a:rPr>
              <a:t>Who you need, when to start, and what each approval actually asks for</a:t>
            </a:r>
            <a:endParaRPr lang="en-US" sz="880" dirty="0"/>
          </a:p>
        </p:txBody>
      </p:sp>
      <p:sp>
        <p:nvSpPr>
          <p:cNvPr id="64" name="Text 62"/>
          <p:cNvSpPr/>
          <p:nvPr/>
        </p:nvSpPr>
        <p:spPr>
          <a:xfrm>
            <a:off x="457200" y="5980176"/>
            <a:ext cx="11274552" cy="402336"/>
          </a:xfrm>
          <a:prstGeom prst="rect">
            <a:avLst/>
          </a:prstGeom>
          <a:noFill/>
          <a:ln/>
        </p:spPr>
        <p:txBody>
          <a:bodyPr wrap="square" lIns="0" tIns="0" rIns="0" bIns="0" rtlCol="0" anchor="ctr"/>
          <a:lstStyle/>
          <a:p>
            <a:pPr marL="0" indent="0">
              <a:lnSpc>
                <a:spcPts val="1000"/>
              </a:lnSpc>
              <a:buNone/>
            </a:pPr>
            <a:r>
              <a:rPr lang="en-US" sz="800" i="1" dirty="0">
                <a:solidFill>
                  <a:srgbClr val="5A6472"/>
                </a:solidFill>
                <a:latin typeface="Arial" pitchFamily="34" charset="0"/>
                <a:ea typeface="Arial" pitchFamily="34" charset="-122"/>
                <a:cs typeface="Arial" pitchFamily="34" charset="-120"/>
              </a:rPr>
              <a:t>Hands-on work runs inside Disney's Fabric POC environment, using the team's own workflows rather than sample data. All attendees are provisioned in advance. Power BI, Power Query and Excel integration sits inside Module 3, alongside the workflows the reporting draws from. Module 5 is scoped to awareness, not operational ownership. Disney governance, operating model and Fabric management decisions are handled in a separate internal session.</a:t>
            </a:r>
            <a:endParaRPr lang="en-US" sz="800" dirty="0"/>
          </a:p>
        </p:txBody>
      </p:sp>
      <p:sp>
        <p:nvSpPr>
          <p:cNvPr id="65" name="Shape 63"/>
          <p:cNvSpPr/>
          <p:nvPr/>
        </p:nvSpPr>
        <p:spPr>
          <a:xfrm>
            <a:off x="0" y="6382512"/>
            <a:ext cx="12188952" cy="475488"/>
          </a:xfrm>
          <a:prstGeom prst="rect">
            <a:avLst/>
          </a:prstGeom>
          <a:solidFill>
            <a:srgbClr val="00338D"/>
          </a:solidFill>
          <a:ln/>
        </p:spPr>
        <p:txBody>
          <a:bodyPr/>
          <a:lstStyle/>
          <a:p>
            <a:endParaRPr lang="en-US"/>
          </a:p>
        </p:txBody>
      </p:sp>
      <p:sp>
        <p:nvSpPr>
          <p:cNvPr id="66" name="Text 64"/>
          <p:cNvSpPr/>
          <p:nvPr/>
        </p:nvSpPr>
        <p:spPr>
          <a:xfrm>
            <a:off x="457200" y="6492240"/>
            <a:ext cx="8229600" cy="256032"/>
          </a:xfrm>
          <a:prstGeom prst="rect">
            <a:avLst/>
          </a:prstGeom>
          <a:noFill/>
          <a:ln/>
        </p:spPr>
        <p:txBody>
          <a:bodyPr wrap="square" lIns="0" tIns="0" rIns="0" bIns="0" rtlCol="0" anchor="ctr"/>
          <a:lstStyle/>
          <a:p>
            <a:pPr marL="0" indent="0">
              <a:buNone/>
            </a:pPr>
            <a:r>
              <a:rPr lang="en-US" sz="900" dirty="0">
                <a:solidFill>
                  <a:srgbClr val="FFFFFF"/>
                </a:solidFill>
                <a:latin typeface="Arial" pitchFamily="34" charset="0"/>
                <a:ea typeface="Arial" pitchFamily="34" charset="-122"/>
                <a:cs typeface="Arial" pitchFamily="34" charset="-120"/>
              </a:rPr>
              <a:t>Delivered on-site at a Disney facility.  ·  Venue to be confirmed.</a:t>
            </a:r>
            <a:endParaRPr lang="en-US" sz="900" dirty="0"/>
          </a:p>
        </p:txBody>
      </p:sp>
      <p:sp>
        <p:nvSpPr>
          <p:cNvPr id="67" name="Text 65"/>
          <p:cNvSpPr/>
          <p:nvPr/>
        </p:nvSpPr>
        <p:spPr>
          <a:xfrm>
            <a:off x="10881360" y="6473952"/>
            <a:ext cx="850392" cy="274320"/>
          </a:xfrm>
          <a:prstGeom prst="rect">
            <a:avLst/>
          </a:prstGeom>
          <a:noFill/>
          <a:ln/>
        </p:spPr>
        <p:txBody>
          <a:bodyPr wrap="square" lIns="0" tIns="0" rIns="0" bIns="0" rtlCol="0" anchor="ctr"/>
          <a:lstStyle/>
          <a:p>
            <a:pPr marL="0" indent="0" algn="r">
              <a:buNone/>
            </a:pPr>
            <a:r>
              <a:rPr lang="en-US" sz="1300" b="1" dirty="0">
                <a:solidFill>
                  <a:srgbClr val="FFFFFF"/>
                </a:solidFill>
                <a:latin typeface="Arial" pitchFamily="34" charset="0"/>
                <a:ea typeface="Arial" pitchFamily="34" charset="-122"/>
                <a:cs typeface="Arial" pitchFamily="34" charset="-120"/>
              </a:rPr>
              <a:t>KPMG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338D"/>
          </a:solidFill>
          <a:ln/>
        </p:spPr>
        <p:txBody>
          <a:bodyPr/>
          <a:lstStyle/>
          <a:p>
            <a:endParaRPr lang="en-US"/>
          </a:p>
        </p:txBody>
      </p:sp>
      <p:sp>
        <p:nvSpPr>
          <p:cNvPr id="3" name="Text 1"/>
          <p:cNvSpPr/>
          <p:nvPr/>
        </p:nvSpPr>
        <p:spPr>
          <a:xfrm>
            <a:off x="457200" y="128016"/>
            <a:ext cx="8138160" cy="731520"/>
          </a:xfrm>
          <a:prstGeom prst="rect">
            <a:avLst/>
          </a:prstGeom>
          <a:noFill/>
          <a:ln/>
        </p:spPr>
        <p:txBody>
          <a:bodyPr wrap="square" lIns="0" tIns="0" rIns="0" bIns="0" rtlCol="0" anchor="ctr"/>
          <a:lstStyle/>
          <a:p>
            <a:pPr marL="0" indent="0">
              <a:lnSpc>
                <a:spcPts val="2300"/>
              </a:lnSpc>
              <a:buNone/>
            </a:pPr>
            <a:r>
              <a:rPr lang="en-US" sz="1850" b="1" dirty="0">
                <a:solidFill>
                  <a:srgbClr val="FFFFFF"/>
                </a:solidFill>
                <a:latin typeface="Arial" pitchFamily="34" charset="0"/>
                <a:ea typeface="Arial" pitchFamily="34" charset="-122"/>
                <a:cs typeface="Arial" pitchFamily="34" charset="-120"/>
              </a:rPr>
              <a:t>Microsoft Fabric &amp; DevOps enablement</a:t>
            </a:r>
            <a:endParaRPr lang="en-US" sz="1850" dirty="0"/>
          </a:p>
          <a:p>
            <a:pPr marL="0" indent="0">
              <a:lnSpc>
                <a:spcPts val="2300"/>
              </a:lnSpc>
              <a:buNone/>
            </a:pPr>
            <a:r>
              <a:rPr lang="en-US" sz="1850" b="1" dirty="0">
                <a:solidFill>
                  <a:srgbClr val="FFFFFF"/>
                </a:solidFill>
                <a:latin typeface="Arial" pitchFamily="34" charset="0"/>
                <a:ea typeface="Arial" pitchFamily="34" charset="-122"/>
                <a:cs typeface="Arial" pitchFamily="34" charset="-120"/>
              </a:rPr>
              <a:t>Proposed agenda  ·  October 19–20</a:t>
            </a:r>
            <a:endParaRPr lang="en-US" sz="1850" dirty="0"/>
          </a:p>
        </p:txBody>
      </p:sp>
      <p:sp>
        <p:nvSpPr>
          <p:cNvPr id="4" name="Text 2"/>
          <p:cNvSpPr/>
          <p:nvPr/>
        </p:nvSpPr>
        <p:spPr>
          <a:xfrm>
            <a:off x="8229600" y="347472"/>
            <a:ext cx="3502152" cy="274320"/>
          </a:xfrm>
          <a:prstGeom prst="rect">
            <a:avLst/>
          </a:prstGeom>
          <a:noFill/>
          <a:ln/>
        </p:spPr>
        <p:txBody>
          <a:bodyPr wrap="square" lIns="0" tIns="0" rIns="0" bIns="0" rtlCol="0" anchor="ctr"/>
          <a:lstStyle/>
          <a:p>
            <a:pPr marL="0" indent="0" algn="r">
              <a:buNone/>
            </a:pPr>
            <a:r>
              <a:rPr lang="en-US" sz="1050" b="1" dirty="0">
                <a:solidFill>
                  <a:srgbClr val="8FB8E8"/>
                </a:solidFill>
                <a:latin typeface="Arial" pitchFamily="34" charset="0"/>
                <a:ea typeface="Arial" pitchFamily="34" charset="-122"/>
                <a:cs typeface="Arial" pitchFamily="34" charset="-120"/>
              </a:rPr>
              <a:t>KPMG  ·  Disney Tax Data Management &amp; Innovation</a:t>
            </a:r>
            <a:endParaRPr lang="en-US" sz="1050" dirty="0"/>
          </a:p>
        </p:txBody>
      </p:sp>
      <p:sp>
        <p:nvSpPr>
          <p:cNvPr id="5" name="Text 3"/>
          <p:cNvSpPr/>
          <p:nvPr/>
        </p:nvSpPr>
        <p:spPr>
          <a:xfrm>
            <a:off x="457200" y="1207008"/>
            <a:ext cx="6446520" cy="237744"/>
          </a:xfrm>
          <a:prstGeom prst="rect">
            <a:avLst/>
          </a:prstGeom>
          <a:noFill/>
          <a:ln/>
        </p:spPr>
        <p:txBody>
          <a:bodyPr wrap="square" lIns="0" tIns="0" rIns="0" bIns="0" rtlCol="0" anchor="ctr"/>
          <a:lstStyle/>
          <a:p>
            <a:pPr marL="0" indent="0">
              <a:buNone/>
            </a:pPr>
            <a:r>
              <a:rPr lang="en-US" sz="1000" b="1" kern="0" spc="100" dirty="0">
                <a:solidFill>
                  <a:srgbClr val="00338D"/>
                </a:solidFill>
                <a:latin typeface="Arial" pitchFamily="34" charset="0"/>
                <a:ea typeface="Arial" pitchFamily="34" charset="-122"/>
                <a:cs typeface="Arial" pitchFamily="34" charset="-120"/>
              </a:rPr>
              <a:t>DAY ONE  ·  MONDAY 19 OCTOBER</a:t>
            </a:r>
            <a:endParaRPr lang="en-US" sz="1000" dirty="0"/>
          </a:p>
        </p:txBody>
      </p:sp>
      <p:sp>
        <p:nvSpPr>
          <p:cNvPr id="6" name="Text 4"/>
          <p:cNvSpPr/>
          <p:nvPr/>
        </p:nvSpPr>
        <p:spPr>
          <a:xfrm>
            <a:off x="457200" y="1444752"/>
            <a:ext cx="6446520" cy="274320"/>
          </a:xfrm>
          <a:prstGeom prst="rect">
            <a:avLst/>
          </a:prstGeom>
          <a:noFill/>
          <a:ln/>
        </p:spPr>
        <p:txBody>
          <a:bodyPr wrap="square" lIns="0" tIns="0" rIns="0" bIns="0" rtlCol="0" anchor="ctr"/>
          <a:lstStyle/>
          <a:p>
            <a:pPr marL="0" indent="0">
              <a:buNone/>
            </a:pPr>
            <a:r>
              <a:rPr lang="en-US" sz="1400" b="1" dirty="0">
                <a:solidFill>
                  <a:srgbClr val="1A1A2E"/>
                </a:solidFill>
                <a:latin typeface="Arial" pitchFamily="34" charset="0"/>
                <a:ea typeface="Arial" pitchFamily="34" charset="-122"/>
                <a:cs typeface="Arial" pitchFamily="34" charset="-120"/>
              </a:rPr>
              <a:t>Full day</a:t>
            </a:r>
            <a:endParaRPr lang="en-US" sz="1400" dirty="0"/>
          </a:p>
        </p:txBody>
      </p:sp>
      <p:sp>
        <p:nvSpPr>
          <p:cNvPr id="7" name="Text 5"/>
          <p:cNvSpPr/>
          <p:nvPr/>
        </p:nvSpPr>
        <p:spPr>
          <a:xfrm>
            <a:off x="457200" y="1737360"/>
            <a:ext cx="6446520" cy="274320"/>
          </a:xfrm>
          <a:prstGeom prst="rect">
            <a:avLst/>
          </a:prstGeom>
          <a:noFill/>
          <a:ln/>
        </p:spPr>
        <p:txBody>
          <a:bodyPr wrap="square" lIns="0" tIns="0" rIns="0" bIns="0" rtlCol="0" anchor="ctr"/>
          <a:lstStyle/>
          <a:p>
            <a:pPr marL="0" indent="0">
              <a:lnSpc>
                <a:spcPts val="1100"/>
              </a:lnSpc>
              <a:buNone/>
            </a:pPr>
            <a:r>
              <a:rPr lang="en-US" sz="900" dirty="0">
                <a:solidFill>
                  <a:srgbClr val="5A6472"/>
                </a:solidFill>
                <a:latin typeface="Arial" pitchFamily="34" charset="0"/>
                <a:ea typeface="Arial" pitchFamily="34" charset="-122"/>
                <a:cs typeface="Arial" pitchFamily="34" charset="-120"/>
              </a:rPr>
              <a:t>Hands-on in Fabric. Shared vocabulary, then building and reaching real workflows.</a:t>
            </a:r>
            <a:endParaRPr lang="en-US" sz="900" dirty="0"/>
          </a:p>
        </p:txBody>
      </p:sp>
      <p:sp>
        <p:nvSpPr>
          <p:cNvPr id="8" name="Text 6"/>
          <p:cNvSpPr/>
          <p:nvPr/>
        </p:nvSpPr>
        <p:spPr>
          <a:xfrm>
            <a:off x="7315200" y="1207008"/>
            <a:ext cx="4416552" cy="237744"/>
          </a:xfrm>
          <a:prstGeom prst="rect">
            <a:avLst/>
          </a:prstGeom>
          <a:noFill/>
          <a:ln/>
        </p:spPr>
        <p:txBody>
          <a:bodyPr wrap="square" lIns="0" tIns="0" rIns="0" bIns="0" rtlCol="0" anchor="ctr"/>
          <a:lstStyle/>
          <a:p>
            <a:pPr marL="0" indent="0">
              <a:buNone/>
            </a:pPr>
            <a:r>
              <a:rPr lang="en-US" sz="1000" b="1" kern="0" spc="100" dirty="0">
                <a:solidFill>
                  <a:srgbClr val="00338D"/>
                </a:solidFill>
                <a:latin typeface="Arial" pitchFamily="34" charset="0"/>
                <a:ea typeface="Arial" pitchFamily="34" charset="-122"/>
                <a:cs typeface="Arial" pitchFamily="34" charset="-120"/>
              </a:rPr>
              <a:t>DAY TWO  ·  TUESDAY 20 OCTOBER</a:t>
            </a:r>
            <a:endParaRPr lang="en-US" sz="1000" dirty="0"/>
          </a:p>
        </p:txBody>
      </p:sp>
      <p:sp>
        <p:nvSpPr>
          <p:cNvPr id="9" name="Text 7"/>
          <p:cNvSpPr/>
          <p:nvPr/>
        </p:nvSpPr>
        <p:spPr>
          <a:xfrm>
            <a:off x="7315200" y="1444752"/>
            <a:ext cx="4416552" cy="274320"/>
          </a:xfrm>
          <a:prstGeom prst="rect">
            <a:avLst/>
          </a:prstGeom>
          <a:noFill/>
          <a:ln/>
        </p:spPr>
        <p:txBody>
          <a:bodyPr wrap="square" lIns="0" tIns="0" rIns="0" bIns="0" rtlCol="0" anchor="ctr"/>
          <a:lstStyle/>
          <a:p>
            <a:pPr marL="0" indent="0">
              <a:buNone/>
            </a:pPr>
            <a:r>
              <a:rPr lang="en-US" sz="1400" b="1" dirty="0">
                <a:solidFill>
                  <a:srgbClr val="1A1A2E"/>
                </a:solidFill>
                <a:latin typeface="Arial" pitchFamily="34" charset="0"/>
                <a:ea typeface="Arial" pitchFamily="34" charset="-122"/>
                <a:cs typeface="Arial" pitchFamily="34" charset="-120"/>
              </a:rPr>
              <a:t>Full day</a:t>
            </a:r>
            <a:endParaRPr lang="en-US" sz="1400" dirty="0"/>
          </a:p>
        </p:txBody>
      </p:sp>
      <p:sp>
        <p:nvSpPr>
          <p:cNvPr id="10" name="Text 8"/>
          <p:cNvSpPr/>
          <p:nvPr/>
        </p:nvSpPr>
        <p:spPr>
          <a:xfrm>
            <a:off x="7315200" y="1737360"/>
            <a:ext cx="4416552" cy="274320"/>
          </a:xfrm>
          <a:prstGeom prst="rect">
            <a:avLst/>
          </a:prstGeom>
          <a:noFill/>
          <a:ln/>
        </p:spPr>
        <p:txBody>
          <a:bodyPr wrap="square" lIns="0" tIns="0" rIns="0" bIns="0" rtlCol="0" anchor="ctr"/>
          <a:lstStyle/>
          <a:p>
            <a:pPr marL="0" indent="0">
              <a:lnSpc>
                <a:spcPts val="1100"/>
              </a:lnSpc>
              <a:buNone/>
            </a:pPr>
            <a:r>
              <a:rPr lang="en-US" sz="900" dirty="0">
                <a:solidFill>
                  <a:srgbClr val="5A6472"/>
                </a:solidFill>
                <a:latin typeface="Arial" pitchFamily="34" charset="0"/>
                <a:ea typeface="Arial" pitchFamily="34" charset="-122"/>
                <a:cs typeface="Arial" pitchFamily="34" charset="-120"/>
              </a:rPr>
              <a:t>Deployment, and the process and people between a build and production.</a:t>
            </a:r>
            <a:endParaRPr lang="en-US" sz="900" dirty="0"/>
          </a:p>
        </p:txBody>
      </p:sp>
      <p:sp>
        <p:nvSpPr>
          <p:cNvPr id="11" name="Shape 9"/>
          <p:cNvSpPr/>
          <p:nvPr/>
        </p:nvSpPr>
        <p:spPr>
          <a:xfrm>
            <a:off x="457200" y="2066544"/>
            <a:ext cx="6446520" cy="32004"/>
          </a:xfrm>
          <a:prstGeom prst="rect">
            <a:avLst/>
          </a:prstGeom>
          <a:solidFill>
            <a:srgbClr val="00338D"/>
          </a:solidFill>
          <a:ln/>
        </p:spPr>
        <p:txBody>
          <a:bodyPr/>
          <a:lstStyle/>
          <a:p>
            <a:endParaRPr lang="en-US"/>
          </a:p>
        </p:txBody>
      </p:sp>
      <p:sp>
        <p:nvSpPr>
          <p:cNvPr id="12" name="Shape 10"/>
          <p:cNvSpPr/>
          <p:nvPr/>
        </p:nvSpPr>
        <p:spPr>
          <a:xfrm>
            <a:off x="7315200" y="2066544"/>
            <a:ext cx="4416552" cy="32004"/>
          </a:xfrm>
          <a:prstGeom prst="rect">
            <a:avLst/>
          </a:prstGeom>
          <a:solidFill>
            <a:srgbClr val="00338D"/>
          </a:solidFill>
          <a:ln/>
        </p:spPr>
        <p:txBody>
          <a:bodyPr/>
          <a:lstStyle/>
          <a:p>
            <a:endParaRPr lang="en-US"/>
          </a:p>
        </p:txBody>
      </p:sp>
      <p:sp>
        <p:nvSpPr>
          <p:cNvPr id="13" name="Shape 11"/>
          <p:cNvSpPr/>
          <p:nvPr/>
        </p:nvSpPr>
        <p:spPr>
          <a:xfrm>
            <a:off x="7103974" y="1207008"/>
            <a:ext cx="10973" cy="4553712"/>
          </a:xfrm>
          <a:prstGeom prst="rect">
            <a:avLst/>
          </a:prstGeom>
          <a:solidFill>
            <a:srgbClr val="D5DCE8"/>
          </a:solidFill>
          <a:ln/>
        </p:spPr>
        <p:txBody>
          <a:bodyPr/>
          <a:lstStyle/>
          <a:p>
            <a:endParaRPr lang="en-US"/>
          </a:p>
        </p:txBody>
      </p:sp>
      <p:sp>
        <p:nvSpPr>
          <p:cNvPr id="14" name="Text 12"/>
          <p:cNvSpPr/>
          <p:nvPr/>
        </p:nvSpPr>
        <p:spPr>
          <a:xfrm>
            <a:off x="457200" y="2212848"/>
            <a:ext cx="2014728"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01</a:t>
            </a:r>
            <a:endParaRPr lang="en-US" sz="2700" dirty="0"/>
          </a:p>
        </p:txBody>
      </p:sp>
      <p:sp>
        <p:nvSpPr>
          <p:cNvPr id="15" name="Text 13"/>
          <p:cNvSpPr/>
          <p:nvPr/>
        </p:nvSpPr>
        <p:spPr>
          <a:xfrm>
            <a:off x="457200" y="2633472"/>
            <a:ext cx="2014728" cy="512064"/>
          </a:xfrm>
          <a:prstGeom prst="rect">
            <a:avLst/>
          </a:prstGeom>
          <a:noFill/>
          <a:ln/>
        </p:spPr>
        <p:txBody>
          <a:bodyPr wrap="square" lIns="0" tIns="0" rIns="0" bIns="0" rtlCol="0" anchor="ctr"/>
          <a:lstStyle/>
          <a:p>
            <a:pPr marL="0" indent="0">
              <a:lnSpc>
                <a:spcPts val="1500"/>
              </a:lnSpc>
              <a:buNone/>
            </a:pPr>
            <a:r>
              <a:rPr lang="en-US" sz="1250" b="1" dirty="0">
                <a:solidFill>
                  <a:srgbClr val="0B2265"/>
                </a:solidFill>
                <a:latin typeface="Arial" pitchFamily="34" charset="0"/>
                <a:ea typeface="Arial" pitchFamily="34" charset="-122"/>
                <a:cs typeface="Arial" pitchFamily="34" charset="-120"/>
              </a:rPr>
              <a:t>Fabric Foundations</a:t>
            </a:r>
            <a:endParaRPr lang="en-US" sz="1250" dirty="0"/>
          </a:p>
          <a:p>
            <a:pPr marL="0" indent="0">
              <a:lnSpc>
                <a:spcPts val="1500"/>
              </a:lnSpc>
              <a:buNone/>
            </a:pPr>
            <a:r>
              <a:rPr lang="en-US" sz="1250" b="1" dirty="0">
                <a:solidFill>
                  <a:srgbClr val="0B2265"/>
                </a:solidFill>
                <a:latin typeface="Arial" pitchFamily="34" charset="0"/>
                <a:ea typeface="Arial" pitchFamily="34" charset="-122"/>
                <a:cs typeface="Arial" pitchFamily="34" charset="-120"/>
              </a:rPr>
              <a:t>&amp; Architecture</a:t>
            </a:r>
            <a:endParaRPr lang="en-US" sz="1250" dirty="0"/>
          </a:p>
        </p:txBody>
      </p:sp>
      <p:sp>
        <p:nvSpPr>
          <p:cNvPr id="16" name="Text 14"/>
          <p:cNvSpPr/>
          <p:nvPr/>
        </p:nvSpPr>
        <p:spPr>
          <a:xfrm>
            <a:off x="457200" y="3163824"/>
            <a:ext cx="2014728"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Common ground for a room that mixes tax professionals with technologists.</a:t>
            </a:r>
            <a:endParaRPr lang="en-US" sz="800" dirty="0"/>
          </a:p>
        </p:txBody>
      </p:sp>
      <p:sp>
        <p:nvSpPr>
          <p:cNvPr id="17" name="Text 15"/>
          <p:cNvSpPr/>
          <p:nvPr/>
        </p:nvSpPr>
        <p:spPr>
          <a:xfrm>
            <a:off x="457200" y="3602736"/>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What Fabric looks like at Disney</a:t>
            </a:r>
            <a:endParaRPr lang="en-US" sz="920" dirty="0"/>
          </a:p>
        </p:txBody>
      </p:sp>
      <p:sp>
        <p:nvSpPr>
          <p:cNvPr id="18" name="Text 16"/>
          <p:cNvSpPr/>
          <p:nvPr/>
        </p:nvSpPr>
        <p:spPr>
          <a:xfrm>
            <a:off x="457200" y="3822192"/>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The environment your team actually works in, and how it is set up</a:t>
            </a:r>
            <a:endParaRPr lang="en-US" sz="860" dirty="0"/>
          </a:p>
        </p:txBody>
      </p:sp>
      <p:sp>
        <p:nvSpPr>
          <p:cNvPr id="19" name="Text 17"/>
          <p:cNvSpPr/>
          <p:nvPr/>
        </p:nvSpPr>
        <p:spPr>
          <a:xfrm>
            <a:off x="457200" y="4178808"/>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Alteryx migration strategy</a:t>
            </a:r>
            <a:endParaRPr lang="en-US" sz="920" dirty="0"/>
          </a:p>
        </p:txBody>
      </p:sp>
      <p:sp>
        <p:nvSpPr>
          <p:cNvPr id="20" name="Text 18"/>
          <p:cNvSpPr/>
          <p:nvPr/>
        </p:nvSpPr>
        <p:spPr>
          <a:xfrm>
            <a:off x="457200" y="4398264"/>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How the workflow estate moves across, with Fabric terms mapped back to Alteryx</a:t>
            </a:r>
            <a:endParaRPr lang="en-US" sz="860" dirty="0"/>
          </a:p>
        </p:txBody>
      </p:sp>
      <p:sp>
        <p:nvSpPr>
          <p:cNvPr id="21" name="Text 19"/>
          <p:cNvSpPr/>
          <p:nvPr/>
        </p:nvSpPr>
        <p:spPr>
          <a:xfrm>
            <a:off x="457200" y="4754880"/>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Technical foundations</a:t>
            </a:r>
            <a:endParaRPr lang="en-US" sz="920" dirty="0"/>
          </a:p>
        </p:txBody>
      </p:sp>
      <p:sp>
        <p:nvSpPr>
          <p:cNvPr id="22" name="Text 20"/>
          <p:cNvSpPr/>
          <p:nvPr/>
        </p:nvSpPr>
        <p:spPr>
          <a:xfrm>
            <a:off x="457200" y="4974336"/>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Database, SQL and Python concepts pitched for a non-developer audience</a:t>
            </a:r>
            <a:endParaRPr lang="en-US" sz="860" dirty="0"/>
          </a:p>
        </p:txBody>
      </p:sp>
      <p:sp>
        <p:nvSpPr>
          <p:cNvPr id="23" name="Text 21"/>
          <p:cNvSpPr/>
          <p:nvPr/>
        </p:nvSpPr>
        <p:spPr>
          <a:xfrm>
            <a:off x="2673096" y="2212848"/>
            <a:ext cx="2014728"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02</a:t>
            </a:r>
            <a:endParaRPr lang="en-US" sz="2700" dirty="0"/>
          </a:p>
        </p:txBody>
      </p:sp>
      <p:sp>
        <p:nvSpPr>
          <p:cNvPr id="24" name="Text 22"/>
          <p:cNvSpPr/>
          <p:nvPr/>
        </p:nvSpPr>
        <p:spPr>
          <a:xfrm>
            <a:off x="2673096" y="2633472"/>
            <a:ext cx="2014728" cy="512064"/>
          </a:xfrm>
          <a:prstGeom prst="rect">
            <a:avLst/>
          </a:prstGeom>
          <a:noFill/>
          <a:ln/>
        </p:spPr>
        <p:txBody>
          <a:bodyPr wrap="square" lIns="0" tIns="0" rIns="0" bIns="0" rtlCol="0" anchor="ctr"/>
          <a:lstStyle/>
          <a:p>
            <a:pPr marL="0" indent="0">
              <a:lnSpc>
                <a:spcPts val="1500"/>
              </a:lnSpc>
              <a:buNone/>
            </a:pPr>
            <a:r>
              <a:rPr lang="en-US" sz="1250" b="1" dirty="0">
                <a:solidFill>
                  <a:srgbClr val="0B2265"/>
                </a:solidFill>
                <a:latin typeface="Arial" pitchFamily="34" charset="0"/>
                <a:ea typeface="Arial" pitchFamily="34" charset="-122"/>
                <a:cs typeface="Arial" pitchFamily="34" charset="-120"/>
              </a:rPr>
              <a:t>Data Engineering</a:t>
            </a:r>
            <a:endParaRPr lang="en-US" sz="1250" dirty="0"/>
          </a:p>
          <a:p>
            <a:pPr marL="0" indent="0">
              <a:lnSpc>
                <a:spcPts val="1500"/>
              </a:lnSpc>
              <a:buNone/>
            </a:pPr>
            <a:r>
              <a:rPr lang="en-US" sz="1250" b="1" dirty="0">
                <a:solidFill>
                  <a:srgbClr val="0B2265"/>
                </a:solidFill>
                <a:latin typeface="Arial" pitchFamily="34" charset="0"/>
                <a:ea typeface="Arial" pitchFamily="34" charset="-122"/>
                <a:cs typeface="Arial" pitchFamily="34" charset="-120"/>
              </a:rPr>
              <a:t>in Fabric</a:t>
            </a:r>
            <a:endParaRPr lang="en-US" sz="1250" dirty="0"/>
          </a:p>
        </p:txBody>
      </p:sp>
      <p:sp>
        <p:nvSpPr>
          <p:cNvPr id="25" name="Text 23"/>
          <p:cNvSpPr/>
          <p:nvPr/>
        </p:nvSpPr>
        <p:spPr>
          <a:xfrm>
            <a:off x="2673096" y="3163824"/>
            <a:ext cx="2014728"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How workflows get built in the new environment. Hands-on.</a:t>
            </a:r>
            <a:endParaRPr lang="en-US" sz="800" dirty="0"/>
          </a:p>
        </p:txBody>
      </p:sp>
      <p:sp>
        <p:nvSpPr>
          <p:cNvPr id="26" name="Text 24"/>
          <p:cNvSpPr/>
          <p:nvPr/>
        </p:nvSpPr>
        <p:spPr>
          <a:xfrm>
            <a:off x="2673096" y="3602736"/>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Lakehouse concepts</a:t>
            </a:r>
            <a:endParaRPr lang="en-US" sz="920" dirty="0"/>
          </a:p>
        </p:txBody>
      </p:sp>
      <p:sp>
        <p:nvSpPr>
          <p:cNvPr id="27" name="Text 25"/>
          <p:cNvSpPr/>
          <p:nvPr/>
        </p:nvSpPr>
        <p:spPr>
          <a:xfrm>
            <a:off x="2673096" y="3822192"/>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OneLake, workspaces, tables and shortcuts, and how data is organised</a:t>
            </a:r>
            <a:endParaRPr lang="en-US" sz="860" dirty="0"/>
          </a:p>
        </p:txBody>
      </p:sp>
      <p:sp>
        <p:nvSpPr>
          <p:cNvPr id="28" name="Text 26"/>
          <p:cNvSpPr/>
          <p:nvPr/>
        </p:nvSpPr>
        <p:spPr>
          <a:xfrm>
            <a:off x="2673096" y="4178808"/>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Medallion architecture</a:t>
            </a:r>
            <a:endParaRPr lang="en-US" sz="920" dirty="0"/>
          </a:p>
        </p:txBody>
      </p:sp>
      <p:sp>
        <p:nvSpPr>
          <p:cNvPr id="29" name="Text 27"/>
          <p:cNvSpPr/>
          <p:nvPr/>
        </p:nvSpPr>
        <p:spPr>
          <a:xfrm>
            <a:off x="2673096" y="4398264"/>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Bronze, silver and gold layers, and what belongs at each stage</a:t>
            </a:r>
            <a:endParaRPr lang="en-US" sz="860" dirty="0"/>
          </a:p>
        </p:txBody>
      </p:sp>
      <p:sp>
        <p:nvSpPr>
          <p:cNvPr id="30" name="Text 28"/>
          <p:cNvSpPr/>
          <p:nvPr/>
        </p:nvSpPr>
        <p:spPr>
          <a:xfrm>
            <a:off x="2673096" y="4754880"/>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Notebook-centric development</a:t>
            </a:r>
            <a:endParaRPr lang="en-US" sz="920" dirty="0"/>
          </a:p>
        </p:txBody>
      </p:sp>
      <p:sp>
        <p:nvSpPr>
          <p:cNvPr id="31" name="Text 29"/>
          <p:cNvSpPr/>
          <p:nvPr/>
        </p:nvSpPr>
        <p:spPr>
          <a:xfrm>
            <a:off x="2673096" y="4974336"/>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Notebooks as the primary build pattern, ETL development and orchestration</a:t>
            </a:r>
            <a:endParaRPr lang="en-US" sz="860" dirty="0"/>
          </a:p>
        </p:txBody>
      </p:sp>
      <p:sp>
        <p:nvSpPr>
          <p:cNvPr id="32" name="Text 30"/>
          <p:cNvSpPr/>
          <p:nvPr/>
        </p:nvSpPr>
        <p:spPr>
          <a:xfrm>
            <a:off x="2673096" y="5330952"/>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Lab: build a workflow</a:t>
            </a:r>
            <a:endParaRPr lang="en-US" sz="920" dirty="0"/>
          </a:p>
        </p:txBody>
      </p:sp>
      <p:sp>
        <p:nvSpPr>
          <p:cNvPr id="33" name="Text 31"/>
          <p:cNvSpPr/>
          <p:nvPr/>
        </p:nvSpPr>
        <p:spPr>
          <a:xfrm>
            <a:off x="2673096" y="5550408"/>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Take one of your own Alteryx workflows through to a working Fabric build</a:t>
            </a:r>
            <a:endParaRPr lang="en-US" sz="860" dirty="0"/>
          </a:p>
        </p:txBody>
      </p:sp>
      <p:sp>
        <p:nvSpPr>
          <p:cNvPr id="34" name="Text 32"/>
          <p:cNvSpPr/>
          <p:nvPr/>
        </p:nvSpPr>
        <p:spPr>
          <a:xfrm>
            <a:off x="4888992" y="2212848"/>
            <a:ext cx="2014728"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03</a:t>
            </a:r>
            <a:endParaRPr lang="en-US" sz="2700" dirty="0"/>
          </a:p>
        </p:txBody>
      </p:sp>
      <p:sp>
        <p:nvSpPr>
          <p:cNvPr id="35" name="Text 33"/>
          <p:cNvSpPr/>
          <p:nvPr/>
        </p:nvSpPr>
        <p:spPr>
          <a:xfrm>
            <a:off x="4888992" y="2633472"/>
            <a:ext cx="2014728" cy="512064"/>
          </a:xfrm>
          <a:prstGeom prst="rect">
            <a:avLst/>
          </a:prstGeom>
          <a:noFill/>
          <a:ln/>
        </p:spPr>
        <p:txBody>
          <a:bodyPr wrap="square" lIns="0" tIns="0" rIns="0" bIns="0" rtlCol="0" anchor="ctr"/>
          <a:lstStyle/>
          <a:p>
            <a:pPr marL="0" indent="0">
              <a:lnSpc>
                <a:spcPts val="1500"/>
              </a:lnSpc>
              <a:buNone/>
            </a:pPr>
            <a:r>
              <a:rPr lang="en-US" sz="1250" b="1" dirty="0">
                <a:solidFill>
                  <a:srgbClr val="0B2265"/>
                </a:solidFill>
                <a:latin typeface="Arial" pitchFamily="34" charset="0"/>
                <a:ea typeface="Arial" pitchFamily="34" charset="-122"/>
                <a:cs typeface="Arial" pitchFamily="34" charset="-120"/>
              </a:rPr>
              <a:t>User Experience &amp;</a:t>
            </a:r>
            <a:endParaRPr lang="en-US" sz="1250" dirty="0"/>
          </a:p>
          <a:p>
            <a:pPr marL="0" indent="0">
              <a:lnSpc>
                <a:spcPts val="1500"/>
              </a:lnSpc>
              <a:buNone/>
            </a:pPr>
            <a:r>
              <a:rPr lang="en-US" sz="1250" b="1" dirty="0">
                <a:solidFill>
                  <a:srgbClr val="0B2265"/>
                </a:solidFill>
                <a:latin typeface="Arial" pitchFamily="34" charset="0"/>
                <a:ea typeface="Arial" pitchFamily="34" charset="-122"/>
                <a:cs typeface="Arial" pitchFamily="34" charset="-120"/>
              </a:rPr>
              <a:t>Workflow Consumption</a:t>
            </a:r>
            <a:endParaRPr lang="en-US" sz="1250" dirty="0"/>
          </a:p>
        </p:txBody>
      </p:sp>
      <p:sp>
        <p:nvSpPr>
          <p:cNvPr id="36" name="Text 34"/>
          <p:cNvSpPr/>
          <p:nvPr/>
        </p:nvSpPr>
        <p:spPr>
          <a:xfrm>
            <a:off x="4888992" y="3163824"/>
            <a:ext cx="2014728"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How the wider tax organization and business reaches what gets built. Hands-on.</a:t>
            </a:r>
            <a:endParaRPr lang="en-US" sz="800" dirty="0"/>
          </a:p>
        </p:txBody>
      </p:sp>
      <p:sp>
        <p:nvSpPr>
          <p:cNvPr id="37" name="Text 35"/>
          <p:cNvSpPr/>
          <p:nvPr/>
        </p:nvSpPr>
        <p:spPr>
          <a:xfrm>
            <a:off x="4888992" y="3602736"/>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Portal-driven workflow execution</a:t>
            </a:r>
            <a:endParaRPr lang="en-US" sz="920" dirty="0"/>
          </a:p>
        </p:txBody>
      </p:sp>
      <p:sp>
        <p:nvSpPr>
          <p:cNvPr id="38" name="Text 36"/>
          <p:cNvSpPr/>
          <p:nvPr/>
        </p:nvSpPr>
        <p:spPr>
          <a:xfrm>
            <a:off x="4888992" y="3822192"/>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Users supply inputs and parameters, notebooks run in the background</a:t>
            </a:r>
            <a:endParaRPr lang="en-US" sz="860" dirty="0"/>
          </a:p>
        </p:txBody>
      </p:sp>
      <p:sp>
        <p:nvSpPr>
          <p:cNvPr id="39" name="Text 37"/>
          <p:cNvSpPr/>
          <p:nvPr/>
        </p:nvSpPr>
        <p:spPr>
          <a:xfrm>
            <a:off x="4888992" y="4178808"/>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Reporting integration</a:t>
            </a:r>
            <a:endParaRPr lang="en-US" sz="920" dirty="0"/>
          </a:p>
        </p:txBody>
      </p:sp>
      <p:sp>
        <p:nvSpPr>
          <p:cNvPr id="40" name="Text 38"/>
          <p:cNvSpPr/>
          <p:nvPr/>
        </p:nvSpPr>
        <p:spPr>
          <a:xfrm>
            <a:off x="4888992" y="4398264"/>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The end-to-end path from workflow output through to a finished report</a:t>
            </a:r>
            <a:endParaRPr lang="en-US" sz="860" dirty="0"/>
          </a:p>
        </p:txBody>
      </p:sp>
      <p:sp>
        <p:nvSpPr>
          <p:cNvPr id="41" name="Text 39"/>
          <p:cNvSpPr/>
          <p:nvPr/>
        </p:nvSpPr>
        <p:spPr>
          <a:xfrm>
            <a:off x="4888992" y="4754880"/>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Power BI and Power Query</a:t>
            </a:r>
            <a:endParaRPr lang="en-US" sz="920" dirty="0"/>
          </a:p>
        </p:txBody>
      </p:sp>
      <p:sp>
        <p:nvSpPr>
          <p:cNvPr id="42" name="Text 40"/>
          <p:cNvSpPr/>
          <p:nvPr/>
        </p:nvSpPr>
        <p:spPr>
          <a:xfrm>
            <a:off x="4888992" y="4974336"/>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Getting Fabric data into the reports the tax organization already uses</a:t>
            </a:r>
            <a:endParaRPr lang="en-US" sz="860" dirty="0"/>
          </a:p>
        </p:txBody>
      </p:sp>
      <p:sp>
        <p:nvSpPr>
          <p:cNvPr id="43" name="Text 41"/>
          <p:cNvSpPr/>
          <p:nvPr/>
        </p:nvSpPr>
        <p:spPr>
          <a:xfrm>
            <a:off x="4888992" y="5330952"/>
            <a:ext cx="2014728"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Lab: put a front door on it</a:t>
            </a:r>
            <a:endParaRPr lang="en-US" sz="920" dirty="0"/>
          </a:p>
        </p:txBody>
      </p:sp>
      <p:sp>
        <p:nvSpPr>
          <p:cNvPr id="44" name="Text 42"/>
          <p:cNvSpPr/>
          <p:nvPr/>
        </p:nvSpPr>
        <p:spPr>
          <a:xfrm>
            <a:off x="4888992" y="5550408"/>
            <a:ext cx="2014728"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Give the workflow you built inputs, a trigger and somewhere the output lands</a:t>
            </a:r>
            <a:endParaRPr lang="en-US" sz="860" dirty="0"/>
          </a:p>
        </p:txBody>
      </p:sp>
      <p:sp>
        <p:nvSpPr>
          <p:cNvPr id="45" name="Text 43"/>
          <p:cNvSpPr/>
          <p:nvPr/>
        </p:nvSpPr>
        <p:spPr>
          <a:xfrm>
            <a:off x="7315200" y="2212848"/>
            <a:ext cx="2107692"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04</a:t>
            </a:r>
            <a:endParaRPr lang="en-US" sz="2700" dirty="0"/>
          </a:p>
        </p:txBody>
      </p:sp>
      <p:sp>
        <p:nvSpPr>
          <p:cNvPr id="46" name="Text 44"/>
          <p:cNvSpPr/>
          <p:nvPr/>
        </p:nvSpPr>
        <p:spPr>
          <a:xfrm>
            <a:off x="7315200" y="2633472"/>
            <a:ext cx="2107692" cy="512064"/>
          </a:xfrm>
          <a:prstGeom prst="rect">
            <a:avLst/>
          </a:prstGeom>
          <a:noFill/>
          <a:ln/>
        </p:spPr>
        <p:txBody>
          <a:bodyPr wrap="square" lIns="0" tIns="0" rIns="0" bIns="0" rtlCol="0" anchor="ctr"/>
          <a:lstStyle/>
          <a:p>
            <a:pPr marL="0" indent="0">
              <a:lnSpc>
                <a:spcPts val="1500"/>
              </a:lnSpc>
              <a:buNone/>
            </a:pPr>
            <a:r>
              <a:rPr lang="en-US" sz="1250" b="1" dirty="0">
                <a:solidFill>
                  <a:srgbClr val="0B2265"/>
                </a:solidFill>
                <a:latin typeface="Arial" pitchFamily="34" charset="0"/>
                <a:ea typeface="Arial" pitchFamily="34" charset="-122"/>
                <a:cs typeface="Arial" pitchFamily="34" charset="-120"/>
              </a:rPr>
              <a:t>DevOps, Governance</a:t>
            </a:r>
            <a:endParaRPr lang="en-US" sz="1250" dirty="0"/>
          </a:p>
          <a:p>
            <a:pPr marL="0" indent="0">
              <a:lnSpc>
                <a:spcPts val="1500"/>
              </a:lnSpc>
              <a:buNone/>
            </a:pPr>
            <a:r>
              <a:rPr lang="en-US" sz="1250" b="1" dirty="0">
                <a:solidFill>
                  <a:srgbClr val="0B2265"/>
                </a:solidFill>
                <a:latin typeface="Arial" pitchFamily="34" charset="0"/>
                <a:ea typeface="Arial" pitchFamily="34" charset="-122"/>
                <a:cs typeface="Arial" pitchFamily="34" charset="-120"/>
              </a:rPr>
              <a:t>&amp; Deployment</a:t>
            </a:r>
            <a:endParaRPr lang="en-US" sz="1250" dirty="0"/>
          </a:p>
        </p:txBody>
      </p:sp>
      <p:sp>
        <p:nvSpPr>
          <p:cNvPr id="47" name="Text 45"/>
          <p:cNvSpPr/>
          <p:nvPr/>
        </p:nvSpPr>
        <p:spPr>
          <a:xfrm>
            <a:off x="7315200" y="3163824"/>
            <a:ext cx="2107692"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How changes get shipped once solutions are live. Labs continue here.</a:t>
            </a:r>
            <a:endParaRPr lang="en-US" sz="800" dirty="0"/>
          </a:p>
        </p:txBody>
      </p:sp>
      <p:sp>
        <p:nvSpPr>
          <p:cNvPr id="48" name="Text 46"/>
          <p:cNvSpPr/>
          <p:nvPr/>
        </p:nvSpPr>
        <p:spPr>
          <a:xfrm>
            <a:off x="7315200" y="3602736"/>
            <a:ext cx="2107692"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Git fundamentals</a:t>
            </a:r>
            <a:endParaRPr lang="en-US" sz="920" dirty="0"/>
          </a:p>
        </p:txBody>
      </p:sp>
      <p:sp>
        <p:nvSpPr>
          <p:cNvPr id="49" name="Text 47"/>
          <p:cNvSpPr/>
          <p:nvPr/>
        </p:nvSpPr>
        <p:spPr>
          <a:xfrm>
            <a:off x="7315200" y="3822192"/>
            <a:ext cx="2107692"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Source control basics and branching, assuming no prior experience</a:t>
            </a:r>
            <a:endParaRPr lang="en-US" sz="860" dirty="0"/>
          </a:p>
        </p:txBody>
      </p:sp>
      <p:sp>
        <p:nvSpPr>
          <p:cNvPr id="50" name="Text 48"/>
          <p:cNvSpPr/>
          <p:nvPr/>
        </p:nvSpPr>
        <p:spPr>
          <a:xfrm>
            <a:off x="7315200" y="4178808"/>
            <a:ext cx="2107692"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Deployment patterns</a:t>
            </a:r>
            <a:endParaRPr lang="en-US" sz="920" dirty="0"/>
          </a:p>
        </p:txBody>
      </p:sp>
      <p:sp>
        <p:nvSpPr>
          <p:cNvPr id="51" name="Text 49"/>
          <p:cNvSpPr/>
          <p:nvPr/>
        </p:nvSpPr>
        <p:spPr>
          <a:xfrm>
            <a:off x="7315200" y="4398264"/>
            <a:ext cx="2107692"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Deployment pipelines and promoting work between workspaces</a:t>
            </a:r>
            <a:endParaRPr lang="en-US" sz="860" dirty="0"/>
          </a:p>
        </p:txBody>
      </p:sp>
      <p:sp>
        <p:nvSpPr>
          <p:cNvPr id="52" name="Text 50"/>
          <p:cNvSpPr/>
          <p:nvPr/>
        </p:nvSpPr>
        <p:spPr>
          <a:xfrm>
            <a:off x="7315200" y="4754880"/>
            <a:ext cx="2107692"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Release and environments</a:t>
            </a:r>
            <a:endParaRPr lang="en-US" sz="920" dirty="0"/>
          </a:p>
        </p:txBody>
      </p:sp>
      <p:sp>
        <p:nvSpPr>
          <p:cNvPr id="53" name="Text 51"/>
          <p:cNvSpPr/>
          <p:nvPr/>
        </p:nvSpPr>
        <p:spPr>
          <a:xfrm>
            <a:off x="7315200" y="4974336"/>
            <a:ext cx="2107692"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Dev, test and production, and the paved road for shipping changes</a:t>
            </a:r>
            <a:endParaRPr lang="en-US" sz="860" dirty="0"/>
          </a:p>
        </p:txBody>
      </p:sp>
      <p:sp>
        <p:nvSpPr>
          <p:cNvPr id="54" name="Text 52"/>
          <p:cNvSpPr/>
          <p:nvPr/>
        </p:nvSpPr>
        <p:spPr>
          <a:xfrm>
            <a:off x="7315200" y="5330952"/>
            <a:ext cx="2107692"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Lab: ship what you built</a:t>
            </a:r>
            <a:endParaRPr lang="en-US" sz="920" dirty="0"/>
          </a:p>
        </p:txBody>
      </p:sp>
      <p:sp>
        <p:nvSpPr>
          <p:cNvPr id="55" name="Text 53"/>
          <p:cNvSpPr/>
          <p:nvPr/>
        </p:nvSpPr>
        <p:spPr>
          <a:xfrm>
            <a:off x="7315200" y="5550408"/>
            <a:ext cx="2107692"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Put day one's workflow under source control and promote it upward</a:t>
            </a:r>
            <a:endParaRPr lang="en-US" sz="860" dirty="0"/>
          </a:p>
        </p:txBody>
      </p:sp>
      <p:sp>
        <p:nvSpPr>
          <p:cNvPr id="56" name="Text 54"/>
          <p:cNvSpPr/>
          <p:nvPr/>
        </p:nvSpPr>
        <p:spPr>
          <a:xfrm>
            <a:off x="9624060" y="2212848"/>
            <a:ext cx="2107692"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05</a:t>
            </a:r>
            <a:endParaRPr lang="en-US" sz="2700" dirty="0"/>
          </a:p>
        </p:txBody>
      </p:sp>
      <p:sp>
        <p:nvSpPr>
          <p:cNvPr id="57" name="Text 55"/>
          <p:cNvSpPr/>
          <p:nvPr/>
        </p:nvSpPr>
        <p:spPr>
          <a:xfrm>
            <a:off x="9624060" y="2633472"/>
            <a:ext cx="2107692" cy="512064"/>
          </a:xfrm>
          <a:prstGeom prst="rect">
            <a:avLst/>
          </a:prstGeom>
          <a:noFill/>
          <a:ln/>
        </p:spPr>
        <p:txBody>
          <a:bodyPr wrap="square" lIns="0" tIns="0" rIns="0" bIns="0" rtlCol="0" anchor="ctr"/>
          <a:lstStyle/>
          <a:p>
            <a:pPr marL="0" indent="0">
              <a:lnSpc>
                <a:spcPts val="1500"/>
              </a:lnSpc>
              <a:buNone/>
            </a:pPr>
            <a:r>
              <a:rPr lang="en-US" sz="1250" b="1" dirty="0">
                <a:solidFill>
                  <a:srgbClr val="0B2265"/>
                </a:solidFill>
                <a:latin typeface="Arial" pitchFamily="34" charset="0"/>
                <a:ea typeface="Arial" pitchFamily="34" charset="-122"/>
                <a:cs typeface="Arial" pitchFamily="34" charset="-120"/>
              </a:rPr>
              <a:t>Taking Applications to Production</a:t>
            </a:r>
            <a:endParaRPr lang="en-US" sz="1250" dirty="0"/>
          </a:p>
        </p:txBody>
      </p:sp>
      <p:sp>
        <p:nvSpPr>
          <p:cNvPr id="58" name="Text 56"/>
          <p:cNvSpPr/>
          <p:nvPr/>
        </p:nvSpPr>
        <p:spPr>
          <a:xfrm>
            <a:off x="9624060" y="3163824"/>
            <a:ext cx="2107692"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The twelve steps from a working build to production, and who owns each one.</a:t>
            </a:r>
            <a:endParaRPr lang="en-US" sz="800" dirty="0"/>
          </a:p>
        </p:txBody>
      </p:sp>
      <p:sp>
        <p:nvSpPr>
          <p:cNvPr id="59" name="Text 57"/>
          <p:cNvSpPr/>
          <p:nvPr/>
        </p:nvSpPr>
        <p:spPr>
          <a:xfrm>
            <a:off x="9624060" y="3602736"/>
            <a:ext cx="2107692"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cs typeface="Arial" pitchFamily="34" charset="-120"/>
              </a:rPr>
              <a:t>The Paved Path</a:t>
            </a:r>
            <a:endParaRPr lang="en-US" sz="920" dirty="0"/>
          </a:p>
        </p:txBody>
      </p:sp>
      <p:sp>
        <p:nvSpPr>
          <p:cNvPr id="60" name="Text 58"/>
          <p:cNvSpPr/>
          <p:nvPr/>
        </p:nvSpPr>
        <p:spPr>
          <a:xfrm>
            <a:off x="9624060" y="3822192"/>
            <a:ext cx="2107692"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Infra setup through to HCL handoff, and where each step gets stuck</a:t>
            </a:r>
            <a:endParaRPr lang="en-US" sz="860" dirty="0"/>
          </a:p>
        </p:txBody>
      </p:sp>
      <p:sp>
        <p:nvSpPr>
          <p:cNvPr id="61" name="Text 59"/>
          <p:cNvSpPr/>
          <p:nvPr/>
        </p:nvSpPr>
        <p:spPr>
          <a:xfrm>
            <a:off x="9624060" y="4178808"/>
            <a:ext cx="2107692"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Who you need, and when</a:t>
            </a:r>
            <a:endParaRPr lang="en-US" sz="920" dirty="0"/>
          </a:p>
        </p:txBody>
      </p:sp>
      <p:sp>
        <p:nvSpPr>
          <p:cNvPr id="62" name="Text 60"/>
          <p:cNvSpPr/>
          <p:nvPr/>
        </p:nvSpPr>
        <p:spPr>
          <a:xfrm>
            <a:off x="9624060" y="4398264"/>
            <a:ext cx="2107692"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The teams behind BAPPID, ESIS, consents, AI intake and email relay</a:t>
            </a:r>
            <a:endParaRPr lang="en-US" sz="860" dirty="0"/>
          </a:p>
        </p:txBody>
      </p:sp>
      <p:sp>
        <p:nvSpPr>
          <p:cNvPr id="63" name="Text 61"/>
          <p:cNvSpPr/>
          <p:nvPr/>
        </p:nvSpPr>
        <p:spPr>
          <a:xfrm>
            <a:off x="9624060" y="4754880"/>
            <a:ext cx="2107692"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The long poles</a:t>
            </a:r>
            <a:endParaRPr lang="en-US" sz="920" dirty="0"/>
          </a:p>
        </p:txBody>
      </p:sp>
      <p:sp>
        <p:nvSpPr>
          <p:cNvPr id="64" name="Text 62"/>
          <p:cNvSpPr/>
          <p:nvPr/>
        </p:nvSpPr>
        <p:spPr>
          <a:xfrm>
            <a:off x="9624060" y="4974336"/>
            <a:ext cx="2107692"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ESIS is five sequential reviews over four to eight weeks. Start it week one</a:t>
            </a:r>
            <a:endParaRPr lang="en-US" sz="860" dirty="0"/>
          </a:p>
        </p:txBody>
      </p:sp>
      <p:sp>
        <p:nvSpPr>
          <p:cNvPr id="65" name="Text 63"/>
          <p:cNvSpPr/>
          <p:nvPr/>
        </p:nvSpPr>
        <p:spPr>
          <a:xfrm>
            <a:off x="9624060" y="5330952"/>
            <a:ext cx="2107692"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UAT through to go-live</a:t>
            </a:r>
            <a:endParaRPr lang="en-US" sz="920" dirty="0"/>
          </a:p>
        </p:txBody>
      </p:sp>
      <p:sp>
        <p:nvSpPr>
          <p:cNvPr id="66" name="Text 64"/>
          <p:cNvSpPr/>
          <p:nvPr/>
        </p:nvSpPr>
        <p:spPr>
          <a:xfrm>
            <a:off x="9624060" y="5550408"/>
            <a:ext cx="2107692"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Acceptance in TEST, functional sign-off, then verifying the running app</a:t>
            </a:r>
            <a:endParaRPr lang="en-US" sz="860" dirty="0"/>
          </a:p>
        </p:txBody>
      </p:sp>
      <p:sp>
        <p:nvSpPr>
          <p:cNvPr id="67" name="Text 65"/>
          <p:cNvSpPr/>
          <p:nvPr/>
        </p:nvSpPr>
        <p:spPr>
          <a:xfrm>
            <a:off x="457200" y="5870448"/>
            <a:ext cx="11274552" cy="457200"/>
          </a:xfrm>
          <a:prstGeom prst="rect">
            <a:avLst/>
          </a:prstGeom>
          <a:noFill/>
          <a:ln/>
        </p:spPr>
        <p:txBody>
          <a:bodyPr wrap="square" lIns="0" tIns="0" rIns="0" bIns="0" rtlCol="0" anchor="ctr"/>
          <a:lstStyle/>
          <a:p>
            <a:pPr marL="0" indent="0">
              <a:lnSpc>
                <a:spcPts val="1000"/>
              </a:lnSpc>
              <a:buNone/>
            </a:pPr>
            <a:r>
              <a:rPr lang="en-US" sz="800" i="1" dirty="0">
                <a:solidFill>
                  <a:srgbClr val="5A6472"/>
                </a:solidFill>
                <a:latin typeface="Arial" pitchFamily="34" charset="0"/>
                <a:ea typeface="Arial" pitchFamily="34" charset="-122"/>
                <a:cs typeface="Arial" pitchFamily="34" charset="-120"/>
              </a:rPr>
              <a:t>Hands-on work runs inside Disney's Fabric and Azure DevOps environments, using the team's own workflows rather than sample data. Pillar 05 covers the existing TDMI delivery process, so the training reinforces the standard rather than introducing a second one. Attendees must be pre-credentialed before the 19th.</a:t>
            </a:r>
            <a:endParaRPr lang="en-US" sz="800" dirty="0"/>
          </a:p>
        </p:txBody>
      </p:sp>
      <p:sp>
        <p:nvSpPr>
          <p:cNvPr id="68" name="Shape 66"/>
          <p:cNvSpPr/>
          <p:nvPr/>
        </p:nvSpPr>
        <p:spPr>
          <a:xfrm>
            <a:off x="0" y="6382512"/>
            <a:ext cx="12188952" cy="475488"/>
          </a:xfrm>
          <a:prstGeom prst="rect">
            <a:avLst/>
          </a:prstGeom>
          <a:solidFill>
            <a:srgbClr val="00338D"/>
          </a:solidFill>
          <a:ln/>
        </p:spPr>
        <p:txBody>
          <a:bodyPr/>
          <a:lstStyle/>
          <a:p>
            <a:endParaRPr lang="en-US"/>
          </a:p>
        </p:txBody>
      </p:sp>
      <p:sp>
        <p:nvSpPr>
          <p:cNvPr id="69" name="Text 67"/>
          <p:cNvSpPr/>
          <p:nvPr/>
        </p:nvSpPr>
        <p:spPr>
          <a:xfrm>
            <a:off x="457200" y="6492240"/>
            <a:ext cx="8229600" cy="256032"/>
          </a:xfrm>
          <a:prstGeom prst="rect">
            <a:avLst/>
          </a:prstGeom>
          <a:noFill/>
          <a:ln/>
        </p:spPr>
        <p:txBody>
          <a:bodyPr wrap="square" lIns="0" tIns="0" rIns="0" bIns="0" rtlCol="0" anchor="ctr"/>
          <a:lstStyle/>
          <a:p>
            <a:pPr marL="0" indent="0">
              <a:buNone/>
            </a:pPr>
            <a:r>
              <a:rPr lang="en-US" sz="900" dirty="0">
                <a:solidFill>
                  <a:srgbClr val="FFFFFF"/>
                </a:solidFill>
                <a:latin typeface="Arial" pitchFamily="34" charset="0"/>
                <a:ea typeface="Arial" pitchFamily="34" charset="-122"/>
                <a:cs typeface="Arial" pitchFamily="34" charset="-120"/>
              </a:rPr>
              <a:t>Delivered on-site at a Disney facility.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999CE80F1B44445BB5E9DE12FCAFFBF" ma:contentTypeVersion="18" ma:contentTypeDescription="Create a new document." ma:contentTypeScope="" ma:versionID="774106159c7c134df5bfce6a643ad80a">
  <xsd:schema xmlns:xsd="http://www.w3.org/2001/XMLSchema" xmlns:xs="http://www.w3.org/2001/XMLSchema" xmlns:p="http://schemas.microsoft.com/office/2006/metadata/properties" xmlns:ns2="a1056aa5-6b4d-4c47-aaac-9426e9d9b737" xmlns:ns3="8e4cac8c-e99d-49dd-8c24-1d4caeb84b2c" targetNamespace="http://schemas.microsoft.com/office/2006/metadata/properties" ma:root="true" ma:fieldsID="a859a95caa7e12b5ac7f0eaaf76282f9" ns2:_="" ns3:_="">
    <xsd:import namespace="a1056aa5-6b4d-4c47-aaac-9426e9d9b737"/>
    <xsd:import namespace="8e4cac8c-e99d-49dd-8c24-1d4caeb84b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56aa5-6b4d-4c47-aaac-9426e9d9b7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4cac8c-e99d-49dd-8c24-1d4caeb84b2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052aedc-1507-4a22-9d47-87556314de20}" ma:internalName="TaxCatchAll" ma:showField="CatchAllData" ma:web="8e4cac8c-e99d-49dd-8c24-1d4caeb84b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1056aa5-6b4d-4c47-aaac-9426e9d9b737">
      <Terms xmlns="http://schemas.microsoft.com/office/infopath/2007/PartnerControls"/>
    </lcf76f155ced4ddcb4097134ff3c332f>
    <TaxCatchAll xmlns="8e4cac8c-e99d-49dd-8c24-1d4caeb84b2c" xsi:nil="true"/>
  </documentManagement>
</p:properties>
</file>

<file path=customXml/itemProps1.xml><?xml version="1.0" encoding="utf-8"?>
<ds:datastoreItem xmlns:ds="http://schemas.openxmlformats.org/officeDocument/2006/customXml" ds:itemID="{25D18434-E762-4264-BD0D-DB2B33CF2ED7}">
  <ds:schemaRefs>
    <ds:schemaRef ds:uri="http://schemas.microsoft.com/sharepoint/v3/contenttype/forms"/>
  </ds:schemaRefs>
</ds:datastoreItem>
</file>

<file path=customXml/itemProps2.xml><?xml version="1.0" encoding="utf-8"?>
<ds:datastoreItem xmlns:ds="http://schemas.openxmlformats.org/officeDocument/2006/customXml" ds:itemID="{28CC641E-F1AF-4CD6-994A-F9F84C6BA53B}">
  <ds:schemaRefs>
    <ds:schemaRef ds:uri="8e4cac8c-e99d-49dd-8c24-1d4caeb84b2c"/>
    <ds:schemaRef ds:uri="a1056aa5-6b4d-4c47-aaac-9426e9d9b7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372DAA4-64F0-4C47-8090-6F6B801D5261}">
  <ds:schemaRefs>
    <ds:schemaRef ds:uri="8e4cac8c-e99d-49dd-8c24-1d4caeb84b2c"/>
    <ds:schemaRef ds:uri="http://www.w3.org/XML/1998/namespace"/>
    <ds:schemaRef ds:uri="http://schemas.microsoft.com/office/infopath/2007/PartnerControls"/>
    <ds:schemaRef ds:uri="http://purl.org/dc/elements/1.1/"/>
    <ds:schemaRef ds:uri="http://schemas.microsoft.com/office/2006/documentManagement/types"/>
    <ds:schemaRef ds:uri="http://purl.org/dc/terms/"/>
    <ds:schemaRef ds:uri="a1056aa5-6b4d-4c47-aaac-9426e9d9b737"/>
    <ds:schemaRef ds:uri="http://schemas.openxmlformats.org/package/2006/metadata/core-properties"/>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otalTime>285</TotalTime>
  <Words>1033</Words>
  <Application>Microsoft Office PowerPoint</Application>
  <PresentationFormat>Widescreen</PresentationFormat>
  <Paragraphs>133</Paragraphs>
  <Slides>2</Slides>
  <Notes>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vt:i4>
      </vt:variant>
    </vt:vector>
  </HeadingPairs>
  <TitlesOfParts>
    <vt:vector size="4" baseType="lpstr">
      <vt:lpstr>Arial</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Disney Fabric Training Agenda</dc:title>
  <dc:subject>PptxGenJS Presentation</dc:subject>
  <dc:creator>Sheridan, Jack</dc:creator>
  <cp:lastModifiedBy>Sheridan, Jack</cp:lastModifiedBy>
  <cp:revision>2</cp:revision>
  <dcterms:created xsi:type="dcterms:W3CDTF">2026-08-24T18:13:58Z</dcterms:created>
  <dcterms:modified xsi:type="dcterms:W3CDTF">2026-09-18T19:43:37Z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0x010100C999CE80F1B44445BB5E9DE12FCAFFBF</vt:lpwstr>
  </property>
  <property fmtid="{D5CDD505-2E9C-101B-9397-08002B2CF9AE}" pid="3" name="MediaServiceImageTags">
    <vt:lpwstr/>
  </property>
</Properties>
</file>